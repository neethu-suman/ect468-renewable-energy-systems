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336" r:id="rId3"/>
    <p:sldId id="337" r:id="rId4"/>
    <p:sldId id="338" r:id="rId5"/>
    <p:sldId id="263" r:id="rId6"/>
    <p:sldId id="353" r:id="rId7"/>
    <p:sldId id="354" r:id="rId8"/>
    <p:sldId id="355" r:id="rId9"/>
    <p:sldId id="356" r:id="rId10"/>
    <p:sldId id="3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57AD-5A71-6952-9DFB-F90338F34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07371-E297-35B4-2536-4366F9476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26E1-3FCA-734D-2CE7-24CC8247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BB923-0778-346C-85B3-5DAD234F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BB553-9802-266A-B21B-C1CB8029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30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4F45-0C1F-2C3C-9C66-EFF4117A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7444-8B72-FCE2-3F68-3539DDFFC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1C1AC-B57F-9769-5651-31FCCFB1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167C1-6B4F-00FC-FF87-ED1354D0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BA44A-E5EE-F6A2-E40F-896AD1CC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8601-ABA2-F5E4-C600-2E79B2734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23409-1F77-FFFE-7D85-07D57A7FF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F420-E365-CF5E-337E-E0633A471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A32EE-3CE9-DD01-6A8E-60016D1A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E03EE-3026-5804-457C-3447C9A1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28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2AE3-D724-584F-4D98-3329287D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4E47B-D1C7-92AD-615C-9CA86A790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2168F-FF2D-3268-1235-236041592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7E2CA-FCF7-0867-613C-7A06E3D7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A7FEC-9975-4A85-3B13-99213C5D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1132-E6E1-77F0-1EB2-7CC92D0B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534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B56C-84A4-E608-D30B-3BFF8FC40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BCF1-87FA-7A32-986E-F48535BA2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ED7BB-319B-CA0F-5390-153E58B91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53020-D05F-B2E9-6837-42D0D4BF0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B17AE-6AD4-A475-1BD7-6A7AC032B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47DA5-C672-1819-440D-FCF9F6A5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CD948-58A9-5E59-DFE8-A64F29C2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E38DB-7BB9-5517-8031-A8A08DA9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25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2B25-4B40-761B-4300-DFCE3565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C2F4A-D364-0354-E47B-0399A204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5CBC3-6675-C2A5-6B50-2826B92A8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984BB-B03B-DE64-9AAF-4AEA1048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11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B999C-007C-05A3-F553-737B0005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5AB3D-7B2D-2C9D-7060-8E44977B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FA391-5C30-0DC7-F767-006BE407D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982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B8E8-B2F7-84C7-DCCF-11860C4F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FE62A-373E-5E3C-4357-E72A56C9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92CA6-9CD6-D543-A11E-8E6421C1E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D2FE2-04DD-E570-DB10-C14B81B5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6CD31-BE3D-1804-70C5-F83A75A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D54E6-A06A-66BC-E0F3-C32A2E94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14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9B66-6612-7565-07B9-FDF1E7A0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C4EDE-E53F-446F-F2F4-6F055E430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62915-6724-1101-F76F-93E5F706B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4A28D-F6C5-7749-3ED3-B65361D8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6BB5F-89B3-8628-E1EB-B4D09639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08B63-E87B-7087-DEE3-391F8B36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4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D600-1807-A65B-A2D6-399A046D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59753-844C-6A52-D49C-D2A81D621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FF0E-00DD-CBD3-3D62-E9676C1E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2D74-BC97-6FF0-99C1-7067437B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2894-08A4-BFCD-6729-D83CA80C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24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DBCEC-B07F-5B71-C461-B5897D65E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446F1-EAC2-7C71-2013-DE3254E8C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114D2-16F2-3A82-8B5A-6B89D819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D70EB-92E6-8D11-94DB-B8ED90D60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66D03-7221-3214-A62B-45765EAC7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41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BD1508-C948-B84B-DA40-840CE478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A0422-3A93-5526-AE89-8DE4E571A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1771A-F5F6-8CE6-F665-9B51A33571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CF002-2BF8-41C2-98B9-9109EDDAFE0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7345-0282-D4FB-1213-F58AB30B3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E7CA4-0F89-8A1C-FB82-F232210E5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26BCE-481C-4868-B36A-EC0790ABD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47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2476-CAF2-EDFD-6349-6772A654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SOLAR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EC590-37C7-2D45-66B0-C73F2242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527" y="2773218"/>
            <a:ext cx="10898256" cy="3583132"/>
          </a:xfrm>
        </p:spPr>
        <p:txBody>
          <a:bodyPr>
            <a:normAutofit/>
          </a:bodyPr>
          <a:lstStyle/>
          <a:p>
            <a:r>
              <a:rPr lang="en-IN" sz="2400" b="0" i="0" dirty="0">
                <a:solidFill>
                  <a:srgbClr val="383838"/>
                </a:solidFill>
                <a:effectLst/>
              </a:rPr>
              <a:t>Semiconductors such as Silicon, Gallium Arsenide, Copper Indium Selenide, Indium Phosphide, and Cadmium Telluride satisfies these conditions; hence they are generally used for constructing solar cells.</a:t>
            </a:r>
          </a:p>
          <a:p>
            <a:r>
              <a:rPr lang="en-US" sz="2400" b="0" i="0" dirty="0">
                <a:solidFill>
                  <a:srgbClr val="383838"/>
                </a:solidFill>
                <a:effectLst/>
              </a:rPr>
              <a:t>The antireflection layer is typically made of oxides of Titanium, Tantalum, or Silicon through the vacuum deposition process or spin coating.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4BDED-F41F-8115-5F6F-A2C2607ABD3B}"/>
              </a:ext>
            </a:extLst>
          </p:cNvPr>
          <p:cNvSpPr txBox="1"/>
          <p:nvPr/>
        </p:nvSpPr>
        <p:spPr>
          <a:xfrm>
            <a:off x="730527" y="1460216"/>
            <a:ext cx="111268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83838"/>
                </a:solidFill>
                <a:effectLst/>
              </a:rPr>
              <a:t>Some specific materials, which have certain properties such as bandgap ranging from 1 EV to 1.8 EV, high electrical conductivity, and high optical absorption, are required for the construction of solar cells.</a:t>
            </a:r>
          </a:p>
        </p:txBody>
      </p:sp>
    </p:spTree>
    <p:extLst>
      <p:ext uri="{BB962C8B-B14F-4D97-AF65-F5344CB8AC3E}">
        <p14:creationId xmlns:p14="http://schemas.microsoft.com/office/powerpoint/2010/main" val="187448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BF0B-54BD-B635-3029-243B1FA0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SOLAR CELL</a:t>
            </a:r>
          </a:p>
        </p:txBody>
      </p:sp>
      <p:pic>
        <p:nvPicPr>
          <p:cNvPr id="6" name="Picture 2" descr="What Are Solar Panels and How Do They Produce Electricity?">
            <a:extLst>
              <a:ext uri="{FF2B5EF4-FFF2-40B4-BE49-F238E27FC236}">
                <a16:creationId xmlns:a16="http://schemas.microsoft.com/office/drawing/2014/main" id="{E11EC94C-CCC5-B9C7-CD16-13C1EA1DBF9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7287" y="1606964"/>
            <a:ext cx="9190383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78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D63B-3A5F-3DEA-C02B-BF46064B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SOLAR CELL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634118-260D-7056-1BA9-6D5CDCB91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322"/>
            <a:ext cx="10515600" cy="4912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Glass Layer (Usually on Top)</a:t>
            </a:r>
          </a:p>
          <a:p>
            <a:pPr lvl="1"/>
            <a:r>
              <a:rPr lang="en-US" sz="2000" dirty="0"/>
              <a:t>Acts as a </a:t>
            </a:r>
            <a:r>
              <a:rPr lang="en-US" sz="2000" b="1" dirty="0"/>
              <a:t>protective cover</a:t>
            </a:r>
            <a:r>
              <a:rPr lang="en-US" sz="2000" dirty="0"/>
              <a:t> for the solar cell.</a:t>
            </a:r>
          </a:p>
          <a:p>
            <a:pPr lvl="1"/>
            <a:r>
              <a:rPr lang="en-US" sz="2000" dirty="0"/>
              <a:t>Transparent so light can enter.</a:t>
            </a:r>
          </a:p>
          <a:p>
            <a:pPr lvl="1"/>
            <a:r>
              <a:rPr lang="en-US" sz="2000" dirty="0"/>
              <a:t>Provides </a:t>
            </a:r>
            <a:r>
              <a:rPr lang="en-US" sz="2000" b="1" dirty="0"/>
              <a:t>mechanical strength</a:t>
            </a:r>
            <a:r>
              <a:rPr lang="en-US" sz="2000" dirty="0"/>
              <a:t> and environmental protection.</a:t>
            </a:r>
          </a:p>
          <a:p>
            <a:pPr marL="0" indent="0">
              <a:buNone/>
            </a:pPr>
            <a:r>
              <a:rPr lang="en-US" sz="2400" b="1" dirty="0"/>
              <a:t>2. Antireflection Coating</a:t>
            </a:r>
          </a:p>
          <a:p>
            <a:pPr lvl="1"/>
            <a:r>
              <a:rPr lang="en-US" sz="2000" dirty="0"/>
              <a:t>Reduces </a:t>
            </a:r>
            <a:r>
              <a:rPr lang="en-US" sz="2000" b="1" dirty="0"/>
              <a:t>reflection of light</a:t>
            </a:r>
            <a:r>
              <a:rPr lang="en-US" sz="2000" dirty="0"/>
              <a:t> from the surface (otherwise ~30% sunlight is lost).</a:t>
            </a:r>
          </a:p>
          <a:p>
            <a:pPr lvl="1"/>
            <a:r>
              <a:rPr lang="en-US" sz="2000" dirty="0"/>
              <a:t>Allows more light to enter the silicon layer.</a:t>
            </a:r>
          </a:p>
          <a:p>
            <a:pPr lvl="1"/>
            <a:r>
              <a:rPr lang="en-US" sz="2000" dirty="0"/>
              <a:t>Usually made of silicon nitride (</a:t>
            </a:r>
            <a:r>
              <a:rPr lang="en-US" sz="2000" dirty="0" err="1"/>
              <a:t>Si₃N</a:t>
            </a:r>
            <a:r>
              <a:rPr lang="en-US" sz="2000" dirty="0"/>
              <a:t>₄) or titanium dioxide (</a:t>
            </a:r>
            <a:r>
              <a:rPr lang="en-US" sz="2000" dirty="0" err="1"/>
              <a:t>TiO</a:t>
            </a:r>
            <a:r>
              <a:rPr lang="en-US" sz="2000" dirty="0"/>
              <a:t>₂).</a:t>
            </a:r>
          </a:p>
          <a:p>
            <a:pPr marL="0" indent="0">
              <a:buNone/>
            </a:pPr>
            <a:r>
              <a:rPr lang="en-US" sz="2400" b="1" dirty="0"/>
              <a:t>3. Metal Grid (Front Contact)</a:t>
            </a:r>
          </a:p>
          <a:p>
            <a:pPr lvl="1"/>
            <a:r>
              <a:rPr lang="en-US" sz="2000" dirty="0"/>
              <a:t>Thin metal lines (grid) collect electrons generated in the silicon layer.</a:t>
            </a:r>
          </a:p>
          <a:p>
            <a:pPr lvl="1"/>
            <a:r>
              <a:rPr lang="en-US" sz="2000" dirty="0"/>
              <a:t>Allows current to flow out while blocking minimal sunlight.</a:t>
            </a:r>
          </a:p>
          <a:p>
            <a:pPr lvl="1"/>
            <a:r>
              <a:rPr lang="en-US" sz="2000" dirty="0"/>
              <a:t>Typically made of silver or aluminum.</a:t>
            </a:r>
          </a:p>
        </p:txBody>
      </p:sp>
    </p:spTree>
    <p:extLst>
      <p:ext uri="{BB962C8B-B14F-4D97-AF65-F5344CB8AC3E}">
        <p14:creationId xmlns:p14="http://schemas.microsoft.com/office/powerpoint/2010/main" val="60465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3E49-CD09-6636-671C-D101CA59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SOLAR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5858C-DB36-90AE-61DD-B371C3FE1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058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4. Silicon Layer (N-Type and P-Type Silicon)</a:t>
            </a:r>
          </a:p>
          <a:p>
            <a:pPr lvl="1"/>
            <a:r>
              <a:rPr lang="en-US" sz="2000" dirty="0"/>
              <a:t>This is the </a:t>
            </a:r>
            <a:r>
              <a:rPr lang="en-US" sz="2000" b="1" dirty="0"/>
              <a:t>active region</a:t>
            </a:r>
            <a:r>
              <a:rPr lang="en-US" sz="2000" dirty="0"/>
              <a:t> where electricity is generated.</a:t>
            </a:r>
          </a:p>
          <a:p>
            <a:pPr lvl="1"/>
            <a:r>
              <a:rPr lang="en-US" altLang="en-US" sz="2000" dirty="0"/>
              <a:t>Together they form a </a:t>
            </a:r>
            <a:r>
              <a:rPr lang="en-US" altLang="en-US" sz="2000" b="1" dirty="0"/>
              <a:t>p-n junction</a:t>
            </a:r>
            <a:r>
              <a:rPr lang="en-US" altLang="en-US" sz="2000" dirty="0"/>
              <a:t>.</a:t>
            </a:r>
          </a:p>
          <a:p>
            <a:pPr lvl="1"/>
            <a:r>
              <a:rPr lang="en-US" altLang="en-US" sz="2000" dirty="0"/>
              <a:t>When sunlight hits the junction, electrons and holes separate, creating a voltage.</a:t>
            </a:r>
          </a:p>
          <a:p>
            <a:pPr marL="0" indent="0">
              <a:buNone/>
            </a:pPr>
            <a:r>
              <a:rPr lang="en-US" sz="2400" b="1" dirty="0"/>
              <a:t>5. Metal Plate (Back Contact)</a:t>
            </a:r>
          </a:p>
          <a:p>
            <a:pPr lvl="1"/>
            <a:r>
              <a:rPr lang="en-US" sz="2000" dirty="0"/>
              <a:t>Acts as the </a:t>
            </a:r>
            <a:r>
              <a:rPr lang="en-US" sz="2000" b="1" dirty="0"/>
              <a:t>rear electrical contact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Collects electrons from the silicon and completes the circuit.</a:t>
            </a:r>
          </a:p>
          <a:p>
            <a:pPr lvl="1"/>
            <a:r>
              <a:rPr lang="en-US" sz="2000" dirty="0"/>
              <a:t>Also acts as a support base.</a:t>
            </a:r>
          </a:p>
          <a:p>
            <a:pPr lvl="1"/>
            <a:endParaRPr lang="en-US" altLang="en-US" sz="2000" dirty="0"/>
          </a:p>
          <a:p>
            <a:pPr lvl="1"/>
            <a:endParaRPr lang="en-US" sz="2000" dirty="0"/>
          </a:p>
          <a:p>
            <a:pPr lvl="1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477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olar cell system diagram Royalty Free Vector Image">
            <a:extLst>
              <a:ext uri="{FF2B5EF4-FFF2-40B4-BE49-F238E27FC236}">
                <a16:creationId xmlns:a16="http://schemas.microsoft.com/office/drawing/2014/main" id="{BE4971CA-C3FD-156B-50E9-D798D8BA597B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15800" cy="703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662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8C99-DF37-3E2F-CE75-3E066828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power extraction using PV-Cells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56C9B-C618-FFEC-0800-F40037C2F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Solar power extraction is the process of converting sunlight into usable electrical energy using </a:t>
            </a:r>
            <a:r>
              <a:rPr lang="en-US" sz="2400" b="1" dirty="0"/>
              <a:t>Photovoltaic (PV) cells</a:t>
            </a:r>
            <a:r>
              <a:rPr lang="en-US" sz="2400" dirty="0"/>
              <a:t>. PV cells are semiconductor devices (usually silicon) that directly convert light energy into electrical energy through the </a:t>
            </a:r>
            <a:r>
              <a:rPr lang="en-US" sz="2400" b="1" dirty="0"/>
              <a:t>photovoltaic effect</a:t>
            </a:r>
            <a:r>
              <a:rPr lang="en-US" sz="2400" dirty="0"/>
              <a:t>.</a:t>
            </a:r>
          </a:p>
          <a:p>
            <a:r>
              <a:rPr lang="en-US" sz="2400" b="1" dirty="0"/>
              <a:t>Structure of a PV Cell</a:t>
            </a:r>
          </a:p>
          <a:p>
            <a:pPr lvl="1"/>
            <a:r>
              <a:rPr lang="en-US" sz="2000" dirty="0"/>
              <a:t>A basic PV cell consists of:</a:t>
            </a:r>
          </a:p>
          <a:p>
            <a:pPr lvl="1"/>
            <a:r>
              <a:rPr lang="en-US" sz="2000" b="1" dirty="0"/>
              <a:t>P-type semiconductor layer</a:t>
            </a:r>
            <a:endParaRPr lang="en-US" sz="2000" dirty="0"/>
          </a:p>
          <a:p>
            <a:pPr lvl="1"/>
            <a:r>
              <a:rPr lang="en-US" sz="2000" b="1" dirty="0"/>
              <a:t>N-type semiconductor layer</a:t>
            </a:r>
            <a:endParaRPr lang="en-US" sz="2000" dirty="0"/>
          </a:p>
          <a:p>
            <a:pPr lvl="1"/>
            <a:r>
              <a:rPr lang="en-US" sz="2000" b="1" dirty="0"/>
              <a:t>PN junction</a:t>
            </a:r>
            <a:r>
              <a:rPr lang="en-US" sz="2000" dirty="0"/>
              <a:t> (creates an internal electric field)</a:t>
            </a:r>
          </a:p>
          <a:p>
            <a:pPr lvl="1"/>
            <a:r>
              <a:rPr lang="en-US" sz="2000" b="1" dirty="0"/>
              <a:t>Front metal contacts</a:t>
            </a:r>
            <a:r>
              <a:rPr lang="en-US" sz="2000" dirty="0"/>
              <a:t> (collect electrons)</a:t>
            </a:r>
          </a:p>
          <a:p>
            <a:pPr lvl="1"/>
            <a:r>
              <a:rPr lang="en-US" sz="2000" b="1" dirty="0"/>
              <a:t>Back contact</a:t>
            </a:r>
            <a:endParaRPr lang="en-US" sz="2000" dirty="0"/>
          </a:p>
          <a:p>
            <a:pPr lvl="1"/>
            <a:r>
              <a:rPr lang="en-US" sz="2000" b="1" dirty="0"/>
              <a:t>Anti-reflective coating</a:t>
            </a:r>
            <a:r>
              <a:rPr lang="en-US" sz="2000" dirty="0"/>
              <a:t> (improves light absorption)</a:t>
            </a:r>
          </a:p>
          <a:p>
            <a:pPr lvl="1"/>
            <a:endParaRPr lang="en-US" sz="2000" dirty="0"/>
          </a:p>
          <a:p>
            <a:endParaRPr lang="en-IN" sz="2400" dirty="0"/>
          </a:p>
        </p:txBody>
      </p:sp>
      <p:pic>
        <p:nvPicPr>
          <p:cNvPr id="4" name="Picture 2" descr="What Are Solar Panels and How Do They Produce Electricity?">
            <a:extLst>
              <a:ext uri="{FF2B5EF4-FFF2-40B4-BE49-F238E27FC236}">
                <a16:creationId xmlns:a16="http://schemas.microsoft.com/office/drawing/2014/main" id="{7D329B96-3458-DB8F-6EA5-15450642F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9853" y="3753818"/>
            <a:ext cx="4509052" cy="213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173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000B-FBF5-E696-5126-7EE39E5E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power extraction using PV-Cells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0DD91-7808-B56F-31D0-DBCADE43A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322"/>
            <a:ext cx="10515600" cy="4912553"/>
          </a:xfrm>
        </p:spPr>
        <p:txBody>
          <a:bodyPr>
            <a:normAutofit/>
          </a:bodyPr>
          <a:lstStyle/>
          <a:p>
            <a:r>
              <a:rPr lang="en-US" b="1" dirty="0"/>
              <a:t>Working Principle: The Photovoltaic Effect</a:t>
            </a:r>
          </a:p>
          <a:p>
            <a:pPr lvl="1"/>
            <a:r>
              <a:rPr lang="en-US" dirty="0"/>
              <a:t>When sunlight strikes the PV cell:</a:t>
            </a:r>
          </a:p>
          <a:p>
            <a:pPr lvl="1"/>
            <a:r>
              <a:rPr lang="en-US" b="1" dirty="0"/>
              <a:t>Step 1: Light Absorption</a:t>
            </a:r>
          </a:p>
          <a:p>
            <a:pPr lvl="2"/>
            <a:r>
              <a:rPr lang="en-US" dirty="0"/>
              <a:t>Photons from sunlight hit the semiconductor material.</a:t>
            </a:r>
          </a:p>
          <a:p>
            <a:pPr lvl="2"/>
            <a:r>
              <a:rPr lang="en-US" dirty="0"/>
              <a:t>If photon energy ≥ bandgap energy, electrons are </a:t>
            </a:r>
            <a:r>
              <a:rPr lang="en-US" b="1" dirty="0"/>
              <a:t>excited</a:t>
            </a:r>
            <a:r>
              <a:rPr lang="en-US" dirty="0"/>
              <a:t> from the valence band to the conduction band.</a:t>
            </a:r>
          </a:p>
          <a:p>
            <a:pPr lvl="2"/>
            <a:r>
              <a:rPr lang="en-US" dirty="0"/>
              <a:t>This creates </a:t>
            </a:r>
            <a:r>
              <a:rPr lang="en-US" b="1" dirty="0"/>
              <a:t>electron–hole pairs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Step 2: Charge Separation</a:t>
            </a:r>
          </a:p>
          <a:p>
            <a:pPr lvl="2"/>
            <a:r>
              <a:rPr lang="en-US" dirty="0"/>
              <a:t>At the </a:t>
            </a:r>
            <a:r>
              <a:rPr lang="en-US" b="1" dirty="0"/>
              <a:t>p–n junction</a:t>
            </a:r>
            <a:r>
              <a:rPr lang="en-US" dirty="0"/>
              <a:t>, there is a built-in electric field that automatically separates the charges: </a:t>
            </a:r>
          </a:p>
          <a:p>
            <a:pPr lvl="3"/>
            <a:r>
              <a:rPr lang="en-US" dirty="0"/>
              <a:t>Electrons move toward the </a:t>
            </a:r>
            <a:r>
              <a:rPr lang="en-US" b="1" dirty="0"/>
              <a:t>n-type layer</a:t>
            </a:r>
            <a:endParaRPr lang="en-US" dirty="0"/>
          </a:p>
          <a:p>
            <a:pPr lvl="3"/>
            <a:r>
              <a:rPr lang="en-US" dirty="0"/>
              <a:t>Holes move toward the </a:t>
            </a:r>
            <a:r>
              <a:rPr lang="en-US" b="1" dirty="0"/>
              <a:t>p-type layer</a:t>
            </a:r>
          </a:p>
          <a:p>
            <a:pPr lvl="2"/>
            <a:r>
              <a:rPr lang="en-US" dirty="0"/>
              <a:t>This prevents recombination.</a:t>
            </a:r>
          </a:p>
          <a:p>
            <a:pPr lvl="3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723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000B-FBF5-E696-5126-7EE39E5E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power extraction using PV-Cells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0DD91-7808-B56F-31D0-DBCADE43A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79077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Step 3: Current Flow</a:t>
            </a:r>
          </a:p>
          <a:p>
            <a:pPr lvl="2"/>
            <a:r>
              <a:rPr lang="en-US" dirty="0"/>
              <a:t>External metallic contacts allow electrons to flow through a </a:t>
            </a:r>
            <a:r>
              <a:rPr lang="en-US" b="1" dirty="0"/>
              <a:t>load</a:t>
            </a:r>
            <a:r>
              <a:rPr lang="en-US" dirty="0"/>
              <a:t> (bulb, battery, inverter).</a:t>
            </a:r>
          </a:p>
          <a:p>
            <a:pPr lvl="2"/>
            <a:r>
              <a:rPr lang="en-US" dirty="0"/>
              <a:t>This flow of electrons is </a:t>
            </a:r>
            <a:r>
              <a:rPr lang="en-US" b="1" dirty="0"/>
              <a:t>electric current (DC power)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After passing through the load, electrons return to the p-type layer through the </a:t>
            </a:r>
            <a:r>
              <a:rPr lang="en-US" b="1" dirty="0"/>
              <a:t>back metal contact</a:t>
            </a:r>
            <a:r>
              <a:rPr lang="en-US" dirty="0"/>
              <a:t>, completing the circuit and allowing continuous current flow as long as light is present.</a:t>
            </a:r>
          </a:p>
          <a:p>
            <a:pPr lvl="1"/>
            <a:r>
              <a:rPr lang="en-US" b="1" dirty="0"/>
              <a:t>Step 4: Power Generation</a:t>
            </a:r>
          </a:p>
          <a:p>
            <a:pPr lvl="2"/>
            <a:r>
              <a:rPr lang="en-US" dirty="0"/>
              <a:t>The PV cell generates:</a:t>
            </a:r>
          </a:p>
          <a:p>
            <a:pPr lvl="3"/>
            <a:r>
              <a:rPr lang="en-US" b="1" dirty="0"/>
              <a:t>Voltage (typically ~0.5–0.6 V per silicon cell)</a:t>
            </a:r>
            <a:endParaRPr lang="en-US" dirty="0"/>
          </a:p>
          <a:p>
            <a:pPr lvl="3"/>
            <a:r>
              <a:rPr lang="en-US" b="1" dirty="0"/>
              <a:t>Current depending on sunlight intensity</a:t>
            </a:r>
            <a:endParaRPr lang="en-US" dirty="0"/>
          </a:p>
          <a:p>
            <a:pPr lvl="2"/>
            <a:r>
              <a:rPr lang="en-US" dirty="0"/>
              <a:t>Multiple cells are connected in:</a:t>
            </a:r>
          </a:p>
          <a:p>
            <a:pPr lvl="3"/>
            <a:r>
              <a:rPr lang="en-US" b="1" dirty="0"/>
              <a:t>Series</a:t>
            </a:r>
            <a:r>
              <a:rPr lang="en-US" dirty="0"/>
              <a:t> → increases voltage</a:t>
            </a:r>
          </a:p>
          <a:p>
            <a:pPr lvl="3"/>
            <a:r>
              <a:rPr lang="en-US" b="1" dirty="0"/>
              <a:t>Parallel</a:t>
            </a:r>
            <a:r>
              <a:rPr lang="en-US" dirty="0"/>
              <a:t> → increases current</a:t>
            </a:r>
          </a:p>
          <a:p>
            <a:pPr lvl="2"/>
            <a:r>
              <a:rPr lang="en-US" dirty="0"/>
              <a:t>This forms </a:t>
            </a:r>
            <a:r>
              <a:rPr lang="en-US" b="1" dirty="0"/>
              <a:t>PV modules</a:t>
            </a:r>
            <a:r>
              <a:rPr lang="en-US" dirty="0"/>
              <a:t> and </a:t>
            </a:r>
            <a:r>
              <a:rPr lang="en-US" b="1" dirty="0"/>
              <a:t>PV arrays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85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2E6D-C421-8CD1-489C-1F31F367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power extraction using PV-Cells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A52BF-9C39-F17A-50EF-9ECC39093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Power Extraction &amp; Maximum Power Point</a:t>
                </a:r>
              </a:p>
              <a:p>
                <a:pPr lvl="1"/>
                <a:r>
                  <a:rPr lang="en-US" dirty="0"/>
                  <a:t>The power output is: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a PV cell’s voltage and current vary with:</a:t>
                </a:r>
              </a:p>
              <a:p>
                <a:pPr lvl="2"/>
                <a:r>
                  <a:rPr lang="en-US" dirty="0"/>
                  <a:t>Sunlight intensity</a:t>
                </a:r>
              </a:p>
              <a:p>
                <a:pPr lvl="2"/>
                <a:r>
                  <a:rPr lang="en-US" dirty="0"/>
                  <a:t>Temperature</a:t>
                </a:r>
              </a:p>
              <a:p>
                <a:pPr lvl="2"/>
                <a:r>
                  <a:rPr lang="en-US" dirty="0"/>
                  <a:t>Load resistance</a:t>
                </a:r>
              </a:p>
              <a:p>
                <a:pPr lvl="1"/>
                <a:r>
                  <a:rPr lang="en-US" dirty="0"/>
                  <a:t>So, the system uses </a:t>
                </a:r>
                <a:r>
                  <a:rPr lang="en-US" b="1" dirty="0"/>
                  <a:t>Maximum Power Point Tracking (MPPT)</a:t>
                </a:r>
                <a:r>
                  <a:rPr lang="en-US" dirty="0"/>
                  <a:t> to extract the </a:t>
                </a:r>
                <a:r>
                  <a:rPr lang="en-US" b="1" dirty="0"/>
                  <a:t>maximum possible power</a:t>
                </a:r>
                <a:r>
                  <a:rPr lang="en-US" dirty="0"/>
                  <a:t> by adjusting voltage/current dynamically.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A52BF-9C39-F17A-50EF-9ECC39093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66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E0FEB-5925-A6F5-D236-E73BD5DF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power extraction using PV-Cells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0C37-903F-16DA-2B73-E719D4B6D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Components of a Solar Power Extraction System</a:t>
            </a:r>
          </a:p>
          <a:p>
            <a:pPr lvl="1"/>
            <a:r>
              <a:rPr lang="en-IN" b="1" dirty="0"/>
              <a:t>PV Panels</a:t>
            </a:r>
            <a:r>
              <a:rPr lang="en-IN" dirty="0"/>
              <a:t> – produce DC electricity</a:t>
            </a:r>
          </a:p>
          <a:p>
            <a:pPr lvl="1"/>
            <a:r>
              <a:rPr lang="en-IN" b="1" dirty="0"/>
              <a:t>MPPT Charge Controller</a:t>
            </a:r>
            <a:r>
              <a:rPr lang="en-IN" dirty="0"/>
              <a:t> – optimizes power extraction</a:t>
            </a:r>
          </a:p>
          <a:p>
            <a:pPr lvl="1"/>
            <a:r>
              <a:rPr lang="en-IN" b="1" dirty="0"/>
              <a:t>Battery Storage</a:t>
            </a:r>
            <a:r>
              <a:rPr lang="en-IN" dirty="0"/>
              <a:t> (optional) – stores power</a:t>
            </a:r>
          </a:p>
          <a:p>
            <a:pPr lvl="1"/>
            <a:r>
              <a:rPr lang="en-IN" b="1" dirty="0"/>
              <a:t>Inverter</a:t>
            </a:r>
            <a:r>
              <a:rPr lang="en-IN" dirty="0"/>
              <a:t> – converts DC to AC for home/industrial use</a:t>
            </a:r>
          </a:p>
          <a:p>
            <a:pPr lvl="1"/>
            <a:r>
              <a:rPr lang="en-IN" b="1" dirty="0"/>
              <a:t>Load</a:t>
            </a:r>
            <a:r>
              <a:rPr lang="en-IN" dirty="0"/>
              <a:t> – appliances, grid,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14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711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SOLAR CELL</vt:lpstr>
      <vt:lpstr>SOLAR CELL</vt:lpstr>
      <vt:lpstr>SOLAR CELL</vt:lpstr>
      <vt:lpstr>SOLAR CELL</vt:lpstr>
      <vt:lpstr>PowerPoint Presentation</vt:lpstr>
      <vt:lpstr>Solar power extraction using PV-Cells</vt:lpstr>
      <vt:lpstr>Solar power extraction using PV-Cells</vt:lpstr>
      <vt:lpstr>Solar power extraction using PV-Cells</vt:lpstr>
      <vt:lpstr>Solar power extraction using PV-Cells</vt:lpstr>
      <vt:lpstr>Solar power extraction using PV-Cells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2025-12-15T04:19:13Z</dcterms:created>
  <dcterms:modified xsi:type="dcterms:W3CDTF">2025-12-15T04:20:17Z</dcterms:modified>
</cp:coreProperties>
</file>