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0" r:id="rId2"/>
    <p:sldId id="368" r:id="rId3"/>
    <p:sldId id="371" r:id="rId4"/>
    <p:sldId id="301" r:id="rId5"/>
    <p:sldId id="372" r:id="rId6"/>
    <p:sldId id="298" r:id="rId7"/>
    <p:sldId id="29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B9988-0354-A40E-9E40-E663229420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FCA6FD-4116-0A60-A443-7CB2E5A53B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E18070-3B09-7B9B-0C58-287FD853BAD2}"/>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5" name="Footer Placeholder 4">
            <a:extLst>
              <a:ext uri="{FF2B5EF4-FFF2-40B4-BE49-F238E27FC236}">
                <a16:creationId xmlns:a16="http://schemas.microsoft.com/office/drawing/2014/main" id="{CBE69516-B673-C0C6-0CF8-C5654AB037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6AD5A-45B3-1900-6912-814F4A0B9C60}"/>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3513825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70675-C2BF-F92A-1CFE-F4605A8D42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B72D9C-8214-00D8-35EC-70E7071E29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28C93E-77D0-C425-F167-6908AC32EB11}"/>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5" name="Footer Placeholder 4">
            <a:extLst>
              <a:ext uri="{FF2B5EF4-FFF2-40B4-BE49-F238E27FC236}">
                <a16:creationId xmlns:a16="http://schemas.microsoft.com/office/drawing/2014/main" id="{997CFA54-A922-8BC5-AB6A-A04CD174D8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A8D1E7-C90A-C2D7-5887-F11FB64CA7DD}"/>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3343743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9A08D-0338-DD36-1543-F0A7362676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79FB13E-0095-7E09-AB29-5856B3BC62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D1AB8B-989F-D5EC-1C9E-D8255F108F5C}"/>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5" name="Footer Placeholder 4">
            <a:extLst>
              <a:ext uri="{FF2B5EF4-FFF2-40B4-BE49-F238E27FC236}">
                <a16:creationId xmlns:a16="http://schemas.microsoft.com/office/drawing/2014/main" id="{2CF5A9D2-8524-2F41-D7B1-E481DF9DED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B7775B-B279-833F-A39D-26E436A93E36}"/>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2297311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7E8AE-2777-AAD0-B272-19E692F7D4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8EA476-F573-5AD5-8755-EEE8478296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4BBF70-E482-F518-8070-A5DDE547DE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47DE40-670D-29F8-143D-26A7BBEA291A}"/>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6" name="Footer Placeholder 5">
            <a:extLst>
              <a:ext uri="{FF2B5EF4-FFF2-40B4-BE49-F238E27FC236}">
                <a16:creationId xmlns:a16="http://schemas.microsoft.com/office/drawing/2014/main" id="{86E9D893-ADD0-815D-0640-13ECDB611E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0687EA-E13E-D583-5E91-92AF4742C9F6}"/>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2552026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C74D-02F0-EF3C-3A6D-2987AAB7C0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0299BC-094B-7B15-A3C8-73C72FF301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D31A73-06D4-338A-3798-DC4F3CC173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CDF720-16A8-7E31-C19D-B69A9C33C2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C57138-AAB4-0454-DDF0-D26273357A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C45ACD-88FB-B3F8-F0B5-D300C98FF30C}"/>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8" name="Footer Placeholder 7">
            <a:extLst>
              <a:ext uri="{FF2B5EF4-FFF2-40B4-BE49-F238E27FC236}">
                <a16:creationId xmlns:a16="http://schemas.microsoft.com/office/drawing/2014/main" id="{D6E66D4B-DB24-A050-0F98-DCC8F7035B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5611DAF-7794-F5E1-71AB-6DF8DC1471AB}"/>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3891397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0DCD0-4F4E-4100-76C4-0B7FA622A2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39B80D-1BC8-2FAA-F512-2578D6794C56}"/>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4" name="Footer Placeholder 3">
            <a:extLst>
              <a:ext uri="{FF2B5EF4-FFF2-40B4-BE49-F238E27FC236}">
                <a16:creationId xmlns:a16="http://schemas.microsoft.com/office/drawing/2014/main" id="{826AC011-0C85-7684-40A8-79A4D7ECFC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C6388C8-6546-2A13-3671-B35D1084E668}"/>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2526308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5BBBDC-4CD8-1E48-95CB-B6F159C04B95}"/>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3" name="Footer Placeholder 2">
            <a:extLst>
              <a:ext uri="{FF2B5EF4-FFF2-40B4-BE49-F238E27FC236}">
                <a16:creationId xmlns:a16="http://schemas.microsoft.com/office/drawing/2014/main" id="{7513471B-1993-AF28-D8F5-43186AB58F7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88FA0A8-A157-BEC9-FCAB-7458882BD7BF}"/>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1505545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D880-AA9F-A30C-16D6-EDFB354B8A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AFFA46-D31D-BD6B-10D1-43FE82B746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2069AF-4120-B57D-3DD2-AD441E505D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269373-F205-E0AE-6768-D02ECC5EFCB9}"/>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6" name="Footer Placeholder 5">
            <a:extLst>
              <a:ext uri="{FF2B5EF4-FFF2-40B4-BE49-F238E27FC236}">
                <a16:creationId xmlns:a16="http://schemas.microsoft.com/office/drawing/2014/main" id="{298AF0B7-6950-9250-38A0-07645940A0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7964F4-597D-CE53-0FC8-CF1ABFC0422D}"/>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395116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E486D-5041-DBD4-313B-B1E122C15D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B37D64-5F5F-0FFA-9117-406F512E0B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B0287E-2609-15DD-B188-D75AB61781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8688D2-851D-657A-BD97-0E4421587A17}"/>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6" name="Footer Placeholder 5">
            <a:extLst>
              <a:ext uri="{FF2B5EF4-FFF2-40B4-BE49-F238E27FC236}">
                <a16:creationId xmlns:a16="http://schemas.microsoft.com/office/drawing/2014/main" id="{839DEA6D-ED74-D2C8-CF9D-DFA1705E93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988E8B-1208-189B-656D-FA4280243A99}"/>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726829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655CD-0572-6E81-CB2A-6E415FB8ED4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2F8F74-0E8D-2042-539F-D1B831A7E5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A0D7A5-1B73-F6EA-3972-1682FF5E3791}"/>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5" name="Footer Placeholder 4">
            <a:extLst>
              <a:ext uri="{FF2B5EF4-FFF2-40B4-BE49-F238E27FC236}">
                <a16:creationId xmlns:a16="http://schemas.microsoft.com/office/drawing/2014/main" id="{05FDAE18-994D-C610-BC23-BFD8AFD0FF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BFAA91-05A4-2AC7-76B4-098415A95AF2}"/>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688346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9658A2-6FE8-6E6F-413B-BF0B287FBAF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850C63-4F47-4199-591C-BA3A514D8C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D22BD6-3D89-D80E-AECA-F55A9958915A}"/>
              </a:ext>
            </a:extLst>
          </p:cNvPr>
          <p:cNvSpPr>
            <a:spLocks noGrp="1"/>
          </p:cNvSpPr>
          <p:nvPr>
            <p:ph type="dt" sz="half" idx="10"/>
          </p:nvPr>
        </p:nvSpPr>
        <p:spPr/>
        <p:txBody>
          <a:bodyPr/>
          <a:lstStyle/>
          <a:p>
            <a:fld id="{00952497-1138-417A-8D3A-B604AA0A6BC7}" type="datetimeFigureOut">
              <a:rPr lang="en-IN" smtClean="0"/>
              <a:t>30-12-2025</a:t>
            </a:fld>
            <a:endParaRPr lang="en-IN"/>
          </a:p>
        </p:txBody>
      </p:sp>
      <p:sp>
        <p:nvSpPr>
          <p:cNvPr id="5" name="Footer Placeholder 4">
            <a:extLst>
              <a:ext uri="{FF2B5EF4-FFF2-40B4-BE49-F238E27FC236}">
                <a16:creationId xmlns:a16="http://schemas.microsoft.com/office/drawing/2014/main" id="{AC55DF91-EBE8-59BE-31B7-E63D8599AE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E7DE75-8F79-EE11-A3B8-6F775FE534A4}"/>
              </a:ext>
            </a:extLst>
          </p:cNvPr>
          <p:cNvSpPr>
            <a:spLocks noGrp="1"/>
          </p:cNvSpPr>
          <p:nvPr>
            <p:ph type="sldNum" sz="quarter" idx="12"/>
          </p:nvPr>
        </p:nvSpPr>
        <p:spPr/>
        <p:txBody>
          <a:bodyPr/>
          <a:lstStyle/>
          <a:p>
            <a:fld id="{1AAC3B41-DB7C-41A1-A5E2-A055594CA542}" type="slidenum">
              <a:rPr lang="en-IN" smtClean="0"/>
              <a:t>‹#›</a:t>
            </a:fld>
            <a:endParaRPr lang="en-IN"/>
          </a:p>
        </p:txBody>
      </p:sp>
    </p:spTree>
    <p:extLst>
      <p:ext uri="{BB962C8B-B14F-4D97-AF65-F5344CB8AC3E}">
        <p14:creationId xmlns:p14="http://schemas.microsoft.com/office/powerpoint/2010/main" val="1531904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E2637F-AC61-474E-26F2-D1C0C0548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D35263-9418-D95F-6FE7-6715A6D54D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A67EA4-69F6-A3B3-055A-F26572FB8A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952497-1138-417A-8D3A-B604AA0A6BC7}" type="datetimeFigureOut">
              <a:rPr lang="en-IN" smtClean="0"/>
              <a:t>30-12-2025</a:t>
            </a:fld>
            <a:endParaRPr lang="en-IN"/>
          </a:p>
        </p:txBody>
      </p:sp>
      <p:sp>
        <p:nvSpPr>
          <p:cNvPr id="5" name="Footer Placeholder 4">
            <a:extLst>
              <a:ext uri="{FF2B5EF4-FFF2-40B4-BE49-F238E27FC236}">
                <a16:creationId xmlns:a16="http://schemas.microsoft.com/office/drawing/2014/main" id="{F9EC1868-6C89-3751-20AE-4266BFAAE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4EABE7-B85D-E923-44C3-5178110993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AC3B41-DB7C-41A1-A5E2-A055594CA542}" type="slidenum">
              <a:rPr lang="en-IN" smtClean="0"/>
              <a:t>‹#›</a:t>
            </a:fld>
            <a:endParaRPr lang="en-IN"/>
          </a:p>
        </p:txBody>
      </p:sp>
    </p:spTree>
    <p:extLst>
      <p:ext uri="{BB962C8B-B14F-4D97-AF65-F5344CB8AC3E}">
        <p14:creationId xmlns:p14="http://schemas.microsoft.com/office/powerpoint/2010/main" val="23624171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B2FDE-C767-4346-56DF-D12C9C2F8F54}"/>
              </a:ext>
            </a:extLst>
          </p:cNvPr>
          <p:cNvSpPr>
            <a:spLocks noGrp="1"/>
          </p:cNvSpPr>
          <p:nvPr>
            <p:ph type="title"/>
          </p:nvPr>
        </p:nvSpPr>
        <p:spPr/>
        <p:txBody>
          <a:bodyPr/>
          <a:lstStyle/>
          <a:p>
            <a:r>
              <a:rPr lang="en-US" i="0" dirty="0">
                <a:solidFill>
                  <a:srgbClr val="3B3B3B"/>
                </a:solidFill>
                <a:effectLst/>
              </a:rPr>
              <a:t>Maximum Power Point Tracking (</a:t>
            </a:r>
            <a:r>
              <a:rPr lang="en-IN" dirty="0"/>
              <a:t>MPPT)</a:t>
            </a:r>
          </a:p>
        </p:txBody>
      </p:sp>
      <p:sp>
        <p:nvSpPr>
          <p:cNvPr id="3" name="Content Placeholder 2">
            <a:extLst>
              <a:ext uri="{FF2B5EF4-FFF2-40B4-BE49-F238E27FC236}">
                <a16:creationId xmlns:a16="http://schemas.microsoft.com/office/drawing/2014/main" id="{8D36BD08-6895-48E2-1BAC-BEE199579F18}"/>
              </a:ext>
            </a:extLst>
          </p:cNvPr>
          <p:cNvSpPr>
            <a:spLocks noGrp="1"/>
          </p:cNvSpPr>
          <p:nvPr>
            <p:ph idx="1"/>
          </p:nvPr>
        </p:nvSpPr>
        <p:spPr>
          <a:xfrm>
            <a:off x="838199" y="1610140"/>
            <a:ext cx="10860157" cy="4999382"/>
          </a:xfrm>
        </p:spPr>
        <p:txBody>
          <a:bodyPr>
            <a:normAutofit/>
          </a:bodyPr>
          <a:lstStyle/>
          <a:p>
            <a:pPr algn="l" rtl="0" fontAlgn="base"/>
            <a:r>
              <a:rPr lang="en-US" sz="2400" b="0" i="0" dirty="0">
                <a:solidFill>
                  <a:srgbClr val="3B3B3B"/>
                </a:solidFill>
                <a:effectLst/>
              </a:rPr>
              <a:t>A way of extracting maximum power from solar panels under all conditions. </a:t>
            </a:r>
          </a:p>
          <a:p>
            <a:pPr algn="l" rtl="0" fontAlgn="base"/>
            <a:r>
              <a:rPr lang="en-US" sz="2400" b="0" i="0" dirty="0">
                <a:solidFill>
                  <a:srgbClr val="3B3B3B"/>
                </a:solidFill>
                <a:effectLst/>
              </a:rPr>
              <a:t>Solar panels are easily affected by changes in temperature and operating conditions that they produce a non-linear and impure output. </a:t>
            </a:r>
          </a:p>
          <a:p>
            <a:pPr algn="l" rtl="0" fontAlgn="base"/>
            <a:r>
              <a:rPr lang="en-US" sz="2400" b="1" i="0" dirty="0">
                <a:solidFill>
                  <a:srgbClr val="3B3B3B"/>
                </a:solidFill>
                <a:effectLst/>
              </a:rPr>
              <a:t>MPPT system</a:t>
            </a:r>
            <a:r>
              <a:rPr lang="en-US" sz="2400" b="0" i="0" dirty="0">
                <a:solidFill>
                  <a:srgbClr val="3B3B3B"/>
                </a:solidFill>
                <a:effectLst/>
              </a:rPr>
              <a:t> is used to sample the output of the PV cells and apply the proper resistance (load) to obtain maximum power for any given environmental conditions.</a:t>
            </a:r>
          </a:p>
          <a:p>
            <a:pPr algn="l" rtl="0" fontAlgn="base"/>
            <a:r>
              <a:rPr lang="en-US" sz="2400" b="0" i="0" dirty="0">
                <a:solidFill>
                  <a:srgbClr val="3B3B3B"/>
                </a:solidFill>
                <a:effectLst/>
              </a:rPr>
              <a:t>The major principle of MPPT is to extract the maximum available power from PV module by making them operate at the most efficient voltage (maximum power point). </a:t>
            </a:r>
          </a:p>
          <a:p>
            <a:pPr algn="l" rtl="0" fontAlgn="base"/>
            <a:r>
              <a:rPr lang="en-US" sz="2400" b="0" i="0" dirty="0">
                <a:solidFill>
                  <a:srgbClr val="3B3B3B"/>
                </a:solidFill>
                <a:effectLst/>
              </a:rPr>
              <a:t>MPPT checks output of solar panels module, compares it to battery voltage then fixes what is the best power that panel can produce to charge the battery and converts it to the best voltage to get maximum current into battery. It can also supply power to a DC load, which is connected directly to the battery.</a:t>
            </a:r>
          </a:p>
        </p:txBody>
      </p:sp>
    </p:spTree>
    <p:extLst>
      <p:ext uri="{BB962C8B-B14F-4D97-AF65-F5344CB8AC3E}">
        <p14:creationId xmlns:p14="http://schemas.microsoft.com/office/powerpoint/2010/main" val="3508660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7D8EA-F466-C76C-97F2-4F0202FE1E9B}"/>
              </a:ext>
            </a:extLst>
          </p:cNvPr>
          <p:cNvSpPr>
            <a:spLocks noGrp="1"/>
          </p:cNvSpPr>
          <p:nvPr>
            <p:ph type="title"/>
          </p:nvPr>
        </p:nvSpPr>
        <p:spPr/>
        <p:txBody>
          <a:bodyPr/>
          <a:lstStyle/>
          <a:p>
            <a:r>
              <a:rPr lang="en-US" dirty="0">
                <a:solidFill>
                  <a:srgbClr val="3B3B3B"/>
                </a:solidFill>
              </a:rPr>
              <a:t>Maximum Power Point Tracking (</a:t>
            </a:r>
            <a:r>
              <a:rPr lang="en-IN" dirty="0"/>
              <a:t>MPPT)</a:t>
            </a:r>
          </a:p>
        </p:txBody>
      </p:sp>
      <p:sp>
        <p:nvSpPr>
          <p:cNvPr id="3" name="Content Placeholder 2">
            <a:extLst>
              <a:ext uri="{FF2B5EF4-FFF2-40B4-BE49-F238E27FC236}">
                <a16:creationId xmlns:a16="http://schemas.microsoft.com/office/drawing/2014/main" id="{E13609D3-6105-FFA6-ABBA-A360B394D453}"/>
              </a:ext>
            </a:extLst>
          </p:cNvPr>
          <p:cNvSpPr>
            <a:spLocks noGrp="1"/>
          </p:cNvSpPr>
          <p:nvPr>
            <p:ph idx="1"/>
          </p:nvPr>
        </p:nvSpPr>
        <p:spPr>
          <a:xfrm>
            <a:off x="838200" y="1470991"/>
            <a:ext cx="10515600" cy="5198166"/>
          </a:xfrm>
        </p:spPr>
        <p:txBody>
          <a:bodyPr>
            <a:normAutofit/>
          </a:bodyPr>
          <a:lstStyle/>
          <a:p>
            <a:pPr eaLnBrk="0" fontAlgn="base" hangingPunct="0">
              <a:lnSpc>
                <a:spcPct val="100000"/>
              </a:lnSpc>
              <a:spcBef>
                <a:spcPct val="0"/>
              </a:spcBef>
              <a:spcAft>
                <a:spcPct val="0"/>
              </a:spcAft>
            </a:pPr>
            <a:r>
              <a:rPr lang="en-US" altLang="en-US" sz="2400" dirty="0"/>
              <a:t>The </a:t>
            </a:r>
            <a:r>
              <a:rPr lang="en-US" altLang="en-US" sz="2400" b="1" dirty="0"/>
              <a:t>voltage–current (V–I)</a:t>
            </a:r>
            <a:r>
              <a:rPr lang="en-US" altLang="en-US" sz="2400" dirty="0"/>
              <a:t> and </a:t>
            </a:r>
            <a:r>
              <a:rPr lang="en-US" altLang="en-US" sz="2400" b="1" dirty="0"/>
              <a:t>power–voltage (P–V)</a:t>
            </a:r>
            <a:r>
              <a:rPr lang="en-US" altLang="en-US" sz="2400" dirty="0"/>
              <a:t> characteristics of a solar panel are </a:t>
            </a:r>
            <a:r>
              <a:rPr lang="en-US" altLang="en-US" sz="2400" b="1" dirty="0"/>
              <a:t>non-linear</a:t>
            </a:r>
            <a:r>
              <a:rPr lang="en-US" altLang="en-US" sz="2400" dirty="0"/>
              <a:t>.</a:t>
            </a:r>
          </a:p>
          <a:p>
            <a:pPr eaLnBrk="0" fontAlgn="base" hangingPunct="0">
              <a:lnSpc>
                <a:spcPct val="100000"/>
              </a:lnSpc>
              <a:spcBef>
                <a:spcPct val="0"/>
              </a:spcBef>
              <a:spcAft>
                <a:spcPct val="0"/>
              </a:spcAft>
            </a:pPr>
            <a:r>
              <a:rPr lang="en-US" altLang="en-US" sz="2400" dirty="0"/>
              <a:t>For each condition, there is </a:t>
            </a:r>
            <a:r>
              <a:rPr lang="en-US" altLang="en-US" sz="2400" b="1" dirty="0"/>
              <a:t>one operating point</a:t>
            </a:r>
            <a:r>
              <a:rPr lang="en-US" altLang="en-US" sz="2400" dirty="0"/>
              <a:t> where the product of voltage and current (power) is maximum — called the </a:t>
            </a:r>
            <a:r>
              <a:rPr lang="en-US" altLang="en-US" sz="2400" b="1" dirty="0"/>
              <a:t>Maximum Power Point (MPP)</a:t>
            </a:r>
            <a:r>
              <a:rPr lang="en-US" altLang="en-US" sz="2400" dirty="0"/>
              <a:t>.</a:t>
            </a:r>
          </a:p>
          <a:p>
            <a:pPr eaLnBrk="0" fontAlgn="base" hangingPunct="0">
              <a:lnSpc>
                <a:spcPct val="100000"/>
              </a:lnSpc>
              <a:spcBef>
                <a:spcPct val="0"/>
              </a:spcBef>
              <a:spcAft>
                <a:spcPct val="0"/>
              </a:spcAft>
            </a:pPr>
            <a:r>
              <a:rPr lang="en-US" altLang="en-US" sz="2400" dirty="0"/>
              <a:t>Without MPPT, the PV system may operate away from this point, leading to </a:t>
            </a:r>
            <a:r>
              <a:rPr lang="en-US" altLang="en-US" sz="2400" b="1" dirty="0"/>
              <a:t>power loss</a:t>
            </a:r>
            <a:r>
              <a:rPr lang="en-US" altLang="en-US" sz="2400" dirty="0"/>
              <a:t>.</a:t>
            </a:r>
          </a:p>
          <a:p>
            <a:pPr eaLnBrk="0" fontAlgn="base" hangingPunct="0">
              <a:lnSpc>
                <a:spcPct val="100000"/>
              </a:lnSpc>
              <a:spcBef>
                <a:spcPct val="0"/>
              </a:spcBef>
              <a:spcAft>
                <a:spcPct val="0"/>
              </a:spcAft>
            </a:pPr>
            <a:r>
              <a:rPr lang="en-US" altLang="en-US" sz="2400" dirty="0"/>
              <a:t>Steps:</a:t>
            </a:r>
          </a:p>
          <a:p>
            <a:pPr marL="914400" lvl="1" indent="-457200" eaLnBrk="0" fontAlgn="base" hangingPunct="0">
              <a:lnSpc>
                <a:spcPct val="100000"/>
              </a:lnSpc>
              <a:spcBef>
                <a:spcPct val="0"/>
              </a:spcBef>
              <a:spcAft>
                <a:spcPct val="0"/>
              </a:spcAft>
              <a:buFont typeface="+mj-lt"/>
              <a:buAutoNum type="arabicPeriod"/>
            </a:pPr>
            <a:r>
              <a:rPr lang="en-US" altLang="en-US" sz="2000" dirty="0"/>
              <a:t>The MPPT controller continuously measures PV voltage (V</a:t>
            </a:r>
            <a:r>
              <a:rPr lang="en-US" altLang="en-US" sz="2000" baseline="-25000" dirty="0"/>
              <a:t>PV</a:t>
            </a:r>
            <a:r>
              <a:rPr lang="en-US" altLang="en-US" sz="2000" dirty="0"/>
              <a:t>) and current (I</a:t>
            </a:r>
            <a:r>
              <a:rPr lang="en-US" altLang="en-US" sz="2000" baseline="-25000" dirty="0"/>
              <a:t>PV</a:t>
            </a:r>
            <a:r>
              <a:rPr lang="en-US" altLang="en-US" sz="2000" dirty="0"/>
              <a:t>) and power is calculated as:  P=V</a:t>
            </a:r>
            <a:r>
              <a:rPr lang="en-US" altLang="en-US" sz="2000" baseline="-25000" dirty="0"/>
              <a:t>PV</a:t>
            </a:r>
            <a:r>
              <a:rPr lang="en-US" altLang="en-US" sz="2000" dirty="0"/>
              <a:t>×I3=</a:t>
            </a:r>
            <a:r>
              <a:rPr lang="en-US" altLang="en-US" sz="2000" baseline="-25000" dirty="0"/>
              <a:t>PV</a:t>
            </a:r>
            <a:r>
              <a:rPr lang="en-US" altLang="en-US" sz="2000" dirty="0"/>
              <a:t>.</a:t>
            </a:r>
          </a:p>
          <a:p>
            <a:pPr marL="914400" lvl="1" indent="-457200" eaLnBrk="0" fontAlgn="base" hangingPunct="0">
              <a:lnSpc>
                <a:spcPct val="100000"/>
              </a:lnSpc>
              <a:spcBef>
                <a:spcPct val="0"/>
              </a:spcBef>
              <a:spcAft>
                <a:spcPct val="0"/>
              </a:spcAft>
              <a:buFont typeface="+mj-lt"/>
              <a:buAutoNum type="arabicPeriod"/>
            </a:pPr>
            <a:r>
              <a:rPr lang="en-US" sz="2000" dirty="0"/>
              <a:t>The controller compares the present power with previous values to determine whether it is moving </a:t>
            </a:r>
            <a:r>
              <a:rPr lang="en-US" sz="2000" b="1" dirty="0"/>
              <a:t>towards or away from the MPP</a:t>
            </a:r>
            <a:r>
              <a:rPr lang="en-US" sz="2000" dirty="0"/>
              <a:t>.</a:t>
            </a:r>
          </a:p>
          <a:p>
            <a:pPr marL="914400" lvl="1" indent="-457200" eaLnBrk="0" fontAlgn="base" hangingPunct="0">
              <a:lnSpc>
                <a:spcPct val="100000"/>
              </a:lnSpc>
              <a:spcBef>
                <a:spcPct val="0"/>
              </a:spcBef>
              <a:spcAft>
                <a:spcPct val="0"/>
              </a:spcAft>
              <a:buFont typeface="+mj-lt"/>
              <a:buAutoNum type="arabicPeriod"/>
            </a:pPr>
            <a:r>
              <a:rPr lang="en-US" altLang="en-US" sz="1800" dirty="0">
                <a:latin typeface="Arial" panose="020B0604020202020204" pitchFamily="34" charset="0"/>
              </a:rPr>
              <a:t>MPPT controls the </a:t>
            </a:r>
            <a:r>
              <a:rPr lang="en-US" altLang="en-US" sz="1800" b="1" dirty="0">
                <a:latin typeface="Arial" panose="020B0604020202020204" pitchFamily="34" charset="0"/>
              </a:rPr>
              <a:t>duty cycle</a:t>
            </a:r>
            <a:r>
              <a:rPr lang="en-US" altLang="en-US" sz="1800" dirty="0">
                <a:latin typeface="Arial" panose="020B0604020202020204" pitchFamily="34" charset="0"/>
              </a:rPr>
              <a:t> of a DC–DC converter (Buck, Boost, or Buck-Boost). This changes the </a:t>
            </a:r>
            <a:r>
              <a:rPr lang="en-US" altLang="en-US" sz="1800" b="1" dirty="0">
                <a:latin typeface="Arial" panose="020B0604020202020204" pitchFamily="34" charset="0"/>
              </a:rPr>
              <a:t>input impedance</a:t>
            </a:r>
            <a:r>
              <a:rPr lang="en-US" altLang="en-US" sz="1800" dirty="0">
                <a:latin typeface="Arial" panose="020B0604020202020204" pitchFamily="34" charset="0"/>
              </a:rPr>
              <a:t> seen by the PV panel. As a result, the operating voltage of the panel shifts toward the MPP.</a:t>
            </a:r>
          </a:p>
          <a:p>
            <a:pPr marL="914400" lvl="1" indent="-457200" eaLnBrk="0" fontAlgn="base" hangingPunct="0">
              <a:lnSpc>
                <a:spcPct val="100000"/>
              </a:lnSpc>
              <a:spcBef>
                <a:spcPct val="0"/>
              </a:spcBef>
              <a:spcAft>
                <a:spcPct val="0"/>
              </a:spcAft>
              <a:buFont typeface="+mj-lt"/>
              <a:buAutoNum type="arabicPeriod"/>
            </a:pPr>
            <a:r>
              <a:rPr lang="en-US" sz="1800" dirty="0"/>
              <a:t>Since sunlight and temperature change continuously, MPPT </a:t>
            </a:r>
            <a:r>
              <a:rPr lang="en-US" sz="1800" b="1" dirty="0"/>
              <a:t>keeps tracking</a:t>
            </a:r>
            <a:r>
              <a:rPr lang="en-US" sz="1800" dirty="0"/>
              <a:t> the MPP in real time.</a:t>
            </a:r>
            <a:endParaRPr lang="en-US" altLang="en-US" sz="1800" dirty="0">
              <a:latin typeface="Arial" panose="020B0604020202020204" pitchFamily="34" charset="0"/>
            </a:endParaRPr>
          </a:p>
          <a:p>
            <a:pPr marL="914400" lvl="1" indent="-457200" eaLnBrk="0" fontAlgn="base" hangingPunct="0">
              <a:lnSpc>
                <a:spcPct val="100000"/>
              </a:lnSpc>
              <a:spcBef>
                <a:spcPct val="0"/>
              </a:spcBef>
              <a:spcAft>
                <a:spcPct val="0"/>
              </a:spcAft>
              <a:buFont typeface="+mj-lt"/>
              <a:buAutoNum type="arabicPeriod"/>
            </a:pPr>
            <a:endParaRPr lang="en-US" sz="2000" dirty="0"/>
          </a:p>
          <a:p>
            <a:pPr marL="914400" lvl="1" indent="-457200" eaLnBrk="0" fontAlgn="base" hangingPunct="0">
              <a:lnSpc>
                <a:spcPct val="100000"/>
              </a:lnSpc>
              <a:spcBef>
                <a:spcPct val="0"/>
              </a:spcBef>
              <a:spcAft>
                <a:spcPct val="0"/>
              </a:spcAft>
              <a:buFont typeface="+mj-lt"/>
              <a:buAutoNum type="arabicPeriod"/>
            </a:pPr>
            <a:endParaRPr lang="en-IN" sz="2000" dirty="0"/>
          </a:p>
          <a:p>
            <a:pPr eaLnBrk="0" fontAlgn="base" hangingPunct="0">
              <a:lnSpc>
                <a:spcPct val="100000"/>
              </a:lnSpc>
              <a:spcBef>
                <a:spcPct val="0"/>
              </a:spcBef>
              <a:spcAft>
                <a:spcPct val="0"/>
              </a:spcAft>
            </a:pPr>
            <a:endParaRPr lang="en-US" altLang="en-US" sz="2400" dirty="0"/>
          </a:p>
          <a:p>
            <a:endParaRPr lang="en-IN" sz="2400" dirty="0"/>
          </a:p>
        </p:txBody>
      </p:sp>
    </p:spTree>
    <p:extLst>
      <p:ext uri="{BB962C8B-B14F-4D97-AF65-F5344CB8AC3E}">
        <p14:creationId xmlns:p14="http://schemas.microsoft.com/office/powerpoint/2010/main" val="3318303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FD288-37DD-3665-445A-73AA983CF607}"/>
              </a:ext>
            </a:extLst>
          </p:cNvPr>
          <p:cNvSpPr>
            <a:spLocks noGrp="1"/>
          </p:cNvSpPr>
          <p:nvPr>
            <p:ph type="title"/>
          </p:nvPr>
        </p:nvSpPr>
        <p:spPr/>
        <p:txBody>
          <a:bodyPr/>
          <a:lstStyle/>
          <a:p>
            <a:r>
              <a:rPr lang="en-US" dirty="0">
                <a:solidFill>
                  <a:srgbClr val="3B3B3B"/>
                </a:solidFill>
              </a:rPr>
              <a:t>Maximum Power Point Tracking (</a:t>
            </a:r>
            <a:r>
              <a:rPr lang="en-IN" dirty="0"/>
              <a:t>MPPT)</a:t>
            </a:r>
          </a:p>
        </p:txBody>
      </p:sp>
      <p:pic>
        <p:nvPicPr>
          <p:cNvPr id="5" name="Content Placeholder 4">
            <a:extLst>
              <a:ext uri="{FF2B5EF4-FFF2-40B4-BE49-F238E27FC236}">
                <a16:creationId xmlns:a16="http://schemas.microsoft.com/office/drawing/2014/main" id="{46EDA2A9-99A2-9C7F-6678-F03851F44D7D}"/>
              </a:ext>
            </a:extLst>
          </p:cNvPr>
          <p:cNvPicPr>
            <a:picLocks noGrp="1" noChangeAspect="1"/>
          </p:cNvPicPr>
          <p:nvPr>
            <p:ph idx="1"/>
          </p:nvPr>
        </p:nvPicPr>
        <p:blipFill>
          <a:blip r:embed="rId2"/>
          <a:stretch>
            <a:fillRect/>
          </a:stretch>
        </p:blipFill>
        <p:spPr>
          <a:xfrm>
            <a:off x="2142573" y="2124607"/>
            <a:ext cx="7906853" cy="3753374"/>
          </a:xfrm>
          <a:prstGeom prst="rect">
            <a:avLst/>
          </a:prstGeom>
        </p:spPr>
      </p:pic>
    </p:spTree>
    <p:extLst>
      <p:ext uri="{BB962C8B-B14F-4D97-AF65-F5344CB8AC3E}">
        <p14:creationId xmlns:p14="http://schemas.microsoft.com/office/powerpoint/2010/main" val="2049551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C9BCC-7847-D4E4-A17F-4F861B6F8B8D}"/>
              </a:ext>
            </a:extLst>
          </p:cNvPr>
          <p:cNvSpPr>
            <a:spLocks noGrp="1"/>
          </p:cNvSpPr>
          <p:nvPr>
            <p:ph type="title"/>
          </p:nvPr>
        </p:nvSpPr>
        <p:spPr/>
        <p:txBody>
          <a:bodyPr/>
          <a:lstStyle/>
          <a:p>
            <a:r>
              <a:rPr lang="en-IN" dirty="0"/>
              <a:t>MPPT</a:t>
            </a:r>
          </a:p>
        </p:txBody>
      </p:sp>
      <p:sp>
        <p:nvSpPr>
          <p:cNvPr id="3" name="Content Placeholder 2">
            <a:extLst>
              <a:ext uri="{FF2B5EF4-FFF2-40B4-BE49-F238E27FC236}">
                <a16:creationId xmlns:a16="http://schemas.microsoft.com/office/drawing/2014/main" id="{5AD802F0-2EA3-483D-2786-5B3656CEFACC}"/>
              </a:ext>
            </a:extLst>
          </p:cNvPr>
          <p:cNvSpPr>
            <a:spLocks noGrp="1"/>
          </p:cNvSpPr>
          <p:nvPr>
            <p:ph idx="1"/>
          </p:nvPr>
        </p:nvSpPr>
        <p:spPr>
          <a:xfrm>
            <a:off x="938899" y="1642304"/>
            <a:ext cx="10414901" cy="4510018"/>
          </a:xfrm>
        </p:spPr>
        <p:txBody>
          <a:bodyPr>
            <a:noAutofit/>
          </a:bodyPr>
          <a:lstStyle/>
          <a:p>
            <a:pPr algn="l" rtl="0" fontAlgn="base"/>
            <a:r>
              <a:rPr lang="en-US" sz="2400" b="0" i="0" dirty="0">
                <a:solidFill>
                  <a:srgbClr val="3B3B3B"/>
                </a:solidFill>
                <a:effectLst/>
              </a:rPr>
              <a:t>MPPT is most effective under these conditions:</a:t>
            </a:r>
          </a:p>
          <a:p>
            <a:pPr marL="457200" indent="-457200" algn="l" rtl="0" fontAlgn="base">
              <a:buFont typeface="+mj-lt"/>
              <a:buAutoNum type="arabicPeriod"/>
            </a:pPr>
            <a:r>
              <a:rPr lang="en-US" sz="2400" b="0" i="0" dirty="0">
                <a:solidFill>
                  <a:srgbClr val="3B3B3B"/>
                </a:solidFill>
                <a:effectLst/>
              </a:rPr>
              <a:t>Cold weather, cloudy or hazy days: Normally, PV module works better at cold temperatures and MPPT is utilized to extract maximum power available from them.</a:t>
            </a:r>
          </a:p>
          <a:p>
            <a:pPr marL="457200" indent="-457200" algn="l" rtl="0" fontAlgn="base">
              <a:buFont typeface="+mj-lt"/>
              <a:buAutoNum type="arabicPeriod"/>
            </a:pPr>
            <a:r>
              <a:rPr lang="en-US" sz="2400" b="0" i="0" dirty="0">
                <a:solidFill>
                  <a:srgbClr val="3B3B3B"/>
                </a:solidFill>
                <a:effectLst/>
              </a:rPr>
              <a:t>When battery is deeply discharged: MPPT can extract more current and charge the battery if the state of charge in the battery is less.</a:t>
            </a:r>
          </a:p>
          <a:p>
            <a:pPr algn="l" rtl="0" fontAlgn="base"/>
            <a:r>
              <a:rPr lang="en-US" sz="2400" b="0" i="0" dirty="0">
                <a:solidFill>
                  <a:srgbClr val="3B3B3B"/>
                </a:solidFill>
                <a:effectLst/>
              </a:rPr>
              <a:t>MPPT devices are typically integrated into a systems that provides voltage or current conversion, filtering, and regulation for driving various loads, including power grids, batteries, or motors. </a:t>
            </a:r>
          </a:p>
          <a:p>
            <a:pPr algn="l" rtl="0" fontAlgn="base"/>
            <a:r>
              <a:rPr lang="en-US" sz="2400" b="0" i="0" dirty="0">
                <a:solidFill>
                  <a:srgbClr val="3B3B3B"/>
                </a:solidFill>
                <a:effectLst/>
              </a:rPr>
              <a:t>Inverters, solar controllers, solar panels, optimizers and DC-DC converters may incorporate MPPT</a:t>
            </a:r>
          </a:p>
          <a:p>
            <a:endParaRPr lang="en-IN" sz="2400" dirty="0"/>
          </a:p>
        </p:txBody>
      </p:sp>
    </p:spTree>
    <p:extLst>
      <p:ext uri="{BB962C8B-B14F-4D97-AF65-F5344CB8AC3E}">
        <p14:creationId xmlns:p14="http://schemas.microsoft.com/office/powerpoint/2010/main" val="959790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6B875-1E1F-9B8E-DB26-6CBCE4034B8C}"/>
              </a:ext>
            </a:extLst>
          </p:cNvPr>
          <p:cNvSpPr>
            <a:spLocks noGrp="1"/>
          </p:cNvSpPr>
          <p:nvPr>
            <p:ph type="title"/>
          </p:nvPr>
        </p:nvSpPr>
        <p:spPr>
          <a:xfrm>
            <a:off x="838200" y="365125"/>
            <a:ext cx="10515600" cy="917023"/>
          </a:xfrm>
        </p:spPr>
        <p:txBody>
          <a:bodyPr>
            <a:noAutofit/>
          </a:bodyPr>
          <a:lstStyle/>
          <a:p>
            <a:r>
              <a:rPr lang="en-US" sz="2800" dirty="0"/>
              <a:t>PV (solar) inverters are commonly classified by mode of operation, system configuration</a:t>
            </a:r>
            <a:endParaRPr lang="en-IN" sz="2800" dirty="0"/>
          </a:p>
        </p:txBody>
      </p:sp>
      <p:sp>
        <p:nvSpPr>
          <p:cNvPr id="3" name="Content Placeholder 2">
            <a:extLst>
              <a:ext uri="{FF2B5EF4-FFF2-40B4-BE49-F238E27FC236}">
                <a16:creationId xmlns:a16="http://schemas.microsoft.com/office/drawing/2014/main" id="{747C0799-BCF9-319D-FC97-944DD40CEAC1}"/>
              </a:ext>
            </a:extLst>
          </p:cNvPr>
          <p:cNvSpPr>
            <a:spLocks noGrp="1"/>
          </p:cNvSpPr>
          <p:nvPr>
            <p:ph idx="1"/>
          </p:nvPr>
        </p:nvSpPr>
        <p:spPr>
          <a:xfrm>
            <a:off x="838200" y="1381539"/>
            <a:ext cx="10515600" cy="5208104"/>
          </a:xfrm>
        </p:spPr>
        <p:txBody>
          <a:bodyPr>
            <a:normAutofit/>
          </a:bodyPr>
          <a:lstStyle/>
          <a:p>
            <a:r>
              <a:rPr lang="en-US" sz="2400" b="1" dirty="0"/>
              <a:t>By mode of operation</a:t>
            </a:r>
          </a:p>
          <a:p>
            <a:pPr lvl="1"/>
            <a:r>
              <a:rPr lang="en-US" sz="2000" b="1" dirty="0"/>
              <a:t>Stand‑alone (off‑grid) inverters</a:t>
            </a:r>
            <a:r>
              <a:rPr lang="en-US" sz="2000" dirty="0"/>
              <a:t>: Supply AC to isolated loads from batteries/PV without any grid connection.​</a:t>
            </a:r>
          </a:p>
          <a:p>
            <a:pPr lvl="1"/>
            <a:r>
              <a:rPr lang="en-US" sz="2000" b="1" dirty="0"/>
              <a:t>Grid‑connected (grid‑tie) inverters</a:t>
            </a:r>
            <a:r>
              <a:rPr lang="en-US" sz="2000" dirty="0"/>
              <a:t>: Inject power into the utility grid while synchronizing voltage, frequency, and phase.​</a:t>
            </a:r>
          </a:p>
          <a:p>
            <a:pPr lvl="1"/>
            <a:r>
              <a:rPr lang="en-US" sz="2000" b="1" dirty="0"/>
              <a:t>Bimodal / hybrid inverters</a:t>
            </a:r>
            <a:r>
              <a:rPr lang="en-US" sz="2000" dirty="0"/>
              <a:t>: Can work both grid‑connected and stand‑alone (typically with battery storage), switching modes during outages.​</a:t>
            </a:r>
          </a:p>
          <a:p>
            <a:r>
              <a:rPr lang="en-US" sz="2400" b="1" dirty="0"/>
              <a:t>By system configuration / level</a:t>
            </a:r>
          </a:p>
          <a:p>
            <a:pPr lvl="1"/>
            <a:r>
              <a:rPr lang="en-US" sz="2000" b="1" dirty="0"/>
              <a:t>Central inverters:</a:t>
            </a:r>
            <a:r>
              <a:rPr lang="en-US" sz="2000" dirty="0"/>
              <a:t> One large inverter for many parallel PV strings, typically used in large utility‑scale plants (tens of kW to multi‑MW).​</a:t>
            </a:r>
          </a:p>
          <a:p>
            <a:pPr lvl="1"/>
            <a:r>
              <a:rPr lang="en-US" sz="2000" b="1" dirty="0"/>
              <a:t>String inverters: </a:t>
            </a:r>
            <a:r>
              <a:rPr lang="en-US" sz="2000" dirty="0"/>
              <a:t>One inverter per string or few strings, widely used in residential and commercial systems (hundreds of W to ~100 kW).​</a:t>
            </a:r>
          </a:p>
          <a:p>
            <a:pPr lvl="1"/>
            <a:r>
              <a:rPr lang="en-US" sz="2000" b="1" dirty="0"/>
              <a:t>Multi‑string inverters</a:t>
            </a:r>
            <a:r>
              <a:rPr lang="en-US" sz="2000" dirty="0"/>
              <a:t>: Several independent strings each with its own DC/DC stage feeding a common DC/AC inverter, improving MPPT flexibility.​</a:t>
            </a:r>
          </a:p>
          <a:p>
            <a:pPr lvl="1"/>
            <a:r>
              <a:rPr lang="en-US" sz="2000" b="1" dirty="0"/>
              <a:t>Module / microinverters</a:t>
            </a:r>
            <a:r>
              <a:rPr lang="en-US" sz="2000" dirty="0"/>
              <a:t>: One small inverter per module, performing MPPT at module level, suited to shading or complex roofs.​</a:t>
            </a:r>
          </a:p>
          <a:p>
            <a:endParaRPr lang="en-US" sz="2400" dirty="0"/>
          </a:p>
        </p:txBody>
      </p:sp>
    </p:spTree>
    <p:extLst>
      <p:ext uri="{BB962C8B-B14F-4D97-AF65-F5344CB8AC3E}">
        <p14:creationId xmlns:p14="http://schemas.microsoft.com/office/powerpoint/2010/main" val="2184103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718F6-D457-D8B8-5C2A-4C76FEE0925C}"/>
              </a:ext>
            </a:extLst>
          </p:cNvPr>
          <p:cNvSpPr>
            <a:spLocks noGrp="1"/>
          </p:cNvSpPr>
          <p:nvPr>
            <p:ph type="title"/>
          </p:nvPr>
        </p:nvSpPr>
        <p:spPr/>
        <p:txBody>
          <a:bodyPr/>
          <a:lstStyle/>
          <a:p>
            <a:r>
              <a:rPr lang="en-IN" dirty="0"/>
              <a:t>DC to DC converter</a:t>
            </a:r>
          </a:p>
        </p:txBody>
      </p:sp>
      <p:sp>
        <p:nvSpPr>
          <p:cNvPr id="3" name="Content Placeholder 2">
            <a:extLst>
              <a:ext uri="{FF2B5EF4-FFF2-40B4-BE49-F238E27FC236}">
                <a16:creationId xmlns:a16="http://schemas.microsoft.com/office/drawing/2014/main" id="{4235610D-15C1-F867-97C9-622E7E3CAFD1}"/>
              </a:ext>
            </a:extLst>
          </p:cNvPr>
          <p:cNvSpPr>
            <a:spLocks noGrp="1"/>
          </p:cNvSpPr>
          <p:nvPr>
            <p:ph idx="1"/>
          </p:nvPr>
        </p:nvSpPr>
        <p:spPr>
          <a:xfrm>
            <a:off x="838200" y="1510748"/>
            <a:ext cx="11138452" cy="5118652"/>
          </a:xfrm>
        </p:spPr>
        <p:txBody>
          <a:bodyPr>
            <a:normAutofit/>
          </a:bodyPr>
          <a:lstStyle/>
          <a:p>
            <a:r>
              <a:rPr lang="en-US" sz="2400" b="0" i="0" dirty="0">
                <a:solidFill>
                  <a:srgbClr val="3B3B3B"/>
                </a:solidFill>
                <a:effectLst/>
              </a:rPr>
              <a:t>A DC-to-DC converter or a voltage regulator is a device or circuitry that converts a source of DC from one voltage level to another. </a:t>
            </a:r>
          </a:p>
          <a:p>
            <a:r>
              <a:rPr lang="en-US" sz="2400" b="0" i="0" dirty="0">
                <a:solidFill>
                  <a:srgbClr val="3B3B3B"/>
                </a:solidFill>
                <a:effectLst/>
              </a:rPr>
              <a:t>Most solar systems come with a special type of component that is able to convert DC to DC.</a:t>
            </a:r>
          </a:p>
          <a:p>
            <a:r>
              <a:rPr lang="en-US" sz="2400" b="0" i="0" dirty="0">
                <a:solidFill>
                  <a:srgbClr val="3B3B3B"/>
                </a:solidFill>
                <a:effectLst/>
              </a:rPr>
              <a:t>Solar panels generate DC to be converted to AC for use in appliances by an inverter. </a:t>
            </a:r>
          </a:p>
          <a:p>
            <a:r>
              <a:rPr lang="en-US" sz="2400" b="0" i="0" dirty="0">
                <a:solidFill>
                  <a:srgbClr val="3B3B3B"/>
                </a:solidFill>
                <a:effectLst/>
              </a:rPr>
              <a:t>A DC/DC Converter maybe installed per solar panel to help maximize the solar energy generated. A DC-DC converter can boost the total solar energy produced by up to 30%.</a:t>
            </a:r>
          </a:p>
          <a:p>
            <a:r>
              <a:rPr lang="en-US" sz="2400" b="0" i="0" dirty="0">
                <a:solidFill>
                  <a:srgbClr val="3B3B3B"/>
                </a:solidFill>
                <a:effectLst/>
              </a:rPr>
              <a:t>It measures the power and energy produced per module, as well as the temperature and voltage of the panel. They are able to shut down the panel's DC voltage when the temperature or voltage is too high.</a:t>
            </a:r>
          </a:p>
          <a:p>
            <a:r>
              <a:rPr lang="en-US" sz="2400" b="0" i="0" dirty="0">
                <a:solidFill>
                  <a:srgbClr val="3B3B3B"/>
                </a:solidFill>
                <a:effectLst/>
              </a:rPr>
              <a:t>They operate by taking DC input from the solar panel, changing it to AC and converting it back to a different DC voltage and current to exactly match the solar panel to the battery or inverter.</a:t>
            </a:r>
            <a:endParaRPr lang="en-IN" sz="2400" dirty="0"/>
          </a:p>
        </p:txBody>
      </p:sp>
    </p:spTree>
    <p:extLst>
      <p:ext uri="{BB962C8B-B14F-4D97-AF65-F5344CB8AC3E}">
        <p14:creationId xmlns:p14="http://schemas.microsoft.com/office/powerpoint/2010/main" val="1760692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8B1EA-29DB-A111-A95E-B759E6A1E889}"/>
              </a:ext>
            </a:extLst>
          </p:cNvPr>
          <p:cNvSpPr>
            <a:spLocks noGrp="1"/>
          </p:cNvSpPr>
          <p:nvPr>
            <p:ph type="title"/>
          </p:nvPr>
        </p:nvSpPr>
        <p:spPr/>
        <p:txBody>
          <a:bodyPr/>
          <a:lstStyle/>
          <a:p>
            <a:r>
              <a:rPr lang="en-IN" dirty="0"/>
              <a:t>Examples of dc to dc converters</a:t>
            </a:r>
          </a:p>
        </p:txBody>
      </p:sp>
      <p:sp>
        <p:nvSpPr>
          <p:cNvPr id="3" name="Content Placeholder 2">
            <a:extLst>
              <a:ext uri="{FF2B5EF4-FFF2-40B4-BE49-F238E27FC236}">
                <a16:creationId xmlns:a16="http://schemas.microsoft.com/office/drawing/2014/main" id="{1AD4DEB1-64E5-4D80-D55D-5F9A15960160}"/>
              </a:ext>
            </a:extLst>
          </p:cNvPr>
          <p:cNvSpPr>
            <a:spLocks noGrp="1"/>
          </p:cNvSpPr>
          <p:nvPr>
            <p:ph idx="1"/>
          </p:nvPr>
        </p:nvSpPr>
        <p:spPr/>
        <p:txBody>
          <a:bodyPr>
            <a:noAutofit/>
          </a:bodyPr>
          <a:lstStyle/>
          <a:p>
            <a:r>
              <a:rPr lang="en-US" sz="2400" dirty="0"/>
              <a:t>Examples of DC to DC converter are</a:t>
            </a:r>
          </a:p>
          <a:p>
            <a:pPr marL="914400" lvl="1" indent="-457200">
              <a:buFont typeface="+mj-lt"/>
              <a:buAutoNum type="arabicPeriod"/>
            </a:pPr>
            <a:r>
              <a:rPr lang="en-US" sz="2000" b="1" dirty="0"/>
              <a:t>Boost converter </a:t>
            </a:r>
            <a:r>
              <a:rPr lang="en-US" sz="2000" dirty="0"/>
              <a:t>is power converter in which the panel DC input voltage is less than DC output voltage. That means the solar panel input voltage is less than the battery voltage in system.</a:t>
            </a:r>
          </a:p>
          <a:p>
            <a:pPr marL="914400" lvl="1" indent="-457200">
              <a:buFont typeface="+mj-lt"/>
              <a:buAutoNum type="arabicPeriod"/>
            </a:pPr>
            <a:r>
              <a:rPr lang="en-US" sz="2000" b="1" dirty="0"/>
              <a:t>Buck converter </a:t>
            </a:r>
            <a:r>
              <a:rPr lang="en-US" sz="2000" dirty="0"/>
              <a:t>is power converter which DC input voltage is greater than DC output voltage. That means the solar panel input voltage is greater than the battery voltage in system.</a:t>
            </a:r>
          </a:p>
          <a:p>
            <a:r>
              <a:rPr lang="en-US" sz="2400" dirty="0"/>
              <a:t>DC-DC converters are often installed at the back of a solar panel. They solve the impact of shading conditions, module mismatch, temperature variance and aging mismatch of panels.</a:t>
            </a:r>
            <a:endParaRPr lang="en-IN" sz="2400" dirty="0"/>
          </a:p>
        </p:txBody>
      </p:sp>
      <p:pic>
        <p:nvPicPr>
          <p:cNvPr id="7" name="Picture 6">
            <a:extLst>
              <a:ext uri="{FF2B5EF4-FFF2-40B4-BE49-F238E27FC236}">
                <a16:creationId xmlns:a16="http://schemas.microsoft.com/office/drawing/2014/main" id="{2316C09A-96E7-AB75-BD26-9652C2F28C09}"/>
              </a:ext>
            </a:extLst>
          </p:cNvPr>
          <p:cNvPicPr>
            <a:picLocks noChangeAspect="1"/>
          </p:cNvPicPr>
          <p:nvPr/>
        </p:nvPicPr>
        <p:blipFill>
          <a:blip r:embed="rId2"/>
          <a:stretch>
            <a:fillRect/>
          </a:stretch>
        </p:blipFill>
        <p:spPr>
          <a:xfrm>
            <a:off x="9804039" y="533431"/>
            <a:ext cx="2090057" cy="1490704"/>
          </a:xfrm>
          <a:prstGeom prst="rect">
            <a:avLst/>
          </a:prstGeom>
        </p:spPr>
      </p:pic>
    </p:spTree>
    <p:extLst>
      <p:ext uri="{BB962C8B-B14F-4D97-AF65-F5344CB8AC3E}">
        <p14:creationId xmlns:p14="http://schemas.microsoft.com/office/powerpoint/2010/main" val="798956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975</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Maximum Power Point Tracking (MPPT)</vt:lpstr>
      <vt:lpstr>Maximum Power Point Tracking (MPPT)</vt:lpstr>
      <vt:lpstr>Maximum Power Point Tracking (MPPT)</vt:lpstr>
      <vt:lpstr>MPPT</vt:lpstr>
      <vt:lpstr>PV (solar) inverters are commonly classified by mode of operation, system configuration</vt:lpstr>
      <vt:lpstr>DC to DC converter</vt:lpstr>
      <vt:lpstr>Examples of dc to dc converters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2</cp:revision>
  <dcterms:created xsi:type="dcterms:W3CDTF">2025-12-30T07:34:35Z</dcterms:created>
  <dcterms:modified xsi:type="dcterms:W3CDTF">2025-12-30T07:35:34Z</dcterms:modified>
</cp:coreProperties>
</file>