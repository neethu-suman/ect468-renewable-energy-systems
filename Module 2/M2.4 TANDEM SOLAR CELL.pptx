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88" r:id="rId2"/>
    <p:sldId id="285" r:id="rId3"/>
    <p:sldId id="349" r:id="rId4"/>
    <p:sldId id="350" r:id="rId5"/>
    <p:sldId id="286" r:id="rId6"/>
    <p:sldId id="317" r:id="rId7"/>
    <p:sldId id="351" r:id="rId8"/>
    <p:sldId id="35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84BFB-10F8-453A-8655-4CFCF7AA049C}" type="datetimeFigureOut">
              <a:rPr lang="en-IN" smtClean="0"/>
              <a:t>15-12-2025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34ED3D-843C-40A8-8F0C-33676B18057A}" type="slidenum">
              <a:rPr lang="en-IN" smtClean="0"/>
              <a:t>‹#›</a:t>
            </a:fld>
            <a:endParaRPr lang="en-IN"/>
          </a:p>
        </p:txBody>
      </p:sp>
    </p:spTree>
    <p:extLst>
      <p:ext uri="{BB962C8B-B14F-4D97-AF65-F5344CB8AC3E}">
        <p14:creationId xmlns:p14="http://schemas.microsoft.com/office/powerpoint/2010/main" val="3248961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CD54469-F73E-4ACB-87DC-7AC0E2B7FBB7}" type="slidenum">
              <a:rPr lang="en-IN" smtClean="0"/>
              <a:t>2</a:t>
            </a:fld>
            <a:endParaRPr lang="en-IN"/>
          </a:p>
        </p:txBody>
      </p:sp>
    </p:spTree>
    <p:extLst>
      <p:ext uri="{BB962C8B-B14F-4D97-AF65-F5344CB8AC3E}">
        <p14:creationId xmlns:p14="http://schemas.microsoft.com/office/powerpoint/2010/main" val="582957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FD512-0EAF-2B87-8592-9E0FC638B0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AB3B199-1769-B9C2-D392-85AB094EFE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2E88AD4-A397-771D-0B3F-C55EA4173E8C}"/>
              </a:ext>
            </a:extLst>
          </p:cNvPr>
          <p:cNvSpPr>
            <a:spLocks noGrp="1"/>
          </p:cNvSpPr>
          <p:nvPr>
            <p:ph type="dt" sz="half" idx="10"/>
          </p:nvPr>
        </p:nvSpPr>
        <p:spPr/>
        <p:txBody>
          <a:bodyPr/>
          <a:lstStyle/>
          <a:p>
            <a:fld id="{0A97546B-8331-4916-8A5E-219727F5691B}" type="datetimeFigureOut">
              <a:rPr lang="en-IN" smtClean="0"/>
              <a:t>15-12-2025</a:t>
            </a:fld>
            <a:endParaRPr lang="en-IN"/>
          </a:p>
        </p:txBody>
      </p:sp>
      <p:sp>
        <p:nvSpPr>
          <p:cNvPr id="5" name="Footer Placeholder 4">
            <a:extLst>
              <a:ext uri="{FF2B5EF4-FFF2-40B4-BE49-F238E27FC236}">
                <a16:creationId xmlns:a16="http://schemas.microsoft.com/office/drawing/2014/main" id="{C08AD934-6152-2AAA-393B-7BF0427B6C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2C2984-05CC-4C35-FBFB-5495EA1D9A18}"/>
              </a:ext>
            </a:extLst>
          </p:cNvPr>
          <p:cNvSpPr>
            <a:spLocks noGrp="1"/>
          </p:cNvSpPr>
          <p:nvPr>
            <p:ph type="sldNum" sz="quarter" idx="12"/>
          </p:nvPr>
        </p:nvSpPr>
        <p:spPr/>
        <p:txBody>
          <a:bodyPr/>
          <a:lstStyle/>
          <a:p>
            <a:fld id="{D48C7A2F-27DA-4041-A1DC-19F08D4E9BAF}" type="slidenum">
              <a:rPr lang="en-IN" smtClean="0"/>
              <a:t>‹#›</a:t>
            </a:fld>
            <a:endParaRPr lang="en-IN"/>
          </a:p>
        </p:txBody>
      </p:sp>
    </p:spTree>
    <p:extLst>
      <p:ext uri="{BB962C8B-B14F-4D97-AF65-F5344CB8AC3E}">
        <p14:creationId xmlns:p14="http://schemas.microsoft.com/office/powerpoint/2010/main" val="3198372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40E2A-A44F-F32B-541F-C3E7C3409DC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D19785-1707-7FB9-66AF-0ACB092AE1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814C1A-7C4D-7A50-66DB-39D0023F1E3D}"/>
              </a:ext>
            </a:extLst>
          </p:cNvPr>
          <p:cNvSpPr>
            <a:spLocks noGrp="1"/>
          </p:cNvSpPr>
          <p:nvPr>
            <p:ph type="dt" sz="half" idx="10"/>
          </p:nvPr>
        </p:nvSpPr>
        <p:spPr/>
        <p:txBody>
          <a:bodyPr/>
          <a:lstStyle/>
          <a:p>
            <a:fld id="{0A97546B-8331-4916-8A5E-219727F5691B}" type="datetimeFigureOut">
              <a:rPr lang="en-IN" smtClean="0"/>
              <a:t>15-12-2025</a:t>
            </a:fld>
            <a:endParaRPr lang="en-IN"/>
          </a:p>
        </p:txBody>
      </p:sp>
      <p:sp>
        <p:nvSpPr>
          <p:cNvPr id="5" name="Footer Placeholder 4">
            <a:extLst>
              <a:ext uri="{FF2B5EF4-FFF2-40B4-BE49-F238E27FC236}">
                <a16:creationId xmlns:a16="http://schemas.microsoft.com/office/drawing/2014/main" id="{44065D77-1AEE-2E9D-04AF-7E7B76A047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01DA6F-4D53-3E63-9A3F-7A5F2698AD00}"/>
              </a:ext>
            </a:extLst>
          </p:cNvPr>
          <p:cNvSpPr>
            <a:spLocks noGrp="1"/>
          </p:cNvSpPr>
          <p:nvPr>
            <p:ph type="sldNum" sz="quarter" idx="12"/>
          </p:nvPr>
        </p:nvSpPr>
        <p:spPr/>
        <p:txBody>
          <a:bodyPr/>
          <a:lstStyle/>
          <a:p>
            <a:fld id="{D48C7A2F-27DA-4041-A1DC-19F08D4E9BAF}" type="slidenum">
              <a:rPr lang="en-IN" smtClean="0"/>
              <a:t>‹#›</a:t>
            </a:fld>
            <a:endParaRPr lang="en-IN"/>
          </a:p>
        </p:txBody>
      </p:sp>
    </p:spTree>
    <p:extLst>
      <p:ext uri="{BB962C8B-B14F-4D97-AF65-F5344CB8AC3E}">
        <p14:creationId xmlns:p14="http://schemas.microsoft.com/office/powerpoint/2010/main" val="81376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401D1-987B-4BA2-213D-05A1B2E6FE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1B3C10A-03BE-8143-3AB1-D9A0592490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21FCFF-8189-7B0B-749A-9080EF13AF67}"/>
              </a:ext>
            </a:extLst>
          </p:cNvPr>
          <p:cNvSpPr>
            <a:spLocks noGrp="1"/>
          </p:cNvSpPr>
          <p:nvPr>
            <p:ph type="dt" sz="half" idx="10"/>
          </p:nvPr>
        </p:nvSpPr>
        <p:spPr/>
        <p:txBody>
          <a:bodyPr/>
          <a:lstStyle/>
          <a:p>
            <a:fld id="{0A97546B-8331-4916-8A5E-219727F5691B}" type="datetimeFigureOut">
              <a:rPr lang="en-IN" smtClean="0"/>
              <a:t>15-12-2025</a:t>
            </a:fld>
            <a:endParaRPr lang="en-IN"/>
          </a:p>
        </p:txBody>
      </p:sp>
      <p:sp>
        <p:nvSpPr>
          <p:cNvPr id="5" name="Footer Placeholder 4">
            <a:extLst>
              <a:ext uri="{FF2B5EF4-FFF2-40B4-BE49-F238E27FC236}">
                <a16:creationId xmlns:a16="http://schemas.microsoft.com/office/drawing/2014/main" id="{21DE8870-ACBC-A104-6373-044894F7BA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93AB37-C956-5E1A-B09B-6E12AF876492}"/>
              </a:ext>
            </a:extLst>
          </p:cNvPr>
          <p:cNvSpPr>
            <a:spLocks noGrp="1"/>
          </p:cNvSpPr>
          <p:nvPr>
            <p:ph type="sldNum" sz="quarter" idx="12"/>
          </p:nvPr>
        </p:nvSpPr>
        <p:spPr/>
        <p:txBody>
          <a:bodyPr/>
          <a:lstStyle/>
          <a:p>
            <a:fld id="{D48C7A2F-27DA-4041-A1DC-19F08D4E9BAF}" type="slidenum">
              <a:rPr lang="en-IN" smtClean="0"/>
              <a:t>‹#›</a:t>
            </a:fld>
            <a:endParaRPr lang="en-IN"/>
          </a:p>
        </p:txBody>
      </p:sp>
    </p:spTree>
    <p:extLst>
      <p:ext uri="{BB962C8B-B14F-4D97-AF65-F5344CB8AC3E}">
        <p14:creationId xmlns:p14="http://schemas.microsoft.com/office/powerpoint/2010/main" val="2617254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95BD9-4D20-8C7C-F699-EDF5533555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5D0E8E-ED0F-DCF5-824C-070953D4E6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94E86A9-C623-104C-F1DA-EEB2308059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C40815-1B26-9EF3-63E8-15EC8CF8A920}"/>
              </a:ext>
            </a:extLst>
          </p:cNvPr>
          <p:cNvSpPr>
            <a:spLocks noGrp="1"/>
          </p:cNvSpPr>
          <p:nvPr>
            <p:ph type="dt" sz="half" idx="10"/>
          </p:nvPr>
        </p:nvSpPr>
        <p:spPr/>
        <p:txBody>
          <a:bodyPr/>
          <a:lstStyle/>
          <a:p>
            <a:fld id="{0A97546B-8331-4916-8A5E-219727F5691B}" type="datetimeFigureOut">
              <a:rPr lang="en-IN" smtClean="0"/>
              <a:t>15-12-2025</a:t>
            </a:fld>
            <a:endParaRPr lang="en-IN"/>
          </a:p>
        </p:txBody>
      </p:sp>
      <p:sp>
        <p:nvSpPr>
          <p:cNvPr id="6" name="Footer Placeholder 5">
            <a:extLst>
              <a:ext uri="{FF2B5EF4-FFF2-40B4-BE49-F238E27FC236}">
                <a16:creationId xmlns:a16="http://schemas.microsoft.com/office/drawing/2014/main" id="{E7904D7F-3E22-1347-2B76-CAAAA3DBAC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C63A74-18DF-66A9-2078-7800CDF3BE59}"/>
              </a:ext>
            </a:extLst>
          </p:cNvPr>
          <p:cNvSpPr>
            <a:spLocks noGrp="1"/>
          </p:cNvSpPr>
          <p:nvPr>
            <p:ph type="sldNum" sz="quarter" idx="12"/>
          </p:nvPr>
        </p:nvSpPr>
        <p:spPr/>
        <p:txBody>
          <a:bodyPr/>
          <a:lstStyle/>
          <a:p>
            <a:fld id="{D48C7A2F-27DA-4041-A1DC-19F08D4E9BAF}" type="slidenum">
              <a:rPr lang="en-IN" smtClean="0"/>
              <a:t>‹#›</a:t>
            </a:fld>
            <a:endParaRPr lang="en-IN"/>
          </a:p>
        </p:txBody>
      </p:sp>
    </p:spTree>
    <p:extLst>
      <p:ext uri="{BB962C8B-B14F-4D97-AF65-F5344CB8AC3E}">
        <p14:creationId xmlns:p14="http://schemas.microsoft.com/office/powerpoint/2010/main" val="3326063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D8A49-E285-7A2B-1A99-46C96C6759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5A7243-FAF3-7CA0-602A-D5F134ABA3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A419AE-D669-A231-2ED7-A92715FBEC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BA9F5BE-1B92-51FC-F750-31B4291C7D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6916A2-1B98-CA69-013B-9BD14085D6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A70CDE4-E3B8-0120-64D9-5C1FCA3D1BA9}"/>
              </a:ext>
            </a:extLst>
          </p:cNvPr>
          <p:cNvSpPr>
            <a:spLocks noGrp="1"/>
          </p:cNvSpPr>
          <p:nvPr>
            <p:ph type="dt" sz="half" idx="10"/>
          </p:nvPr>
        </p:nvSpPr>
        <p:spPr/>
        <p:txBody>
          <a:bodyPr/>
          <a:lstStyle/>
          <a:p>
            <a:fld id="{0A97546B-8331-4916-8A5E-219727F5691B}" type="datetimeFigureOut">
              <a:rPr lang="en-IN" smtClean="0"/>
              <a:t>15-12-2025</a:t>
            </a:fld>
            <a:endParaRPr lang="en-IN"/>
          </a:p>
        </p:txBody>
      </p:sp>
      <p:sp>
        <p:nvSpPr>
          <p:cNvPr id="8" name="Footer Placeholder 7">
            <a:extLst>
              <a:ext uri="{FF2B5EF4-FFF2-40B4-BE49-F238E27FC236}">
                <a16:creationId xmlns:a16="http://schemas.microsoft.com/office/drawing/2014/main" id="{11AF832B-5221-269B-CB16-89BC1335DCF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33E3F23-CFB6-F894-D10A-CA9717E4BDF4}"/>
              </a:ext>
            </a:extLst>
          </p:cNvPr>
          <p:cNvSpPr>
            <a:spLocks noGrp="1"/>
          </p:cNvSpPr>
          <p:nvPr>
            <p:ph type="sldNum" sz="quarter" idx="12"/>
          </p:nvPr>
        </p:nvSpPr>
        <p:spPr/>
        <p:txBody>
          <a:bodyPr/>
          <a:lstStyle/>
          <a:p>
            <a:fld id="{D48C7A2F-27DA-4041-A1DC-19F08D4E9BAF}" type="slidenum">
              <a:rPr lang="en-IN" smtClean="0"/>
              <a:t>‹#›</a:t>
            </a:fld>
            <a:endParaRPr lang="en-IN"/>
          </a:p>
        </p:txBody>
      </p:sp>
    </p:spTree>
    <p:extLst>
      <p:ext uri="{BB962C8B-B14F-4D97-AF65-F5344CB8AC3E}">
        <p14:creationId xmlns:p14="http://schemas.microsoft.com/office/powerpoint/2010/main" val="1066158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60AE5-CB00-DACB-8E59-A5E86B16B6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AE412BD-41EE-23C1-8A82-5CF5672451E1}"/>
              </a:ext>
            </a:extLst>
          </p:cNvPr>
          <p:cNvSpPr>
            <a:spLocks noGrp="1"/>
          </p:cNvSpPr>
          <p:nvPr>
            <p:ph type="dt" sz="half" idx="10"/>
          </p:nvPr>
        </p:nvSpPr>
        <p:spPr/>
        <p:txBody>
          <a:bodyPr/>
          <a:lstStyle/>
          <a:p>
            <a:fld id="{0A97546B-8331-4916-8A5E-219727F5691B}" type="datetimeFigureOut">
              <a:rPr lang="en-IN" smtClean="0"/>
              <a:t>15-12-2025</a:t>
            </a:fld>
            <a:endParaRPr lang="en-IN"/>
          </a:p>
        </p:txBody>
      </p:sp>
      <p:sp>
        <p:nvSpPr>
          <p:cNvPr id="4" name="Footer Placeholder 3">
            <a:extLst>
              <a:ext uri="{FF2B5EF4-FFF2-40B4-BE49-F238E27FC236}">
                <a16:creationId xmlns:a16="http://schemas.microsoft.com/office/drawing/2014/main" id="{769F891E-F0D9-791D-BBE9-081AD1A0560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9BECE1B-140E-76FC-FD13-AC200F149078}"/>
              </a:ext>
            </a:extLst>
          </p:cNvPr>
          <p:cNvSpPr>
            <a:spLocks noGrp="1"/>
          </p:cNvSpPr>
          <p:nvPr>
            <p:ph type="sldNum" sz="quarter" idx="12"/>
          </p:nvPr>
        </p:nvSpPr>
        <p:spPr/>
        <p:txBody>
          <a:bodyPr/>
          <a:lstStyle/>
          <a:p>
            <a:fld id="{D48C7A2F-27DA-4041-A1DC-19F08D4E9BAF}" type="slidenum">
              <a:rPr lang="en-IN" smtClean="0"/>
              <a:t>‹#›</a:t>
            </a:fld>
            <a:endParaRPr lang="en-IN"/>
          </a:p>
        </p:txBody>
      </p:sp>
    </p:spTree>
    <p:extLst>
      <p:ext uri="{BB962C8B-B14F-4D97-AF65-F5344CB8AC3E}">
        <p14:creationId xmlns:p14="http://schemas.microsoft.com/office/powerpoint/2010/main" val="1313346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C386FA-1FC2-4925-13F1-830642DEFE54}"/>
              </a:ext>
            </a:extLst>
          </p:cNvPr>
          <p:cNvSpPr>
            <a:spLocks noGrp="1"/>
          </p:cNvSpPr>
          <p:nvPr>
            <p:ph type="dt" sz="half" idx="10"/>
          </p:nvPr>
        </p:nvSpPr>
        <p:spPr/>
        <p:txBody>
          <a:bodyPr/>
          <a:lstStyle/>
          <a:p>
            <a:fld id="{0A97546B-8331-4916-8A5E-219727F5691B}" type="datetimeFigureOut">
              <a:rPr lang="en-IN" smtClean="0"/>
              <a:t>15-12-2025</a:t>
            </a:fld>
            <a:endParaRPr lang="en-IN"/>
          </a:p>
        </p:txBody>
      </p:sp>
      <p:sp>
        <p:nvSpPr>
          <p:cNvPr id="3" name="Footer Placeholder 2">
            <a:extLst>
              <a:ext uri="{FF2B5EF4-FFF2-40B4-BE49-F238E27FC236}">
                <a16:creationId xmlns:a16="http://schemas.microsoft.com/office/drawing/2014/main" id="{8263B8DB-3927-AAC9-5302-1EF655AE542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CC82E69-5299-1889-78BE-C61EE18C4A9F}"/>
              </a:ext>
            </a:extLst>
          </p:cNvPr>
          <p:cNvSpPr>
            <a:spLocks noGrp="1"/>
          </p:cNvSpPr>
          <p:nvPr>
            <p:ph type="sldNum" sz="quarter" idx="12"/>
          </p:nvPr>
        </p:nvSpPr>
        <p:spPr/>
        <p:txBody>
          <a:bodyPr/>
          <a:lstStyle/>
          <a:p>
            <a:fld id="{D48C7A2F-27DA-4041-A1DC-19F08D4E9BAF}" type="slidenum">
              <a:rPr lang="en-IN" smtClean="0"/>
              <a:t>‹#›</a:t>
            </a:fld>
            <a:endParaRPr lang="en-IN"/>
          </a:p>
        </p:txBody>
      </p:sp>
    </p:spTree>
    <p:extLst>
      <p:ext uri="{BB962C8B-B14F-4D97-AF65-F5344CB8AC3E}">
        <p14:creationId xmlns:p14="http://schemas.microsoft.com/office/powerpoint/2010/main" val="3613000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AF864-67D0-5514-FE9E-3B0BA4FB22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CF30C2E-7F09-B63C-F34B-E933C1B71C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443CBBA-A9C5-625D-8478-36BACF20B6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E86242-7FA1-BEA1-2029-E32ED38099E1}"/>
              </a:ext>
            </a:extLst>
          </p:cNvPr>
          <p:cNvSpPr>
            <a:spLocks noGrp="1"/>
          </p:cNvSpPr>
          <p:nvPr>
            <p:ph type="dt" sz="half" idx="10"/>
          </p:nvPr>
        </p:nvSpPr>
        <p:spPr/>
        <p:txBody>
          <a:bodyPr/>
          <a:lstStyle/>
          <a:p>
            <a:fld id="{0A97546B-8331-4916-8A5E-219727F5691B}" type="datetimeFigureOut">
              <a:rPr lang="en-IN" smtClean="0"/>
              <a:t>15-12-2025</a:t>
            </a:fld>
            <a:endParaRPr lang="en-IN"/>
          </a:p>
        </p:txBody>
      </p:sp>
      <p:sp>
        <p:nvSpPr>
          <p:cNvPr id="6" name="Footer Placeholder 5">
            <a:extLst>
              <a:ext uri="{FF2B5EF4-FFF2-40B4-BE49-F238E27FC236}">
                <a16:creationId xmlns:a16="http://schemas.microsoft.com/office/drawing/2014/main" id="{FE465D40-37CF-9D27-4BA5-3EB702320D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2D4F38-A587-40F1-9710-CF41B2422042}"/>
              </a:ext>
            </a:extLst>
          </p:cNvPr>
          <p:cNvSpPr>
            <a:spLocks noGrp="1"/>
          </p:cNvSpPr>
          <p:nvPr>
            <p:ph type="sldNum" sz="quarter" idx="12"/>
          </p:nvPr>
        </p:nvSpPr>
        <p:spPr/>
        <p:txBody>
          <a:bodyPr/>
          <a:lstStyle/>
          <a:p>
            <a:fld id="{D48C7A2F-27DA-4041-A1DC-19F08D4E9BAF}" type="slidenum">
              <a:rPr lang="en-IN" smtClean="0"/>
              <a:t>‹#›</a:t>
            </a:fld>
            <a:endParaRPr lang="en-IN"/>
          </a:p>
        </p:txBody>
      </p:sp>
    </p:spTree>
    <p:extLst>
      <p:ext uri="{BB962C8B-B14F-4D97-AF65-F5344CB8AC3E}">
        <p14:creationId xmlns:p14="http://schemas.microsoft.com/office/powerpoint/2010/main" val="2728760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CDAB3-1FCC-DFD2-77E7-4400C8ACA5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29B140F-3A90-C877-A90C-5AC67276E9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2FD97D8-E2D6-7932-011F-DF025FCF15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ED8F3D-1FB7-6C9F-D9A8-668B24E9D4B4}"/>
              </a:ext>
            </a:extLst>
          </p:cNvPr>
          <p:cNvSpPr>
            <a:spLocks noGrp="1"/>
          </p:cNvSpPr>
          <p:nvPr>
            <p:ph type="dt" sz="half" idx="10"/>
          </p:nvPr>
        </p:nvSpPr>
        <p:spPr/>
        <p:txBody>
          <a:bodyPr/>
          <a:lstStyle/>
          <a:p>
            <a:fld id="{0A97546B-8331-4916-8A5E-219727F5691B}" type="datetimeFigureOut">
              <a:rPr lang="en-IN" smtClean="0"/>
              <a:t>15-12-2025</a:t>
            </a:fld>
            <a:endParaRPr lang="en-IN"/>
          </a:p>
        </p:txBody>
      </p:sp>
      <p:sp>
        <p:nvSpPr>
          <p:cNvPr id="6" name="Footer Placeholder 5">
            <a:extLst>
              <a:ext uri="{FF2B5EF4-FFF2-40B4-BE49-F238E27FC236}">
                <a16:creationId xmlns:a16="http://schemas.microsoft.com/office/drawing/2014/main" id="{A212C7D4-5606-4914-53F6-0331F05A52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8E6AD1-6E90-C011-4D61-CB5AE0DCC24A}"/>
              </a:ext>
            </a:extLst>
          </p:cNvPr>
          <p:cNvSpPr>
            <a:spLocks noGrp="1"/>
          </p:cNvSpPr>
          <p:nvPr>
            <p:ph type="sldNum" sz="quarter" idx="12"/>
          </p:nvPr>
        </p:nvSpPr>
        <p:spPr/>
        <p:txBody>
          <a:bodyPr/>
          <a:lstStyle/>
          <a:p>
            <a:fld id="{D48C7A2F-27DA-4041-A1DC-19F08D4E9BAF}" type="slidenum">
              <a:rPr lang="en-IN" smtClean="0"/>
              <a:t>‹#›</a:t>
            </a:fld>
            <a:endParaRPr lang="en-IN"/>
          </a:p>
        </p:txBody>
      </p:sp>
    </p:spTree>
    <p:extLst>
      <p:ext uri="{BB962C8B-B14F-4D97-AF65-F5344CB8AC3E}">
        <p14:creationId xmlns:p14="http://schemas.microsoft.com/office/powerpoint/2010/main" val="4108180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12AAB-A7E9-CA7D-CD74-65DC88670E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BEFE76-166C-23E9-91E9-811AB36257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91FC55-D6E6-8423-B278-AB5406F79DF5}"/>
              </a:ext>
            </a:extLst>
          </p:cNvPr>
          <p:cNvSpPr>
            <a:spLocks noGrp="1"/>
          </p:cNvSpPr>
          <p:nvPr>
            <p:ph type="dt" sz="half" idx="10"/>
          </p:nvPr>
        </p:nvSpPr>
        <p:spPr/>
        <p:txBody>
          <a:bodyPr/>
          <a:lstStyle/>
          <a:p>
            <a:fld id="{0A97546B-8331-4916-8A5E-219727F5691B}" type="datetimeFigureOut">
              <a:rPr lang="en-IN" smtClean="0"/>
              <a:t>15-12-2025</a:t>
            </a:fld>
            <a:endParaRPr lang="en-IN"/>
          </a:p>
        </p:txBody>
      </p:sp>
      <p:sp>
        <p:nvSpPr>
          <p:cNvPr id="5" name="Footer Placeholder 4">
            <a:extLst>
              <a:ext uri="{FF2B5EF4-FFF2-40B4-BE49-F238E27FC236}">
                <a16:creationId xmlns:a16="http://schemas.microsoft.com/office/drawing/2014/main" id="{AB94980A-56B5-FFFE-EFE8-199EA406CE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496952-22A4-12D9-4E3F-D1A1C8FC36AB}"/>
              </a:ext>
            </a:extLst>
          </p:cNvPr>
          <p:cNvSpPr>
            <a:spLocks noGrp="1"/>
          </p:cNvSpPr>
          <p:nvPr>
            <p:ph type="sldNum" sz="quarter" idx="12"/>
          </p:nvPr>
        </p:nvSpPr>
        <p:spPr/>
        <p:txBody>
          <a:bodyPr/>
          <a:lstStyle/>
          <a:p>
            <a:fld id="{D48C7A2F-27DA-4041-A1DC-19F08D4E9BAF}" type="slidenum">
              <a:rPr lang="en-IN" smtClean="0"/>
              <a:t>‹#›</a:t>
            </a:fld>
            <a:endParaRPr lang="en-IN"/>
          </a:p>
        </p:txBody>
      </p:sp>
    </p:spTree>
    <p:extLst>
      <p:ext uri="{BB962C8B-B14F-4D97-AF65-F5344CB8AC3E}">
        <p14:creationId xmlns:p14="http://schemas.microsoft.com/office/powerpoint/2010/main" val="937081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802EC8-869C-C505-BFAB-424FB3E215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E6A0EB-3688-2D61-BC23-065305C40F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620DF2-60F1-D5BB-81C0-43F24D4F458F}"/>
              </a:ext>
            </a:extLst>
          </p:cNvPr>
          <p:cNvSpPr>
            <a:spLocks noGrp="1"/>
          </p:cNvSpPr>
          <p:nvPr>
            <p:ph type="dt" sz="half" idx="10"/>
          </p:nvPr>
        </p:nvSpPr>
        <p:spPr/>
        <p:txBody>
          <a:bodyPr/>
          <a:lstStyle/>
          <a:p>
            <a:fld id="{0A97546B-8331-4916-8A5E-219727F5691B}" type="datetimeFigureOut">
              <a:rPr lang="en-IN" smtClean="0"/>
              <a:t>15-12-2025</a:t>
            </a:fld>
            <a:endParaRPr lang="en-IN"/>
          </a:p>
        </p:txBody>
      </p:sp>
      <p:sp>
        <p:nvSpPr>
          <p:cNvPr id="5" name="Footer Placeholder 4">
            <a:extLst>
              <a:ext uri="{FF2B5EF4-FFF2-40B4-BE49-F238E27FC236}">
                <a16:creationId xmlns:a16="http://schemas.microsoft.com/office/drawing/2014/main" id="{829D7055-2CEE-BE8B-CC23-55AE214652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C1F9E9-AB3D-FACC-EC0C-F40CC815206A}"/>
              </a:ext>
            </a:extLst>
          </p:cNvPr>
          <p:cNvSpPr>
            <a:spLocks noGrp="1"/>
          </p:cNvSpPr>
          <p:nvPr>
            <p:ph type="sldNum" sz="quarter" idx="12"/>
          </p:nvPr>
        </p:nvSpPr>
        <p:spPr/>
        <p:txBody>
          <a:bodyPr/>
          <a:lstStyle/>
          <a:p>
            <a:fld id="{D48C7A2F-27DA-4041-A1DC-19F08D4E9BAF}" type="slidenum">
              <a:rPr lang="en-IN" smtClean="0"/>
              <a:t>‹#›</a:t>
            </a:fld>
            <a:endParaRPr lang="en-IN"/>
          </a:p>
        </p:txBody>
      </p:sp>
    </p:spTree>
    <p:extLst>
      <p:ext uri="{BB962C8B-B14F-4D97-AF65-F5344CB8AC3E}">
        <p14:creationId xmlns:p14="http://schemas.microsoft.com/office/powerpoint/2010/main" val="1080673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B5BAA3-F978-4C03-3D7C-B2F8063606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B3B628-726C-A31B-319D-FFD96E113B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B1271E-C245-F030-1A97-C18E35372B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97546B-8331-4916-8A5E-219727F5691B}" type="datetimeFigureOut">
              <a:rPr lang="en-IN" smtClean="0"/>
              <a:t>15-12-2025</a:t>
            </a:fld>
            <a:endParaRPr lang="en-IN"/>
          </a:p>
        </p:txBody>
      </p:sp>
      <p:sp>
        <p:nvSpPr>
          <p:cNvPr id="5" name="Footer Placeholder 4">
            <a:extLst>
              <a:ext uri="{FF2B5EF4-FFF2-40B4-BE49-F238E27FC236}">
                <a16:creationId xmlns:a16="http://schemas.microsoft.com/office/drawing/2014/main" id="{8892B37B-6F72-4A8F-4D23-5978247E79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ECC8A6A-CE22-81C2-1F4D-E124042630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8C7A2F-27DA-4041-A1DC-19F08D4E9BAF}" type="slidenum">
              <a:rPr lang="en-IN" smtClean="0"/>
              <a:t>‹#›</a:t>
            </a:fld>
            <a:endParaRPr lang="en-IN"/>
          </a:p>
        </p:txBody>
      </p:sp>
    </p:spTree>
    <p:extLst>
      <p:ext uri="{BB962C8B-B14F-4D97-AF65-F5344CB8AC3E}">
        <p14:creationId xmlns:p14="http://schemas.microsoft.com/office/powerpoint/2010/main" val="2828565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34D11-28A2-C766-AD15-F399B29F907A}"/>
              </a:ext>
            </a:extLst>
          </p:cNvPr>
          <p:cNvSpPr>
            <a:spLocks noGrp="1"/>
          </p:cNvSpPr>
          <p:nvPr>
            <p:ph type="title"/>
          </p:nvPr>
        </p:nvSpPr>
        <p:spPr/>
        <p:txBody>
          <a:bodyPr/>
          <a:lstStyle/>
          <a:p>
            <a:r>
              <a:rPr lang="en-IN" dirty="0"/>
              <a:t>WHY TANDEM SOLAR CELLS</a:t>
            </a:r>
          </a:p>
        </p:txBody>
      </p:sp>
      <p:pic>
        <p:nvPicPr>
          <p:cNvPr id="5" name="Content Placeholder 4">
            <a:extLst>
              <a:ext uri="{FF2B5EF4-FFF2-40B4-BE49-F238E27FC236}">
                <a16:creationId xmlns:a16="http://schemas.microsoft.com/office/drawing/2014/main" id="{41EB0ABD-F4DC-6306-CE04-E1852D7C663E}"/>
              </a:ext>
            </a:extLst>
          </p:cNvPr>
          <p:cNvPicPr>
            <a:picLocks noGrp="1" noChangeAspect="1"/>
          </p:cNvPicPr>
          <p:nvPr>
            <p:ph idx="1"/>
          </p:nvPr>
        </p:nvPicPr>
        <p:blipFill>
          <a:blip r:embed="rId2"/>
          <a:stretch>
            <a:fillRect/>
          </a:stretch>
        </p:blipFill>
        <p:spPr>
          <a:xfrm>
            <a:off x="7583390" y="596207"/>
            <a:ext cx="4608610" cy="3150845"/>
          </a:xfrm>
        </p:spPr>
      </p:pic>
      <p:pic>
        <p:nvPicPr>
          <p:cNvPr id="7" name="Picture 6">
            <a:extLst>
              <a:ext uri="{FF2B5EF4-FFF2-40B4-BE49-F238E27FC236}">
                <a16:creationId xmlns:a16="http://schemas.microsoft.com/office/drawing/2014/main" id="{DC100AA3-4CA6-7B8C-9E93-DC4828F16A90}"/>
              </a:ext>
            </a:extLst>
          </p:cNvPr>
          <p:cNvPicPr>
            <a:picLocks noChangeAspect="1"/>
          </p:cNvPicPr>
          <p:nvPr/>
        </p:nvPicPr>
        <p:blipFill>
          <a:blip r:embed="rId3"/>
          <a:stretch>
            <a:fillRect/>
          </a:stretch>
        </p:blipFill>
        <p:spPr>
          <a:xfrm>
            <a:off x="997269" y="1499997"/>
            <a:ext cx="6755253" cy="4856353"/>
          </a:xfrm>
          <a:prstGeom prst="rect">
            <a:avLst/>
          </a:prstGeom>
        </p:spPr>
      </p:pic>
    </p:spTree>
    <p:extLst>
      <p:ext uri="{BB962C8B-B14F-4D97-AF65-F5344CB8AC3E}">
        <p14:creationId xmlns:p14="http://schemas.microsoft.com/office/powerpoint/2010/main" val="176988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13AE5-1A69-66C2-7865-C484BD8A7E4E}"/>
              </a:ext>
            </a:extLst>
          </p:cNvPr>
          <p:cNvSpPr>
            <a:spLocks noGrp="1"/>
          </p:cNvSpPr>
          <p:nvPr>
            <p:ph type="title"/>
          </p:nvPr>
        </p:nvSpPr>
        <p:spPr>
          <a:xfrm>
            <a:off x="838200" y="365125"/>
            <a:ext cx="10515600" cy="1325563"/>
          </a:xfrm>
        </p:spPr>
        <p:txBody>
          <a:bodyPr/>
          <a:lstStyle/>
          <a:p>
            <a:r>
              <a:rPr lang="en-IN" dirty="0"/>
              <a:t>TANDEM SOLAR CELL</a:t>
            </a:r>
          </a:p>
        </p:txBody>
      </p:sp>
      <p:sp>
        <p:nvSpPr>
          <p:cNvPr id="3" name="Content Placeholder 2">
            <a:extLst>
              <a:ext uri="{FF2B5EF4-FFF2-40B4-BE49-F238E27FC236}">
                <a16:creationId xmlns:a16="http://schemas.microsoft.com/office/drawing/2014/main" id="{EF060549-F602-5F5C-296E-30B006C46271}"/>
              </a:ext>
            </a:extLst>
          </p:cNvPr>
          <p:cNvSpPr>
            <a:spLocks noGrp="1"/>
          </p:cNvSpPr>
          <p:nvPr>
            <p:ph idx="1"/>
          </p:nvPr>
        </p:nvSpPr>
        <p:spPr>
          <a:xfrm>
            <a:off x="838200" y="1825625"/>
            <a:ext cx="10515600" cy="4895850"/>
          </a:xfrm>
        </p:spPr>
        <p:txBody>
          <a:bodyPr>
            <a:normAutofit/>
          </a:bodyPr>
          <a:lstStyle/>
          <a:p>
            <a:r>
              <a:rPr lang="en-US" sz="2400" dirty="0"/>
              <a:t>One method to increase the efficiency of a solar cell is to split the spectrum and use a solar cell that is optimized to each section of the spectrum. </a:t>
            </a:r>
          </a:p>
          <a:p>
            <a:r>
              <a:rPr lang="en-US" sz="2400" dirty="0"/>
              <a:t>Tandem solar cells can either be individual cells or connected in series. Series connected cells are simpler to fabricate but the current is the same though each cell so this contains the band gaps that can be used. </a:t>
            </a:r>
          </a:p>
          <a:p>
            <a:r>
              <a:rPr lang="en-US" sz="2400" dirty="0"/>
              <a:t>The most common arrangement for tandem cells is to grow them monolithically so that all the  cells are grown as layers on the on substrate and tunnel junctions connect the individual cells. </a:t>
            </a:r>
          </a:p>
          <a:p>
            <a:r>
              <a:rPr lang="en-US" sz="2400" dirty="0"/>
              <a:t>Tandem cells are stacks of p-n junctions, each of which is formed from a semiconductor of different bandgap energy. As the number of bandgaps increases the efficiency of the stack also potentially increases. In reality, the semiconductor materials do not exist to allow for arbitrary materials with a specific bandgap and of high quality.</a:t>
            </a:r>
            <a:endParaRPr lang="en-IN" sz="2400" dirty="0"/>
          </a:p>
        </p:txBody>
      </p:sp>
    </p:spTree>
    <p:extLst>
      <p:ext uri="{BB962C8B-B14F-4D97-AF65-F5344CB8AC3E}">
        <p14:creationId xmlns:p14="http://schemas.microsoft.com/office/powerpoint/2010/main" val="1033814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CFA93-83A4-3CE8-0A8C-19E9A688A0B3}"/>
              </a:ext>
            </a:extLst>
          </p:cNvPr>
          <p:cNvSpPr>
            <a:spLocks noGrp="1"/>
          </p:cNvSpPr>
          <p:nvPr>
            <p:ph type="title"/>
          </p:nvPr>
        </p:nvSpPr>
        <p:spPr/>
        <p:txBody>
          <a:bodyPr/>
          <a:lstStyle/>
          <a:p>
            <a:r>
              <a:rPr lang="en-IN" dirty="0"/>
              <a:t>STRUCTURE OF TANDEM CELL</a:t>
            </a:r>
          </a:p>
        </p:txBody>
      </p:sp>
      <p:pic>
        <p:nvPicPr>
          <p:cNvPr id="5" name="Content Placeholder 4">
            <a:extLst>
              <a:ext uri="{FF2B5EF4-FFF2-40B4-BE49-F238E27FC236}">
                <a16:creationId xmlns:a16="http://schemas.microsoft.com/office/drawing/2014/main" id="{363EB282-0453-5CB6-26D6-816574BC6345}"/>
              </a:ext>
            </a:extLst>
          </p:cNvPr>
          <p:cNvPicPr>
            <a:picLocks noGrp="1" noChangeAspect="1"/>
          </p:cNvPicPr>
          <p:nvPr>
            <p:ph idx="1"/>
          </p:nvPr>
        </p:nvPicPr>
        <p:blipFill>
          <a:blip r:embed="rId2"/>
          <a:stretch>
            <a:fillRect/>
          </a:stretch>
        </p:blipFill>
        <p:spPr>
          <a:xfrm>
            <a:off x="838200" y="1603105"/>
            <a:ext cx="10174357" cy="4747999"/>
          </a:xfrm>
          <a:prstGeom prst="rect">
            <a:avLst/>
          </a:prstGeom>
        </p:spPr>
      </p:pic>
    </p:spTree>
    <p:extLst>
      <p:ext uri="{BB962C8B-B14F-4D97-AF65-F5344CB8AC3E}">
        <p14:creationId xmlns:p14="http://schemas.microsoft.com/office/powerpoint/2010/main" val="3962282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0DFF8-BC93-2832-FAEA-25B27602E210}"/>
              </a:ext>
            </a:extLst>
          </p:cNvPr>
          <p:cNvSpPr>
            <a:spLocks noGrp="1"/>
          </p:cNvSpPr>
          <p:nvPr>
            <p:ph type="title"/>
          </p:nvPr>
        </p:nvSpPr>
        <p:spPr/>
        <p:txBody>
          <a:bodyPr/>
          <a:lstStyle/>
          <a:p>
            <a:r>
              <a:rPr lang="en-IN" dirty="0"/>
              <a:t>STRUCTURE OF TANDEM CELL</a:t>
            </a:r>
          </a:p>
        </p:txBody>
      </p:sp>
      <p:pic>
        <p:nvPicPr>
          <p:cNvPr id="5" name="Content Placeholder 4">
            <a:extLst>
              <a:ext uri="{FF2B5EF4-FFF2-40B4-BE49-F238E27FC236}">
                <a16:creationId xmlns:a16="http://schemas.microsoft.com/office/drawing/2014/main" id="{F4EB697B-477E-21C5-75E8-5425E706BF95}"/>
              </a:ext>
            </a:extLst>
          </p:cNvPr>
          <p:cNvPicPr>
            <a:picLocks noGrp="1" noChangeAspect="1"/>
          </p:cNvPicPr>
          <p:nvPr>
            <p:ph idx="1"/>
          </p:nvPr>
        </p:nvPicPr>
        <p:blipFill>
          <a:blip r:embed="rId2"/>
          <a:stretch>
            <a:fillRect/>
          </a:stretch>
        </p:blipFill>
        <p:spPr>
          <a:xfrm>
            <a:off x="838199" y="1981426"/>
            <a:ext cx="10885815" cy="4439251"/>
          </a:xfrm>
          <a:prstGeom prst="rect">
            <a:avLst/>
          </a:prstGeom>
        </p:spPr>
      </p:pic>
    </p:spTree>
    <p:extLst>
      <p:ext uri="{BB962C8B-B14F-4D97-AF65-F5344CB8AC3E}">
        <p14:creationId xmlns:p14="http://schemas.microsoft.com/office/powerpoint/2010/main" val="691364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8AA7E-86D6-37F4-CF25-5984C09C60B0}"/>
              </a:ext>
            </a:extLst>
          </p:cNvPr>
          <p:cNvSpPr>
            <a:spLocks noGrp="1"/>
          </p:cNvSpPr>
          <p:nvPr>
            <p:ph type="title"/>
          </p:nvPr>
        </p:nvSpPr>
        <p:spPr/>
        <p:txBody>
          <a:bodyPr/>
          <a:lstStyle/>
          <a:p>
            <a:r>
              <a:rPr lang="en-IN" dirty="0"/>
              <a:t>TANDEM SOLAR CELL</a:t>
            </a:r>
          </a:p>
        </p:txBody>
      </p:sp>
      <p:sp>
        <p:nvSpPr>
          <p:cNvPr id="3" name="Content Placeholder 2">
            <a:extLst>
              <a:ext uri="{FF2B5EF4-FFF2-40B4-BE49-F238E27FC236}">
                <a16:creationId xmlns:a16="http://schemas.microsoft.com/office/drawing/2014/main" id="{1EEDEB8F-E687-784E-58D0-2D84D6FDA7C5}"/>
              </a:ext>
            </a:extLst>
          </p:cNvPr>
          <p:cNvSpPr>
            <a:spLocks noGrp="1"/>
          </p:cNvSpPr>
          <p:nvPr>
            <p:ph idx="1"/>
          </p:nvPr>
        </p:nvSpPr>
        <p:spPr/>
        <p:txBody>
          <a:bodyPr>
            <a:normAutofit/>
          </a:bodyPr>
          <a:lstStyle/>
          <a:p>
            <a:r>
              <a:rPr lang="en-US" sz="2400" dirty="0"/>
              <a:t>A tandem solar panel consists of 2 solar cells on top of each other. </a:t>
            </a:r>
          </a:p>
          <a:p>
            <a:r>
              <a:rPr lang="en-US" sz="2400" dirty="0"/>
              <a:t>In this case the top cell is made of perovskite. (The mineral perovskite, named after the Russian mineralogist Count Lev </a:t>
            </a:r>
            <a:r>
              <a:rPr lang="en-US" sz="2400" dirty="0" err="1"/>
              <a:t>Perovski</a:t>
            </a:r>
            <a:r>
              <a:rPr lang="en-US" sz="2400" dirty="0"/>
              <a:t>, was used in solar cells for the first time in 2009. Since then, scientists have demonstrated increasing energy yields from these perovskite solar cells in the laboratory )</a:t>
            </a:r>
          </a:p>
          <a:p>
            <a:r>
              <a:rPr lang="en-US" sz="2400" dirty="0"/>
              <a:t>This cell converts part of the solar spectrum into electricity and transmits the infrared light to the bottom silicon solar cell. </a:t>
            </a:r>
          </a:p>
          <a:p>
            <a:r>
              <a:rPr lang="en-US" sz="2400" dirty="0"/>
              <a:t>The silicon bottom cell is bifacial, which also converts the diffuse light that falls on the rear side of the panel to electricity.</a:t>
            </a:r>
            <a:endParaRPr lang="en-IN" sz="2400" dirty="0"/>
          </a:p>
        </p:txBody>
      </p:sp>
    </p:spTree>
    <p:extLst>
      <p:ext uri="{BB962C8B-B14F-4D97-AF65-F5344CB8AC3E}">
        <p14:creationId xmlns:p14="http://schemas.microsoft.com/office/powerpoint/2010/main" val="4240828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45F4B-E63D-20A0-5359-0B54BAFA6C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D8E830-9424-F9A1-6CC9-1D5ACE5BBCB1}"/>
              </a:ext>
            </a:extLst>
          </p:cNvPr>
          <p:cNvSpPr>
            <a:spLocks noGrp="1"/>
          </p:cNvSpPr>
          <p:nvPr>
            <p:ph type="title"/>
          </p:nvPr>
        </p:nvSpPr>
        <p:spPr/>
        <p:txBody>
          <a:bodyPr/>
          <a:lstStyle/>
          <a:p>
            <a:r>
              <a:rPr lang="en-IN" dirty="0"/>
              <a:t>TANDEM SOLAR CELL</a:t>
            </a:r>
          </a:p>
        </p:txBody>
      </p:sp>
      <p:pic>
        <p:nvPicPr>
          <p:cNvPr id="5" name="Picture 4">
            <a:extLst>
              <a:ext uri="{FF2B5EF4-FFF2-40B4-BE49-F238E27FC236}">
                <a16:creationId xmlns:a16="http://schemas.microsoft.com/office/drawing/2014/main" id="{15F8BC36-2614-9C14-0158-0D26CBABCE35}"/>
              </a:ext>
            </a:extLst>
          </p:cNvPr>
          <p:cNvPicPr>
            <a:picLocks noChangeAspect="1"/>
          </p:cNvPicPr>
          <p:nvPr/>
        </p:nvPicPr>
        <p:blipFill>
          <a:blip r:embed="rId2"/>
          <a:stretch>
            <a:fillRect/>
          </a:stretch>
        </p:blipFill>
        <p:spPr>
          <a:xfrm>
            <a:off x="1020485" y="2006689"/>
            <a:ext cx="10225828" cy="3012572"/>
          </a:xfrm>
          <a:prstGeom prst="rect">
            <a:avLst/>
          </a:prstGeom>
        </p:spPr>
      </p:pic>
    </p:spTree>
    <p:extLst>
      <p:ext uri="{BB962C8B-B14F-4D97-AF65-F5344CB8AC3E}">
        <p14:creationId xmlns:p14="http://schemas.microsoft.com/office/powerpoint/2010/main" val="680626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20904-6A24-7ED3-D71E-72171B50A086}"/>
              </a:ext>
            </a:extLst>
          </p:cNvPr>
          <p:cNvSpPr>
            <a:spLocks noGrp="1"/>
          </p:cNvSpPr>
          <p:nvPr>
            <p:ph type="title"/>
          </p:nvPr>
        </p:nvSpPr>
        <p:spPr>
          <a:xfrm>
            <a:off x="838200" y="365125"/>
            <a:ext cx="10515600" cy="887205"/>
          </a:xfrm>
        </p:spPr>
        <p:txBody>
          <a:bodyPr>
            <a:normAutofit/>
          </a:bodyPr>
          <a:lstStyle/>
          <a:p>
            <a:r>
              <a:rPr lang="en-US" sz="3600" b="1" dirty="0"/>
              <a:t>1. Two-Terminal (Monolithic) Tandem Solar Cells</a:t>
            </a:r>
          </a:p>
        </p:txBody>
      </p:sp>
      <p:sp>
        <p:nvSpPr>
          <p:cNvPr id="3" name="Content Placeholder 2">
            <a:extLst>
              <a:ext uri="{FF2B5EF4-FFF2-40B4-BE49-F238E27FC236}">
                <a16:creationId xmlns:a16="http://schemas.microsoft.com/office/drawing/2014/main" id="{2F6503A8-AD53-B13A-F2C8-F181F5A3250F}"/>
              </a:ext>
            </a:extLst>
          </p:cNvPr>
          <p:cNvSpPr>
            <a:spLocks noGrp="1"/>
          </p:cNvSpPr>
          <p:nvPr>
            <p:ph idx="1"/>
          </p:nvPr>
        </p:nvSpPr>
        <p:spPr>
          <a:xfrm>
            <a:off x="838200" y="1630016"/>
            <a:ext cx="10870096" cy="4959627"/>
          </a:xfrm>
        </p:spPr>
        <p:txBody>
          <a:bodyPr>
            <a:normAutofit/>
          </a:bodyPr>
          <a:lstStyle/>
          <a:p>
            <a:r>
              <a:rPr lang="en-US" sz="2400" dirty="0"/>
              <a:t>Both sub-cells are grown or deposited on top of each other in a </a:t>
            </a:r>
            <a:r>
              <a:rPr lang="en-US" sz="2400" b="1" dirty="0"/>
              <a:t>single monolithic structure</a:t>
            </a:r>
            <a:r>
              <a:rPr lang="en-US" sz="2400" dirty="0"/>
              <a:t>.</a:t>
            </a:r>
          </a:p>
          <a:p>
            <a:r>
              <a:rPr lang="en-US" sz="2400" dirty="0"/>
              <a:t>They share </a:t>
            </a:r>
            <a:r>
              <a:rPr lang="en-US" sz="2400" b="1" dirty="0"/>
              <a:t>one pair of electrical terminals</a:t>
            </a:r>
            <a:r>
              <a:rPr lang="en-US" sz="2400" dirty="0"/>
              <a:t>.</a:t>
            </a:r>
          </a:p>
          <a:p>
            <a:r>
              <a:rPr lang="en-US" sz="2400" dirty="0"/>
              <a:t>The sub-cells are connected </a:t>
            </a:r>
            <a:r>
              <a:rPr lang="en-US" sz="2400" b="1" dirty="0"/>
              <a:t>in series</a:t>
            </a:r>
            <a:r>
              <a:rPr lang="en-US" sz="2400" dirty="0"/>
              <a:t> using a recombination layer (tunnel junction).</a:t>
            </a:r>
          </a:p>
          <a:p>
            <a:r>
              <a:rPr lang="en-US" sz="2400" b="1" dirty="0"/>
              <a:t>Examples: </a:t>
            </a:r>
            <a:r>
              <a:rPr lang="en-US" sz="2400" dirty="0"/>
              <a:t>Perovskite/Silicon monolithic tandem, III-V on Silicon tandem</a:t>
            </a:r>
          </a:p>
          <a:p>
            <a:r>
              <a:rPr lang="en-US" sz="2400" b="1" dirty="0"/>
              <a:t>Advantages:</a:t>
            </a:r>
          </a:p>
          <a:p>
            <a:pPr lvl="1"/>
            <a:r>
              <a:rPr lang="en-US" sz="2000" dirty="0"/>
              <a:t>Higher efficiency potential</a:t>
            </a:r>
          </a:p>
          <a:p>
            <a:pPr lvl="1"/>
            <a:r>
              <a:rPr lang="en-US" sz="2000" dirty="0"/>
              <a:t>Lower electrical losses</a:t>
            </a:r>
          </a:p>
          <a:p>
            <a:pPr lvl="1"/>
            <a:r>
              <a:rPr lang="en-US" sz="2000" dirty="0"/>
              <a:t>Compact structure</a:t>
            </a:r>
          </a:p>
          <a:p>
            <a:r>
              <a:rPr lang="en-US" sz="2400" b="1" dirty="0"/>
              <a:t>Limitations:</a:t>
            </a:r>
          </a:p>
          <a:p>
            <a:pPr lvl="1"/>
            <a:r>
              <a:rPr lang="en-US" sz="2000" dirty="0"/>
              <a:t>Current matching is required between the top and bottom cell</a:t>
            </a:r>
          </a:p>
          <a:p>
            <a:pPr lvl="1"/>
            <a:r>
              <a:rPr lang="en-US" sz="2000" dirty="0"/>
              <a:t>Complex fabrication and material compatibility issues</a:t>
            </a:r>
          </a:p>
          <a:p>
            <a:endParaRPr lang="en-IN" sz="2400" dirty="0"/>
          </a:p>
        </p:txBody>
      </p:sp>
    </p:spTree>
    <p:extLst>
      <p:ext uri="{BB962C8B-B14F-4D97-AF65-F5344CB8AC3E}">
        <p14:creationId xmlns:p14="http://schemas.microsoft.com/office/powerpoint/2010/main" val="4119276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06DA74-89F6-E7C2-E225-54557B2A8516}"/>
              </a:ext>
            </a:extLst>
          </p:cNvPr>
          <p:cNvSpPr>
            <a:spLocks noGrp="1"/>
          </p:cNvSpPr>
          <p:nvPr>
            <p:ph idx="1"/>
          </p:nvPr>
        </p:nvSpPr>
        <p:spPr>
          <a:xfrm>
            <a:off x="838199" y="516834"/>
            <a:ext cx="10880035" cy="6023113"/>
          </a:xfrm>
        </p:spPr>
        <p:txBody>
          <a:bodyPr>
            <a:normAutofit fontScale="92500"/>
          </a:bodyPr>
          <a:lstStyle/>
          <a:p>
            <a:pPr marL="0" indent="0">
              <a:buNone/>
            </a:pPr>
            <a:r>
              <a:rPr lang="en-US" sz="3600" b="1" dirty="0"/>
              <a:t>2. Four-Terminal (Mechanical / Stacked) Tandem Solar Cells</a:t>
            </a:r>
          </a:p>
          <a:p>
            <a:r>
              <a:rPr lang="en-US" sz="2600" dirty="0"/>
              <a:t>The two sub-cells are fabricated </a:t>
            </a:r>
            <a:r>
              <a:rPr lang="en-US" sz="2600" b="1" dirty="0"/>
              <a:t>independently</a:t>
            </a:r>
            <a:r>
              <a:rPr lang="en-US" sz="2600" dirty="0"/>
              <a:t> and then stacked mechanically.</a:t>
            </a:r>
          </a:p>
          <a:p>
            <a:r>
              <a:rPr lang="en-US" sz="2600" dirty="0"/>
              <a:t>Each cell has </a:t>
            </a:r>
            <a:r>
              <a:rPr lang="en-US" sz="2600" b="1" dirty="0"/>
              <a:t>its own pair of terminals</a:t>
            </a:r>
            <a:r>
              <a:rPr lang="en-US" sz="2600" dirty="0"/>
              <a:t>.</a:t>
            </a:r>
          </a:p>
          <a:p>
            <a:r>
              <a:rPr lang="en-US" sz="2600" dirty="0"/>
              <a:t>They operate </a:t>
            </a:r>
            <a:r>
              <a:rPr lang="en-US" sz="2600" b="1" dirty="0"/>
              <a:t>electrically independent</a:t>
            </a:r>
            <a:r>
              <a:rPr lang="en-US" sz="2600" dirty="0"/>
              <a:t>, no current matching required.</a:t>
            </a:r>
          </a:p>
          <a:p>
            <a:r>
              <a:rPr lang="en-US" sz="2600" b="1" dirty="0"/>
              <a:t>Examples:</a:t>
            </a:r>
          </a:p>
          <a:p>
            <a:pPr lvl="1"/>
            <a:r>
              <a:rPr lang="en-US" sz="2200" dirty="0"/>
              <a:t>Perovskite solar cell stacked over c-Si cell</a:t>
            </a:r>
          </a:p>
          <a:p>
            <a:pPr lvl="1"/>
            <a:r>
              <a:rPr lang="en-US" sz="2200" dirty="0"/>
              <a:t>Organic solar cell + Si tandem</a:t>
            </a:r>
          </a:p>
          <a:p>
            <a:r>
              <a:rPr lang="en-US" sz="2600" b="1" dirty="0"/>
              <a:t>Advantages:</a:t>
            </a:r>
          </a:p>
          <a:p>
            <a:pPr lvl="1"/>
            <a:r>
              <a:rPr lang="en-US" sz="2200" dirty="0"/>
              <a:t>No need for current matching</a:t>
            </a:r>
          </a:p>
          <a:p>
            <a:pPr lvl="1"/>
            <a:r>
              <a:rPr lang="en-US" sz="2200" dirty="0"/>
              <a:t>Easier material combination</a:t>
            </a:r>
          </a:p>
          <a:p>
            <a:pPr lvl="1"/>
            <a:r>
              <a:rPr lang="en-US" sz="2200" dirty="0"/>
              <a:t>Each cell can operate at its optimum point</a:t>
            </a:r>
          </a:p>
          <a:p>
            <a:r>
              <a:rPr lang="en-US" sz="2600" b="1" dirty="0"/>
              <a:t>Limitations:</a:t>
            </a:r>
          </a:p>
          <a:p>
            <a:pPr lvl="1"/>
            <a:r>
              <a:rPr lang="en-US" sz="2200" dirty="0"/>
              <a:t>More optical losses due to extra layers</a:t>
            </a:r>
          </a:p>
          <a:p>
            <a:pPr lvl="1"/>
            <a:r>
              <a:rPr lang="en-US" sz="2200" dirty="0"/>
              <a:t>Slightly lower efficiency potential compared to monolithic</a:t>
            </a:r>
          </a:p>
          <a:p>
            <a:endParaRPr lang="en-IN" dirty="0"/>
          </a:p>
        </p:txBody>
      </p:sp>
    </p:spTree>
    <p:extLst>
      <p:ext uri="{BB962C8B-B14F-4D97-AF65-F5344CB8AC3E}">
        <p14:creationId xmlns:p14="http://schemas.microsoft.com/office/powerpoint/2010/main" val="39721112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476</Words>
  <Application>Microsoft Office PowerPoint</Application>
  <PresentationFormat>Widescreen</PresentationFormat>
  <Paragraphs>41</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WHY TANDEM SOLAR CELLS</vt:lpstr>
      <vt:lpstr>TANDEM SOLAR CELL</vt:lpstr>
      <vt:lpstr>STRUCTURE OF TANDEM CELL</vt:lpstr>
      <vt:lpstr>STRUCTURE OF TANDEM CELL</vt:lpstr>
      <vt:lpstr>TANDEM SOLAR CELL</vt:lpstr>
      <vt:lpstr>TANDEM SOLAR CELL</vt:lpstr>
      <vt:lpstr>1. Two-Terminal (Monolithic) Tandem Solar Cells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2025-12-15T04:23:38Z</dcterms:created>
  <dcterms:modified xsi:type="dcterms:W3CDTF">2025-12-15T04:24:07Z</dcterms:modified>
</cp:coreProperties>
</file>