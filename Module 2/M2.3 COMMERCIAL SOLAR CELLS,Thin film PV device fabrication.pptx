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66" r:id="rId2"/>
    <p:sldId id="268" r:id="rId3"/>
    <p:sldId id="269" r:id="rId4"/>
    <p:sldId id="275" r:id="rId5"/>
    <p:sldId id="314" r:id="rId6"/>
    <p:sldId id="271" r:id="rId7"/>
    <p:sldId id="272" r:id="rId8"/>
    <p:sldId id="273" r:id="rId9"/>
    <p:sldId id="276" r:id="rId10"/>
    <p:sldId id="277" r:id="rId11"/>
    <p:sldId id="278" r:id="rId12"/>
    <p:sldId id="279" r:id="rId13"/>
    <p:sldId id="287" r:id="rId14"/>
    <p:sldId id="282" r:id="rId15"/>
    <p:sldId id="358" r:id="rId16"/>
    <p:sldId id="281" r:id="rId17"/>
    <p:sldId id="283" r:id="rId18"/>
    <p:sldId id="359" r:id="rId19"/>
    <p:sldId id="280" r:id="rId20"/>
    <p:sldId id="284" r:id="rId21"/>
    <p:sldId id="31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83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23F327-4728-44C3-B324-9E78FEC2405E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DA6ED3-7C73-4DC7-AE3A-5369E97CDD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473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Torr</a:t>
            </a:r>
            <a:r>
              <a:rPr lang="en-US" dirty="0"/>
              <a:t> is a unit of pressure. </a:t>
            </a:r>
            <a:r>
              <a:rPr lang="en-US" b="1" dirty="0"/>
              <a:t>1 Torr ≈ pressure of 1 mm of mercury (mmHg)</a:t>
            </a:r>
            <a:r>
              <a:rPr lang="en-US" dirty="0"/>
              <a:t>. </a:t>
            </a:r>
            <a:r>
              <a:rPr lang="en-US" b="1" dirty="0"/>
              <a:t>Normal atmospheric pressure = 760 Torr</a:t>
            </a:r>
            <a:r>
              <a:rPr lang="en-US" dirty="0"/>
              <a:t>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D54469-F73E-4ACB-87DC-7AC0E2B7FBB7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02396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FA083-9AB3-8245-BF55-4F04BE18D5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95CDED-CF76-86F4-0055-92C8C0E104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1F48BD-CB62-D29E-387F-849094028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183DF-0A9D-4760-AC9E-39F04A88A51C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6D7B30-503E-EE7C-D299-94F7EBE0F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DE6CE1-AF77-AFE7-926D-55A1CDA02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1399B-3925-4934-B202-25A9F5358F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2644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F44B6-13AE-0B8F-83DF-94B85D181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8E64A-35F4-F44A-CE8D-0946CE5C8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3603FE-98B6-6101-BEBF-1DEA07417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183DF-0A9D-4760-AC9E-39F04A88A51C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CEEDFA-9EAD-AEBF-E337-19D4F679D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F9AC0A-46A8-0A50-16B9-1F29184AC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1399B-3925-4934-B202-25A9F5358F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7601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642BD-84AD-52FC-2472-2C0BAA786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4B0119-612B-E2C3-DFFC-7ED5DE12D3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9B0900-B74C-B07A-E0D8-C23B6D5CB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183DF-0A9D-4760-AC9E-39F04A88A51C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C9DCD7-6BA2-424A-B920-FF1DE6A39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08771-5B5B-4C53-66FA-EE3E40E6D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1399B-3925-4934-B202-25A9F5358F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7188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F9B2A-F2EF-2AD2-5933-51FEDD4AF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CAC2DE-FDB6-260E-5572-E1BAA46F3E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C531F1-46AA-EDD6-AB91-4FEB0BF634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3D78BE-A203-761D-3144-965FC6578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183DF-0A9D-4760-AC9E-39F04A88A51C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90C3B3-3F77-28BF-9F0D-4BC83820D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B0238-C5E8-47AC-BCAF-31FD03058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1399B-3925-4934-B202-25A9F5358F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6379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853C4-91DD-56E3-030C-35A14CC32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7FA472-7D67-04F9-4A28-FA300FE372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68245F-5990-B8FE-ABE8-B2E9A5094B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ACD9AB-224C-867C-91F4-1DB8C97A6A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2FD47B-AC83-142C-60B5-72E60DB6A8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903E46-B7F8-6C8B-0B54-BA233F3C0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183DF-0A9D-4760-AC9E-39F04A88A51C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D83C51-EF47-F598-049C-189EAFDA3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78887C-9434-8B41-397A-3FB3468AE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1399B-3925-4934-B202-25A9F5358F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4233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32650-CC2D-3CEA-6C6F-08B4FDBA6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3F5E0C-F379-03D9-846F-BECB8083C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183DF-0A9D-4760-AC9E-39F04A88A51C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A0A3A7-00BA-129D-BC25-B72ABA439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079DB7-A787-C98D-01C0-76AC31775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1399B-3925-4934-B202-25A9F5358F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81397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8A2C87-8F1B-9120-4128-42D3FC535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183DF-0A9D-4760-AC9E-39F04A88A51C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A1DC70-DA62-A463-978A-6F1205A63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00183E-99B9-14D8-4549-2B38E20D5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1399B-3925-4934-B202-25A9F5358F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6070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5B7CB-8847-472D-8944-2F11126EC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FBC4A0-8877-6963-9B2D-4DC3FD86D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2CC4F4-5D6C-7022-BDF2-0E7EE76E3B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9768AA-A380-1BA2-450A-119D6802F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183DF-0A9D-4760-AC9E-39F04A88A51C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F80AE4-5547-5589-3818-EBC1CBB37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226D4E-42CC-F8F0-23AB-8C63BF274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1399B-3925-4934-B202-25A9F5358F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8126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EA182-E6C4-4065-187C-ED6072524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CEF214-884F-8A13-D26E-8A2C87B965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3159E1-FE4E-3172-DA58-B5FF918F6F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6ECA22-72CB-0D32-1855-7F7DC8AB2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183DF-0A9D-4760-AC9E-39F04A88A51C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667301-FA90-43AC-4DFF-F414522FA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964753-8597-1F95-6578-082A2D844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1399B-3925-4934-B202-25A9F5358F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4439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8501B-0E11-966E-DBCE-86D7EA4C4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59548A-E7DA-27CC-3844-5278D930AB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C69AC6-69CF-54CA-110A-DB34AE424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183DF-0A9D-4760-AC9E-39F04A88A51C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E51CE4-3AB2-B6F3-BC8F-C629627DB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B93D73-3AD7-926A-CB61-557A27A36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1399B-3925-4934-B202-25A9F5358F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4309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067E5D-AC51-57AD-D429-84115DCD4D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B34E6D-B2A9-65AF-B9C5-842A8152EE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0F783-ACCE-F450-4B4A-84AC101B6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183DF-0A9D-4760-AC9E-39F04A88A51C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45C9D-48B5-2429-6DFF-C33A7C9C0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FBCF6C-DBE7-73E0-DDEE-D12ED8F2F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1399B-3925-4934-B202-25A9F5358F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5417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E61BDE-94EE-C3D0-472A-50F57BE93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5BAB38-AC8E-D9ED-EE0B-DBCB35ED2D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8EEB5C-1677-0AF9-0D9C-57BBA7885E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9183DF-0A9D-4760-AC9E-39F04A88A51C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CC4B17-5204-4ED0-3E67-9CD89ADB8B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38E3B3-75F1-D72C-EE0B-4A64512383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F1399B-3925-4934-B202-25A9F5358F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6929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Plasma_(physics)" TargetMode="External"/><Relationship Id="rId3" Type="http://schemas.openxmlformats.org/officeDocument/2006/relationships/hyperlink" Target="https://en.wikipedia.org/wiki/Gas" TargetMode="External"/><Relationship Id="rId7" Type="http://schemas.openxmlformats.org/officeDocument/2006/relationships/hyperlink" Target="https://en.wikipedia.org/wiki/Chemical_reaction" TargetMode="External"/><Relationship Id="rId12" Type="http://schemas.openxmlformats.org/officeDocument/2006/relationships/hyperlink" Target="https://en.wikipedia.org/wiki/Electrode" TargetMode="External"/><Relationship Id="rId2" Type="http://schemas.openxmlformats.org/officeDocument/2006/relationships/hyperlink" Target="https://en.wikipedia.org/wiki/Chemical_vapor_deposition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Substrate_(materials_science)" TargetMode="External"/><Relationship Id="rId11" Type="http://schemas.openxmlformats.org/officeDocument/2006/relationships/hyperlink" Target="https://en.wikipedia.org/wiki/Direct_current" TargetMode="External"/><Relationship Id="rId5" Type="http://schemas.openxmlformats.org/officeDocument/2006/relationships/hyperlink" Target="https://en.wikipedia.org/wiki/Solid" TargetMode="External"/><Relationship Id="rId10" Type="http://schemas.openxmlformats.org/officeDocument/2006/relationships/hyperlink" Target="https://en.wikipedia.org/wiki/Alternating_current" TargetMode="External"/><Relationship Id="rId4" Type="http://schemas.openxmlformats.org/officeDocument/2006/relationships/hyperlink" Target="https://en.wikipedia.org/wiki/Vapor" TargetMode="External"/><Relationship Id="rId9" Type="http://schemas.openxmlformats.org/officeDocument/2006/relationships/hyperlink" Target="https://en.wikipedia.org/wiki/Radio_frequency" TargetMode="Externa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C2D53-4FBD-C684-DC0F-60B858E95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COMMERCIAL SOLAR CELLS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69EF664-1CA8-E97E-CA32-C1D4CAA06E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54835"/>
            <a:ext cx="6317974" cy="5038040"/>
          </a:xfrm>
        </p:spPr>
      </p:pic>
      <p:pic>
        <p:nvPicPr>
          <p:cNvPr id="7" name="Content Placeholder 7">
            <a:extLst>
              <a:ext uri="{FF2B5EF4-FFF2-40B4-BE49-F238E27FC236}">
                <a16:creationId xmlns:a16="http://schemas.microsoft.com/office/drawing/2014/main" id="{0D6CEECD-4EFC-CD9D-91B0-FC4276ED90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2157" y="1454835"/>
            <a:ext cx="4445225" cy="2262400"/>
          </a:xfrm>
          <a:prstGeom prst="rect">
            <a:avLst/>
          </a:prstGeom>
        </p:spPr>
      </p:pic>
      <p:pic>
        <p:nvPicPr>
          <p:cNvPr id="8" name="Content Placeholder 9">
            <a:extLst>
              <a:ext uri="{FF2B5EF4-FFF2-40B4-BE49-F238E27FC236}">
                <a16:creationId xmlns:a16="http://schemas.microsoft.com/office/drawing/2014/main" id="{B4D1E591-A033-3724-EDA5-EB8E3F2957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2157" y="3822118"/>
            <a:ext cx="4445224" cy="2670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461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8CF60-8167-F05F-3A2D-584514D25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MONO CRYSTALLINE SOLAR CELL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90E023-ACC6-14DD-E92D-FBF2864AEB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8926" y="1562877"/>
            <a:ext cx="10515599" cy="4793473"/>
          </a:xfrm>
        </p:spPr>
        <p:txBody>
          <a:bodyPr>
            <a:normAutofit/>
          </a:bodyPr>
          <a:lstStyle/>
          <a:p>
            <a:r>
              <a:rPr lang="en-US" sz="2400" b="0" i="0" dirty="0">
                <a:solidFill>
                  <a:srgbClr val="2E2E2E"/>
                </a:solidFill>
                <a:effectLst/>
              </a:rPr>
              <a:t>These cells are made from </a:t>
            </a:r>
            <a:r>
              <a:rPr lang="en-US" sz="2400" b="1" i="0" dirty="0">
                <a:solidFill>
                  <a:srgbClr val="2E2E2E"/>
                </a:solidFill>
                <a:effectLst/>
              </a:rPr>
              <a:t>pure monocrystalline silicon</a:t>
            </a:r>
            <a:r>
              <a:rPr lang="en-US" sz="2400" b="0" i="0" dirty="0">
                <a:solidFill>
                  <a:srgbClr val="2E2E2E"/>
                </a:solidFill>
                <a:effectLst/>
              </a:rPr>
              <a:t>.  </a:t>
            </a:r>
          </a:p>
          <a:p>
            <a:r>
              <a:rPr lang="en-US" sz="2400" b="0" i="0" dirty="0">
                <a:solidFill>
                  <a:srgbClr val="2E2E2E"/>
                </a:solidFill>
                <a:effectLst/>
              </a:rPr>
              <a:t>In these cells, the silicon has a single continuous crystal lattice structure with almost no defects or impurities. </a:t>
            </a:r>
          </a:p>
          <a:p>
            <a:r>
              <a:rPr lang="en-US" sz="2400" b="0" i="0" dirty="0">
                <a:solidFill>
                  <a:srgbClr val="2E2E2E"/>
                </a:solidFill>
                <a:effectLst/>
              </a:rPr>
              <a:t>The main advantage of monocrystalline cells is their high efficiency, which is typically around 15%. </a:t>
            </a:r>
          </a:p>
          <a:p>
            <a:r>
              <a:rPr lang="en-US" sz="2400" b="0" i="0" dirty="0">
                <a:solidFill>
                  <a:srgbClr val="2E2E2E"/>
                </a:solidFill>
                <a:effectLst/>
              </a:rPr>
              <a:t>Monocrystalline solar cells give a more aesthetic and premium look. </a:t>
            </a:r>
          </a:p>
          <a:p>
            <a:r>
              <a:rPr lang="en-US" sz="2400" b="0" i="0" dirty="0">
                <a:solidFill>
                  <a:srgbClr val="2E2E2E"/>
                </a:solidFill>
                <a:effectLst/>
              </a:rPr>
              <a:t>They typically have a black hue. Each corner of the cell is clipped, giving them an octagonal shape.</a:t>
            </a:r>
          </a:p>
          <a:p>
            <a:r>
              <a:rPr lang="en-US" sz="2400" b="0" i="0" dirty="0">
                <a:solidFill>
                  <a:srgbClr val="2E2E2E"/>
                </a:solidFill>
                <a:effectLst/>
              </a:rPr>
              <a:t>The disadvantage of these cells is that a complicated manufacturing process is required to produce monocrystalline silicon, which results in slightly higher costs than those of other technologies.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6344485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91D66-0F83-A097-302B-AD6237EA8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POLY CRYSTTALINE SOLAR CELL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0AF39-6091-F3FE-7DAA-9ABD8E7C36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5796"/>
            <a:ext cx="10590342" cy="3166408"/>
          </a:xfrm>
        </p:spPr>
        <p:txBody>
          <a:bodyPr>
            <a:normAutofit/>
          </a:bodyPr>
          <a:lstStyle/>
          <a:p>
            <a:pPr algn="just" fontAlgn="base"/>
            <a:r>
              <a:rPr lang="en-US" sz="2400" b="0" i="0" dirty="0">
                <a:solidFill>
                  <a:srgbClr val="4A4A4A"/>
                </a:solidFill>
                <a:effectLst/>
              </a:rPr>
              <a:t>Unlike monocrystalline, polycrystalline silicon is composed of several small crystallites. </a:t>
            </a:r>
          </a:p>
          <a:p>
            <a:pPr algn="just" fontAlgn="base"/>
            <a:r>
              <a:rPr lang="en-US" sz="2400" b="0" i="0" dirty="0">
                <a:solidFill>
                  <a:srgbClr val="4A4A4A"/>
                </a:solidFill>
                <a:effectLst/>
              </a:rPr>
              <a:t>It is a non-homogeneous material and shows a discontinuity in electrical, thermal, and crystal properties.</a:t>
            </a:r>
          </a:p>
          <a:p>
            <a:pPr algn="just" fontAlgn="base"/>
            <a:r>
              <a:rPr lang="en-US" sz="2400" b="0" i="0" dirty="0">
                <a:solidFill>
                  <a:srgbClr val="4A4A4A"/>
                </a:solidFill>
                <a:effectLst/>
              </a:rPr>
              <a:t>Because of defects in the crystal structure, poly c-Si solar cells are less efficient than mono c-Si cells. The highest lab-scale efficiency published is 22%, and in production, it falls to 18–20%.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4666554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8F7F7-D7AE-116A-27FB-6A46BE54C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395525"/>
            <a:ext cx="7729728" cy="1188720"/>
          </a:xfrm>
        </p:spPr>
        <p:txBody>
          <a:bodyPr/>
          <a:lstStyle/>
          <a:p>
            <a:r>
              <a:rPr lang="en-IN" dirty="0"/>
              <a:t>THIN FILM SOLAR CELLS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C5F5AC-4A44-881E-C372-C7659CE224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4948" y="1894113"/>
            <a:ext cx="10754342" cy="4254759"/>
          </a:xfrm>
        </p:spPr>
        <p:txBody>
          <a:bodyPr>
            <a:normAutofit/>
          </a:bodyPr>
          <a:lstStyle/>
          <a:p>
            <a:pPr algn="just"/>
            <a:r>
              <a:rPr lang="en-US" sz="2400" dirty="0"/>
              <a:t>Thin-film solar cell, type of device that is designed to convert light energy into electrical energy (through the photovoltaic effect) and is composed of micron-thick photon-absorbing material layers deposited over a flexible substrate. </a:t>
            </a:r>
          </a:p>
          <a:p>
            <a:pPr algn="just"/>
            <a:r>
              <a:rPr lang="en-US" sz="2400" dirty="0"/>
              <a:t>Thin-film solar cells were originally introduced in the 1970s by researchers at the Institute of Energy Conversion at the University of Delaware in the United States.</a:t>
            </a:r>
          </a:p>
          <a:p>
            <a:pPr algn="just"/>
            <a:r>
              <a:rPr lang="en-US" sz="2400" dirty="0"/>
              <a:t> The technology continuously improved so that in the early 21st century the global thin-film photovoltaic market was growing at an unprecedented rate and was forecast to continue to grow. 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8777481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A356C-24B4-61A6-C30D-6EB4BAEAD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B6785-758F-32E4-31C1-79ECEB835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395525"/>
            <a:ext cx="7729728" cy="1188720"/>
          </a:xfrm>
        </p:spPr>
        <p:txBody>
          <a:bodyPr/>
          <a:lstStyle/>
          <a:p>
            <a:r>
              <a:rPr lang="en-IN" dirty="0"/>
              <a:t>THIN FILM SOLAR CELLS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9E0725-A726-9705-CF44-0E3021A32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4642" y="1894113"/>
            <a:ext cx="10704647" cy="4254759"/>
          </a:xfrm>
        </p:spPr>
        <p:txBody>
          <a:bodyPr>
            <a:normAutofit/>
          </a:bodyPr>
          <a:lstStyle/>
          <a:p>
            <a:pPr algn="just" fontAlgn="base"/>
            <a:r>
              <a:rPr lang="en-US" sz="2400" dirty="0"/>
              <a:t>Several types of thin-film solar cells are widely used because of their relatively low cost and their efficiency in producing electricity.</a:t>
            </a:r>
            <a:r>
              <a:rPr lang="en-US" sz="2400" b="0" i="0" dirty="0">
                <a:solidFill>
                  <a:srgbClr val="4A4A4A"/>
                </a:solidFill>
                <a:effectLst/>
              </a:rPr>
              <a:t> Thin-film solar cells are newer photovoltaic technology and consist of one or more thin films of photovoltaic materials on a substrate. Their primary </a:t>
            </a:r>
            <a:r>
              <a:rPr lang="en-US" sz="2400" b="0" i="0" dirty="0">
                <a:solidFill>
                  <a:srgbClr val="333333"/>
                </a:solidFill>
                <a:effectLst/>
              </a:rPr>
              <a:t>advantage</a:t>
            </a:r>
            <a:r>
              <a:rPr lang="en-US" sz="2400" b="0" i="0" u="sng" dirty="0">
                <a:solidFill>
                  <a:srgbClr val="333333"/>
                </a:solidFill>
                <a:effectLst/>
              </a:rPr>
              <a:t> </a:t>
            </a:r>
            <a:r>
              <a:rPr lang="en-US" sz="2400" b="0" i="0" dirty="0">
                <a:solidFill>
                  <a:srgbClr val="333333"/>
                </a:solidFill>
                <a:effectLst/>
              </a:rPr>
              <a:t>over traditional crystalline silicon cells is cost</a:t>
            </a:r>
            <a:r>
              <a:rPr lang="en-US" sz="2400" b="0" i="0" dirty="0">
                <a:solidFill>
                  <a:srgbClr val="4A4A4A"/>
                </a:solidFill>
                <a:effectLst/>
              </a:rPr>
              <a:t>. They are cheaper. It holds </a:t>
            </a:r>
            <a:r>
              <a:rPr lang="en-US" sz="2400" b="0" i="0" dirty="0">
                <a:solidFill>
                  <a:srgbClr val="333333"/>
                </a:solidFill>
                <a:effectLst/>
              </a:rPr>
              <a:t>less than 15% of the global market</a:t>
            </a:r>
            <a:r>
              <a:rPr lang="en-US" sz="2400" b="0" i="0" dirty="0">
                <a:solidFill>
                  <a:srgbClr val="4A4A4A"/>
                </a:solidFill>
                <a:effectLst/>
              </a:rPr>
              <a:t> as of 2016.</a:t>
            </a:r>
          </a:p>
          <a:p>
            <a:pPr algn="just" fontAlgn="base"/>
            <a:r>
              <a:rPr lang="en-US" sz="2400" b="0" i="0" dirty="0">
                <a:solidFill>
                  <a:srgbClr val="4A4A4A"/>
                </a:solidFill>
                <a:effectLst/>
              </a:rPr>
              <a:t>Another advantage is flexibility. The thickness of the film is in nanometers. That makes thin-film PV cells pliable. However, we can manufacture rigid thin-film cells when the substrate used is rigid.</a:t>
            </a:r>
          </a:p>
          <a:p>
            <a:pPr algn="just" fontAlgn="base"/>
            <a:r>
              <a:rPr lang="en-IN" sz="2400" b="0" i="0" dirty="0">
                <a:solidFill>
                  <a:srgbClr val="4A4A4A"/>
                </a:solidFill>
                <a:effectLst/>
              </a:rPr>
              <a:t>Three common thin-film solar cells are cadmium telluride (</a:t>
            </a:r>
            <a:r>
              <a:rPr lang="en-IN" sz="2400" b="0" i="0" dirty="0" err="1">
                <a:solidFill>
                  <a:srgbClr val="4A4A4A"/>
                </a:solidFill>
                <a:effectLst/>
              </a:rPr>
              <a:t>CdTe</a:t>
            </a:r>
            <a:r>
              <a:rPr lang="en-IN" sz="2400" b="0" i="0" dirty="0">
                <a:solidFill>
                  <a:srgbClr val="4A4A4A"/>
                </a:solidFill>
                <a:effectLst/>
              </a:rPr>
              <a:t>), copper indium gallium selenide (CIGS), and amorphous thin-film silicon (a-Si).</a:t>
            </a:r>
            <a:endParaRPr lang="en-US" sz="2400" b="0" i="0" dirty="0">
              <a:solidFill>
                <a:srgbClr val="4A4A4A"/>
              </a:solidFill>
              <a:effectLst/>
            </a:endParaRPr>
          </a:p>
          <a:p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18276137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391DE-B3D5-468F-411D-29BC932A1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845" y="541373"/>
            <a:ext cx="9924120" cy="1188720"/>
          </a:xfrm>
        </p:spPr>
        <p:txBody>
          <a:bodyPr>
            <a:normAutofit/>
          </a:bodyPr>
          <a:lstStyle/>
          <a:p>
            <a:r>
              <a:rPr lang="en-IN" i="0" dirty="0">
                <a:solidFill>
                  <a:srgbClr val="333333"/>
                </a:solidFill>
                <a:effectLst/>
              </a:rPr>
              <a:t>CADMIUM TELLURIDE SOLAR CELLS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25D67E6-0DD2-A708-0E2F-1F48828BCE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00630" y="2702974"/>
            <a:ext cx="3991370" cy="3810983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E2B3169-7919-ABF0-1E4B-D054F0EEB127}"/>
              </a:ext>
            </a:extLst>
          </p:cNvPr>
          <p:cNvSpPr txBox="1"/>
          <p:nvPr/>
        </p:nvSpPr>
        <p:spPr>
          <a:xfrm>
            <a:off x="531845" y="1730093"/>
            <a:ext cx="1090535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4A4A4A"/>
                </a:solidFill>
                <a:effectLst/>
              </a:rPr>
              <a:t>Cadmium telluride (</a:t>
            </a:r>
            <a:r>
              <a:rPr lang="en-US" sz="2400" b="0" i="0" dirty="0" err="1">
                <a:solidFill>
                  <a:srgbClr val="4A4A4A"/>
                </a:solidFill>
                <a:effectLst/>
              </a:rPr>
              <a:t>CdTe</a:t>
            </a:r>
            <a:r>
              <a:rPr lang="en-US" sz="2400" b="0" i="0" dirty="0">
                <a:solidFill>
                  <a:srgbClr val="4A4A4A"/>
                </a:solidFill>
                <a:effectLst/>
              </a:rPr>
              <a:t>) solar cells use Cadmium telluride to absorb </a:t>
            </a:r>
            <a:r>
              <a:rPr lang="en-US" sz="2400" b="0" i="0" dirty="0">
                <a:solidFill>
                  <a:srgbClr val="333333"/>
                </a:solidFill>
                <a:effectLst/>
              </a:rPr>
              <a:t>solar energy</a:t>
            </a:r>
            <a:r>
              <a:rPr lang="en-US" sz="2400" b="0" i="0" dirty="0">
                <a:solidFill>
                  <a:srgbClr val="4A4A4A"/>
                </a:solidFill>
                <a:effectLst/>
              </a:rPr>
              <a:t>. They remain the most prominent thin-film cells because of a lower manufacturing cost and lower carbon footprint.</a:t>
            </a:r>
            <a:endParaRPr lang="en-IN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B498ED-94CA-E823-CC65-0C8B675CF9CD}"/>
              </a:ext>
            </a:extLst>
          </p:cNvPr>
          <p:cNvSpPr txBox="1"/>
          <p:nvPr/>
        </p:nvSpPr>
        <p:spPr>
          <a:xfrm rot="10800000" flipV="1">
            <a:off x="531845" y="2900306"/>
            <a:ext cx="750891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4A4A4A"/>
                </a:solidFill>
                <a:effectLst/>
              </a:rPr>
              <a:t>The toxicity of cadmium and scarcity of tellurium in the earth’s crust is another major problem that limits its acceptance. </a:t>
            </a:r>
            <a:r>
              <a:rPr lang="en-US" sz="2400" b="0" i="0" dirty="0" err="1">
                <a:solidFill>
                  <a:srgbClr val="4A4A4A"/>
                </a:solidFill>
                <a:effectLst/>
              </a:rPr>
              <a:t>CdTe</a:t>
            </a:r>
            <a:r>
              <a:rPr lang="en-US" sz="2400" b="0" i="0" dirty="0">
                <a:solidFill>
                  <a:srgbClr val="4A4A4A"/>
                </a:solidFill>
                <a:effectLst/>
              </a:rPr>
              <a:t> shares 5% of the total photovoltaic market.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4A4A4A"/>
                </a:solidFill>
                <a:effectLst/>
              </a:rPr>
              <a:t>These PV cells have an advantage of a low production cost compared to the convenient c-Si cell. But they are inefficient. The highest known lab efficiency is </a:t>
            </a:r>
            <a:r>
              <a:rPr lang="en-US" sz="2400" b="0" i="0" dirty="0">
                <a:solidFill>
                  <a:srgbClr val="333333"/>
                </a:solidFill>
                <a:effectLst/>
              </a:rPr>
              <a:t>22.1% by First Solar</a:t>
            </a:r>
            <a:r>
              <a:rPr lang="en-US" sz="2400" b="0" i="0" dirty="0">
                <a:solidFill>
                  <a:srgbClr val="4A4A4A"/>
                </a:solidFill>
                <a:effectLst/>
              </a:rPr>
              <a:t>. This value falls to 16.1% on a commercial scale.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8184738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834A9-76A3-F7A0-4248-476142BCB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526078" cy="1325563"/>
          </a:xfrm>
        </p:spPr>
        <p:txBody>
          <a:bodyPr>
            <a:normAutofit/>
          </a:bodyPr>
          <a:lstStyle/>
          <a:p>
            <a:r>
              <a:rPr lang="en-IN" i="0" dirty="0">
                <a:solidFill>
                  <a:srgbClr val="333333"/>
                </a:solidFill>
                <a:effectLst/>
              </a:rPr>
              <a:t>COPPER INDIUM GALLIUM SELENIDE SOLAR CELLS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6C4426-6206-5AC4-9065-92D61A91E14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400" b="0" i="0" dirty="0">
                <a:solidFill>
                  <a:srgbClr val="4A4A4A"/>
                </a:solidFill>
                <a:effectLst/>
              </a:rPr>
              <a:t>Copper indium gallium selenide (CIGS) is another common thin-film photovoltaic cell. </a:t>
            </a:r>
          </a:p>
          <a:p>
            <a:r>
              <a:rPr lang="en-US" sz="2400" b="0" i="0" dirty="0">
                <a:solidFill>
                  <a:srgbClr val="4A4A4A"/>
                </a:solidFill>
                <a:effectLst/>
              </a:rPr>
              <a:t>The cell has high efficiency because of a high absorption coefficient of copper indium gallium selenide. </a:t>
            </a:r>
          </a:p>
          <a:p>
            <a:r>
              <a:rPr lang="en-US" sz="2400" b="0" i="0" dirty="0">
                <a:solidFill>
                  <a:srgbClr val="4A4A4A"/>
                </a:solidFill>
                <a:effectLst/>
              </a:rPr>
              <a:t>Even though the lab efficiency exceeds 20%, on a commercial-scale, </a:t>
            </a:r>
            <a:r>
              <a:rPr lang="en-US" sz="2400" b="0" i="0" dirty="0">
                <a:effectLst/>
              </a:rPr>
              <a:t>it goes between 12 to 14%.</a:t>
            </a:r>
            <a:endParaRPr lang="en-IN" sz="24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493727C-E117-50C5-92F6-92188F6CBB7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2353419"/>
            <a:ext cx="5181600" cy="3295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8973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2FF79-F5C6-599B-D615-B942B4818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THIN FILM PV DEVICE FABRICATION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5E011A-FE87-E8A7-FB6C-08063FCC4E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1114"/>
            <a:ext cx="10515600" cy="5227982"/>
          </a:xfrm>
        </p:spPr>
        <p:txBody>
          <a:bodyPr>
            <a:normAutofit/>
          </a:bodyPr>
          <a:lstStyle/>
          <a:p>
            <a:r>
              <a:rPr lang="en-US" dirty="0"/>
              <a:t>Thin film: thickness typically &lt;1000nm.</a:t>
            </a:r>
          </a:p>
          <a:p>
            <a:r>
              <a:rPr lang="en-US" dirty="0"/>
              <a:t>Special properties of thin films: different from bulk materials, it may be –</a:t>
            </a:r>
          </a:p>
          <a:p>
            <a:pPr lvl="1"/>
            <a:r>
              <a:rPr lang="en-US" dirty="0"/>
              <a:t>Not fully dense - lower electrical conductivity than bulk metal.</a:t>
            </a:r>
          </a:p>
          <a:p>
            <a:pPr lvl="1"/>
            <a:r>
              <a:rPr lang="en-US" dirty="0"/>
              <a:t>Under stress </a:t>
            </a:r>
          </a:p>
          <a:p>
            <a:pPr lvl="2"/>
            <a:r>
              <a:rPr lang="en-US" dirty="0"/>
              <a:t>This happens because they grow on another surface, and both materials may expand or shrink differently.</a:t>
            </a:r>
          </a:p>
          <a:p>
            <a:pPr lvl="1"/>
            <a:r>
              <a:rPr lang="en-US" dirty="0"/>
              <a:t>Different defect structures from bulk</a:t>
            </a:r>
          </a:p>
          <a:p>
            <a:pPr lvl="2"/>
            <a:r>
              <a:rPr lang="en-US" dirty="0"/>
              <a:t>Many small defects such as tiny cracks, dislocations, or grain boundaries.</a:t>
            </a:r>
          </a:p>
          <a:p>
            <a:pPr lvl="2"/>
            <a:r>
              <a:rPr lang="en-US" dirty="0"/>
              <a:t>They can change electrical, mechanical, or optical behavior.</a:t>
            </a:r>
          </a:p>
          <a:p>
            <a:pPr lvl="1"/>
            <a:r>
              <a:rPr lang="en-US" dirty="0"/>
              <a:t>Quasi ‐ two dimensional (very thin films)</a:t>
            </a:r>
          </a:p>
          <a:p>
            <a:pPr lvl="2"/>
            <a:r>
              <a:rPr lang="en-US" dirty="0"/>
              <a:t>Because thin films are extremely thin, they behave almost like a </a:t>
            </a:r>
            <a:r>
              <a:rPr lang="en-US" b="1" dirty="0"/>
              <a:t>2-dimensional</a:t>
            </a:r>
            <a:r>
              <a:rPr lang="en-US" dirty="0"/>
              <a:t> sheet.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14867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D3090-D90E-5792-8837-6516BDA0F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dirty="0"/>
              <a:t>THIN FILM DEPOSITION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D86C49-DE87-85E8-E7CA-306757F66AC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/>
              <a:t>Chemical Vapor Deposition (CVD)</a:t>
            </a:r>
          </a:p>
          <a:p>
            <a:r>
              <a:rPr lang="en-US" sz="2400" dirty="0"/>
              <a:t>Reactant gases introduced in the chamber; chemical reactions occur on wafer surface leading to the deposition of a solid film. </a:t>
            </a:r>
          </a:p>
          <a:p>
            <a:r>
              <a:rPr lang="en-US" sz="2400" dirty="0"/>
              <a:t>E.g. APCVD, LPCVD, PECVD, most commonly used for dielectrics and Si</a:t>
            </a:r>
            <a:endParaRPr lang="en-IN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A256DB-2599-3EAE-622A-4DF37496833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Physical Vapor Deposition (PVD) </a:t>
            </a:r>
          </a:p>
          <a:p>
            <a:r>
              <a:rPr lang="en-US" sz="2400" dirty="0"/>
              <a:t>No chemical reaction involved</a:t>
            </a:r>
          </a:p>
          <a:p>
            <a:r>
              <a:rPr lang="en-US" sz="2400" dirty="0"/>
              <a:t>Vapors of constituent materials created inside the chamber, and condensation occurs on wafer surface leading to the deposition of a solid film. </a:t>
            </a:r>
          </a:p>
          <a:p>
            <a:r>
              <a:rPr lang="en-US" sz="2400" dirty="0"/>
              <a:t>E.g. evaporation, sputter deposition, most commonly used for metals.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1646205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6EF07-7885-2077-851B-D76C98AAA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Chemical Vapor Deposition (CVD)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E6869C-2733-7E82-81CA-B7E5A9D35F16}"/>
              </a:ext>
            </a:extLst>
          </p:cNvPr>
          <p:cNvSpPr txBox="1"/>
          <p:nvPr/>
        </p:nvSpPr>
        <p:spPr>
          <a:xfrm>
            <a:off x="838200" y="1646237"/>
            <a:ext cx="108800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CVD : DEPOSIT FILM THROUGH CHEMICAL REACTION AND SURFACE ABSORPTION</a:t>
            </a:r>
            <a:endParaRPr lang="en-IN" sz="2400" b="1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2D7EE-6853-0555-1FDF-90E30D60A1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2226365"/>
            <a:ext cx="6099313" cy="44951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CVD steps: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Introduce reactive gases to the chamber.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Activate gases (decomposition) by heat or plasma.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Gas absorption by substrate surface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Reaction take place on substrate surface, film firmed.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Transport of volatile byproducts away form substrate.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Exhaust waste.</a:t>
            </a:r>
            <a:endParaRPr lang="en-IN" sz="2400" dirty="0"/>
          </a:p>
        </p:txBody>
      </p:sp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E0D68E72-FCA1-A4A6-46B6-DDBF4B9E86E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805127" y="2743653"/>
            <a:ext cx="5181600" cy="2609279"/>
          </a:xfrm>
        </p:spPr>
      </p:pic>
    </p:spTree>
    <p:extLst>
      <p:ext uri="{BB962C8B-B14F-4D97-AF65-F5344CB8AC3E}">
        <p14:creationId xmlns:p14="http://schemas.microsoft.com/office/powerpoint/2010/main" val="35077703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545AB-9496-6EC8-0C6B-A233EA373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CVD advantages and disadvantages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DF79CD-354E-105F-499D-3ABDF52089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535263"/>
          </a:xfrm>
        </p:spPr>
        <p:txBody>
          <a:bodyPr/>
          <a:lstStyle/>
          <a:p>
            <a:r>
              <a:rPr lang="en-IN" dirty="0"/>
              <a:t>Advantages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0FE2A7-AA1B-75CC-9166-A85C8F942E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315817"/>
            <a:ext cx="5157787" cy="3873846"/>
          </a:xfrm>
        </p:spPr>
        <p:txBody>
          <a:bodyPr>
            <a:normAutofit/>
          </a:bodyPr>
          <a:lstStyle/>
          <a:p>
            <a:r>
              <a:rPr lang="en-US" sz="2400" dirty="0"/>
              <a:t>High growth rates possible, good reproducibility. </a:t>
            </a:r>
          </a:p>
          <a:p>
            <a:r>
              <a:rPr lang="en-US" sz="2400" dirty="0"/>
              <a:t>Can deposit materials which are hard to evaporate. </a:t>
            </a:r>
          </a:p>
          <a:p>
            <a:r>
              <a:rPr lang="en-US" sz="2400" dirty="0"/>
              <a:t>Can grow epitaxial films</a:t>
            </a:r>
          </a:p>
          <a:p>
            <a:r>
              <a:rPr lang="en-US" sz="2400" dirty="0"/>
              <a:t>Generally better film quality, more conformal step coverage</a:t>
            </a:r>
            <a:endParaRPr lang="en-IN" sz="24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F7252B-3A92-62CD-709A-8354F567B4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465689"/>
          </a:xfrm>
        </p:spPr>
        <p:txBody>
          <a:bodyPr/>
          <a:lstStyle/>
          <a:p>
            <a:r>
              <a:rPr lang="en-IN" dirty="0"/>
              <a:t>Disadvantages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313491-279C-50B7-48AA-7D6ADDDAAC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315817"/>
            <a:ext cx="5183188" cy="3873846"/>
          </a:xfrm>
        </p:spPr>
        <p:txBody>
          <a:bodyPr>
            <a:normAutofit/>
          </a:bodyPr>
          <a:lstStyle/>
          <a:p>
            <a:r>
              <a:rPr lang="en-US" sz="2400" dirty="0"/>
              <a:t>High process temperatures.</a:t>
            </a:r>
          </a:p>
          <a:p>
            <a:r>
              <a:rPr lang="en-US" sz="2400" dirty="0"/>
              <a:t>Complex processes, toxic and corrosive gasses. </a:t>
            </a:r>
          </a:p>
          <a:p>
            <a:r>
              <a:rPr lang="en-US" sz="2400" dirty="0"/>
              <a:t>Film may not be pure (hydrogen incorporation…)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568338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65A1A-1294-0FAB-2E94-DB6906035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CVD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996BCD9-763B-992B-7C70-B73CADE4C4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9925878" cy="4665662"/>
          </a:xfrm>
        </p:spPr>
      </p:pic>
    </p:spTree>
    <p:extLst>
      <p:ext uri="{BB962C8B-B14F-4D97-AF65-F5344CB8AC3E}">
        <p14:creationId xmlns:p14="http://schemas.microsoft.com/office/powerpoint/2010/main" val="10186695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FC76E-B61F-48AA-8DA5-F832A5E6E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0" i="0" dirty="0">
                <a:effectLst/>
              </a:rPr>
              <a:t>Atmospheric Pressure Chemical </a:t>
            </a:r>
            <a:r>
              <a:rPr lang="en-US" sz="4400" b="0" i="0" dirty="0" err="1">
                <a:effectLst/>
              </a:rPr>
              <a:t>Vapour</a:t>
            </a:r>
            <a:r>
              <a:rPr lang="en-US" sz="4400" b="0" i="0" dirty="0">
                <a:effectLst/>
              </a:rPr>
              <a:t> Deposition (</a:t>
            </a:r>
            <a:r>
              <a:rPr lang="en-IN" dirty="0"/>
              <a:t>APCVD)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0DD8F3-3D46-C6E5-FD07-3E0C0F3128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 fontAlgn="base"/>
            <a:r>
              <a:rPr lang="en-US" sz="2400" b="0" i="0" dirty="0">
                <a:effectLst/>
              </a:rPr>
              <a:t>APCVD is a thin film deposition process with typically high deposition rates. </a:t>
            </a:r>
          </a:p>
          <a:p>
            <a:pPr algn="l" fontAlgn="base"/>
            <a:r>
              <a:rPr lang="en-US" sz="2400" b="0" i="0" dirty="0">
                <a:effectLst/>
              </a:rPr>
              <a:t>A CVD method at normal pressure (atmospheric pressure), which is used for deposition of different oxides. </a:t>
            </a:r>
          </a:p>
          <a:p>
            <a:pPr algn="l" fontAlgn="base"/>
            <a:r>
              <a:rPr lang="en-US" sz="2400" b="0" i="0" dirty="0">
                <a:effectLst/>
              </a:rPr>
              <a:t>It uses atmospheric pressure or 1 atm in the reaction chamber.</a:t>
            </a:r>
          </a:p>
          <a:p>
            <a:pPr algn="l" fontAlgn="base"/>
            <a:r>
              <a:rPr lang="en-US" sz="2400" b="0" i="0" dirty="0">
                <a:effectLst/>
              </a:rPr>
              <a:t>APCVD is compatible with vacuum free, continuous in-line processes, making it very attractive for cost sensitive, high volume manufacturing applications like PV cell manufacturing.</a:t>
            </a:r>
          </a:p>
          <a:p>
            <a:endParaRPr lang="en-US" sz="2400" b="0" i="0" dirty="0">
              <a:solidFill>
                <a:srgbClr val="33333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9552308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D2003-47BD-7301-A09A-5490AC72C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APCVD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B47584-66F8-5D2E-C2C7-DD8BA67B6C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Atmospheric pressure systems (APCVD) have major drawbacks: </a:t>
            </a:r>
          </a:p>
          <a:p>
            <a:pPr lvl="1"/>
            <a:r>
              <a:rPr lang="en-US" dirty="0"/>
              <a:t> At high T, a horizontal configuration must be used (few wafers at a time).</a:t>
            </a:r>
          </a:p>
          <a:p>
            <a:pPr lvl="1"/>
            <a:r>
              <a:rPr lang="en-US" dirty="0"/>
              <a:t> At low T, the deposition rate goes down and throughput is again low. </a:t>
            </a:r>
          </a:p>
          <a:p>
            <a:pPr lvl="1"/>
            <a:r>
              <a:rPr lang="en-US" dirty="0"/>
              <a:t>The fundamental reason for the low throughput of APCVD is that only a small percentage of the gas is reactant gases, with the rest carrier/diluent gas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30463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3544C-2EBE-D263-90AA-DD99E0B5D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LOW PREASURE CVD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F0438E1-046E-0724-BBC4-ACDF9613AF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00551" y="1690688"/>
            <a:ext cx="10450761" cy="4302608"/>
          </a:xfrm>
        </p:spPr>
      </p:pic>
    </p:spTree>
    <p:extLst>
      <p:ext uri="{BB962C8B-B14F-4D97-AF65-F5344CB8AC3E}">
        <p14:creationId xmlns:p14="http://schemas.microsoft.com/office/powerpoint/2010/main" val="4348421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4F58C-E0E0-D58A-B66E-10D1904DD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LOW PREASURE CVD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E441FF-678C-3E92-0545-1F3B95C56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i="0" dirty="0">
                <a:solidFill>
                  <a:srgbClr val="111111"/>
                </a:solidFill>
                <a:effectLst/>
              </a:rPr>
              <a:t>LPCVD is the first and most widely used deposition method used in solar cell processing. Due to its wide usage in semiconductor industry for a similar application</a:t>
            </a:r>
            <a:r>
              <a:rPr lang="en-US" sz="2400" b="0" i="0" dirty="0">
                <a:solidFill>
                  <a:srgbClr val="111111"/>
                </a:solidFill>
                <a:effectLst/>
              </a:rPr>
              <a:t>.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 </a:t>
            </a:r>
          </a:p>
          <a:p>
            <a:r>
              <a:rPr lang="en-US" sz="2400" b="0" i="0" dirty="0">
                <a:solidFill>
                  <a:srgbClr val="000000"/>
                </a:solidFill>
                <a:effectLst/>
              </a:rPr>
              <a:t>LPCVD refers to a thermal process used to deposit thin films from gas-phase precursors at sub atmospheric pressures. </a:t>
            </a:r>
          </a:p>
          <a:p>
            <a:r>
              <a:rPr lang="en-US" sz="2400" b="0" i="0" dirty="0">
                <a:solidFill>
                  <a:srgbClr val="000000"/>
                </a:solidFill>
                <a:effectLst/>
              </a:rPr>
              <a:t>Process conditions are typically selected so that the growth rate is limited by the rate of the surface reaction, which is temperature-dependent. The temperature can be controlled with great precision, resulting in excellent within-wafer, wafer-to-wafer, and run-to-run uniformities.</a:t>
            </a:r>
          </a:p>
          <a:p>
            <a:r>
              <a:rPr lang="en-US" sz="2400" dirty="0"/>
              <a:t>LPCVD reactors use: P = 0.25 – 2.0Torr, T = 500 – 900°C. 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9388433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8F59A-B572-8EDE-487B-CC3845F48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LPCVD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DB562-D401-4E41-EB15-AD8DFC5289A8}"/>
              </a:ext>
            </a:extLst>
          </p:cNvPr>
          <p:cNvSpPr txBox="1"/>
          <p:nvPr/>
        </p:nvSpPr>
        <p:spPr>
          <a:xfrm>
            <a:off x="673693" y="1778439"/>
            <a:ext cx="1084461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Transport of reactants from gas phase to surface through boundary layer is still not rate limiting (despite the high T), so wafers can be stacked vertically for high throughput (100-200 wafers per run).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Because LPCVD operates in reaction limited regime, it is VERY sensitive to temperature and so temperature needs to be controlled closely (within +/- 1 </a:t>
            </a:r>
            <a:r>
              <a:rPr lang="en-US" sz="2400" dirty="0" err="1"/>
              <a:t>oC</a:t>
            </a:r>
            <a:r>
              <a:rPr lang="en-US" sz="2400" dirty="0"/>
              <a:t>), so use hot walled reactor for this precise control.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Again, a 5-25</a:t>
            </a:r>
            <a:r>
              <a:rPr lang="en-US" sz="2400" baseline="30000" dirty="0"/>
              <a:t>o</a:t>
            </a:r>
            <a:r>
              <a:rPr lang="en-US" sz="2400" dirty="0"/>
              <a:t>C temperature gradient is often created to offset source gas depletion effects (or one can use distributed feeding).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Requires no carrier gas, and low gas pressure reduces gas-phase reaction which causes particle cluster that contaminants the wafer and system.</a:t>
            </a:r>
          </a:p>
          <a:p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723756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C045A-CB22-DB0D-0A5D-DF062DD3F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29122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Plasma-enhanced chemical vapor deposition </a:t>
            </a:r>
            <a:r>
              <a:rPr lang="en-US" sz="4000" dirty="0"/>
              <a:t>(</a:t>
            </a:r>
            <a:r>
              <a:rPr lang="en-US" sz="4000" b="1" dirty="0"/>
              <a:t>PECVD</a:t>
            </a:r>
            <a:r>
              <a:rPr lang="en-US" sz="4000" dirty="0"/>
              <a:t>)</a:t>
            </a:r>
            <a:endParaRPr lang="en-IN" sz="4000" dirty="0"/>
          </a:p>
        </p:txBody>
      </p:sp>
      <p:pic>
        <p:nvPicPr>
          <p:cNvPr id="9" name="Content Placeholder 4">
            <a:extLst>
              <a:ext uri="{FF2B5EF4-FFF2-40B4-BE49-F238E27FC236}">
                <a16:creationId xmlns:a16="http://schemas.microsoft.com/office/drawing/2014/main" id="{A91E3637-EDF4-99D0-85AC-9B9126DE49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7982" y="1690688"/>
            <a:ext cx="8712062" cy="4769036"/>
          </a:xfrm>
        </p:spPr>
      </p:pic>
    </p:spTree>
    <p:extLst>
      <p:ext uri="{BB962C8B-B14F-4D97-AF65-F5344CB8AC3E}">
        <p14:creationId xmlns:p14="http://schemas.microsoft.com/office/powerpoint/2010/main" val="25058335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207DB-76E0-86C0-0F4D-4FCF706C0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PECVD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3EAB16-0DC5-4445-16D7-C2FA7A9685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1052"/>
            <a:ext cx="10515600" cy="4895298"/>
          </a:xfrm>
        </p:spPr>
        <p:txBody>
          <a:bodyPr>
            <a:normAutofit/>
          </a:bodyPr>
          <a:lstStyle/>
          <a:p>
            <a:pPr algn="just"/>
            <a:r>
              <a:rPr lang="en-US" sz="2400" b="1" i="0" dirty="0">
                <a:effectLst/>
              </a:rPr>
              <a:t>Plasma-enhanced chemical vapor deposition</a:t>
            </a:r>
            <a:r>
              <a:rPr lang="en-US" sz="2400" b="0" i="0" dirty="0">
                <a:effectLst/>
              </a:rPr>
              <a:t> (</a:t>
            </a:r>
            <a:r>
              <a:rPr lang="en-US" sz="2400" b="1" i="0" dirty="0">
                <a:effectLst/>
              </a:rPr>
              <a:t>PECVD</a:t>
            </a:r>
            <a:r>
              <a:rPr lang="en-US" sz="2400" b="0" i="0" dirty="0">
                <a:effectLst/>
              </a:rPr>
              <a:t>) is a </a:t>
            </a:r>
            <a:r>
              <a:rPr lang="en-US" sz="2400" b="0" i="0" strike="noStrike" dirty="0">
                <a:effectLst/>
                <a:hlinkClick r:id="rId2" tooltip="Chemical vapor deposi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chemical vapor deposition</a:t>
            </a:r>
            <a:r>
              <a:rPr lang="en-US" sz="2400" b="0" i="0" dirty="0">
                <a:effectLst/>
              </a:rPr>
              <a:t> process used to deposit thin films from a </a:t>
            </a:r>
            <a:r>
              <a:rPr lang="en-US" sz="2400" b="0" i="0" strike="noStrike" dirty="0">
                <a:effectLst/>
                <a:hlinkClick r:id="rId3" tooltip="Ga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gas</a:t>
            </a:r>
            <a:r>
              <a:rPr lang="en-US" sz="2400" b="0" i="0" dirty="0">
                <a:effectLst/>
              </a:rPr>
              <a:t> state (</a:t>
            </a:r>
            <a:r>
              <a:rPr lang="en-US" sz="2400" b="0" i="0" strike="noStrike" dirty="0">
                <a:effectLst/>
                <a:hlinkClick r:id="rId4" tooltip="Vapo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vapor</a:t>
            </a:r>
            <a:r>
              <a:rPr lang="en-US" sz="2400" b="0" i="0" dirty="0">
                <a:effectLst/>
              </a:rPr>
              <a:t>) to a </a:t>
            </a:r>
            <a:r>
              <a:rPr lang="en-US" sz="2400" b="0" i="0" strike="noStrike" dirty="0">
                <a:effectLst/>
                <a:hlinkClick r:id="rId5" tooltip="Soli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solid</a:t>
            </a:r>
            <a:r>
              <a:rPr lang="en-US" sz="2400" b="0" i="0" dirty="0">
                <a:effectLst/>
              </a:rPr>
              <a:t> state on a </a:t>
            </a:r>
            <a:r>
              <a:rPr lang="en-US" sz="2400" b="0" i="0" strike="noStrike" dirty="0">
                <a:effectLst/>
                <a:hlinkClick r:id="rId6" tooltip="Substrate (materials science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substrate</a:t>
            </a:r>
            <a:r>
              <a:rPr lang="en-US" sz="2400" b="0" i="0" dirty="0">
                <a:effectLst/>
              </a:rPr>
              <a:t>. </a:t>
            </a:r>
          </a:p>
          <a:p>
            <a:pPr algn="just"/>
            <a:r>
              <a:rPr lang="en-US" sz="2400" b="0" i="0" strike="noStrike" dirty="0">
                <a:effectLst/>
                <a:hlinkClick r:id="rId7" tooltip="Chemical re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Chemical reactions</a:t>
            </a:r>
            <a:r>
              <a:rPr lang="en-US" sz="2400" b="0" i="0" dirty="0">
                <a:effectLst/>
              </a:rPr>
              <a:t> are involved in the process, which occur after creation of a </a:t>
            </a:r>
            <a:r>
              <a:rPr lang="en-US" sz="2400" b="0" i="0" strike="noStrike" dirty="0">
                <a:effectLst/>
                <a:hlinkClick r:id="rId8" tooltip="Plasma (physics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plasma</a:t>
            </a:r>
            <a:r>
              <a:rPr lang="en-US" sz="2400" b="0" i="0" dirty="0">
                <a:effectLst/>
              </a:rPr>
              <a:t> of the reacting gases. </a:t>
            </a:r>
          </a:p>
          <a:p>
            <a:pPr algn="just"/>
            <a:r>
              <a:rPr lang="en-US" sz="2400" b="0" i="0" dirty="0">
                <a:effectLst/>
              </a:rPr>
              <a:t>The </a:t>
            </a:r>
            <a:r>
              <a:rPr lang="en-US" sz="2400" b="0" i="0" strike="noStrike" dirty="0">
                <a:effectLst/>
                <a:hlinkClick r:id="rId8" tooltip="Plasma (physics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plasma</a:t>
            </a:r>
            <a:r>
              <a:rPr lang="en-US" sz="2400" b="0" i="0" dirty="0">
                <a:effectLst/>
              </a:rPr>
              <a:t> is generally created by </a:t>
            </a:r>
            <a:r>
              <a:rPr lang="en-US" sz="2400" b="0" i="0" strike="noStrike" dirty="0">
                <a:effectLst/>
                <a:hlinkClick r:id="rId9" tooltip="Radio frequenc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radio frequency</a:t>
            </a:r>
            <a:r>
              <a:rPr lang="en-US" sz="2400" b="0" i="0" dirty="0">
                <a:effectLst/>
              </a:rPr>
              <a:t> (RF) (</a:t>
            </a:r>
            <a:r>
              <a:rPr lang="en-US" sz="2400" b="0" i="0" strike="noStrike" dirty="0">
                <a:effectLst/>
                <a:hlinkClick r:id="rId10" tooltip="Alternating curr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alternating current</a:t>
            </a:r>
            <a:r>
              <a:rPr lang="en-US" sz="2400" b="0" i="0" dirty="0">
                <a:effectLst/>
              </a:rPr>
              <a:t> (AC)) frequency or </a:t>
            </a:r>
            <a:r>
              <a:rPr lang="en-US" sz="2400" b="0" i="0" strike="noStrike" dirty="0">
                <a:effectLst/>
                <a:hlinkClick r:id="rId11" tooltip="Direct curr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direct current</a:t>
            </a:r>
            <a:r>
              <a:rPr lang="en-US" sz="2400" b="0" i="0" dirty="0">
                <a:effectLst/>
              </a:rPr>
              <a:t> (DC) discharge between two </a:t>
            </a:r>
            <a:r>
              <a:rPr lang="en-US" sz="2400" b="0" i="0" strike="noStrike" dirty="0">
                <a:effectLst/>
                <a:hlinkClick r:id="rId12" tooltip="Electrod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electrodes</a:t>
            </a:r>
            <a:r>
              <a:rPr lang="en-US" sz="2400" b="0" i="0" dirty="0">
                <a:effectLst/>
              </a:rPr>
              <a:t>, the space between which is filled with the reacting gases. </a:t>
            </a:r>
          </a:p>
          <a:p>
            <a:pPr algn="just"/>
            <a:r>
              <a:rPr lang="en-US" sz="2400" b="0" i="0" dirty="0">
                <a:effectLst/>
              </a:rPr>
              <a:t>A plasma is any gas in which a significant percentage of the atoms or molecules are ionized. The electrons can be maintained </a:t>
            </a:r>
            <a:r>
              <a:rPr lang="en-US" sz="2400" b="0" i="0" dirty="0">
                <a:solidFill>
                  <a:srgbClr val="202122"/>
                </a:solidFill>
                <a:effectLst/>
              </a:rPr>
              <a:t>at very high equivalent temperatures – tens of thousands of kelvins, equivalent to several </a:t>
            </a:r>
            <a:r>
              <a:rPr lang="en-US" sz="2400" b="0" i="0" dirty="0" err="1">
                <a:solidFill>
                  <a:srgbClr val="202122"/>
                </a:solidFill>
                <a:effectLst/>
              </a:rPr>
              <a:t>electronvolts</a:t>
            </a:r>
            <a:r>
              <a:rPr lang="en-US" sz="2400" b="0" i="0" dirty="0">
                <a:solidFill>
                  <a:srgbClr val="202122"/>
                </a:solidFill>
                <a:effectLst/>
              </a:rPr>
              <a:t> average energy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418783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CE9B3-063D-3680-9DF5-28D410AE0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PECVD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3CE45D-ED06-EB31-903F-A5D7CF572D08}"/>
              </a:ext>
            </a:extLst>
          </p:cNvPr>
          <p:cNvSpPr txBox="1"/>
          <p:nvPr/>
        </p:nvSpPr>
        <p:spPr>
          <a:xfrm>
            <a:off x="838200" y="1764475"/>
            <a:ext cx="10754139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“Good” quality films (though generally not as good as LP or APCVD films deposited at much higher T): energy supplied by plasma (i.e. ion bombardment of film) increases film density, composition, and step coverage.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Use RF-induced plasma to transfer energy into the reactant gases, forming radicals that is very reactive. (RF: radio-frequency, typically 13.56MHz for PECVD)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Low temperature process (&lt;300</a:t>
            </a:r>
            <a:r>
              <a:rPr lang="en-US" sz="2400" baseline="30000" dirty="0"/>
              <a:t>o</a:t>
            </a:r>
            <a:r>
              <a:rPr lang="en-US" sz="2400" dirty="0"/>
              <a:t>C), as thermal energy is less critical when RF energy exists.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Used for depositing film on metals (Al…) and other materials that cannot sustain high temperatures.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Surface reaction limited deposition, thus substrate temperature control is important to ensure uniformity.</a:t>
            </a:r>
          </a:p>
        </p:txBody>
      </p:sp>
    </p:spTree>
    <p:extLst>
      <p:ext uri="{BB962C8B-B14F-4D97-AF65-F5344CB8AC3E}">
        <p14:creationId xmlns:p14="http://schemas.microsoft.com/office/powerpoint/2010/main" val="8493691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419AF-5ACA-8514-1024-0D4F12275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C9C35-4554-4558-3778-36DF69150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PECVD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6C02A6-4D20-44E6-3ADA-5C852520F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At low T, surface diffusion is slow, so one must supply kinetic energy for surface diffusion – plasma (ion bombardment) provides that energy and enhances step coverage.</a:t>
            </a:r>
          </a:p>
          <a:p>
            <a:r>
              <a:rPr lang="en-US" sz="2400" dirty="0"/>
              <a:t>Disadvantages: plasma damage, not pure film (often lots of H incorporated into film).</a:t>
            </a:r>
            <a:endParaRPr lang="en-IN" sz="2400" dirty="0"/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7182107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1662</Words>
  <Application>Microsoft Office PowerPoint</Application>
  <PresentationFormat>Widescreen</PresentationFormat>
  <Paragraphs>105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Office Theme</vt:lpstr>
      <vt:lpstr>COMMERCIAL SOLAR CELLS</vt:lpstr>
      <vt:lpstr>MONO CRYSTALLINE SOLAR CELL</vt:lpstr>
      <vt:lpstr>POLY CRYSTTALINE SOLAR CELL</vt:lpstr>
      <vt:lpstr>THIN FILM SOLAR CELLS</vt:lpstr>
      <vt:lpstr>THIN FILM SOLAR CELLS</vt:lpstr>
      <vt:lpstr>CADMIUM TELLURIDE SOLAR CELLS</vt:lpstr>
      <vt:lpstr>COPPER INDIUM GALLIUM SELENIDE SOLAR CELLS</vt:lpstr>
      <vt:lpstr>THIN FILM PV DEVICE FABRICATION</vt:lpstr>
      <vt:lpstr>THIN FILM DEPOSITION METHODS</vt:lpstr>
      <vt:lpstr>Chemical Vapor Deposition (CVD)</vt:lpstr>
      <vt:lpstr>CVD advantages and disadvantages</vt:lpstr>
      <vt:lpstr>TYPES OF CVD</vt:lpstr>
      <vt:lpstr>Atmospheric Pressure Chemical Vapour Deposition (APCVD)</vt:lpstr>
      <vt:lpstr>APCVD</vt:lpstr>
      <vt:lpstr>LOW PREASURE CVD</vt:lpstr>
      <vt:lpstr>LOW PREASURE CVD</vt:lpstr>
      <vt:lpstr>LPCVD</vt:lpstr>
      <vt:lpstr>Plasma-enhanced chemical vapor deposition (PECVD)</vt:lpstr>
      <vt:lpstr>PECVD</vt:lpstr>
      <vt:lpstr>PECVD</vt:lpstr>
      <vt:lpstr>PECVD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Neethu Suman</dc:creator>
  <cp:lastModifiedBy>Neethu Suman</cp:lastModifiedBy>
  <cp:revision>1</cp:revision>
  <dcterms:created xsi:type="dcterms:W3CDTF">2025-12-15T04:21:40Z</dcterms:created>
  <dcterms:modified xsi:type="dcterms:W3CDTF">2025-12-15T04:23:03Z</dcterms:modified>
</cp:coreProperties>
</file>