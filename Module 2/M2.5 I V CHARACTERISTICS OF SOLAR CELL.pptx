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290" r:id="rId3"/>
    <p:sldId id="292" r:id="rId4"/>
    <p:sldId id="361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B174-9209-67E2-D947-7C740ADD9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08471-A56D-C32D-3157-5EFEAC46D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94914-E6AD-A084-BDDF-5EB94A7B5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90ADD-2680-AFB8-0E4C-637009FD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F76EC-3356-6608-0B6C-407BB8F1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33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7C1B-90FB-9866-B240-5DE938A6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9C010-C43D-0981-F474-80C9412BF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14CC3-349C-0E89-F725-64E784A2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769F-102E-52C4-B9C0-7A6FB8935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3FFDD-60AD-545E-5030-CB9511F3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06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0AB0-D649-3069-ED9D-D0EABF65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C1304-FD06-87F4-0607-EF73A2DDF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1D690-2917-C3F1-7EC8-F1839F77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F9E7B-50CB-2B46-6B38-021123E6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FBC92-73B7-F0DF-1096-5489146D4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4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84C15-FAB8-13CA-C545-B15CA8E0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E6D07-4F21-2724-7CD7-47EEC513B4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69854-15E9-D85F-2410-B66D9AECE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2BF9-4DF7-457D-6DC3-C4EFFF89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E188E-EBD2-4D5D-CFAC-EEAED3B4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2498-5D3F-D9FC-E06F-0EADE6D1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335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79D7E-944D-09F7-2F23-2C42EEE7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FB9C-DB09-B4D8-DB6E-AE5110932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2EE71-5144-CAFF-44F4-688F9BB66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24BD6-3D96-7634-93AD-73198659B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C05A8-ACBE-3F62-2C52-B365A2AE5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BA4964-9BA3-79F2-5375-31D74D84E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16009-8639-8209-855D-42A1D846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A8D623-BCC8-1D96-818D-FC0591EA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18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14BB2-83E6-1C1A-FF4A-CABC2E70E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0F447-49CF-1280-7FDE-BC64A556B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CD8918-C25B-BC94-2168-2E93ECAD4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F19E-7D5C-356C-6324-2BD8485B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52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FCD0B-6958-AAC8-A878-35F211C9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F65ECD-4C21-A3A6-1B19-7BC06D73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C5A86-F31E-C970-E5AD-351E6D9A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561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A5525-62E1-C2BB-323F-7BEA492E7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E8CA-B8A4-CA37-A9B4-2EA4CABDB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C17B7-DB5B-045C-D5CD-BE2C12CA8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89BD3-97EF-B4A0-2E21-54A01E600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925D7-FE38-EF3D-0931-7632CFE89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8127C-C437-EE83-2947-B68EA2A6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13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0FD9D-9F82-B40E-F5A0-F7B4AC7E2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B07EC8-8C3C-ED05-961B-C1D1493C46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5791C-2650-EF90-CE89-F8FBF9974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3E0A-F903-DD11-6F45-A0B6575D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7467D-5EA4-F8AC-87F1-7B6267183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38651-E107-5FAB-024A-E637D5A0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92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D458-4295-0346-92B3-97A4FE5D1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363F0-1E76-121B-8C09-E667A9EC0C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35B4D-9CFC-073C-2887-B35D2982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9D81-C262-87D9-CF34-82F3224F5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BC218-24CF-6B05-1C5D-25112BE6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913F2-8920-976A-B96C-48A109AE8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9D5EB-E24E-4FE2-9ED8-1AF381A2F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58E83-A63C-F1B0-9C05-296BB194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DD83-CE48-209E-C92E-5931D193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471B4-D0B5-E12C-B1AC-93A72B3B5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743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A708C-4A89-E05A-68DD-450E9866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24966-5E8F-2EC6-B4D8-A5A8C2B21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DBF11-4E70-F9AD-A012-70CEC1188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712A6-C3F1-46BE-A3A5-9A99A9CD6D4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F1FCE-C64D-AB0D-0149-E050E3FE5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6EBC1-168F-FF07-6835-1C6AEE152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54BE4-6122-49A4-9A11-93BC8C22D3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94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83D5-5C07-7217-3FFE-0DA6547E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 V CHARACTERISTICS OF SOLAR CELL</a:t>
            </a:r>
          </a:p>
        </p:txBody>
      </p:sp>
      <p:pic>
        <p:nvPicPr>
          <p:cNvPr id="4" name="Picture 4" descr="IV Curve | PVEducation">
            <a:extLst>
              <a:ext uri="{FF2B5EF4-FFF2-40B4-BE49-F238E27FC236}">
                <a16:creationId xmlns:a16="http://schemas.microsoft.com/office/drawing/2014/main" id="{879F5EF1-757F-A9B7-9689-5C7CE63AA7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6508" y="1690687"/>
            <a:ext cx="8864569" cy="459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6508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BC11-30E9-3421-FD13-80D00EE17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 V CHARACTERISTICS OF SOLAR CELL</a:t>
            </a:r>
          </a:p>
        </p:txBody>
      </p:sp>
      <p:pic>
        <p:nvPicPr>
          <p:cNvPr id="4100" name="Picture 4" descr="IV Curve | PVEducation">
            <a:extLst>
              <a:ext uri="{FF2B5EF4-FFF2-40B4-BE49-F238E27FC236}">
                <a16:creationId xmlns:a16="http://schemas.microsoft.com/office/drawing/2014/main" id="{CEE54F11-C4C6-CD0F-EE77-8E96411190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2564" y="2638425"/>
            <a:ext cx="4483527" cy="310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2D5B14-8799-392D-8120-6FC416ED0E70}"/>
              </a:ext>
            </a:extLst>
          </p:cNvPr>
          <p:cNvSpPr txBox="1"/>
          <p:nvPr/>
        </p:nvSpPr>
        <p:spPr>
          <a:xfrm>
            <a:off x="838200" y="1837452"/>
            <a:ext cx="5775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</a:rPr>
              <a:t>The power produced by the PV cell in Watts can be easily calculated along the I-V curve by the equation P=IV.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</a:rPr>
              <a:t>At the I</a:t>
            </a:r>
            <a:r>
              <a:rPr lang="en-US" sz="2400" b="0" i="0" baseline="-25000" dirty="0">
                <a:solidFill>
                  <a:srgbClr val="444444"/>
                </a:solidFill>
                <a:effectLst/>
              </a:rPr>
              <a:t>SC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 and V</a:t>
            </a:r>
            <a:r>
              <a:rPr lang="en-US" sz="2400" b="0" i="0" baseline="-25000" dirty="0">
                <a:solidFill>
                  <a:srgbClr val="444444"/>
                </a:solidFill>
                <a:effectLst/>
              </a:rPr>
              <a:t>OC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 points, the power will be zero and the maximum value for power will occur between the two.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44444"/>
                </a:solidFill>
                <a:effectLst/>
              </a:rPr>
              <a:t>The voltage and current at this maximum power point are denoted as VMP and IMP respectively. 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9EBA55-1728-974E-D142-A44C43E6C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68" y="5253771"/>
            <a:ext cx="5862091" cy="123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54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BD65-1FBB-AC7C-6DB0-820F3C6EB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 V CHARACTERISTICS OF 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2F83-CBB0-0DB2-8158-60374FB4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979504"/>
          </a:xfrm>
        </p:spPr>
        <p:txBody>
          <a:bodyPr>
            <a:normAutofit/>
          </a:bodyPr>
          <a:lstStyle/>
          <a:p>
            <a:pPr algn="l" fontAlgn="base"/>
            <a:r>
              <a:rPr lang="en-US" sz="2400" b="1" i="0" dirty="0">
                <a:solidFill>
                  <a:srgbClr val="333333"/>
                </a:solidFill>
                <a:effectLst/>
              </a:rPr>
              <a:t>Short Circuit Current (I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SC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)</a:t>
            </a:r>
            <a:endParaRPr lang="en-US" sz="2400" b="0" i="0" dirty="0">
              <a:solidFill>
                <a:srgbClr val="333333"/>
              </a:solidFill>
              <a:effectLst/>
            </a:endParaRPr>
          </a:p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Short circuit condition when the impedance is low and is calculated when the voltage equals 0.  			I (at V=0) = I</a:t>
            </a:r>
            <a:r>
              <a:rPr lang="en-US" sz="2400" b="0" i="0" baseline="-25000" dirty="0">
                <a:solidFill>
                  <a:srgbClr val="444444"/>
                </a:solidFill>
                <a:effectLst/>
              </a:rPr>
              <a:t>SC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 </a:t>
            </a:r>
          </a:p>
          <a:p>
            <a:pPr algn="l" fontAlgn="base"/>
            <a:r>
              <a:rPr lang="en-US" sz="2400" b="1" i="0" dirty="0">
                <a:solidFill>
                  <a:srgbClr val="333333"/>
                </a:solidFill>
                <a:effectLst/>
              </a:rPr>
              <a:t>Open Circuit Voltage (V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OC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)</a:t>
            </a:r>
            <a:endParaRPr lang="en-US" sz="2400" b="0" i="0" dirty="0">
              <a:solidFill>
                <a:srgbClr val="333333"/>
              </a:solidFill>
              <a:effectLst/>
            </a:endParaRPr>
          </a:p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Occurs when there is no current passing through the cell. 	V (at I=0) = V</a:t>
            </a:r>
            <a:r>
              <a:rPr lang="en-US" sz="2400" b="0" i="0" baseline="-25000" dirty="0">
                <a:solidFill>
                  <a:srgbClr val="444444"/>
                </a:solidFill>
                <a:effectLst/>
              </a:rPr>
              <a:t>OC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  </a:t>
            </a:r>
          </a:p>
          <a:p>
            <a:pPr algn="l" fontAlgn="base"/>
            <a:r>
              <a:rPr lang="en-US" sz="2400" b="1" i="0" dirty="0">
                <a:solidFill>
                  <a:srgbClr val="333333"/>
                </a:solidFill>
                <a:effectLst/>
              </a:rPr>
              <a:t>Maximum Power (P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MAX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), Current at P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MAX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 (I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MP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), Voltage at P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MAX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 (V</a:t>
            </a:r>
            <a:r>
              <a:rPr lang="en-US" sz="2400" b="1" i="0" baseline="-25000" dirty="0">
                <a:solidFill>
                  <a:srgbClr val="333333"/>
                </a:solidFill>
                <a:effectLst/>
              </a:rPr>
              <a:t>MP</a:t>
            </a:r>
            <a:r>
              <a:rPr lang="en-US" sz="2400" b="1" i="0" dirty="0">
                <a:solidFill>
                  <a:srgbClr val="333333"/>
                </a:solidFill>
                <a:effectLst/>
              </a:rPr>
              <a:t>)</a:t>
            </a:r>
            <a:endParaRPr lang="en-US" sz="2400" b="0" i="0" dirty="0">
              <a:solidFill>
                <a:srgbClr val="333333"/>
              </a:solidFill>
              <a:effectLst/>
            </a:endParaRPr>
          </a:p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The power produced by the PV cell in Watts can be easily calculated along the I-V curve by the equation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P=IV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.   </a:t>
            </a:r>
          </a:p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At the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I</a:t>
            </a:r>
            <a:r>
              <a:rPr lang="en-US" sz="2400" b="0" i="1" baseline="-25000" dirty="0">
                <a:solidFill>
                  <a:srgbClr val="444444"/>
                </a:solidFill>
                <a:effectLst/>
              </a:rPr>
              <a:t>SC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and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V</a:t>
            </a:r>
            <a:r>
              <a:rPr lang="en-US" sz="2400" b="0" i="1" baseline="-25000" dirty="0">
                <a:solidFill>
                  <a:srgbClr val="444444"/>
                </a:solidFill>
                <a:effectLst/>
              </a:rPr>
              <a:t>OC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points, the power will be zero and the maximum value for power will occur between the two.  The voltage and current at this maximum power point are denoted as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V</a:t>
            </a:r>
            <a:r>
              <a:rPr lang="en-US" sz="2400" b="0" i="1" baseline="-25000" dirty="0">
                <a:solidFill>
                  <a:srgbClr val="444444"/>
                </a:solidFill>
                <a:effectLst/>
              </a:rPr>
              <a:t>MP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and 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I</a:t>
            </a:r>
            <a:r>
              <a:rPr lang="en-US" sz="2400" b="0" i="1" baseline="-25000" dirty="0">
                <a:solidFill>
                  <a:srgbClr val="444444"/>
                </a:solidFill>
                <a:effectLst/>
              </a:rPr>
              <a:t>MP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 respectively.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1327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5F83-96DC-DFD2-D1D1-5FB1D7F01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FILL FACTOR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3A8E6B-5019-5FB7-2777-8AFFEF812E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078" y="1690688"/>
            <a:ext cx="10879000" cy="449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71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368F-CF52-4090-7857-51E3006A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FILL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31C78-9D72-91A4-58F7-C9A9DE773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586702"/>
          </a:xfrm>
        </p:spPr>
        <p:txBody>
          <a:bodyPr>
            <a:normAutofit/>
          </a:bodyPr>
          <a:lstStyle/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The Fill Factor (FF) is essentially a measure of the quality of the PV cell.  </a:t>
            </a:r>
          </a:p>
          <a:p>
            <a:pPr algn="l" fontAlgn="base"/>
            <a:r>
              <a:rPr lang="en-US" sz="2400" b="0" i="0" dirty="0">
                <a:solidFill>
                  <a:srgbClr val="444444"/>
                </a:solidFill>
                <a:effectLst/>
              </a:rPr>
              <a:t>It is calculated by comparing the maximum power to the theoretical power (</a:t>
            </a:r>
            <a:r>
              <a:rPr lang="en-US" sz="2400" b="0" i="1" dirty="0">
                <a:solidFill>
                  <a:srgbClr val="444444"/>
                </a:solidFill>
                <a:effectLst/>
              </a:rPr>
              <a:t>P</a:t>
            </a:r>
            <a:r>
              <a:rPr lang="en-US" sz="2400" b="0" i="1" baseline="-25000" dirty="0">
                <a:solidFill>
                  <a:srgbClr val="444444"/>
                </a:solidFill>
                <a:effectLst/>
              </a:rPr>
              <a:t>T</a:t>
            </a:r>
            <a:r>
              <a:rPr lang="en-US" sz="2400" b="0" i="0" dirty="0">
                <a:solidFill>
                  <a:srgbClr val="444444"/>
                </a:solidFill>
                <a:effectLst/>
              </a:rPr>
              <a:t>) that would be output at both the open circuit voltage and short circuit current together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</a:rPr>
              <a:t>A larger fill factor is desirable and corresponds to an I-V curve that is more square-like.  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</a:rPr>
              <a:t>Typical fill factors range from 0.5 to 0.82.  </a:t>
            </a:r>
          </a:p>
          <a:p>
            <a:r>
              <a:rPr lang="en-US" sz="2400" b="0" i="0" dirty="0">
                <a:solidFill>
                  <a:srgbClr val="444444"/>
                </a:solidFill>
                <a:effectLst/>
              </a:rPr>
              <a:t>Fill factor is also often represented as a percentage.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81A5B0-C40D-AD0F-0177-BF7F0EA0B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861" y="3562264"/>
            <a:ext cx="4658139" cy="30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03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0FB1-93E3-8B4D-8AD7-9146CF439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333333"/>
                </a:solidFill>
                <a:effectLst/>
              </a:rPr>
              <a:t>Efficiency (</a:t>
            </a:r>
            <a:r>
              <a:rPr lang="el-GR" b="1" i="0" dirty="0">
                <a:solidFill>
                  <a:srgbClr val="333333"/>
                </a:solidFill>
                <a:effectLst/>
              </a:rPr>
              <a:t>η)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8E01-7596-5BE9-9194-42E9EFC4A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Efficiency is the ratio of the electrical power output Pout, compared to the solar power input, Pin, into the PV cell.  </a:t>
            </a:r>
          </a:p>
          <a:p>
            <a:r>
              <a:rPr lang="en-US" sz="2400" dirty="0"/>
              <a:t>Pout can be taken to be P</a:t>
            </a:r>
            <a:r>
              <a:rPr lang="en-US" sz="2400" baseline="-25000" dirty="0"/>
              <a:t>MAX</a:t>
            </a:r>
            <a:r>
              <a:rPr lang="en-US" sz="2400" dirty="0"/>
              <a:t> since the PV cell can be operated up to its maximum power output to get the maximum efficiency.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Pin is taken as the product of the irradiance of the incident light.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7D5A1-FC96-AA30-5D4E-D69E80DC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034" y="3429000"/>
            <a:ext cx="3437262" cy="126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60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 V CHARACTERISTICS OF SOLAR CELL</vt:lpstr>
      <vt:lpstr>I V CHARACTERISTICS OF SOLAR CELL</vt:lpstr>
      <vt:lpstr>I V CHARACTERISTICS OF SOLAR CELL</vt:lpstr>
      <vt:lpstr>FILL FACTOR</vt:lpstr>
      <vt:lpstr>FILL FACTOR</vt:lpstr>
      <vt:lpstr>Efficiency (η)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2025-12-15T04:24:37Z</dcterms:created>
  <dcterms:modified xsi:type="dcterms:W3CDTF">2025-12-15T04:25:05Z</dcterms:modified>
</cp:coreProperties>
</file>