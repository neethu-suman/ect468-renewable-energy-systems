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96" r:id="rId2"/>
    <p:sldId id="363" r:id="rId3"/>
    <p:sldId id="365" r:id="rId4"/>
    <p:sldId id="318" r:id="rId5"/>
    <p:sldId id="307" r:id="rId6"/>
    <p:sldId id="366" r:id="rId7"/>
    <p:sldId id="364" r:id="rId8"/>
    <p:sldId id="297" r:id="rId9"/>
    <p:sldId id="306" r:id="rId10"/>
    <p:sldId id="319"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7" d="100"/>
          <a:sy n="77" d="100"/>
        </p:scale>
        <p:origin x="835"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2945A2-F081-FCB9-432E-EE8D6C3AF73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97481835-7C86-5ED8-DC3E-C14F3D7F9AB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2866D21-B4E6-595B-46C0-C8C04F64F6EE}"/>
              </a:ext>
            </a:extLst>
          </p:cNvPr>
          <p:cNvSpPr>
            <a:spLocks noGrp="1"/>
          </p:cNvSpPr>
          <p:nvPr>
            <p:ph type="dt" sz="half" idx="10"/>
          </p:nvPr>
        </p:nvSpPr>
        <p:spPr/>
        <p:txBody>
          <a:bodyPr/>
          <a:lstStyle/>
          <a:p>
            <a:fld id="{FF1A658C-C8E8-4826-8FF6-B3A380A23F76}" type="datetimeFigureOut">
              <a:rPr lang="en-IN" smtClean="0"/>
              <a:t>15-12-2025</a:t>
            </a:fld>
            <a:endParaRPr lang="en-IN"/>
          </a:p>
        </p:txBody>
      </p:sp>
      <p:sp>
        <p:nvSpPr>
          <p:cNvPr id="5" name="Footer Placeholder 4">
            <a:extLst>
              <a:ext uri="{FF2B5EF4-FFF2-40B4-BE49-F238E27FC236}">
                <a16:creationId xmlns:a16="http://schemas.microsoft.com/office/drawing/2014/main" id="{8A26B7AA-150D-B86C-6BD7-D910AD90BBC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02A7F92-6C84-061E-9AA4-4F915F11A86E}"/>
              </a:ext>
            </a:extLst>
          </p:cNvPr>
          <p:cNvSpPr>
            <a:spLocks noGrp="1"/>
          </p:cNvSpPr>
          <p:nvPr>
            <p:ph type="sldNum" sz="quarter" idx="12"/>
          </p:nvPr>
        </p:nvSpPr>
        <p:spPr/>
        <p:txBody>
          <a:bodyPr/>
          <a:lstStyle/>
          <a:p>
            <a:fld id="{54877E23-4A8A-4E60-B37E-F54D3ACA1569}" type="slidenum">
              <a:rPr lang="en-IN" smtClean="0"/>
              <a:t>‹#›</a:t>
            </a:fld>
            <a:endParaRPr lang="en-IN"/>
          </a:p>
        </p:txBody>
      </p:sp>
    </p:spTree>
    <p:extLst>
      <p:ext uri="{BB962C8B-B14F-4D97-AF65-F5344CB8AC3E}">
        <p14:creationId xmlns:p14="http://schemas.microsoft.com/office/powerpoint/2010/main" val="42864221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5073AD-877E-85FC-6AFA-A34C65016C8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225E86A-40F5-9FEC-E1EE-3009088575F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27642A9-DD08-7E6C-2409-DC992E8F6BBE}"/>
              </a:ext>
            </a:extLst>
          </p:cNvPr>
          <p:cNvSpPr>
            <a:spLocks noGrp="1"/>
          </p:cNvSpPr>
          <p:nvPr>
            <p:ph type="dt" sz="half" idx="10"/>
          </p:nvPr>
        </p:nvSpPr>
        <p:spPr/>
        <p:txBody>
          <a:bodyPr/>
          <a:lstStyle/>
          <a:p>
            <a:fld id="{FF1A658C-C8E8-4826-8FF6-B3A380A23F76}" type="datetimeFigureOut">
              <a:rPr lang="en-IN" smtClean="0"/>
              <a:t>15-12-2025</a:t>
            </a:fld>
            <a:endParaRPr lang="en-IN"/>
          </a:p>
        </p:txBody>
      </p:sp>
      <p:sp>
        <p:nvSpPr>
          <p:cNvPr id="5" name="Footer Placeholder 4">
            <a:extLst>
              <a:ext uri="{FF2B5EF4-FFF2-40B4-BE49-F238E27FC236}">
                <a16:creationId xmlns:a16="http://schemas.microsoft.com/office/drawing/2014/main" id="{2CD10B00-72CB-D234-EC2E-DE36EAC4E59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ACD515A-7E52-23B9-26B8-18E6ABA5505A}"/>
              </a:ext>
            </a:extLst>
          </p:cNvPr>
          <p:cNvSpPr>
            <a:spLocks noGrp="1"/>
          </p:cNvSpPr>
          <p:nvPr>
            <p:ph type="sldNum" sz="quarter" idx="12"/>
          </p:nvPr>
        </p:nvSpPr>
        <p:spPr/>
        <p:txBody>
          <a:bodyPr/>
          <a:lstStyle/>
          <a:p>
            <a:fld id="{54877E23-4A8A-4E60-B37E-F54D3ACA1569}" type="slidenum">
              <a:rPr lang="en-IN" smtClean="0"/>
              <a:t>‹#›</a:t>
            </a:fld>
            <a:endParaRPr lang="en-IN"/>
          </a:p>
        </p:txBody>
      </p:sp>
    </p:spTree>
    <p:extLst>
      <p:ext uri="{BB962C8B-B14F-4D97-AF65-F5344CB8AC3E}">
        <p14:creationId xmlns:p14="http://schemas.microsoft.com/office/powerpoint/2010/main" val="4448284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4F6F8E-819D-B57F-2EE0-095144C5976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5C7B4B9B-52FF-1B8F-7986-1D84D1D92F2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3BAFFAD-1212-F971-A231-12B5CFADC8D9}"/>
              </a:ext>
            </a:extLst>
          </p:cNvPr>
          <p:cNvSpPr>
            <a:spLocks noGrp="1"/>
          </p:cNvSpPr>
          <p:nvPr>
            <p:ph type="dt" sz="half" idx="10"/>
          </p:nvPr>
        </p:nvSpPr>
        <p:spPr/>
        <p:txBody>
          <a:bodyPr/>
          <a:lstStyle/>
          <a:p>
            <a:fld id="{FF1A658C-C8E8-4826-8FF6-B3A380A23F76}" type="datetimeFigureOut">
              <a:rPr lang="en-IN" smtClean="0"/>
              <a:t>15-12-2025</a:t>
            </a:fld>
            <a:endParaRPr lang="en-IN"/>
          </a:p>
        </p:txBody>
      </p:sp>
      <p:sp>
        <p:nvSpPr>
          <p:cNvPr id="5" name="Footer Placeholder 4">
            <a:extLst>
              <a:ext uri="{FF2B5EF4-FFF2-40B4-BE49-F238E27FC236}">
                <a16:creationId xmlns:a16="http://schemas.microsoft.com/office/drawing/2014/main" id="{8A00D355-8646-3692-0AB9-3265A7C8C8F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0172151-C0C8-AED5-67CA-C69E87525A49}"/>
              </a:ext>
            </a:extLst>
          </p:cNvPr>
          <p:cNvSpPr>
            <a:spLocks noGrp="1"/>
          </p:cNvSpPr>
          <p:nvPr>
            <p:ph type="sldNum" sz="quarter" idx="12"/>
          </p:nvPr>
        </p:nvSpPr>
        <p:spPr/>
        <p:txBody>
          <a:bodyPr/>
          <a:lstStyle/>
          <a:p>
            <a:fld id="{54877E23-4A8A-4E60-B37E-F54D3ACA1569}" type="slidenum">
              <a:rPr lang="en-IN" smtClean="0"/>
              <a:t>‹#›</a:t>
            </a:fld>
            <a:endParaRPr lang="en-IN"/>
          </a:p>
        </p:txBody>
      </p:sp>
    </p:spTree>
    <p:extLst>
      <p:ext uri="{BB962C8B-B14F-4D97-AF65-F5344CB8AC3E}">
        <p14:creationId xmlns:p14="http://schemas.microsoft.com/office/powerpoint/2010/main" val="30490809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67E044-997C-E29F-5851-ECBF876BFCF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0EE5FB9-D9CE-2037-54C5-354B71BEAF8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A7043B1-D3AE-F4BF-4381-05E04F46053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B9BA992-79BC-0EC1-57CB-215807F1AFAD}"/>
              </a:ext>
            </a:extLst>
          </p:cNvPr>
          <p:cNvSpPr>
            <a:spLocks noGrp="1"/>
          </p:cNvSpPr>
          <p:nvPr>
            <p:ph type="dt" sz="half" idx="10"/>
          </p:nvPr>
        </p:nvSpPr>
        <p:spPr/>
        <p:txBody>
          <a:bodyPr/>
          <a:lstStyle/>
          <a:p>
            <a:fld id="{FF1A658C-C8E8-4826-8FF6-B3A380A23F76}" type="datetimeFigureOut">
              <a:rPr lang="en-IN" smtClean="0"/>
              <a:t>15-12-2025</a:t>
            </a:fld>
            <a:endParaRPr lang="en-IN"/>
          </a:p>
        </p:txBody>
      </p:sp>
      <p:sp>
        <p:nvSpPr>
          <p:cNvPr id="6" name="Footer Placeholder 5">
            <a:extLst>
              <a:ext uri="{FF2B5EF4-FFF2-40B4-BE49-F238E27FC236}">
                <a16:creationId xmlns:a16="http://schemas.microsoft.com/office/drawing/2014/main" id="{49687F70-296B-1DEF-0AC9-397BDA7997C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84F2C1F-CA38-5379-8601-6E57FABF546F}"/>
              </a:ext>
            </a:extLst>
          </p:cNvPr>
          <p:cNvSpPr>
            <a:spLocks noGrp="1"/>
          </p:cNvSpPr>
          <p:nvPr>
            <p:ph type="sldNum" sz="quarter" idx="12"/>
          </p:nvPr>
        </p:nvSpPr>
        <p:spPr/>
        <p:txBody>
          <a:bodyPr/>
          <a:lstStyle/>
          <a:p>
            <a:fld id="{54877E23-4A8A-4E60-B37E-F54D3ACA1569}" type="slidenum">
              <a:rPr lang="en-IN" smtClean="0"/>
              <a:t>‹#›</a:t>
            </a:fld>
            <a:endParaRPr lang="en-IN"/>
          </a:p>
        </p:txBody>
      </p:sp>
    </p:spTree>
    <p:extLst>
      <p:ext uri="{BB962C8B-B14F-4D97-AF65-F5344CB8AC3E}">
        <p14:creationId xmlns:p14="http://schemas.microsoft.com/office/powerpoint/2010/main" val="13657234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D07DD6-7EF5-75E5-6EEA-E20EDE73D2A1}"/>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4A7D14D-F4D2-A40F-A5B2-05E7BDC4FE2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EEF4F1B-1A9E-7A24-4A03-58A4F203CC7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8F534E0-A7B7-2FB1-1EB8-2FA09C34902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E535E5C-20B5-FC2E-6945-95F5A7B45D1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CF408D0-B037-5E06-9322-306265B39FCB}"/>
              </a:ext>
            </a:extLst>
          </p:cNvPr>
          <p:cNvSpPr>
            <a:spLocks noGrp="1"/>
          </p:cNvSpPr>
          <p:nvPr>
            <p:ph type="dt" sz="half" idx="10"/>
          </p:nvPr>
        </p:nvSpPr>
        <p:spPr/>
        <p:txBody>
          <a:bodyPr/>
          <a:lstStyle/>
          <a:p>
            <a:fld id="{FF1A658C-C8E8-4826-8FF6-B3A380A23F76}" type="datetimeFigureOut">
              <a:rPr lang="en-IN" smtClean="0"/>
              <a:t>15-12-2025</a:t>
            </a:fld>
            <a:endParaRPr lang="en-IN"/>
          </a:p>
        </p:txBody>
      </p:sp>
      <p:sp>
        <p:nvSpPr>
          <p:cNvPr id="8" name="Footer Placeholder 7">
            <a:extLst>
              <a:ext uri="{FF2B5EF4-FFF2-40B4-BE49-F238E27FC236}">
                <a16:creationId xmlns:a16="http://schemas.microsoft.com/office/drawing/2014/main" id="{D8A13B4F-19B9-A817-FF09-DC126B9D191D}"/>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9946E0D8-FBB7-4805-4F6C-AA30588C9887}"/>
              </a:ext>
            </a:extLst>
          </p:cNvPr>
          <p:cNvSpPr>
            <a:spLocks noGrp="1"/>
          </p:cNvSpPr>
          <p:nvPr>
            <p:ph type="sldNum" sz="quarter" idx="12"/>
          </p:nvPr>
        </p:nvSpPr>
        <p:spPr/>
        <p:txBody>
          <a:bodyPr/>
          <a:lstStyle/>
          <a:p>
            <a:fld id="{54877E23-4A8A-4E60-B37E-F54D3ACA1569}" type="slidenum">
              <a:rPr lang="en-IN" smtClean="0"/>
              <a:t>‹#›</a:t>
            </a:fld>
            <a:endParaRPr lang="en-IN"/>
          </a:p>
        </p:txBody>
      </p:sp>
    </p:spTree>
    <p:extLst>
      <p:ext uri="{BB962C8B-B14F-4D97-AF65-F5344CB8AC3E}">
        <p14:creationId xmlns:p14="http://schemas.microsoft.com/office/powerpoint/2010/main" val="22197070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B730A6-4F19-627D-9D16-029877D09E4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9ADD3FC0-2CC8-882B-9682-DC029F893D92}"/>
              </a:ext>
            </a:extLst>
          </p:cNvPr>
          <p:cNvSpPr>
            <a:spLocks noGrp="1"/>
          </p:cNvSpPr>
          <p:nvPr>
            <p:ph type="dt" sz="half" idx="10"/>
          </p:nvPr>
        </p:nvSpPr>
        <p:spPr/>
        <p:txBody>
          <a:bodyPr/>
          <a:lstStyle/>
          <a:p>
            <a:fld id="{FF1A658C-C8E8-4826-8FF6-B3A380A23F76}" type="datetimeFigureOut">
              <a:rPr lang="en-IN" smtClean="0"/>
              <a:t>15-12-2025</a:t>
            </a:fld>
            <a:endParaRPr lang="en-IN"/>
          </a:p>
        </p:txBody>
      </p:sp>
      <p:sp>
        <p:nvSpPr>
          <p:cNvPr id="4" name="Footer Placeholder 3">
            <a:extLst>
              <a:ext uri="{FF2B5EF4-FFF2-40B4-BE49-F238E27FC236}">
                <a16:creationId xmlns:a16="http://schemas.microsoft.com/office/drawing/2014/main" id="{396C34EA-3085-19EB-162B-6D396E7C4AC1}"/>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462D4C13-FD67-CED3-94EC-158F0C20E8FA}"/>
              </a:ext>
            </a:extLst>
          </p:cNvPr>
          <p:cNvSpPr>
            <a:spLocks noGrp="1"/>
          </p:cNvSpPr>
          <p:nvPr>
            <p:ph type="sldNum" sz="quarter" idx="12"/>
          </p:nvPr>
        </p:nvSpPr>
        <p:spPr/>
        <p:txBody>
          <a:bodyPr/>
          <a:lstStyle/>
          <a:p>
            <a:fld id="{54877E23-4A8A-4E60-B37E-F54D3ACA1569}" type="slidenum">
              <a:rPr lang="en-IN" smtClean="0"/>
              <a:t>‹#›</a:t>
            </a:fld>
            <a:endParaRPr lang="en-IN"/>
          </a:p>
        </p:txBody>
      </p:sp>
    </p:spTree>
    <p:extLst>
      <p:ext uri="{BB962C8B-B14F-4D97-AF65-F5344CB8AC3E}">
        <p14:creationId xmlns:p14="http://schemas.microsoft.com/office/powerpoint/2010/main" val="37742261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706D66D-9E41-ECEC-5A34-9C8FB1660857}"/>
              </a:ext>
            </a:extLst>
          </p:cNvPr>
          <p:cNvSpPr>
            <a:spLocks noGrp="1"/>
          </p:cNvSpPr>
          <p:nvPr>
            <p:ph type="dt" sz="half" idx="10"/>
          </p:nvPr>
        </p:nvSpPr>
        <p:spPr/>
        <p:txBody>
          <a:bodyPr/>
          <a:lstStyle/>
          <a:p>
            <a:fld id="{FF1A658C-C8E8-4826-8FF6-B3A380A23F76}" type="datetimeFigureOut">
              <a:rPr lang="en-IN" smtClean="0"/>
              <a:t>15-12-2025</a:t>
            </a:fld>
            <a:endParaRPr lang="en-IN"/>
          </a:p>
        </p:txBody>
      </p:sp>
      <p:sp>
        <p:nvSpPr>
          <p:cNvPr id="3" name="Footer Placeholder 2">
            <a:extLst>
              <a:ext uri="{FF2B5EF4-FFF2-40B4-BE49-F238E27FC236}">
                <a16:creationId xmlns:a16="http://schemas.microsoft.com/office/drawing/2014/main" id="{699AA901-9380-1FE5-3868-A0D6001A6DAD}"/>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1E584C41-D6F6-AB2E-9E09-C77DBDF7F1BE}"/>
              </a:ext>
            </a:extLst>
          </p:cNvPr>
          <p:cNvSpPr>
            <a:spLocks noGrp="1"/>
          </p:cNvSpPr>
          <p:nvPr>
            <p:ph type="sldNum" sz="quarter" idx="12"/>
          </p:nvPr>
        </p:nvSpPr>
        <p:spPr/>
        <p:txBody>
          <a:bodyPr/>
          <a:lstStyle/>
          <a:p>
            <a:fld id="{54877E23-4A8A-4E60-B37E-F54D3ACA1569}" type="slidenum">
              <a:rPr lang="en-IN" smtClean="0"/>
              <a:t>‹#›</a:t>
            </a:fld>
            <a:endParaRPr lang="en-IN"/>
          </a:p>
        </p:txBody>
      </p:sp>
    </p:spTree>
    <p:extLst>
      <p:ext uri="{BB962C8B-B14F-4D97-AF65-F5344CB8AC3E}">
        <p14:creationId xmlns:p14="http://schemas.microsoft.com/office/powerpoint/2010/main" val="17011593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C8F767-E90E-4716-14FF-D770255D1FF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3E79588B-537B-21B8-765E-24178C5B4EE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0B26C8FF-1000-4BA2-B988-0A1BC485EB4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439F0F0-DA7B-4F99-43E4-C56017041566}"/>
              </a:ext>
            </a:extLst>
          </p:cNvPr>
          <p:cNvSpPr>
            <a:spLocks noGrp="1"/>
          </p:cNvSpPr>
          <p:nvPr>
            <p:ph type="dt" sz="half" idx="10"/>
          </p:nvPr>
        </p:nvSpPr>
        <p:spPr/>
        <p:txBody>
          <a:bodyPr/>
          <a:lstStyle/>
          <a:p>
            <a:fld id="{FF1A658C-C8E8-4826-8FF6-B3A380A23F76}" type="datetimeFigureOut">
              <a:rPr lang="en-IN" smtClean="0"/>
              <a:t>15-12-2025</a:t>
            </a:fld>
            <a:endParaRPr lang="en-IN"/>
          </a:p>
        </p:txBody>
      </p:sp>
      <p:sp>
        <p:nvSpPr>
          <p:cNvPr id="6" name="Footer Placeholder 5">
            <a:extLst>
              <a:ext uri="{FF2B5EF4-FFF2-40B4-BE49-F238E27FC236}">
                <a16:creationId xmlns:a16="http://schemas.microsoft.com/office/drawing/2014/main" id="{7E3CECBB-A729-9686-49EE-D135A2797B9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6813E68-BE8C-54DB-9CFE-F442976FDED1}"/>
              </a:ext>
            </a:extLst>
          </p:cNvPr>
          <p:cNvSpPr>
            <a:spLocks noGrp="1"/>
          </p:cNvSpPr>
          <p:nvPr>
            <p:ph type="sldNum" sz="quarter" idx="12"/>
          </p:nvPr>
        </p:nvSpPr>
        <p:spPr/>
        <p:txBody>
          <a:bodyPr/>
          <a:lstStyle/>
          <a:p>
            <a:fld id="{54877E23-4A8A-4E60-B37E-F54D3ACA1569}" type="slidenum">
              <a:rPr lang="en-IN" smtClean="0"/>
              <a:t>‹#›</a:t>
            </a:fld>
            <a:endParaRPr lang="en-IN"/>
          </a:p>
        </p:txBody>
      </p:sp>
    </p:spTree>
    <p:extLst>
      <p:ext uri="{BB962C8B-B14F-4D97-AF65-F5344CB8AC3E}">
        <p14:creationId xmlns:p14="http://schemas.microsoft.com/office/powerpoint/2010/main" val="17911513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928C59-A4A1-994B-288D-44E849FACE5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C05C1A4-5F5C-E434-84DB-6BD40E83AB0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F2C7D2B5-1838-DD16-B1C2-659C03A28D4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5EE302C-C2E7-74E4-09F7-30A60A58A2C7}"/>
              </a:ext>
            </a:extLst>
          </p:cNvPr>
          <p:cNvSpPr>
            <a:spLocks noGrp="1"/>
          </p:cNvSpPr>
          <p:nvPr>
            <p:ph type="dt" sz="half" idx="10"/>
          </p:nvPr>
        </p:nvSpPr>
        <p:spPr/>
        <p:txBody>
          <a:bodyPr/>
          <a:lstStyle/>
          <a:p>
            <a:fld id="{FF1A658C-C8E8-4826-8FF6-B3A380A23F76}" type="datetimeFigureOut">
              <a:rPr lang="en-IN" smtClean="0"/>
              <a:t>15-12-2025</a:t>
            </a:fld>
            <a:endParaRPr lang="en-IN"/>
          </a:p>
        </p:txBody>
      </p:sp>
      <p:sp>
        <p:nvSpPr>
          <p:cNvPr id="6" name="Footer Placeholder 5">
            <a:extLst>
              <a:ext uri="{FF2B5EF4-FFF2-40B4-BE49-F238E27FC236}">
                <a16:creationId xmlns:a16="http://schemas.microsoft.com/office/drawing/2014/main" id="{A130F2C4-DC10-AA1F-0E6E-9D9D9B58E55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53D278D-DEF6-D6CC-80D6-DE44723C30CD}"/>
              </a:ext>
            </a:extLst>
          </p:cNvPr>
          <p:cNvSpPr>
            <a:spLocks noGrp="1"/>
          </p:cNvSpPr>
          <p:nvPr>
            <p:ph type="sldNum" sz="quarter" idx="12"/>
          </p:nvPr>
        </p:nvSpPr>
        <p:spPr/>
        <p:txBody>
          <a:bodyPr/>
          <a:lstStyle/>
          <a:p>
            <a:fld id="{54877E23-4A8A-4E60-B37E-F54D3ACA1569}" type="slidenum">
              <a:rPr lang="en-IN" smtClean="0"/>
              <a:t>‹#›</a:t>
            </a:fld>
            <a:endParaRPr lang="en-IN"/>
          </a:p>
        </p:txBody>
      </p:sp>
    </p:spTree>
    <p:extLst>
      <p:ext uri="{BB962C8B-B14F-4D97-AF65-F5344CB8AC3E}">
        <p14:creationId xmlns:p14="http://schemas.microsoft.com/office/powerpoint/2010/main" val="107579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383CB3-4687-3145-4D52-075FCBC508E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ADD835A-D1F9-F33E-F5B5-066CABE8D6A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56172EC-9DF9-B8EC-258B-5CB9396DD95C}"/>
              </a:ext>
            </a:extLst>
          </p:cNvPr>
          <p:cNvSpPr>
            <a:spLocks noGrp="1"/>
          </p:cNvSpPr>
          <p:nvPr>
            <p:ph type="dt" sz="half" idx="10"/>
          </p:nvPr>
        </p:nvSpPr>
        <p:spPr/>
        <p:txBody>
          <a:bodyPr/>
          <a:lstStyle/>
          <a:p>
            <a:fld id="{FF1A658C-C8E8-4826-8FF6-B3A380A23F76}" type="datetimeFigureOut">
              <a:rPr lang="en-IN" smtClean="0"/>
              <a:t>15-12-2025</a:t>
            </a:fld>
            <a:endParaRPr lang="en-IN"/>
          </a:p>
        </p:txBody>
      </p:sp>
      <p:sp>
        <p:nvSpPr>
          <p:cNvPr id="5" name="Footer Placeholder 4">
            <a:extLst>
              <a:ext uri="{FF2B5EF4-FFF2-40B4-BE49-F238E27FC236}">
                <a16:creationId xmlns:a16="http://schemas.microsoft.com/office/drawing/2014/main" id="{7B1A36B6-2DC7-1DE9-D957-8CAD7513D11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6BDE380-F3C3-86F3-3815-BA77386E6590}"/>
              </a:ext>
            </a:extLst>
          </p:cNvPr>
          <p:cNvSpPr>
            <a:spLocks noGrp="1"/>
          </p:cNvSpPr>
          <p:nvPr>
            <p:ph type="sldNum" sz="quarter" idx="12"/>
          </p:nvPr>
        </p:nvSpPr>
        <p:spPr/>
        <p:txBody>
          <a:bodyPr/>
          <a:lstStyle/>
          <a:p>
            <a:fld id="{54877E23-4A8A-4E60-B37E-F54D3ACA1569}" type="slidenum">
              <a:rPr lang="en-IN" smtClean="0"/>
              <a:t>‹#›</a:t>
            </a:fld>
            <a:endParaRPr lang="en-IN"/>
          </a:p>
        </p:txBody>
      </p:sp>
    </p:spTree>
    <p:extLst>
      <p:ext uri="{BB962C8B-B14F-4D97-AF65-F5344CB8AC3E}">
        <p14:creationId xmlns:p14="http://schemas.microsoft.com/office/powerpoint/2010/main" val="38256396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D399D06-07D0-B732-4056-57C0EB6D1F4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EA12E9C-A724-9B5F-8674-A9635473F51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33DFFAF-0BD7-169E-DD07-4FF7A0ACC68B}"/>
              </a:ext>
            </a:extLst>
          </p:cNvPr>
          <p:cNvSpPr>
            <a:spLocks noGrp="1"/>
          </p:cNvSpPr>
          <p:nvPr>
            <p:ph type="dt" sz="half" idx="10"/>
          </p:nvPr>
        </p:nvSpPr>
        <p:spPr/>
        <p:txBody>
          <a:bodyPr/>
          <a:lstStyle/>
          <a:p>
            <a:fld id="{FF1A658C-C8E8-4826-8FF6-B3A380A23F76}" type="datetimeFigureOut">
              <a:rPr lang="en-IN" smtClean="0"/>
              <a:t>15-12-2025</a:t>
            </a:fld>
            <a:endParaRPr lang="en-IN"/>
          </a:p>
        </p:txBody>
      </p:sp>
      <p:sp>
        <p:nvSpPr>
          <p:cNvPr id="5" name="Footer Placeholder 4">
            <a:extLst>
              <a:ext uri="{FF2B5EF4-FFF2-40B4-BE49-F238E27FC236}">
                <a16:creationId xmlns:a16="http://schemas.microsoft.com/office/drawing/2014/main" id="{93947EB4-2D89-A031-E988-7A08D90E24F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CEA81F9-8E0A-7EC8-5397-69D793938612}"/>
              </a:ext>
            </a:extLst>
          </p:cNvPr>
          <p:cNvSpPr>
            <a:spLocks noGrp="1"/>
          </p:cNvSpPr>
          <p:nvPr>
            <p:ph type="sldNum" sz="quarter" idx="12"/>
          </p:nvPr>
        </p:nvSpPr>
        <p:spPr/>
        <p:txBody>
          <a:bodyPr/>
          <a:lstStyle/>
          <a:p>
            <a:fld id="{54877E23-4A8A-4E60-B37E-F54D3ACA1569}" type="slidenum">
              <a:rPr lang="en-IN" smtClean="0"/>
              <a:t>‹#›</a:t>
            </a:fld>
            <a:endParaRPr lang="en-IN"/>
          </a:p>
        </p:txBody>
      </p:sp>
    </p:spTree>
    <p:extLst>
      <p:ext uri="{BB962C8B-B14F-4D97-AF65-F5344CB8AC3E}">
        <p14:creationId xmlns:p14="http://schemas.microsoft.com/office/powerpoint/2010/main" val="15591259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A7AC37C-26B9-BD5A-5C8D-974012A92EA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CEC49B3-3E1A-3D1C-7405-3EF4936A6EE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D551B9F-3822-E753-4A7D-C33AF5EE8C0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F1A658C-C8E8-4826-8FF6-B3A380A23F76}" type="datetimeFigureOut">
              <a:rPr lang="en-IN" smtClean="0"/>
              <a:t>15-12-2025</a:t>
            </a:fld>
            <a:endParaRPr lang="en-IN"/>
          </a:p>
        </p:txBody>
      </p:sp>
      <p:sp>
        <p:nvSpPr>
          <p:cNvPr id="5" name="Footer Placeholder 4">
            <a:extLst>
              <a:ext uri="{FF2B5EF4-FFF2-40B4-BE49-F238E27FC236}">
                <a16:creationId xmlns:a16="http://schemas.microsoft.com/office/drawing/2014/main" id="{61581708-4083-9273-471C-30F0260D667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502C134C-4784-4E0A-5B5F-07BCFD2A87F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4877E23-4A8A-4E60-B37E-F54D3ACA1569}" type="slidenum">
              <a:rPr lang="en-IN" smtClean="0"/>
              <a:t>‹#›</a:t>
            </a:fld>
            <a:endParaRPr lang="en-IN"/>
          </a:p>
        </p:txBody>
      </p:sp>
    </p:spTree>
    <p:extLst>
      <p:ext uri="{BB962C8B-B14F-4D97-AF65-F5344CB8AC3E}">
        <p14:creationId xmlns:p14="http://schemas.microsoft.com/office/powerpoint/2010/main" val="317754699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A20E19-6BD6-3175-300E-914BA9E63436}"/>
              </a:ext>
            </a:extLst>
          </p:cNvPr>
          <p:cNvSpPr>
            <a:spLocks noGrp="1"/>
          </p:cNvSpPr>
          <p:nvPr>
            <p:ph type="title"/>
          </p:nvPr>
        </p:nvSpPr>
        <p:spPr/>
        <p:txBody>
          <a:bodyPr>
            <a:normAutofit/>
          </a:bodyPr>
          <a:lstStyle/>
          <a:p>
            <a:r>
              <a:rPr lang="en-IN" dirty="0"/>
              <a:t>SOLAR INVERTER</a:t>
            </a:r>
          </a:p>
        </p:txBody>
      </p:sp>
      <p:sp>
        <p:nvSpPr>
          <p:cNvPr id="3" name="Content Placeholder 2">
            <a:extLst>
              <a:ext uri="{FF2B5EF4-FFF2-40B4-BE49-F238E27FC236}">
                <a16:creationId xmlns:a16="http://schemas.microsoft.com/office/drawing/2014/main" id="{A9133B95-6B0F-877D-BEF5-DA5A68F11E46}"/>
              </a:ext>
            </a:extLst>
          </p:cNvPr>
          <p:cNvSpPr>
            <a:spLocks noGrp="1"/>
          </p:cNvSpPr>
          <p:nvPr>
            <p:ph idx="1"/>
          </p:nvPr>
        </p:nvSpPr>
        <p:spPr/>
        <p:txBody>
          <a:bodyPr>
            <a:normAutofit/>
          </a:bodyPr>
          <a:lstStyle/>
          <a:p>
            <a:pPr algn="l"/>
            <a:r>
              <a:rPr lang="en-US" sz="2400" b="0" i="0" dirty="0">
                <a:solidFill>
                  <a:srgbClr val="464646"/>
                </a:solidFill>
                <a:effectLst/>
              </a:rPr>
              <a:t>Inverters used in photovoltaic applications are historically divided into two main categories: </a:t>
            </a:r>
          </a:p>
          <a:p>
            <a:pPr marL="457200" indent="-457200" algn="l">
              <a:buFont typeface="+mj-lt"/>
              <a:buAutoNum type="arabicPeriod"/>
            </a:pPr>
            <a:r>
              <a:rPr lang="en-US" sz="2400" b="1" i="0" dirty="0">
                <a:solidFill>
                  <a:srgbClr val="464646"/>
                </a:solidFill>
                <a:effectLst/>
              </a:rPr>
              <a:t>Standalone inverters</a:t>
            </a:r>
          </a:p>
          <a:p>
            <a:pPr marL="457200" indent="-457200" algn="l">
              <a:buFont typeface="+mj-lt"/>
              <a:buAutoNum type="arabicPeriod"/>
            </a:pPr>
            <a:r>
              <a:rPr lang="en-US" sz="2400" b="1" i="0" dirty="0">
                <a:solidFill>
                  <a:srgbClr val="464646"/>
                </a:solidFill>
                <a:effectLst/>
              </a:rPr>
              <a:t>Grid-connected inverters</a:t>
            </a:r>
          </a:p>
          <a:p>
            <a:endParaRPr lang="en-IN" sz="2400" dirty="0"/>
          </a:p>
        </p:txBody>
      </p:sp>
    </p:spTree>
    <p:extLst>
      <p:ext uri="{BB962C8B-B14F-4D97-AF65-F5344CB8AC3E}">
        <p14:creationId xmlns:p14="http://schemas.microsoft.com/office/powerpoint/2010/main" val="23953566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8634699-E281-404D-0A0C-6BD9D2BF9120}"/>
              </a:ext>
            </a:extLst>
          </p:cNvPr>
          <p:cNvPicPr>
            <a:picLocks noChangeAspect="1"/>
          </p:cNvPicPr>
          <p:nvPr/>
        </p:nvPicPr>
        <p:blipFill>
          <a:blip r:embed="rId2"/>
          <a:stretch>
            <a:fillRect/>
          </a:stretch>
        </p:blipFill>
        <p:spPr>
          <a:xfrm>
            <a:off x="1329851" y="422976"/>
            <a:ext cx="8440313" cy="6012048"/>
          </a:xfrm>
          <a:prstGeom prst="rect">
            <a:avLst/>
          </a:prstGeom>
        </p:spPr>
      </p:pic>
    </p:spTree>
    <p:extLst>
      <p:ext uri="{BB962C8B-B14F-4D97-AF65-F5344CB8AC3E}">
        <p14:creationId xmlns:p14="http://schemas.microsoft.com/office/powerpoint/2010/main" val="26387453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F5932A6-A0E7-6C51-7DA0-EACB7E8309D0}"/>
              </a:ext>
            </a:extLst>
          </p:cNvPr>
          <p:cNvSpPr>
            <a:spLocks noGrp="1"/>
          </p:cNvSpPr>
          <p:nvPr>
            <p:ph type="title"/>
          </p:nvPr>
        </p:nvSpPr>
        <p:spPr/>
        <p:txBody>
          <a:bodyPr/>
          <a:lstStyle/>
          <a:p>
            <a:r>
              <a:rPr lang="en-IN" dirty="0"/>
              <a:t>STAND ALONE INVERTERS</a:t>
            </a:r>
          </a:p>
        </p:txBody>
      </p:sp>
      <p:pic>
        <p:nvPicPr>
          <p:cNvPr id="1028" name="Picture 4">
            <a:extLst>
              <a:ext uri="{FF2B5EF4-FFF2-40B4-BE49-F238E27FC236}">
                <a16:creationId xmlns:a16="http://schemas.microsoft.com/office/drawing/2014/main" id="{A5B44189-506B-8DCB-A400-6B703AEEEDC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42321" y="1690688"/>
            <a:ext cx="6096000" cy="46291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937137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83055F-3B83-CEA3-6F02-5A4EF606073A}"/>
              </a:ext>
            </a:extLst>
          </p:cNvPr>
          <p:cNvSpPr>
            <a:spLocks noGrp="1"/>
          </p:cNvSpPr>
          <p:nvPr>
            <p:ph type="title"/>
          </p:nvPr>
        </p:nvSpPr>
        <p:spPr/>
        <p:txBody>
          <a:bodyPr/>
          <a:lstStyle/>
          <a:p>
            <a:r>
              <a:rPr lang="en-IN" dirty="0"/>
              <a:t>STAND ALONE INVERTERS</a:t>
            </a:r>
          </a:p>
        </p:txBody>
      </p:sp>
      <p:sp>
        <p:nvSpPr>
          <p:cNvPr id="4" name="Content Placeholder 3">
            <a:extLst>
              <a:ext uri="{FF2B5EF4-FFF2-40B4-BE49-F238E27FC236}">
                <a16:creationId xmlns:a16="http://schemas.microsoft.com/office/drawing/2014/main" id="{5D90D4DF-F68B-EC42-7B12-FE96DD83FE78}"/>
              </a:ext>
            </a:extLst>
          </p:cNvPr>
          <p:cNvSpPr>
            <a:spLocks noGrp="1"/>
          </p:cNvSpPr>
          <p:nvPr>
            <p:ph idx="1"/>
          </p:nvPr>
        </p:nvSpPr>
        <p:spPr>
          <a:xfrm>
            <a:off x="838199" y="1690688"/>
            <a:ext cx="10830339" cy="4879077"/>
          </a:xfrm>
        </p:spPr>
        <p:txBody>
          <a:bodyPr>
            <a:normAutofit lnSpcReduction="10000"/>
          </a:bodyPr>
          <a:lstStyle/>
          <a:p>
            <a:r>
              <a:rPr lang="en-US" sz="2400" dirty="0"/>
              <a:t>Stand-alone inverters are used in applications where the PV system is </a:t>
            </a:r>
            <a:r>
              <a:rPr lang="en-US" sz="2400" b="1" dirty="0"/>
              <a:t>not connected to the main electricity distribution network</a:t>
            </a:r>
            <a:r>
              <a:rPr lang="en-US" sz="2400" dirty="0"/>
              <a:t>. </a:t>
            </a:r>
          </a:p>
          <a:p>
            <a:r>
              <a:rPr lang="en-US" sz="2400" dirty="0"/>
              <a:t>These systems operate independently and supply electrical energy directly to the connected loads. </a:t>
            </a:r>
          </a:p>
          <a:p>
            <a:r>
              <a:rPr lang="en-US" sz="2400" dirty="0"/>
              <a:t>The primary function of the stand-alone inverter is to </a:t>
            </a:r>
            <a:r>
              <a:rPr lang="en-US" sz="2400" b="1" dirty="0"/>
              <a:t>convert DC power from solar panels or batteries into AC power</a:t>
            </a:r>
            <a:r>
              <a:rPr lang="en-US" sz="2400" dirty="0"/>
              <a:t>, while maintaining the </a:t>
            </a:r>
            <a:r>
              <a:rPr lang="en-US" sz="2400" b="1" dirty="0"/>
              <a:t>stability of key electrical parameters</a:t>
            </a:r>
            <a:r>
              <a:rPr lang="en-US" sz="2400" dirty="0"/>
              <a:t> such as voltage and frequency. </a:t>
            </a:r>
          </a:p>
          <a:p>
            <a:r>
              <a:rPr lang="en-US" sz="2400" dirty="0"/>
              <a:t>The inverter ensures that these parameters remain within predefined limits and is capable of withstanding temporary overloading conditions.</a:t>
            </a:r>
          </a:p>
          <a:p>
            <a:r>
              <a:rPr lang="en-US" sz="2400" dirty="0"/>
              <a:t>Since the system works independently of the utility grid, a </a:t>
            </a:r>
            <a:r>
              <a:rPr lang="en-US" sz="2400" b="1" dirty="0"/>
              <a:t>battery storage system</a:t>
            </a:r>
            <a:r>
              <a:rPr lang="en-US" sz="2400" dirty="0"/>
              <a:t> is typically integrated to ensure a reliable and consistent supply of energy even during periods of low or no sunlight. Stand-alone PV systems can either directly power loads during daytime using real-time solar energy or charge the batteries that act as the main energy storage device.</a:t>
            </a:r>
            <a:endParaRPr lang="en-IN" sz="2400" dirty="0"/>
          </a:p>
        </p:txBody>
      </p:sp>
    </p:spTree>
    <p:extLst>
      <p:ext uri="{BB962C8B-B14F-4D97-AF65-F5344CB8AC3E}">
        <p14:creationId xmlns:p14="http://schemas.microsoft.com/office/powerpoint/2010/main" val="41660343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74B481-9F2A-03E1-1BB7-B89913E6683A}"/>
              </a:ext>
            </a:extLst>
          </p:cNvPr>
          <p:cNvSpPr>
            <a:spLocks noGrp="1"/>
          </p:cNvSpPr>
          <p:nvPr>
            <p:ph type="title"/>
          </p:nvPr>
        </p:nvSpPr>
        <p:spPr/>
        <p:txBody>
          <a:bodyPr/>
          <a:lstStyle/>
          <a:p>
            <a:r>
              <a:rPr lang="en-IN" dirty="0"/>
              <a:t>STAND ALONE INVERTERS WORKING</a:t>
            </a:r>
          </a:p>
        </p:txBody>
      </p:sp>
      <p:sp>
        <p:nvSpPr>
          <p:cNvPr id="3" name="Content Placeholder 2">
            <a:extLst>
              <a:ext uri="{FF2B5EF4-FFF2-40B4-BE49-F238E27FC236}">
                <a16:creationId xmlns:a16="http://schemas.microsoft.com/office/drawing/2014/main" id="{C77FA8F1-5B29-5F05-E002-CDF56E3E99D1}"/>
              </a:ext>
            </a:extLst>
          </p:cNvPr>
          <p:cNvSpPr>
            <a:spLocks noGrp="1"/>
          </p:cNvSpPr>
          <p:nvPr>
            <p:ph idx="1"/>
          </p:nvPr>
        </p:nvSpPr>
        <p:spPr/>
        <p:txBody>
          <a:bodyPr>
            <a:normAutofit/>
          </a:bodyPr>
          <a:lstStyle/>
          <a:p>
            <a:r>
              <a:rPr lang="en-US" sz="2400" dirty="0"/>
              <a:t>A typical stand-alone PV system consists of the following components:</a:t>
            </a:r>
          </a:p>
          <a:p>
            <a:pPr lvl="1"/>
            <a:r>
              <a:rPr lang="en-US" sz="2000" b="1" dirty="0"/>
              <a:t>Solar Panels:</a:t>
            </a:r>
            <a:r>
              <a:rPr lang="en-US" sz="2000" dirty="0"/>
              <a:t> Mounted on rooftops or open spaces to capture sunlight and generate DC electrical power.</a:t>
            </a:r>
          </a:p>
          <a:p>
            <a:pPr lvl="1"/>
            <a:r>
              <a:rPr lang="en-US" sz="2000" b="1" dirty="0"/>
              <a:t>Battery Bank:</a:t>
            </a:r>
            <a:r>
              <a:rPr lang="en-US" sz="2000" dirty="0"/>
              <a:t> Stores the DC energy produced by the panels for use when solar power is insufficient.</a:t>
            </a:r>
          </a:p>
          <a:p>
            <a:pPr lvl="1"/>
            <a:r>
              <a:rPr lang="en-US" sz="2000" b="1" dirty="0"/>
              <a:t>Charge Controller:</a:t>
            </a:r>
            <a:r>
              <a:rPr lang="en-US" sz="2000" dirty="0"/>
              <a:t> Protects the battery from overcharging and ensures efficient charging and discharging cycles.</a:t>
            </a:r>
          </a:p>
          <a:p>
            <a:pPr lvl="1"/>
            <a:r>
              <a:rPr lang="en-US" sz="2000" b="1" dirty="0"/>
              <a:t>Stand-Alone Inverter:</a:t>
            </a:r>
            <a:r>
              <a:rPr lang="en-US" sz="2000" dirty="0"/>
              <a:t> Converts stored or direct DC power to AC power suitable for household or commercial loads while maintaining stable operating conditions.</a:t>
            </a:r>
          </a:p>
          <a:p>
            <a:r>
              <a:rPr lang="en-US" sz="2400" dirty="0"/>
              <a:t>Overall, stand-alone inverters enable </a:t>
            </a:r>
            <a:r>
              <a:rPr lang="en-US" sz="2400" b="1" dirty="0"/>
              <a:t>self-sufficient power systems</a:t>
            </a:r>
            <a:r>
              <a:rPr lang="en-US" sz="2400" dirty="0"/>
              <a:t>, making them ideal for remote locations, off-grid homes, and areas where reliable grid access is unavailable.</a:t>
            </a:r>
          </a:p>
        </p:txBody>
      </p:sp>
    </p:spTree>
    <p:extLst>
      <p:ext uri="{BB962C8B-B14F-4D97-AF65-F5344CB8AC3E}">
        <p14:creationId xmlns:p14="http://schemas.microsoft.com/office/powerpoint/2010/main" val="26952295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D8800-1AC9-A49F-DD5B-F2235CEE1A94}"/>
              </a:ext>
            </a:extLst>
          </p:cNvPr>
          <p:cNvSpPr>
            <a:spLocks noGrp="1"/>
          </p:cNvSpPr>
          <p:nvPr>
            <p:ph type="title"/>
          </p:nvPr>
        </p:nvSpPr>
        <p:spPr/>
        <p:txBody>
          <a:bodyPr/>
          <a:lstStyle/>
          <a:p>
            <a:r>
              <a:rPr lang="en-IN" dirty="0"/>
              <a:t>GRID CONNECTED INVERTERS</a:t>
            </a:r>
          </a:p>
        </p:txBody>
      </p:sp>
      <p:pic>
        <p:nvPicPr>
          <p:cNvPr id="2052" name="Picture 4">
            <a:extLst>
              <a:ext uri="{FF2B5EF4-FFF2-40B4-BE49-F238E27FC236}">
                <a16:creationId xmlns:a16="http://schemas.microsoft.com/office/drawing/2014/main" id="{833E5AA3-278F-8F62-7C65-B3AEA940F15C}"/>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811606" y="1825625"/>
            <a:ext cx="8568788"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547156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7011156B-DC25-D79B-273F-44CC3175BE1C}"/>
              </a:ext>
            </a:extLst>
          </p:cNvPr>
          <p:cNvPicPr>
            <a:picLocks noChangeAspect="1"/>
          </p:cNvPicPr>
          <p:nvPr/>
        </p:nvPicPr>
        <p:blipFill>
          <a:blip r:embed="rId2"/>
          <a:stretch>
            <a:fillRect/>
          </a:stretch>
        </p:blipFill>
        <p:spPr>
          <a:xfrm>
            <a:off x="1809280" y="742575"/>
            <a:ext cx="3762900" cy="5372850"/>
          </a:xfrm>
          <a:prstGeom prst="rect">
            <a:avLst/>
          </a:prstGeom>
        </p:spPr>
      </p:pic>
    </p:spTree>
    <p:extLst>
      <p:ext uri="{BB962C8B-B14F-4D97-AF65-F5344CB8AC3E}">
        <p14:creationId xmlns:p14="http://schemas.microsoft.com/office/powerpoint/2010/main" val="38468194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97CC64-902E-3420-DFB6-C63E2D92704C}"/>
              </a:ext>
            </a:extLst>
          </p:cNvPr>
          <p:cNvSpPr>
            <a:spLocks noGrp="1"/>
          </p:cNvSpPr>
          <p:nvPr>
            <p:ph type="title"/>
          </p:nvPr>
        </p:nvSpPr>
        <p:spPr/>
        <p:txBody>
          <a:bodyPr/>
          <a:lstStyle/>
          <a:p>
            <a:r>
              <a:rPr lang="en-IN" dirty="0"/>
              <a:t>GRID CONNECTED INVERTERS</a:t>
            </a:r>
          </a:p>
        </p:txBody>
      </p:sp>
      <p:sp>
        <p:nvSpPr>
          <p:cNvPr id="3" name="Content Placeholder 2">
            <a:extLst>
              <a:ext uri="{FF2B5EF4-FFF2-40B4-BE49-F238E27FC236}">
                <a16:creationId xmlns:a16="http://schemas.microsoft.com/office/drawing/2014/main" id="{85AE0582-6A6A-F6E9-D520-C7D18F774532}"/>
              </a:ext>
            </a:extLst>
          </p:cNvPr>
          <p:cNvSpPr>
            <a:spLocks noGrp="1"/>
          </p:cNvSpPr>
          <p:nvPr>
            <p:ph idx="1"/>
          </p:nvPr>
        </p:nvSpPr>
        <p:spPr>
          <a:xfrm>
            <a:off x="827313" y="1461052"/>
            <a:ext cx="10526487" cy="5260423"/>
          </a:xfrm>
        </p:spPr>
        <p:txBody>
          <a:bodyPr>
            <a:normAutofit/>
          </a:bodyPr>
          <a:lstStyle/>
          <a:p>
            <a:r>
              <a:rPr lang="en-US" sz="2400" dirty="0"/>
              <a:t>A grid connected photovoltaic system will be interacted with utility grid. The main advantage of this system is that power can be drawn from the utility grid and when power is not available from grid, PV system can supplement that power. These grid connected systems are designed with battery or without battery storage. These systems consist of the following:</a:t>
            </a:r>
          </a:p>
          <a:p>
            <a:pPr lvl="1"/>
            <a:r>
              <a:rPr lang="en-US" sz="2000" dirty="0"/>
              <a:t>Solar panels mounted on the roof or in open spaces. Photovoltaic modules produce direct current (DC) electrical power.</a:t>
            </a:r>
          </a:p>
          <a:p>
            <a:pPr lvl="1"/>
            <a:r>
              <a:rPr lang="en-US" sz="2000" dirty="0"/>
              <a:t>Batteries to store DC energy generated by the solar panels. </a:t>
            </a:r>
          </a:p>
          <a:p>
            <a:pPr lvl="1"/>
            <a:r>
              <a:rPr lang="en-US" sz="2000" dirty="0"/>
              <a:t>Charge controller to prevent overcharging the battery.</a:t>
            </a:r>
          </a:p>
          <a:p>
            <a:pPr lvl="1"/>
            <a:r>
              <a:rPr lang="en-US" sz="2000" dirty="0"/>
              <a:t>Specially designed inverter to transform the PV generated DC electricity to the grid electricity (which is of AC) at the grid voltage.</a:t>
            </a:r>
            <a:endParaRPr lang="en-IN" sz="2000" dirty="0"/>
          </a:p>
        </p:txBody>
      </p:sp>
    </p:spTree>
    <p:extLst>
      <p:ext uri="{BB962C8B-B14F-4D97-AF65-F5344CB8AC3E}">
        <p14:creationId xmlns:p14="http://schemas.microsoft.com/office/powerpoint/2010/main" val="19585871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9878B2-F3FD-BC37-AC11-25D0BBE1697A}"/>
              </a:ext>
            </a:extLst>
          </p:cNvPr>
          <p:cNvSpPr>
            <a:spLocks noGrp="1"/>
          </p:cNvSpPr>
          <p:nvPr>
            <p:ph type="title"/>
          </p:nvPr>
        </p:nvSpPr>
        <p:spPr/>
        <p:txBody>
          <a:bodyPr>
            <a:normAutofit/>
          </a:bodyPr>
          <a:lstStyle/>
          <a:p>
            <a:r>
              <a:rPr lang="en-IN" dirty="0"/>
              <a:t>GRID CONNECTED INVERTERS WORKING</a:t>
            </a:r>
          </a:p>
        </p:txBody>
      </p:sp>
      <p:sp>
        <p:nvSpPr>
          <p:cNvPr id="7" name="TextBox 6">
            <a:extLst>
              <a:ext uri="{FF2B5EF4-FFF2-40B4-BE49-F238E27FC236}">
                <a16:creationId xmlns:a16="http://schemas.microsoft.com/office/drawing/2014/main" id="{18C251BF-E056-006F-AA5B-A2639A6D8AC6}"/>
              </a:ext>
            </a:extLst>
          </p:cNvPr>
          <p:cNvSpPr txBox="1"/>
          <p:nvPr/>
        </p:nvSpPr>
        <p:spPr>
          <a:xfrm>
            <a:off x="925005" y="1555036"/>
            <a:ext cx="10673960" cy="4524315"/>
          </a:xfrm>
          <a:prstGeom prst="rect">
            <a:avLst/>
          </a:prstGeom>
          <a:noFill/>
        </p:spPr>
        <p:txBody>
          <a:bodyPr wrap="square">
            <a:spAutoFit/>
          </a:bodyPr>
          <a:lstStyle/>
          <a:p>
            <a:pPr marL="342900" indent="-342900" algn="just">
              <a:buFont typeface="Arial" panose="020B0604020202020204" pitchFamily="34" charset="0"/>
              <a:buChar char="•"/>
            </a:pPr>
            <a:r>
              <a:rPr lang="en-US" sz="2400" dirty="0"/>
              <a:t>The primary component in grid-connected PV systems is the inverter, or power conditioning unit (PCU). </a:t>
            </a:r>
          </a:p>
          <a:p>
            <a:pPr marL="342900" indent="-342900" algn="just">
              <a:buFont typeface="Arial" panose="020B0604020202020204" pitchFamily="34" charset="0"/>
              <a:buChar char="•"/>
            </a:pPr>
            <a:r>
              <a:rPr lang="en-US" sz="2400" dirty="0"/>
              <a:t>The PCU converts the DC power produced by the PV array into AC power consistent with the voltage and power quality requirements of the utility grid, and automatically stops supplying power to the grid when the utility grid is not energized. </a:t>
            </a:r>
          </a:p>
          <a:p>
            <a:pPr marL="342900" indent="-342900" algn="just">
              <a:buFont typeface="Arial" panose="020B0604020202020204" pitchFamily="34" charset="0"/>
              <a:buChar char="•"/>
            </a:pPr>
            <a:r>
              <a:rPr lang="en-US" sz="2400" dirty="0"/>
              <a:t>A bi-directional interface is made between the PV system AC output circuits and the electric utility network, typically at an on-site distribution panel or service entrance. </a:t>
            </a:r>
          </a:p>
          <a:p>
            <a:pPr marL="342900" indent="-342900" algn="just">
              <a:buFont typeface="Arial" panose="020B0604020202020204" pitchFamily="34" charset="0"/>
              <a:buChar char="•"/>
            </a:pPr>
            <a:r>
              <a:rPr lang="en-US" sz="2400" dirty="0"/>
              <a:t>This allows the AC power produced by the PV system to either supply onsite electrical loads, or to back-feed the grid when the PV system output is greater than the on-site load demand. </a:t>
            </a:r>
          </a:p>
        </p:txBody>
      </p:sp>
    </p:spTree>
    <p:extLst>
      <p:ext uri="{BB962C8B-B14F-4D97-AF65-F5344CB8AC3E}">
        <p14:creationId xmlns:p14="http://schemas.microsoft.com/office/powerpoint/2010/main" val="20328224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2588FC-6B13-D8D1-91E9-A26754EE66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BA2327-BE66-B67B-5A46-019A98DE244C}"/>
              </a:ext>
            </a:extLst>
          </p:cNvPr>
          <p:cNvSpPr>
            <a:spLocks noGrp="1"/>
          </p:cNvSpPr>
          <p:nvPr>
            <p:ph type="title"/>
          </p:nvPr>
        </p:nvSpPr>
        <p:spPr/>
        <p:txBody>
          <a:bodyPr>
            <a:normAutofit/>
          </a:bodyPr>
          <a:lstStyle/>
          <a:p>
            <a:r>
              <a:rPr lang="en-IN" dirty="0"/>
              <a:t>GRID CONNECTED INVERTERS WORKING</a:t>
            </a:r>
          </a:p>
        </p:txBody>
      </p:sp>
      <p:pic>
        <p:nvPicPr>
          <p:cNvPr id="5" name="Content Placeholder 4">
            <a:extLst>
              <a:ext uri="{FF2B5EF4-FFF2-40B4-BE49-F238E27FC236}">
                <a16:creationId xmlns:a16="http://schemas.microsoft.com/office/drawing/2014/main" id="{D140BA26-66C2-9E1C-9C22-AA89DFB3C3CA}"/>
              </a:ext>
            </a:extLst>
          </p:cNvPr>
          <p:cNvPicPr>
            <a:picLocks noGrp="1" noChangeAspect="1"/>
          </p:cNvPicPr>
          <p:nvPr>
            <p:ph idx="1"/>
          </p:nvPr>
        </p:nvPicPr>
        <p:blipFill>
          <a:blip r:embed="rId2"/>
          <a:stretch>
            <a:fillRect/>
          </a:stretch>
        </p:blipFill>
        <p:spPr>
          <a:xfrm>
            <a:off x="1458269" y="4433175"/>
            <a:ext cx="8649826" cy="2059700"/>
          </a:xfrm>
        </p:spPr>
      </p:pic>
      <p:sp>
        <p:nvSpPr>
          <p:cNvPr id="7" name="TextBox 6">
            <a:extLst>
              <a:ext uri="{FF2B5EF4-FFF2-40B4-BE49-F238E27FC236}">
                <a16:creationId xmlns:a16="http://schemas.microsoft.com/office/drawing/2014/main" id="{E4C88C95-AC05-C11F-A590-CEA9627CE537}"/>
              </a:ext>
            </a:extLst>
          </p:cNvPr>
          <p:cNvSpPr txBox="1"/>
          <p:nvPr/>
        </p:nvSpPr>
        <p:spPr>
          <a:xfrm>
            <a:off x="925005" y="1555036"/>
            <a:ext cx="11081960" cy="2308324"/>
          </a:xfrm>
          <a:prstGeom prst="rect">
            <a:avLst/>
          </a:prstGeom>
          <a:noFill/>
        </p:spPr>
        <p:txBody>
          <a:bodyPr wrap="square">
            <a:spAutoFit/>
          </a:bodyPr>
          <a:lstStyle/>
          <a:p>
            <a:pPr marL="342900" indent="-342900" algn="just">
              <a:buFont typeface="Arial" panose="020B0604020202020204" pitchFamily="34" charset="0"/>
              <a:buChar char="•"/>
            </a:pPr>
            <a:r>
              <a:rPr lang="en-US" sz="2400" dirty="0"/>
              <a:t>At night and during other periods when the electrical loads are greater than the PV system output, the balance of power required by the loads is received from the electric utility </a:t>
            </a:r>
          </a:p>
          <a:p>
            <a:pPr marL="342900" indent="-342900" algn="just">
              <a:buFont typeface="Arial" panose="020B0604020202020204" pitchFamily="34" charset="0"/>
              <a:buChar char="•"/>
            </a:pPr>
            <a:r>
              <a:rPr lang="en-US" sz="2400" dirty="0"/>
              <a:t>This safety feature is required in all grid-connected PV systems, and ensures that the PV system will not continue to operate and feed back into the utility grid when the grid is down for service or repair.</a:t>
            </a:r>
            <a:endParaRPr lang="en-IN" sz="2400" dirty="0"/>
          </a:p>
        </p:txBody>
      </p:sp>
    </p:spTree>
    <p:extLst>
      <p:ext uri="{BB962C8B-B14F-4D97-AF65-F5344CB8AC3E}">
        <p14:creationId xmlns:p14="http://schemas.microsoft.com/office/powerpoint/2010/main" val="250652527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634</Words>
  <Application>Microsoft Office PowerPoint</Application>
  <PresentationFormat>Widescreen</PresentationFormat>
  <Paragraphs>33</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Calibri Light</vt:lpstr>
      <vt:lpstr>Office Theme</vt:lpstr>
      <vt:lpstr>SOLAR INVERTER</vt:lpstr>
      <vt:lpstr>PowerPoint Presentation</vt:lpstr>
      <vt:lpstr>STAND ALONE INVERTERS</vt:lpstr>
      <vt:lpstr>STAND ALONE INVERTERS</vt:lpstr>
      <vt:lpstr>STAND ALONE INVERTERS WORKING</vt:lpstr>
      <vt:lpstr>GRID CONNECTED INVERTERS</vt:lpstr>
      <vt:lpstr>PowerPoint Presentation</vt:lpstr>
      <vt:lpstr>GRID CONNECTED INVERTERS</vt:lpstr>
      <vt:lpstr>GRID CONNECTED INVERTERS WORKING</vt:lpstr>
      <vt:lpstr>GRID CONNECTED INVERTERS WORKING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Neethu Suman</dc:creator>
  <cp:lastModifiedBy>Neethu Suman</cp:lastModifiedBy>
  <cp:revision>1</cp:revision>
  <dcterms:created xsi:type="dcterms:W3CDTF">2025-12-15T04:48:39Z</dcterms:created>
  <dcterms:modified xsi:type="dcterms:W3CDTF">2025-12-15T04:49:51Z</dcterms:modified>
</cp:coreProperties>
</file>