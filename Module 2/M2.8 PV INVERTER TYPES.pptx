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73" r:id="rId2"/>
    <p:sldId id="312" r:id="rId3"/>
    <p:sldId id="310" r:id="rId4"/>
    <p:sldId id="374" r:id="rId5"/>
    <p:sldId id="376" r:id="rId6"/>
    <p:sldId id="377" r:id="rId7"/>
    <p:sldId id="378" r:id="rId8"/>
    <p:sldId id="379" r:id="rId9"/>
    <p:sldId id="375" r:id="rId10"/>
    <p:sldId id="328" r:id="rId11"/>
    <p:sldId id="380" r:id="rId12"/>
    <p:sldId id="381" r:id="rId13"/>
    <p:sldId id="329" r:id="rId14"/>
    <p:sldId id="330" r:id="rId15"/>
    <p:sldId id="331" r:id="rId16"/>
    <p:sldId id="382" r:id="rId17"/>
    <p:sldId id="383" r:id="rId18"/>
    <p:sldId id="384" r:id="rId19"/>
    <p:sldId id="332" r:id="rId20"/>
    <p:sldId id="334" r:id="rId21"/>
    <p:sldId id="385" r:id="rId22"/>
    <p:sldId id="387" r:id="rId23"/>
    <p:sldId id="333" r:id="rId24"/>
    <p:sldId id="388" r:id="rId25"/>
    <p:sldId id="389" r:id="rId26"/>
    <p:sldId id="390" r:id="rId27"/>
    <p:sldId id="309" r:id="rId28"/>
    <p:sldId id="324" r:id="rId29"/>
    <p:sldId id="32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59CB64-5CC0-4306-AFC0-6C5FF4820205}" type="datetimeFigureOut">
              <a:rPr lang="en-IN" smtClean="0"/>
              <a:t>30-12-2025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D6BB0C-7716-45BF-B470-AAA59342766C}" type="slidenum">
              <a:rPr lang="en-IN" smtClean="0"/>
              <a:t>‹#›</a:t>
            </a:fld>
            <a:endParaRPr lang="en-IN"/>
          </a:p>
        </p:txBody>
      </p:sp>
    </p:spTree>
    <p:extLst>
      <p:ext uri="{BB962C8B-B14F-4D97-AF65-F5344CB8AC3E}">
        <p14:creationId xmlns:p14="http://schemas.microsoft.com/office/powerpoint/2010/main" val="4150861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THD stands for Total Harmonic Distortion</a:t>
            </a:r>
            <a:endParaRPr lang="en-IN" dirty="0"/>
          </a:p>
        </p:txBody>
      </p:sp>
      <p:sp>
        <p:nvSpPr>
          <p:cNvPr id="4" name="Slide Number Placeholder 3"/>
          <p:cNvSpPr>
            <a:spLocks noGrp="1"/>
          </p:cNvSpPr>
          <p:nvPr>
            <p:ph type="sldNum" sz="quarter" idx="5"/>
          </p:nvPr>
        </p:nvSpPr>
        <p:spPr/>
        <p:txBody>
          <a:bodyPr/>
          <a:lstStyle/>
          <a:p>
            <a:fld id="{4CD54469-F73E-4ACB-87DC-7AC0E2B7FBB7}" type="slidenum">
              <a:rPr lang="en-IN" smtClean="0"/>
              <a:t>6</a:t>
            </a:fld>
            <a:endParaRPr lang="en-IN"/>
          </a:p>
        </p:txBody>
      </p:sp>
    </p:spTree>
    <p:extLst>
      <p:ext uri="{BB962C8B-B14F-4D97-AF65-F5344CB8AC3E}">
        <p14:creationId xmlns:p14="http://schemas.microsoft.com/office/powerpoint/2010/main" val="1687302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Voltage Source Inverter. </a:t>
            </a:r>
            <a:r>
              <a:rPr lang="en-US" sz="1200" b="0" i="0" kern="1200" dirty="0">
                <a:solidFill>
                  <a:schemeClr val="tx1"/>
                </a:solidFill>
                <a:effectLst/>
                <a:latin typeface="+mn-lt"/>
                <a:ea typeface="+mn-ea"/>
                <a:cs typeface="+mn-cs"/>
              </a:rPr>
              <a:t> VSI is a power‑electronic converter that takes a (nearly) constant dc voltage and converts it into an ac voltage with controllable amplitude and frequency.</a:t>
            </a:r>
            <a:endParaRPr lang="en-IN" dirty="0"/>
          </a:p>
        </p:txBody>
      </p:sp>
      <p:sp>
        <p:nvSpPr>
          <p:cNvPr id="4" name="Slide Number Placeholder 3"/>
          <p:cNvSpPr>
            <a:spLocks noGrp="1"/>
          </p:cNvSpPr>
          <p:nvPr>
            <p:ph type="sldNum" sz="quarter" idx="5"/>
          </p:nvPr>
        </p:nvSpPr>
        <p:spPr/>
        <p:txBody>
          <a:bodyPr/>
          <a:lstStyle/>
          <a:p>
            <a:fld id="{4CD54469-F73E-4ACB-87DC-7AC0E2B7FBB7}" type="slidenum">
              <a:rPr lang="en-IN" smtClean="0"/>
              <a:t>8</a:t>
            </a:fld>
            <a:endParaRPr lang="en-IN"/>
          </a:p>
        </p:txBody>
      </p:sp>
    </p:spTree>
    <p:extLst>
      <p:ext uri="{BB962C8B-B14F-4D97-AF65-F5344CB8AC3E}">
        <p14:creationId xmlns:p14="http://schemas.microsoft.com/office/powerpoint/2010/main" val="2749910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E1BDB-0A84-8E41-C39A-4201834456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704D11-046A-8F90-DF4E-0CD79FEE83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535204F-4737-158D-0A00-8B3D570ED67F}"/>
              </a:ext>
            </a:extLst>
          </p:cNvPr>
          <p:cNvSpPr>
            <a:spLocks noGrp="1"/>
          </p:cNvSpPr>
          <p:nvPr>
            <p:ph type="dt" sz="half" idx="10"/>
          </p:nvPr>
        </p:nvSpPr>
        <p:spPr/>
        <p:txBody>
          <a:bodyPr/>
          <a:lstStyle/>
          <a:p>
            <a:fld id="{7826638A-D81C-476A-8815-6EBE0C4AFEA9}" type="datetimeFigureOut">
              <a:rPr lang="en-IN" smtClean="0"/>
              <a:t>30-12-2025</a:t>
            </a:fld>
            <a:endParaRPr lang="en-IN"/>
          </a:p>
        </p:txBody>
      </p:sp>
      <p:sp>
        <p:nvSpPr>
          <p:cNvPr id="5" name="Footer Placeholder 4">
            <a:extLst>
              <a:ext uri="{FF2B5EF4-FFF2-40B4-BE49-F238E27FC236}">
                <a16:creationId xmlns:a16="http://schemas.microsoft.com/office/drawing/2014/main" id="{973B2948-0B92-7F8F-9EE4-36D57A6330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584F17-EE3E-EE3E-9527-9B08A06F76F2}"/>
              </a:ext>
            </a:extLst>
          </p:cNvPr>
          <p:cNvSpPr>
            <a:spLocks noGrp="1"/>
          </p:cNvSpPr>
          <p:nvPr>
            <p:ph type="sldNum" sz="quarter" idx="12"/>
          </p:nvPr>
        </p:nvSpPr>
        <p:spPr/>
        <p:txBody>
          <a:bodyPr/>
          <a:lstStyle/>
          <a:p>
            <a:fld id="{43185372-2DD2-4A6D-9E9A-7CB401935A9A}" type="slidenum">
              <a:rPr lang="en-IN" smtClean="0"/>
              <a:t>‹#›</a:t>
            </a:fld>
            <a:endParaRPr lang="en-IN"/>
          </a:p>
        </p:txBody>
      </p:sp>
    </p:spTree>
    <p:extLst>
      <p:ext uri="{BB962C8B-B14F-4D97-AF65-F5344CB8AC3E}">
        <p14:creationId xmlns:p14="http://schemas.microsoft.com/office/powerpoint/2010/main" val="2261914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B5E33-850C-DFAF-523E-91CE1F834D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1BAC20-B03A-7D01-131E-9FE9AFE125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734E65-0F86-6546-21DD-AFF3B44425EA}"/>
              </a:ext>
            </a:extLst>
          </p:cNvPr>
          <p:cNvSpPr>
            <a:spLocks noGrp="1"/>
          </p:cNvSpPr>
          <p:nvPr>
            <p:ph type="dt" sz="half" idx="10"/>
          </p:nvPr>
        </p:nvSpPr>
        <p:spPr/>
        <p:txBody>
          <a:bodyPr/>
          <a:lstStyle/>
          <a:p>
            <a:fld id="{7826638A-D81C-476A-8815-6EBE0C4AFEA9}" type="datetimeFigureOut">
              <a:rPr lang="en-IN" smtClean="0"/>
              <a:t>30-12-2025</a:t>
            </a:fld>
            <a:endParaRPr lang="en-IN"/>
          </a:p>
        </p:txBody>
      </p:sp>
      <p:sp>
        <p:nvSpPr>
          <p:cNvPr id="5" name="Footer Placeholder 4">
            <a:extLst>
              <a:ext uri="{FF2B5EF4-FFF2-40B4-BE49-F238E27FC236}">
                <a16:creationId xmlns:a16="http://schemas.microsoft.com/office/drawing/2014/main" id="{129A27CB-31B4-E5E1-A886-576AF513D7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8306D1-418B-3CAD-FDB8-6959E249C91E}"/>
              </a:ext>
            </a:extLst>
          </p:cNvPr>
          <p:cNvSpPr>
            <a:spLocks noGrp="1"/>
          </p:cNvSpPr>
          <p:nvPr>
            <p:ph type="sldNum" sz="quarter" idx="12"/>
          </p:nvPr>
        </p:nvSpPr>
        <p:spPr/>
        <p:txBody>
          <a:bodyPr/>
          <a:lstStyle/>
          <a:p>
            <a:fld id="{43185372-2DD2-4A6D-9E9A-7CB401935A9A}" type="slidenum">
              <a:rPr lang="en-IN" smtClean="0"/>
              <a:t>‹#›</a:t>
            </a:fld>
            <a:endParaRPr lang="en-IN"/>
          </a:p>
        </p:txBody>
      </p:sp>
    </p:spTree>
    <p:extLst>
      <p:ext uri="{BB962C8B-B14F-4D97-AF65-F5344CB8AC3E}">
        <p14:creationId xmlns:p14="http://schemas.microsoft.com/office/powerpoint/2010/main" val="2288965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344B3-9DAB-AD81-BAE5-27D442D48B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99DAE1-44DE-0B10-1860-DCBFF96768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086D94-087B-3E69-0194-3963B72F8F28}"/>
              </a:ext>
            </a:extLst>
          </p:cNvPr>
          <p:cNvSpPr>
            <a:spLocks noGrp="1"/>
          </p:cNvSpPr>
          <p:nvPr>
            <p:ph type="dt" sz="half" idx="10"/>
          </p:nvPr>
        </p:nvSpPr>
        <p:spPr/>
        <p:txBody>
          <a:bodyPr/>
          <a:lstStyle/>
          <a:p>
            <a:fld id="{7826638A-D81C-476A-8815-6EBE0C4AFEA9}" type="datetimeFigureOut">
              <a:rPr lang="en-IN" smtClean="0"/>
              <a:t>30-12-2025</a:t>
            </a:fld>
            <a:endParaRPr lang="en-IN"/>
          </a:p>
        </p:txBody>
      </p:sp>
      <p:sp>
        <p:nvSpPr>
          <p:cNvPr id="5" name="Footer Placeholder 4">
            <a:extLst>
              <a:ext uri="{FF2B5EF4-FFF2-40B4-BE49-F238E27FC236}">
                <a16:creationId xmlns:a16="http://schemas.microsoft.com/office/drawing/2014/main" id="{2F259744-2B35-8A93-D214-FFF5FE9FF2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C15E95-32B6-9E95-BDAE-54373BB6AE7C}"/>
              </a:ext>
            </a:extLst>
          </p:cNvPr>
          <p:cNvSpPr>
            <a:spLocks noGrp="1"/>
          </p:cNvSpPr>
          <p:nvPr>
            <p:ph type="sldNum" sz="quarter" idx="12"/>
          </p:nvPr>
        </p:nvSpPr>
        <p:spPr/>
        <p:txBody>
          <a:bodyPr/>
          <a:lstStyle/>
          <a:p>
            <a:fld id="{43185372-2DD2-4A6D-9E9A-7CB401935A9A}" type="slidenum">
              <a:rPr lang="en-IN" smtClean="0"/>
              <a:t>‹#›</a:t>
            </a:fld>
            <a:endParaRPr lang="en-IN"/>
          </a:p>
        </p:txBody>
      </p:sp>
    </p:spTree>
    <p:extLst>
      <p:ext uri="{BB962C8B-B14F-4D97-AF65-F5344CB8AC3E}">
        <p14:creationId xmlns:p14="http://schemas.microsoft.com/office/powerpoint/2010/main" val="262871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50FA8-A5C5-97D5-03CA-5D7C3B1EAC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5EC591-E422-A7E2-3FE6-0C464A8664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6295A7A-3E0C-D559-58EA-F9A329E57C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2947DF4-A97A-5289-DC65-45B1EA20887D}"/>
              </a:ext>
            </a:extLst>
          </p:cNvPr>
          <p:cNvSpPr>
            <a:spLocks noGrp="1"/>
          </p:cNvSpPr>
          <p:nvPr>
            <p:ph type="dt" sz="half" idx="10"/>
          </p:nvPr>
        </p:nvSpPr>
        <p:spPr/>
        <p:txBody>
          <a:bodyPr/>
          <a:lstStyle/>
          <a:p>
            <a:fld id="{7826638A-D81C-476A-8815-6EBE0C4AFEA9}" type="datetimeFigureOut">
              <a:rPr lang="en-IN" smtClean="0"/>
              <a:t>30-12-2025</a:t>
            </a:fld>
            <a:endParaRPr lang="en-IN"/>
          </a:p>
        </p:txBody>
      </p:sp>
      <p:sp>
        <p:nvSpPr>
          <p:cNvPr id="6" name="Footer Placeholder 5">
            <a:extLst>
              <a:ext uri="{FF2B5EF4-FFF2-40B4-BE49-F238E27FC236}">
                <a16:creationId xmlns:a16="http://schemas.microsoft.com/office/drawing/2014/main" id="{C7B27BBE-E6FD-1E77-2B17-B345B8648A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237B8A-18D5-CAC3-FEFA-CD4CE9885BBB}"/>
              </a:ext>
            </a:extLst>
          </p:cNvPr>
          <p:cNvSpPr>
            <a:spLocks noGrp="1"/>
          </p:cNvSpPr>
          <p:nvPr>
            <p:ph type="sldNum" sz="quarter" idx="12"/>
          </p:nvPr>
        </p:nvSpPr>
        <p:spPr/>
        <p:txBody>
          <a:bodyPr/>
          <a:lstStyle/>
          <a:p>
            <a:fld id="{43185372-2DD2-4A6D-9E9A-7CB401935A9A}" type="slidenum">
              <a:rPr lang="en-IN" smtClean="0"/>
              <a:t>‹#›</a:t>
            </a:fld>
            <a:endParaRPr lang="en-IN"/>
          </a:p>
        </p:txBody>
      </p:sp>
    </p:spTree>
    <p:extLst>
      <p:ext uri="{BB962C8B-B14F-4D97-AF65-F5344CB8AC3E}">
        <p14:creationId xmlns:p14="http://schemas.microsoft.com/office/powerpoint/2010/main" val="1155180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1B0F8-ADC7-58BD-40B9-89B7100D90A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E38E8E-28C7-E41D-C12D-668F55C281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40D32D-33AD-A7B9-7AA5-3FB9543491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2BC25A-8CCD-EEB8-A437-AEE5942D97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0E6376-63D7-9B2D-4A0C-A77F2B0E10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345AA3-C129-7BB1-F64F-E47973D31012}"/>
              </a:ext>
            </a:extLst>
          </p:cNvPr>
          <p:cNvSpPr>
            <a:spLocks noGrp="1"/>
          </p:cNvSpPr>
          <p:nvPr>
            <p:ph type="dt" sz="half" idx="10"/>
          </p:nvPr>
        </p:nvSpPr>
        <p:spPr/>
        <p:txBody>
          <a:bodyPr/>
          <a:lstStyle/>
          <a:p>
            <a:fld id="{7826638A-D81C-476A-8815-6EBE0C4AFEA9}" type="datetimeFigureOut">
              <a:rPr lang="en-IN" smtClean="0"/>
              <a:t>30-12-2025</a:t>
            </a:fld>
            <a:endParaRPr lang="en-IN"/>
          </a:p>
        </p:txBody>
      </p:sp>
      <p:sp>
        <p:nvSpPr>
          <p:cNvPr id="8" name="Footer Placeholder 7">
            <a:extLst>
              <a:ext uri="{FF2B5EF4-FFF2-40B4-BE49-F238E27FC236}">
                <a16:creationId xmlns:a16="http://schemas.microsoft.com/office/drawing/2014/main" id="{5A400F60-AB4F-593D-E982-E3879F21E9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91E52FA-0B67-1E35-CBB7-E93278AB00C9}"/>
              </a:ext>
            </a:extLst>
          </p:cNvPr>
          <p:cNvSpPr>
            <a:spLocks noGrp="1"/>
          </p:cNvSpPr>
          <p:nvPr>
            <p:ph type="sldNum" sz="quarter" idx="12"/>
          </p:nvPr>
        </p:nvSpPr>
        <p:spPr/>
        <p:txBody>
          <a:bodyPr/>
          <a:lstStyle/>
          <a:p>
            <a:fld id="{43185372-2DD2-4A6D-9E9A-7CB401935A9A}" type="slidenum">
              <a:rPr lang="en-IN" smtClean="0"/>
              <a:t>‹#›</a:t>
            </a:fld>
            <a:endParaRPr lang="en-IN"/>
          </a:p>
        </p:txBody>
      </p:sp>
    </p:spTree>
    <p:extLst>
      <p:ext uri="{BB962C8B-B14F-4D97-AF65-F5344CB8AC3E}">
        <p14:creationId xmlns:p14="http://schemas.microsoft.com/office/powerpoint/2010/main" val="2503042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180E3-1949-733E-9F89-0702D49610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549E23-0BEF-72FD-9ADE-9F22E3CDEDFC}"/>
              </a:ext>
            </a:extLst>
          </p:cNvPr>
          <p:cNvSpPr>
            <a:spLocks noGrp="1"/>
          </p:cNvSpPr>
          <p:nvPr>
            <p:ph type="dt" sz="half" idx="10"/>
          </p:nvPr>
        </p:nvSpPr>
        <p:spPr/>
        <p:txBody>
          <a:bodyPr/>
          <a:lstStyle/>
          <a:p>
            <a:fld id="{7826638A-D81C-476A-8815-6EBE0C4AFEA9}" type="datetimeFigureOut">
              <a:rPr lang="en-IN" smtClean="0"/>
              <a:t>30-12-2025</a:t>
            </a:fld>
            <a:endParaRPr lang="en-IN"/>
          </a:p>
        </p:txBody>
      </p:sp>
      <p:sp>
        <p:nvSpPr>
          <p:cNvPr id="4" name="Footer Placeholder 3">
            <a:extLst>
              <a:ext uri="{FF2B5EF4-FFF2-40B4-BE49-F238E27FC236}">
                <a16:creationId xmlns:a16="http://schemas.microsoft.com/office/drawing/2014/main" id="{43BA0E5F-56AB-6A12-5BB6-E4355CABB96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0DC648F-140E-E4A0-0EEA-77A7A530252A}"/>
              </a:ext>
            </a:extLst>
          </p:cNvPr>
          <p:cNvSpPr>
            <a:spLocks noGrp="1"/>
          </p:cNvSpPr>
          <p:nvPr>
            <p:ph type="sldNum" sz="quarter" idx="12"/>
          </p:nvPr>
        </p:nvSpPr>
        <p:spPr/>
        <p:txBody>
          <a:bodyPr/>
          <a:lstStyle/>
          <a:p>
            <a:fld id="{43185372-2DD2-4A6D-9E9A-7CB401935A9A}" type="slidenum">
              <a:rPr lang="en-IN" smtClean="0"/>
              <a:t>‹#›</a:t>
            </a:fld>
            <a:endParaRPr lang="en-IN"/>
          </a:p>
        </p:txBody>
      </p:sp>
    </p:spTree>
    <p:extLst>
      <p:ext uri="{BB962C8B-B14F-4D97-AF65-F5344CB8AC3E}">
        <p14:creationId xmlns:p14="http://schemas.microsoft.com/office/powerpoint/2010/main" val="153168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97C6BB-2C23-2643-6A18-ADC3492ABE40}"/>
              </a:ext>
            </a:extLst>
          </p:cNvPr>
          <p:cNvSpPr>
            <a:spLocks noGrp="1"/>
          </p:cNvSpPr>
          <p:nvPr>
            <p:ph type="dt" sz="half" idx="10"/>
          </p:nvPr>
        </p:nvSpPr>
        <p:spPr/>
        <p:txBody>
          <a:bodyPr/>
          <a:lstStyle/>
          <a:p>
            <a:fld id="{7826638A-D81C-476A-8815-6EBE0C4AFEA9}" type="datetimeFigureOut">
              <a:rPr lang="en-IN" smtClean="0"/>
              <a:t>30-12-2025</a:t>
            </a:fld>
            <a:endParaRPr lang="en-IN"/>
          </a:p>
        </p:txBody>
      </p:sp>
      <p:sp>
        <p:nvSpPr>
          <p:cNvPr id="3" name="Footer Placeholder 2">
            <a:extLst>
              <a:ext uri="{FF2B5EF4-FFF2-40B4-BE49-F238E27FC236}">
                <a16:creationId xmlns:a16="http://schemas.microsoft.com/office/drawing/2014/main" id="{90A91B26-3C52-91D0-6358-8562A83B482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B394175-6C8D-E4DC-2962-3CD263B5267C}"/>
              </a:ext>
            </a:extLst>
          </p:cNvPr>
          <p:cNvSpPr>
            <a:spLocks noGrp="1"/>
          </p:cNvSpPr>
          <p:nvPr>
            <p:ph type="sldNum" sz="quarter" idx="12"/>
          </p:nvPr>
        </p:nvSpPr>
        <p:spPr/>
        <p:txBody>
          <a:bodyPr/>
          <a:lstStyle/>
          <a:p>
            <a:fld id="{43185372-2DD2-4A6D-9E9A-7CB401935A9A}" type="slidenum">
              <a:rPr lang="en-IN" smtClean="0"/>
              <a:t>‹#›</a:t>
            </a:fld>
            <a:endParaRPr lang="en-IN"/>
          </a:p>
        </p:txBody>
      </p:sp>
    </p:spTree>
    <p:extLst>
      <p:ext uri="{BB962C8B-B14F-4D97-AF65-F5344CB8AC3E}">
        <p14:creationId xmlns:p14="http://schemas.microsoft.com/office/powerpoint/2010/main" val="1505524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71CC5-09E2-3F3E-94CA-CF34CC784D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A8478AF-FD5A-B62A-E7F0-D9335E6929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2D1BF49-BFAC-4DFB-7E44-46960CFB2E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54C34D-7658-9742-E4FB-0FB11418914D}"/>
              </a:ext>
            </a:extLst>
          </p:cNvPr>
          <p:cNvSpPr>
            <a:spLocks noGrp="1"/>
          </p:cNvSpPr>
          <p:nvPr>
            <p:ph type="dt" sz="half" idx="10"/>
          </p:nvPr>
        </p:nvSpPr>
        <p:spPr/>
        <p:txBody>
          <a:bodyPr/>
          <a:lstStyle/>
          <a:p>
            <a:fld id="{7826638A-D81C-476A-8815-6EBE0C4AFEA9}" type="datetimeFigureOut">
              <a:rPr lang="en-IN" smtClean="0"/>
              <a:t>30-12-2025</a:t>
            </a:fld>
            <a:endParaRPr lang="en-IN"/>
          </a:p>
        </p:txBody>
      </p:sp>
      <p:sp>
        <p:nvSpPr>
          <p:cNvPr id="6" name="Footer Placeholder 5">
            <a:extLst>
              <a:ext uri="{FF2B5EF4-FFF2-40B4-BE49-F238E27FC236}">
                <a16:creationId xmlns:a16="http://schemas.microsoft.com/office/drawing/2014/main" id="{59F167D2-5CFF-0E75-E909-E0E2A014EC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EC927E-AA6E-8B54-FCB1-EBB2CEF8B0DE}"/>
              </a:ext>
            </a:extLst>
          </p:cNvPr>
          <p:cNvSpPr>
            <a:spLocks noGrp="1"/>
          </p:cNvSpPr>
          <p:nvPr>
            <p:ph type="sldNum" sz="quarter" idx="12"/>
          </p:nvPr>
        </p:nvSpPr>
        <p:spPr/>
        <p:txBody>
          <a:bodyPr/>
          <a:lstStyle/>
          <a:p>
            <a:fld id="{43185372-2DD2-4A6D-9E9A-7CB401935A9A}" type="slidenum">
              <a:rPr lang="en-IN" smtClean="0"/>
              <a:t>‹#›</a:t>
            </a:fld>
            <a:endParaRPr lang="en-IN"/>
          </a:p>
        </p:txBody>
      </p:sp>
    </p:spTree>
    <p:extLst>
      <p:ext uri="{BB962C8B-B14F-4D97-AF65-F5344CB8AC3E}">
        <p14:creationId xmlns:p14="http://schemas.microsoft.com/office/powerpoint/2010/main" val="3843551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70ECD-88ED-BA66-37C6-6C10DF41BD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F20905C-CCE3-5698-B788-D8607F2F7F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5B2AC65-53F4-051C-F781-AF41A269BF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BC188F-AB25-9D31-BAF6-4C1AC2EF66B0}"/>
              </a:ext>
            </a:extLst>
          </p:cNvPr>
          <p:cNvSpPr>
            <a:spLocks noGrp="1"/>
          </p:cNvSpPr>
          <p:nvPr>
            <p:ph type="dt" sz="half" idx="10"/>
          </p:nvPr>
        </p:nvSpPr>
        <p:spPr/>
        <p:txBody>
          <a:bodyPr/>
          <a:lstStyle/>
          <a:p>
            <a:fld id="{7826638A-D81C-476A-8815-6EBE0C4AFEA9}" type="datetimeFigureOut">
              <a:rPr lang="en-IN" smtClean="0"/>
              <a:t>30-12-2025</a:t>
            </a:fld>
            <a:endParaRPr lang="en-IN"/>
          </a:p>
        </p:txBody>
      </p:sp>
      <p:sp>
        <p:nvSpPr>
          <p:cNvPr id="6" name="Footer Placeholder 5">
            <a:extLst>
              <a:ext uri="{FF2B5EF4-FFF2-40B4-BE49-F238E27FC236}">
                <a16:creationId xmlns:a16="http://schemas.microsoft.com/office/drawing/2014/main" id="{666C8903-2733-7451-2757-AB297B0A01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5CA176-967C-9ABC-2ABE-8DD2401ADC6E}"/>
              </a:ext>
            </a:extLst>
          </p:cNvPr>
          <p:cNvSpPr>
            <a:spLocks noGrp="1"/>
          </p:cNvSpPr>
          <p:nvPr>
            <p:ph type="sldNum" sz="quarter" idx="12"/>
          </p:nvPr>
        </p:nvSpPr>
        <p:spPr/>
        <p:txBody>
          <a:bodyPr/>
          <a:lstStyle/>
          <a:p>
            <a:fld id="{43185372-2DD2-4A6D-9E9A-7CB401935A9A}" type="slidenum">
              <a:rPr lang="en-IN" smtClean="0"/>
              <a:t>‹#›</a:t>
            </a:fld>
            <a:endParaRPr lang="en-IN"/>
          </a:p>
        </p:txBody>
      </p:sp>
    </p:spTree>
    <p:extLst>
      <p:ext uri="{BB962C8B-B14F-4D97-AF65-F5344CB8AC3E}">
        <p14:creationId xmlns:p14="http://schemas.microsoft.com/office/powerpoint/2010/main" val="852855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E3B2B-0DD2-55C2-6F34-81C2BCF4BC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48B94A-F682-7E61-2ED8-37F4FBE227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E38AC8-92EF-4EF7-3969-0F78251F7368}"/>
              </a:ext>
            </a:extLst>
          </p:cNvPr>
          <p:cNvSpPr>
            <a:spLocks noGrp="1"/>
          </p:cNvSpPr>
          <p:nvPr>
            <p:ph type="dt" sz="half" idx="10"/>
          </p:nvPr>
        </p:nvSpPr>
        <p:spPr/>
        <p:txBody>
          <a:bodyPr/>
          <a:lstStyle/>
          <a:p>
            <a:fld id="{7826638A-D81C-476A-8815-6EBE0C4AFEA9}" type="datetimeFigureOut">
              <a:rPr lang="en-IN" smtClean="0"/>
              <a:t>30-12-2025</a:t>
            </a:fld>
            <a:endParaRPr lang="en-IN"/>
          </a:p>
        </p:txBody>
      </p:sp>
      <p:sp>
        <p:nvSpPr>
          <p:cNvPr id="5" name="Footer Placeholder 4">
            <a:extLst>
              <a:ext uri="{FF2B5EF4-FFF2-40B4-BE49-F238E27FC236}">
                <a16:creationId xmlns:a16="http://schemas.microsoft.com/office/drawing/2014/main" id="{7E5EAB38-FD6B-C773-D1A3-9D180F67B0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6006D2-F75F-6B0B-C4CC-922EF91C9779}"/>
              </a:ext>
            </a:extLst>
          </p:cNvPr>
          <p:cNvSpPr>
            <a:spLocks noGrp="1"/>
          </p:cNvSpPr>
          <p:nvPr>
            <p:ph type="sldNum" sz="quarter" idx="12"/>
          </p:nvPr>
        </p:nvSpPr>
        <p:spPr/>
        <p:txBody>
          <a:bodyPr/>
          <a:lstStyle/>
          <a:p>
            <a:fld id="{43185372-2DD2-4A6D-9E9A-7CB401935A9A}" type="slidenum">
              <a:rPr lang="en-IN" smtClean="0"/>
              <a:t>‹#›</a:t>
            </a:fld>
            <a:endParaRPr lang="en-IN"/>
          </a:p>
        </p:txBody>
      </p:sp>
    </p:spTree>
    <p:extLst>
      <p:ext uri="{BB962C8B-B14F-4D97-AF65-F5344CB8AC3E}">
        <p14:creationId xmlns:p14="http://schemas.microsoft.com/office/powerpoint/2010/main" val="3351845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EEDE1F-60B0-EBF1-4617-B58A20433D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FDFB95-2854-0050-0AB1-2EF0E3C303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EAE429-4E48-18E5-6098-1AA9DF28EF7A}"/>
              </a:ext>
            </a:extLst>
          </p:cNvPr>
          <p:cNvSpPr>
            <a:spLocks noGrp="1"/>
          </p:cNvSpPr>
          <p:nvPr>
            <p:ph type="dt" sz="half" idx="10"/>
          </p:nvPr>
        </p:nvSpPr>
        <p:spPr/>
        <p:txBody>
          <a:bodyPr/>
          <a:lstStyle/>
          <a:p>
            <a:fld id="{7826638A-D81C-476A-8815-6EBE0C4AFEA9}" type="datetimeFigureOut">
              <a:rPr lang="en-IN" smtClean="0"/>
              <a:t>30-12-2025</a:t>
            </a:fld>
            <a:endParaRPr lang="en-IN"/>
          </a:p>
        </p:txBody>
      </p:sp>
      <p:sp>
        <p:nvSpPr>
          <p:cNvPr id="5" name="Footer Placeholder 4">
            <a:extLst>
              <a:ext uri="{FF2B5EF4-FFF2-40B4-BE49-F238E27FC236}">
                <a16:creationId xmlns:a16="http://schemas.microsoft.com/office/drawing/2014/main" id="{766B5EBC-7033-0892-06F1-AC7C7D93BD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0FDA7F-FBD9-EC1B-9D26-D3FF4C0E36C1}"/>
              </a:ext>
            </a:extLst>
          </p:cNvPr>
          <p:cNvSpPr>
            <a:spLocks noGrp="1"/>
          </p:cNvSpPr>
          <p:nvPr>
            <p:ph type="sldNum" sz="quarter" idx="12"/>
          </p:nvPr>
        </p:nvSpPr>
        <p:spPr/>
        <p:txBody>
          <a:bodyPr/>
          <a:lstStyle/>
          <a:p>
            <a:fld id="{43185372-2DD2-4A6D-9E9A-7CB401935A9A}" type="slidenum">
              <a:rPr lang="en-IN" smtClean="0"/>
              <a:t>‹#›</a:t>
            </a:fld>
            <a:endParaRPr lang="en-IN"/>
          </a:p>
        </p:txBody>
      </p:sp>
    </p:spTree>
    <p:extLst>
      <p:ext uri="{BB962C8B-B14F-4D97-AF65-F5344CB8AC3E}">
        <p14:creationId xmlns:p14="http://schemas.microsoft.com/office/powerpoint/2010/main" val="3762299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23E83C-9A40-44F3-5AC3-3882B18D3B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AE42673-B62E-2C8D-FDA2-81AC45E9E3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E7D91E-E53B-3EA9-F853-DCCF50F130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26638A-D81C-476A-8815-6EBE0C4AFEA9}" type="datetimeFigureOut">
              <a:rPr lang="en-IN" smtClean="0"/>
              <a:t>30-12-2025</a:t>
            </a:fld>
            <a:endParaRPr lang="en-IN"/>
          </a:p>
        </p:txBody>
      </p:sp>
      <p:sp>
        <p:nvSpPr>
          <p:cNvPr id="5" name="Footer Placeholder 4">
            <a:extLst>
              <a:ext uri="{FF2B5EF4-FFF2-40B4-BE49-F238E27FC236}">
                <a16:creationId xmlns:a16="http://schemas.microsoft.com/office/drawing/2014/main" id="{2119AAFD-608D-ADB6-2A84-B7CEB8923B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2E75491-A437-017F-0B2C-C9A6D86519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85372-2DD2-4A6D-9E9A-7CB401935A9A}" type="slidenum">
              <a:rPr lang="en-IN" smtClean="0"/>
              <a:t>‹#›</a:t>
            </a:fld>
            <a:endParaRPr lang="en-IN"/>
          </a:p>
        </p:txBody>
      </p:sp>
    </p:spTree>
    <p:extLst>
      <p:ext uri="{BB962C8B-B14F-4D97-AF65-F5344CB8AC3E}">
        <p14:creationId xmlns:p14="http://schemas.microsoft.com/office/powerpoint/2010/main" val="646412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A1200-A2F8-7C62-7726-870B240BDDB0}"/>
              </a:ext>
            </a:extLst>
          </p:cNvPr>
          <p:cNvSpPr>
            <a:spLocks noGrp="1"/>
          </p:cNvSpPr>
          <p:nvPr>
            <p:ph type="title"/>
          </p:nvPr>
        </p:nvSpPr>
        <p:spPr/>
        <p:txBody>
          <a:bodyPr/>
          <a:lstStyle/>
          <a:p>
            <a:r>
              <a:rPr lang="en-IN" dirty="0"/>
              <a:t>TOPOLOGIES OF PV INVERTER</a:t>
            </a:r>
          </a:p>
        </p:txBody>
      </p:sp>
      <p:pic>
        <p:nvPicPr>
          <p:cNvPr id="6" name="Content Placeholder 4">
            <a:extLst>
              <a:ext uri="{FF2B5EF4-FFF2-40B4-BE49-F238E27FC236}">
                <a16:creationId xmlns:a16="http://schemas.microsoft.com/office/drawing/2014/main" id="{074CDE8B-6F84-5AE4-B632-D1DD8D4A0984}"/>
              </a:ext>
            </a:extLst>
          </p:cNvPr>
          <p:cNvPicPr>
            <a:picLocks noGrp="1" noChangeAspect="1"/>
          </p:cNvPicPr>
          <p:nvPr>
            <p:ph idx="1"/>
          </p:nvPr>
        </p:nvPicPr>
        <p:blipFill>
          <a:blip r:embed="rId2"/>
          <a:stretch>
            <a:fillRect/>
          </a:stretch>
        </p:blipFill>
        <p:spPr>
          <a:xfrm>
            <a:off x="1028320" y="1917692"/>
            <a:ext cx="10920047" cy="3701711"/>
          </a:xfrm>
        </p:spPr>
      </p:pic>
    </p:spTree>
    <p:extLst>
      <p:ext uri="{BB962C8B-B14F-4D97-AF65-F5344CB8AC3E}">
        <p14:creationId xmlns:p14="http://schemas.microsoft.com/office/powerpoint/2010/main" val="1721093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C0EA1-9870-D1A8-0253-CD696A81A922}"/>
              </a:ext>
            </a:extLst>
          </p:cNvPr>
          <p:cNvSpPr>
            <a:spLocks noGrp="1"/>
          </p:cNvSpPr>
          <p:nvPr>
            <p:ph type="title"/>
          </p:nvPr>
        </p:nvSpPr>
        <p:spPr/>
        <p:txBody>
          <a:bodyPr/>
          <a:lstStyle/>
          <a:p>
            <a:r>
              <a:rPr lang="en-IN" dirty="0"/>
              <a:t>NEED OF ISOLATION TRANSFORMER</a:t>
            </a:r>
          </a:p>
        </p:txBody>
      </p:sp>
      <p:sp>
        <p:nvSpPr>
          <p:cNvPr id="3" name="Content Placeholder 2">
            <a:extLst>
              <a:ext uri="{FF2B5EF4-FFF2-40B4-BE49-F238E27FC236}">
                <a16:creationId xmlns:a16="http://schemas.microsoft.com/office/drawing/2014/main" id="{A6D2A080-C32B-D15A-9462-966F092F2066}"/>
              </a:ext>
            </a:extLst>
          </p:cNvPr>
          <p:cNvSpPr>
            <a:spLocks noGrp="1"/>
          </p:cNvSpPr>
          <p:nvPr>
            <p:ph idx="1"/>
          </p:nvPr>
        </p:nvSpPr>
        <p:spPr/>
        <p:txBody>
          <a:bodyPr>
            <a:normAutofit/>
          </a:bodyPr>
          <a:lstStyle/>
          <a:p>
            <a:r>
              <a:rPr lang="en-US" sz="2400" b="0" i="0" dirty="0">
                <a:effectLst/>
              </a:rPr>
              <a:t>An isolation transformer is slightly different to </a:t>
            </a:r>
            <a:r>
              <a:rPr lang="en-US" sz="2400" dirty="0"/>
              <a:t>the </a:t>
            </a:r>
            <a:r>
              <a:rPr lang="en-US" sz="2400" b="0" i="0" dirty="0">
                <a:effectLst/>
              </a:rPr>
              <a:t>standard transformer in that its chief purpose is to isolate two different electrical circuits. Simply, it isolates the load from its power supply, and this can be extremely useful when engineers need to separate equipment from a power source. These transformers manage to do so while also transferring electricity from the source to the device.</a:t>
            </a:r>
          </a:p>
          <a:p>
            <a:r>
              <a:rPr lang="en-US" sz="2400" b="1" dirty="0"/>
              <a:t>ADVANTAGES</a:t>
            </a:r>
          </a:p>
          <a:p>
            <a:pPr lvl="1"/>
            <a:r>
              <a:rPr lang="en-US" sz="2000" b="1" i="0" dirty="0">
                <a:effectLst/>
              </a:rPr>
              <a:t>Safety </a:t>
            </a:r>
            <a:endParaRPr lang="en-US" sz="2000" b="0" i="0" dirty="0">
              <a:effectLst/>
            </a:endParaRPr>
          </a:p>
          <a:p>
            <a:pPr lvl="1"/>
            <a:r>
              <a:rPr lang="en-IN" sz="2000" b="1" i="0" dirty="0">
                <a:effectLst/>
              </a:rPr>
              <a:t>Noise </a:t>
            </a:r>
          </a:p>
          <a:p>
            <a:pPr lvl="1"/>
            <a:r>
              <a:rPr lang="en-IN" sz="2000" b="1" i="0" dirty="0">
                <a:effectLst/>
              </a:rPr>
              <a:t>Surge Protection</a:t>
            </a:r>
          </a:p>
          <a:p>
            <a:pPr lvl="1"/>
            <a:r>
              <a:rPr lang="en-IN" sz="2000" b="1" i="0" dirty="0">
                <a:effectLst/>
              </a:rPr>
              <a:t>Improved Quality of Power</a:t>
            </a:r>
            <a:endParaRPr lang="en-IN" sz="2000" dirty="0"/>
          </a:p>
        </p:txBody>
      </p:sp>
    </p:spTree>
    <p:extLst>
      <p:ext uri="{BB962C8B-B14F-4D97-AF65-F5344CB8AC3E}">
        <p14:creationId xmlns:p14="http://schemas.microsoft.com/office/powerpoint/2010/main" val="39290536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11EA4-10E9-9606-9B0D-13366175764C}"/>
              </a:ext>
            </a:extLst>
          </p:cNvPr>
          <p:cNvSpPr>
            <a:spLocks noGrp="1"/>
          </p:cNvSpPr>
          <p:nvPr>
            <p:ph type="title"/>
          </p:nvPr>
        </p:nvSpPr>
        <p:spPr>
          <a:xfrm>
            <a:off x="838200" y="365126"/>
            <a:ext cx="10959548" cy="966718"/>
          </a:xfrm>
        </p:spPr>
        <p:txBody>
          <a:bodyPr>
            <a:normAutofit/>
          </a:bodyPr>
          <a:lstStyle/>
          <a:p>
            <a:r>
              <a:rPr lang="en-IN" dirty="0"/>
              <a:t>PV inverter with DC-DC converter and Isolation</a:t>
            </a:r>
          </a:p>
        </p:txBody>
      </p:sp>
      <p:pic>
        <p:nvPicPr>
          <p:cNvPr id="7" name="Content Placeholder 6">
            <a:extLst>
              <a:ext uri="{FF2B5EF4-FFF2-40B4-BE49-F238E27FC236}">
                <a16:creationId xmlns:a16="http://schemas.microsoft.com/office/drawing/2014/main" id="{5C42EB91-3F92-9A17-B242-B9D7EA8B89A7}"/>
              </a:ext>
            </a:extLst>
          </p:cNvPr>
          <p:cNvPicPr>
            <a:picLocks noGrp="1" noChangeAspect="1"/>
          </p:cNvPicPr>
          <p:nvPr>
            <p:ph idx="1"/>
          </p:nvPr>
        </p:nvPicPr>
        <p:blipFill>
          <a:blip r:embed="rId2"/>
          <a:stretch>
            <a:fillRect/>
          </a:stretch>
        </p:blipFill>
        <p:spPr>
          <a:xfrm>
            <a:off x="838199" y="1331844"/>
            <a:ext cx="10780643" cy="5297556"/>
          </a:xfrm>
          <a:prstGeom prst="rect">
            <a:avLst/>
          </a:prstGeom>
        </p:spPr>
      </p:pic>
    </p:spTree>
    <p:extLst>
      <p:ext uri="{BB962C8B-B14F-4D97-AF65-F5344CB8AC3E}">
        <p14:creationId xmlns:p14="http://schemas.microsoft.com/office/powerpoint/2010/main" val="3834241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8BDBC-B52A-A639-75C4-329355B8B295}"/>
              </a:ext>
            </a:extLst>
          </p:cNvPr>
          <p:cNvSpPr>
            <a:spLocks noGrp="1"/>
          </p:cNvSpPr>
          <p:nvPr>
            <p:ph type="title"/>
          </p:nvPr>
        </p:nvSpPr>
        <p:spPr>
          <a:xfrm>
            <a:off x="838199" y="365125"/>
            <a:ext cx="10860157" cy="1325563"/>
          </a:xfrm>
        </p:spPr>
        <p:txBody>
          <a:bodyPr/>
          <a:lstStyle/>
          <a:p>
            <a:r>
              <a:rPr lang="en-IN" dirty="0"/>
              <a:t>PV INVERTERS WITH ISOLATION TRANSFORMER</a:t>
            </a:r>
          </a:p>
        </p:txBody>
      </p:sp>
      <p:sp>
        <p:nvSpPr>
          <p:cNvPr id="3" name="Content Placeholder 2">
            <a:extLst>
              <a:ext uri="{FF2B5EF4-FFF2-40B4-BE49-F238E27FC236}">
                <a16:creationId xmlns:a16="http://schemas.microsoft.com/office/drawing/2014/main" id="{ABDE293F-3D41-B208-A1C1-39CB62F083B3}"/>
              </a:ext>
            </a:extLst>
          </p:cNvPr>
          <p:cNvSpPr>
            <a:spLocks noGrp="1"/>
          </p:cNvSpPr>
          <p:nvPr>
            <p:ph idx="1"/>
          </p:nvPr>
        </p:nvSpPr>
        <p:spPr/>
        <p:txBody>
          <a:bodyPr>
            <a:normAutofit/>
          </a:bodyPr>
          <a:lstStyle/>
          <a:p>
            <a:r>
              <a:rPr lang="en-US" sz="2400" dirty="0"/>
              <a:t>PV inverters with isolation transformers use a transformer to provide galvanic isolation between the PV array and the grid or load, and they can be implemented either at low frequency (LF) or at high frequency (HF).</a:t>
            </a:r>
          </a:p>
          <a:p>
            <a:r>
              <a:rPr lang="en-US" sz="2400" b="1" dirty="0"/>
              <a:t>LF transformer PV inverters</a:t>
            </a:r>
          </a:p>
          <a:p>
            <a:pPr lvl="1"/>
            <a:r>
              <a:rPr lang="en-US" sz="2000" dirty="0"/>
              <a:t>In LF inverters, the PV array DC is first boosted (optionally by a DC–DC stage) and then converted to AC at 50/60 Hz, with a line‑frequency transformer providing isolation between PV modules and the grid. </a:t>
            </a:r>
          </a:p>
          <a:p>
            <a:pPr lvl="1"/>
            <a:r>
              <a:rPr lang="en-US" sz="2000" dirty="0"/>
              <a:t>This makes the system large, heavy, more expensive and less efficient, but very robust and less prone to DC current injection, and suitable for off‑grid applications with high peak‑power demands.</a:t>
            </a:r>
          </a:p>
          <a:p>
            <a:endParaRPr lang="en-IN" sz="2400" dirty="0"/>
          </a:p>
        </p:txBody>
      </p:sp>
    </p:spTree>
    <p:extLst>
      <p:ext uri="{BB962C8B-B14F-4D97-AF65-F5344CB8AC3E}">
        <p14:creationId xmlns:p14="http://schemas.microsoft.com/office/powerpoint/2010/main" val="3907250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C8C38-4A58-68D6-51EF-A3CFD718691F}"/>
              </a:ext>
            </a:extLst>
          </p:cNvPr>
          <p:cNvSpPr>
            <a:spLocks noGrp="1"/>
          </p:cNvSpPr>
          <p:nvPr>
            <p:ph type="title"/>
          </p:nvPr>
        </p:nvSpPr>
        <p:spPr/>
        <p:txBody>
          <a:bodyPr/>
          <a:lstStyle/>
          <a:p>
            <a:r>
              <a:rPr lang="en-US" b="1" dirty="0"/>
              <a:t>LF transformer PV inverters</a:t>
            </a:r>
          </a:p>
        </p:txBody>
      </p:sp>
      <p:sp>
        <p:nvSpPr>
          <p:cNvPr id="3" name="Content Placeholder 2">
            <a:extLst>
              <a:ext uri="{FF2B5EF4-FFF2-40B4-BE49-F238E27FC236}">
                <a16:creationId xmlns:a16="http://schemas.microsoft.com/office/drawing/2014/main" id="{CAAE57A0-276F-F0E2-984F-A59AFBD612AE}"/>
              </a:ext>
            </a:extLst>
          </p:cNvPr>
          <p:cNvSpPr>
            <a:spLocks noGrp="1"/>
          </p:cNvSpPr>
          <p:nvPr>
            <p:ph idx="1"/>
          </p:nvPr>
        </p:nvSpPr>
        <p:spPr>
          <a:xfrm>
            <a:off x="838200" y="1546167"/>
            <a:ext cx="10515600" cy="4946708"/>
          </a:xfrm>
        </p:spPr>
        <p:txBody>
          <a:bodyPr>
            <a:normAutofit fontScale="92500"/>
          </a:bodyPr>
          <a:lstStyle/>
          <a:p>
            <a:r>
              <a:rPr lang="en-US" b="1" dirty="0"/>
              <a:t>PV array</a:t>
            </a:r>
          </a:p>
          <a:p>
            <a:pPr lvl="1"/>
            <a:r>
              <a:rPr lang="en-US" dirty="0"/>
              <a:t>Generates dc power with a voltage that varies with irradiance and temperature.​</a:t>
            </a:r>
          </a:p>
          <a:p>
            <a:pPr lvl="1"/>
            <a:r>
              <a:rPr lang="en-US" dirty="0"/>
              <a:t>Often too low and variable for direct grid connection, so later stages adapt it.​</a:t>
            </a:r>
          </a:p>
          <a:p>
            <a:r>
              <a:rPr lang="en-US" b="1" dirty="0"/>
              <a:t>(Optional) DC‑DC boost converter</a:t>
            </a:r>
          </a:p>
          <a:p>
            <a:pPr lvl="1"/>
            <a:r>
              <a:rPr lang="en-US" dirty="0"/>
              <a:t>Raises and regulates the PV voltage to a suitable dc level and performs MPPT so the array operates at its maximum power point.​</a:t>
            </a:r>
          </a:p>
          <a:p>
            <a:pPr lvl="1"/>
            <a:r>
              <a:rPr lang="en-US" dirty="0"/>
              <a:t>Provides a relatively constant dc link for the inverter despite changing PV conditions.</a:t>
            </a:r>
          </a:p>
          <a:p>
            <a:r>
              <a:rPr lang="en-US" b="1" dirty="0"/>
              <a:t>Low‑frequency (50/60 Hz) inverter</a:t>
            </a:r>
          </a:p>
          <a:p>
            <a:pPr lvl="1"/>
            <a:r>
              <a:rPr lang="en-US" dirty="0"/>
              <a:t>Converts the dc‑link voltage into low‑frequency AC, typically using an H‑bridge with PWM.​</a:t>
            </a:r>
          </a:p>
          <a:p>
            <a:pPr lvl="1"/>
            <a:r>
              <a:rPr lang="en-US" dirty="0"/>
              <a:t>Produces a waveform that, after filtering and transformation, matches grid frequency and is synchronized for grid connection.</a:t>
            </a:r>
          </a:p>
        </p:txBody>
      </p:sp>
    </p:spTree>
    <p:extLst>
      <p:ext uri="{BB962C8B-B14F-4D97-AF65-F5344CB8AC3E}">
        <p14:creationId xmlns:p14="http://schemas.microsoft.com/office/powerpoint/2010/main" val="376967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58B63-1BEE-6071-9742-F0F9DC3123D8}"/>
              </a:ext>
            </a:extLst>
          </p:cNvPr>
          <p:cNvSpPr>
            <a:spLocks noGrp="1"/>
          </p:cNvSpPr>
          <p:nvPr>
            <p:ph type="title"/>
          </p:nvPr>
        </p:nvSpPr>
        <p:spPr/>
        <p:txBody>
          <a:bodyPr/>
          <a:lstStyle/>
          <a:p>
            <a:r>
              <a:rPr lang="en-US" b="1" dirty="0"/>
              <a:t>LF transformer PV inverters</a:t>
            </a:r>
            <a:endParaRPr lang="en-IN" dirty="0"/>
          </a:p>
        </p:txBody>
      </p:sp>
      <p:sp>
        <p:nvSpPr>
          <p:cNvPr id="3" name="Content Placeholder 2">
            <a:extLst>
              <a:ext uri="{FF2B5EF4-FFF2-40B4-BE49-F238E27FC236}">
                <a16:creationId xmlns:a16="http://schemas.microsoft.com/office/drawing/2014/main" id="{0F5FA048-2A53-745C-1788-C5EDAE6DE4FD}"/>
              </a:ext>
            </a:extLst>
          </p:cNvPr>
          <p:cNvSpPr>
            <a:spLocks noGrp="1"/>
          </p:cNvSpPr>
          <p:nvPr>
            <p:ph idx="1"/>
          </p:nvPr>
        </p:nvSpPr>
        <p:spPr/>
        <p:txBody>
          <a:bodyPr/>
          <a:lstStyle/>
          <a:p>
            <a:r>
              <a:rPr lang="en-US" b="1" dirty="0"/>
              <a:t>AC filter and grid/load connection</a:t>
            </a:r>
          </a:p>
          <a:p>
            <a:pPr lvl="1"/>
            <a:r>
              <a:rPr lang="en-US" dirty="0"/>
              <a:t>Filters high‑frequency switching harmonics from the inverter output so the current injected into the grid is nearly sinusoidal and within THD limits.​</a:t>
            </a:r>
          </a:p>
          <a:p>
            <a:pPr lvl="1"/>
            <a:r>
              <a:rPr lang="en-US" dirty="0"/>
              <a:t>Provides measurement and protection (relays, breakers, anti‑islanding) for safe interconnection with the utility or local load.</a:t>
            </a:r>
          </a:p>
          <a:p>
            <a:r>
              <a:rPr lang="en-US" b="1" dirty="0"/>
              <a:t>LF isolation transformer</a:t>
            </a:r>
          </a:p>
          <a:p>
            <a:pPr lvl="1"/>
            <a:r>
              <a:rPr lang="en-US" dirty="0"/>
              <a:t>Operates at grid frequency (50/60 Hz) and provides galvanic isolation between PV side and grid, blocking DC and common‑mode currents.​</a:t>
            </a:r>
          </a:p>
          <a:p>
            <a:pPr lvl="1"/>
            <a:r>
              <a:rPr lang="en-US" dirty="0"/>
              <a:t>Also steps voltage up or down so the inverter can use a convenient DC‑link level while still meeting grid voltage requirements, at the cost of large size, weight, and core losses.​</a:t>
            </a:r>
          </a:p>
          <a:p>
            <a:endParaRPr lang="en-IN" dirty="0"/>
          </a:p>
        </p:txBody>
      </p:sp>
    </p:spTree>
    <p:extLst>
      <p:ext uri="{BB962C8B-B14F-4D97-AF65-F5344CB8AC3E}">
        <p14:creationId xmlns:p14="http://schemas.microsoft.com/office/powerpoint/2010/main" val="3140349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454F0-3FBB-E7E0-C58A-3952CFB4C725}"/>
              </a:ext>
            </a:extLst>
          </p:cNvPr>
          <p:cNvSpPr>
            <a:spLocks noGrp="1"/>
          </p:cNvSpPr>
          <p:nvPr>
            <p:ph type="title"/>
          </p:nvPr>
        </p:nvSpPr>
        <p:spPr/>
        <p:txBody>
          <a:bodyPr/>
          <a:lstStyle/>
          <a:p>
            <a:r>
              <a:rPr lang="en-US" b="1" dirty="0"/>
              <a:t>HF transformer PV inverters</a:t>
            </a:r>
            <a:endParaRPr lang="en-IN" dirty="0"/>
          </a:p>
        </p:txBody>
      </p:sp>
      <p:sp>
        <p:nvSpPr>
          <p:cNvPr id="3" name="Content Placeholder 2">
            <a:extLst>
              <a:ext uri="{FF2B5EF4-FFF2-40B4-BE49-F238E27FC236}">
                <a16:creationId xmlns:a16="http://schemas.microsoft.com/office/drawing/2014/main" id="{454DBADE-4ED1-103B-0E8C-9A607B816635}"/>
              </a:ext>
            </a:extLst>
          </p:cNvPr>
          <p:cNvSpPr>
            <a:spLocks noGrp="1"/>
          </p:cNvSpPr>
          <p:nvPr>
            <p:ph idx="1"/>
          </p:nvPr>
        </p:nvSpPr>
        <p:spPr>
          <a:xfrm>
            <a:off x="838200" y="1463041"/>
            <a:ext cx="10515600" cy="4804756"/>
          </a:xfrm>
        </p:spPr>
        <p:txBody>
          <a:bodyPr>
            <a:normAutofit fontScale="92500" lnSpcReduction="10000"/>
          </a:bodyPr>
          <a:lstStyle/>
          <a:p>
            <a:r>
              <a:rPr lang="en-US" b="1" dirty="0"/>
              <a:t>PV array</a:t>
            </a:r>
          </a:p>
          <a:p>
            <a:pPr lvl="1"/>
            <a:r>
              <a:rPr lang="en-US" dirty="0"/>
              <a:t>Generates DC power with a voltage that varies with irradiance and temperature.​</a:t>
            </a:r>
          </a:p>
          <a:p>
            <a:pPr lvl="1"/>
            <a:r>
              <a:rPr lang="en-US" dirty="0"/>
              <a:t>Often too low and variable for direct grid connection, so later stages adapt it.</a:t>
            </a:r>
          </a:p>
          <a:p>
            <a:r>
              <a:rPr lang="en-US" b="1" dirty="0"/>
              <a:t>DC‑DC high‑frequency converter</a:t>
            </a:r>
          </a:p>
          <a:p>
            <a:pPr lvl="1"/>
            <a:r>
              <a:rPr lang="en-US" dirty="0"/>
              <a:t>First converts the PV DC into high‑frequency AC (tens of kHz) using a switching bridge (e.g., full‑bridge or half‑bridge).​</a:t>
            </a:r>
          </a:p>
          <a:p>
            <a:pPr lvl="1"/>
            <a:r>
              <a:rPr lang="en-US" dirty="0"/>
              <a:t>This HF AC is suitable for a much smaller transformer and usually incorporates MPPT in its control to keep the PV array at optimum operating point.</a:t>
            </a:r>
          </a:p>
          <a:p>
            <a:r>
              <a:rPr lang="en-US" b="1" dirty="0"/>
              <a:t>HF isolation transformer</a:t>
            </a:r>
          </a:p>
          <a:p>
            <a:pPr lvl="1"/>
            <a:r>
              <a:rPr lang="en-US" dirty="0"/>
              <a:t>Provides galvanic isolation and required voltage step‑up or step‑down at high frequency, so for the same power its core and windings can be much smaller and lighter than an LF transformer.​</a:t>
            </a:r>
          </a:p>
          <a:p>
            <a:pPr lvl="1"/>
            <a:r>
              <a:rPr lang="en-US" dirty="0"/>
              <a:t>Helps meet safety standards while improving power density and often reducing cost for a given rating.​</a:t>
            </a:r>
          </a:p>
        </p:txBody>
      </p:sp>
    </p:spTree>
    <p:extLst>
      <p:ext uri="{BB962C8B-B14F-4D97-AF65-F5344CB8AC3E}">
        <p14:creationId xmlns:p14="http://schemas.microsoft.com/office/powerpoint/2010/main" val="1545328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1279C-F535-85B3-7263-164D0C1C22B8}"/>
              </a:ext>
            </a:extLst>
          </p:cNvPr>
          <p:cNvSpPr>
            <a:spLocks noGrp="1"/>
          </p:cNvSpPr>
          <p:nvPr>
            <p:ph type="title"/>
          </p:nvPr>
        </p:nvSpPr>
        <p:spPr/>
        <p:txBody>
          <a:bodyPr/>
          <a:lstStyle/>
          <a:p>
            <a:r>
              <a:rPr lang="en-US" b="1" dirty="0"/>
              <a:t>HF transformer PV inverters</a:t>
            </a:r>
            <a:endParaRPr lang="en-IN" dirty="0"/>
          </a:p>
        </p:txBody>
      </p:sp>
      <p:sp>
        <p:nvSpPr>
          <p:cNvPr id="3" name="Content Placeholder 2">
            <a:extLst>
              <a:ext uri="{FF2B5EF4-FFF2-40B4-BE49-F238E27FC236}">
                <a16:creationId xmlns:a16="http://schemas.microsoft.com/office/drawing/2014/main" id="{80547D50-75BF-FD2B-E95C-96EE39679244}"/>
              </a:ext>
            </a:extLst>
          </p:cNvPr>
          <p:cNvSpPr>
            <a:spLocks noGrp="1"/>
          </p:cNvSpPr>
          <p:nvPr>
            <p:ph idx="1"/>
          </p:nvPr>
        </p:nvSpPr>
        <p:spPr>
          <a:xfrm>
            <a:off x="838199" y="1529542"/>
            <a:ext cx="10965874" cy="4963333"/>
          </a:xfrm>
        </p:spPr>
        <p:txBody>
          <a:bodyPr>
            <a:normAutofit fontScale="92500" lnSpcReduction="20000"/>
          </a:bodyPr>
          <a:lstStyle/>
          <a:p>
            <a:r>
              <a:rPr lang="en-US" b="1" dirty="0"/>
              <a:t>High‑frequency rectifier / DC‑link stage</a:t>
            </a:r>
          </a:p>
          <a:p>
            <a:pPr lvl="1"/>
            <a:r>
              <a:rPr lang="en-US" dirty="0"/>
              <a:t>Converts the HF transformer secondary AC back to DC using diodes or synchronous switches and smooths it with capacitors to form a stable DC link.​</a:t>
            </a:r>
          </a:p>
          <a:p>
            <a:pPr lvl="1"/>
            <a:r>
              <a:rPr lang="en-US" dirty="0"/>
              <a:t>Sets the DC voltage level that the final grid‑tie inverter will use, decoupling PV and grid constraints.​</a:t>
            </a:r>
          </a:p>
          <a:p>
            <a:r>
              <a:rPr lang="en-US" b="1" dirty="0"/>
              <a:t>Grid‑connected inverter stage</a:t>
            </a:r>
          </a:p>
          <a:p>
            <a:pPr lvl="1"/>
            <a:r>
              <a:rPr lang="en-US" dirty="0"/>
              <a:t>Takes the isolated DC‑link voltage and generates grid‑frequency AC with controlled amplitude, phase, and frequency, often using a two‑level or multilevel VSI.​</a:t>
            </a:r>
          </a:p>
          <a:p>
            <a:pPr lvl="1"/>
            <a:r>
              <a:rPr lang="en-US" dirty="0"/>
              <a:t>Implements current control, power‑factor control, and grid‑support functions (e.g., reactive power, ride‑through) while tracking grid synchronization.​</a:t>
            </a:r>
          </a:p>
          <a:p>
            <a:r>
              <a:rPr lang="en-US" b="1" dirty="0"/>
              <a:t>AC filter and grid/load connection</a:t>
            </a:r>
          </a:p>
          <a:p>
            <a:pPr lvl="1"/>
            <a:r>
              <a:rPr lang="en-US" dirty="0"/>
              <a:t>LC or LCL filters attenuate switching harmonics from the grid‑tie inverter to meet power‑quality standards.​</a:t>
            </a:r>
          </a:p>
          <a:p>
            <a:pPr lvl="1"/>
            <a:r>
              <a:rPr lang="en-US" dirty="0"/>
              <a:t>Protection and relays ensure safe connection/disconnection, similar to the LF case, but the overall system is lighter, more compact, and typically more efficient because major power transfer occurs at HF instead of 50/60 Hz.</a:t>
            </a:r>
          </a:p>
          <a:p>
            <a:endParaRPr lang="en-IN" dirty="0"/>
          </a:p>
        </p:txBody>
      </p:sp>
    </p:spTree>
    <p:extLst>
      <p:ext uri="{BB962C8B-B14F-4D97-AF65-F5344CB8AC3E}">
        <p14:creationId xmlns:p14="http://schemas.microsoft.com/office/powerpoint/2010/main" val="347843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5F24A-FC9E-7D17-552E-395320FE238C}"/>
              </a:ext>
            </a:extLst>
          </p:cNvPr>
          <p:cNvSpPr>
            <a:spLocks noGrp="1"/>
          </p:cNvSpPr>
          <p:nvPr>
            <p:ph type="title"/>
          </p:nvPr>
        </p:nvSpPr>
        <p:spPr>
          <a:xfrm>
            <a:off x="838199" y="365125"/>
            <a:ext cx="10860157" cy="1325563"/>
          </a:xfrm>
        </p:spPr>
        <p:txBody>
          <a:bodyPr/>
          <a:lstStyle/>
          <a:p>
            <a:r>
              <a:rPr lang="en-US" b="1" dirty="0"/>
              <a:t>HF transformer PV inverters</a:t>
            </a:r>
            <a:endParaRPr lang="en-IN" dirty="0"/>
          </a:p>
        </p:txBody>
      </p:sp>
      <p:sp>
        <p:nvSpPr>
          <p:cNvPr id="3" name="Content Placeholder 2">
            <a:extLst>
              <a:ext uri="{FF2B5EF4-FFF2-40B4-BE49-F238E27FC236}">
                <a16:creationId xmlns:a16="http://schemas.microsoft.com/office/drawing/2014/main" id="{03918748-3163-78A5-A800-5032DA71503C}"/>
              </a:ext>
            </a:extLst>
          </p:cNvPr>
          <p:cNvSpPr>
            <a:spLocks noGrp="1"/>
          </p:cNvSpPr>
          <p:nvPr>
            <p:ph idx="1"/>
          </p:nvPr>
        </p:nvSpPr>
        <p:spPr/>
        <p:txBody>
          <a:bodyPr>
            <a:normAutofit/>
          </a:bodyPr>
          <a:lstStyle/>
          <a:p>
            <a:r>
              <a:rPr lang="en-US" dirty="0"/>
              <a:t>In HF inverters, the PV DC is first converted to high‑frequency AC, passed through a </a:t>
            </a:r>
            <a:r>
              <a:rPr lang="en-US" b="1" dirty="0"/>
              <a:t>high‑frequency transformer </a:t>
            </a:r>
            <a:r>
              <a:rPr lang="en-US" dirty="0"/>
              <a:t>to step up the voltage and provide isolation, and then converted back to AC using rectifier at grid frequency in a final inverter stage. </a:t>
            </a:r>
          </a:p>
          <a:p>
            <a:r>
              <a:rPr lang="en-US" dirty="0"/>
              <a:t>This architecture yields galvanic isolation like LF systems but with lighter, more compact, inexpensive hardware and higher efficiency compared with LF‑transformer inverters, because the HF transformer is much smaller and has lower losses.</a:t>
            </a:r>
          </a:p>
        </p:txBody>
      </p:sp>
    </p:spTree>
    <p:extLst>
      <p:ext uri="{BB962C8B-B14F-4D97-AF65-F5344CB8AC3E}">
        <p14:creationId xmlns:p14="http://schemas.microsoft.com/office/powerpoint/2010/main" val="1492532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25583-BE2C-5C78-A52F-1B7653B604EB}"/>
              </a:ext>
            </a:extLst>
          </p:cNvPr>
          <p:cNvSpPr>
            <a:spLocks noGrp="1"/>
          </p:cNvSpPr>
          <p:nvPr>
            <p:ph type="title"/>
          </p:nvPr>
        </p:nvSpPr>
        <p:spPr/>
        <p:txBody>
          <a:bodyPr/>
          <a:lstStyle/>
          <a:p>
            <a:r>
              <a:rPr lang="en-US" dirty="0"/>
              <a:t>PV inverter with an HF transformer using an isolated push-pull boost converter </a:t>
            </a:r>
          </a:p>
        </p:txBody>
      </p:sp>
      <p:pic>
        <p:nvPicPr>
          <p:cNvPr id="5" name="Content Placeholder 4">
            <a:extLst>
              <a:ext uri="{FF2B5EF4-FFF2-40B4-BE49-F238E27FC236}">
                <a16:creationId xmlns:a16="http://schemas.microsoft.com/office/drawing/2014/main" id="{FFDF8598-0605-CF1B-C29A-DF9F7A0FDECC}"/>
              </a:ext>
            </a:extLst>
          </p:cNvPr>
          <p:cNvPicPr>
            <a:picLocks noGrp="1" noChangeAspect="1"/>
          </p:cNvPicPr>
          <p:nvPr>
            <p:ph idx="1"/>
          </p:nvPr>
        </p:nvPicPr>
        <p:blipFill>
          <a:blip r:embed="rId2"/>
          <a:stretch>
            <a:fillRect/>
          </a:stretch>
        </p:blipFill>
        <p:spPr>
          <a:xfrm>
            <a:off x="1250688" y="3330134"/>
            <a:ext cx="8716591" cy="3162741"/>
          </a:xfrm>
        </p:spPr>
      </p:pic>
      <p:pic>
        <p:nvPicPr>
          <p:cNvPr id="8" name="Picture 7">
            <a:extLst>
              <a:ext uri="{FF2B5EF4-FFF2-40B4-BE49-F238E27FC236}">
                <a16:creationId xmlns:a16="http://schemas.microsoft.com/office/drawing/2014/main" id="{3D6EF39E-19E6-BDBD-51D7-219D692C4B53}"/>
              </a:ext>
            </a:extLst>
          </p:cNvPr>
          <p:cNvPicPr>
            <a:picLocks noChangeAspect="1"/>
          </p:cNvPicPr>
          <p:nvPr/>
        </p:nvPicPr>
        <p:blipFill>
          <a:blip r:embed="rId3"/>
          <a:stretch>
            <a:fillRect/>
          </a:stretch>
        </p:blipFill>
        <p:spPr>
          <a:xfrm>
            <a:off x="1538985" y="1786109"/>
            <a:ext cx="7802064" cy="1409897"/>
          </a:xfrm>
          <a:prstGeom prst="rect">
            <a:avLst/>
          </a:prstGeom>
        </p:spPr>
      </p:pic>
    </p:spTree>
    <p:extLst>
      <p:ext uri="{BB962C8B-B14F-4D97-AF65-F5344CB8AC3E}">
        <p14:creationId xmlns:p14="http://schemas.microsoft.com/office/powerpoint/2010/main" val="3903938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1EE35-15B7-E353-5AE8-B05E35235F72}"/>
              </a:ext>
            </a:extLst>
          </p:cNvPr>
          <p:cNvSpPr>
            <a:spLocks noGrp="1"/>
          </p:cNvSpPr>
          <p:nvPr>
            <p:ph type="title"/>
          </p:nvPr>
        </p:nvSpPr>
        <p:spPr/>
        <p:txBody>
          <a:bodyPr/>
          <a:lstStyle/>
          <a:p>
            <a:r>
              <a:rPr lang="en-US" dirty="0"/>
              <a:t>PV inverter with an HF transformer using an isolated push-pull boost converter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F62453-8A05-1506-5480-B5095B39030B}"/>
                  </a:ext>
                </a:extLst>
              </p:cNvPr>
              <p:cNvSpPr>
                <a:spLocks noGrp="1"/>
              </p:cNvSpPr>
              <p:nvPr>
                <p:ph idx="1"/>
              </p:nvPr>
            </p:nvSpPr>
            <p:spPr/>
            <p:txBody>
              <a:bodyPr>
                <a:normAutofit fontScale="92500" lnSpcReduction="10000"/>
              </a:bodyPr>
              <a:lstStyle/>
              <a:p>
                <a:r>
                  <a:rPr lang="en-US" b="1" dirty="0"/>
                  <a:t>PV array and input capacitor</a:t>
                </a:r>
              </a:p>
              <a:p>
                <a:pPr lvl="1"/>
                <a:r>
                  <a:rPr lang="en-US" dirty="0"/>
                  <a:t>The PV array supplies a low‑voltage DC output whose magnitude changes with irradiance and temperature.</a:t>
                </a:r>
              </a:p>
              <a:p>
                <a:pPr lvl="1"/>
                <a:r>
                  <a:rPr lang="en-US" dirty="0"/>
                  <a:t>The input capacitor </a:t>
                </a:r>
                <a14:m>
                  <m:oMath xmlns:m="http://schemas.openxmlformats.org/officeDocument/2006/math">
                    <m:r>
                      <a:rPr lang="en-US" i="1">
                        <a:latin typeface="Cambria Math" panose="02040503050406030204" pitchFamily="18" charset="0"/>
                      </a:rPr>
                      <m:t>𝐶</m:t>
                    </m:r>
                  </m:oMath>
                </a14:m>
                <a:r>
                  <a:rPr lang="en-US" dirty="0"/>
                  <a:t> across the PV terminals smooths short‑term fluctuations and provides a low‑impedance DC source for the following push‑pull inverter stage (it also helps MPPT control keep the array near its MPP).</a:t>
                </a:r>
              </a:p>
              <a:p>
                <a:r>
                  <a:rPr lang="en-US" b="1" dirty="0"/>
                  <a:t>Isolated push‑pull HF inverter + HF transformer</a:t>
                </a:r>
              </a:p>
              <a:p>
                <a:pPr lvl="1"/>
                <a:r>
                  <a:rPr lang="en-US" dirty="0"/>
                  <a:t>Two switches (the push‑pull pair) alternately connect the primary of the high‑frequency transformer to the PV side, producing a high‑frequency square‑wave voltage from the dc input.</a:t>
                </a:r>
              </a:p>
              <a:p>
                <a:pPr lvl="1"/>
                <a:r>
                  <a:rPr lang="en-US" dirty="0"/>
                  <a:t>The HF transformer provides galvanic isolation and steps the voltage up (or down) to a suitable intermediate level while operating at tens of kHz, so it is much smaller and lighter than a 50/60 Hz transformer.</a:t>
                </a:r>
              </a:p>
              <a:p>
                <a:endParaRPr lang="en-IN" dirty="0"/>
              </a:p>
            </p:txBody>
          </p:sp>
        </mc:Choice>
        <mc:Fallback xmlns="">
          <p:sp>
            <p:nvSpPr>
              <p:cNvPr id="3" name="Content Placeholder 2">
                <a:extLst>
                  <a:ext uri="{FF2B5EF4-FFF2-40B4-BE49-F238E27FC236}">
                    <a16:creationId xmlns:a16="http://schemas.microsoft.com/office/drawing/2014/main" id="{7CF62453-8A05-1506-5480-B5095B39030B}"/>
                  </a:ext>
                </a:extLst>
              </p:cNvPr>
              <p:cNvSpPr>
                <a:spLocks noGrp="1" noRot="1" noChangeAspect="1" noMove="1" noResize="1" noEditPoints="1" noAdjustHandles="1" noChangeArrowheads="1" noChangeShapeType="1" noTextEdit="1"/>
              </p:cNvSpPr>
              <p:nvPr>
                <p:ph idx="1"/>
              </p:nvPr>
            </p:nvSpPr>
            <p:spPr>
              <a:blipFill>
                <a:blip r:embed="rId2"/>
                <a:stretch>
                  <a:fillRect l="-928" t="-2801" r="-696"/>
                </a:stretch>
              </a:blipFill>
            </p:spPr>
            <p:txBody>
              <a:bodyPr/>
              <a:lstStyle/>
              <a:p>
                <a:r>
                  <a:rPr lang="en-IN">
                    <a:noFill/>
                  </a:rPr>
                  <a:t> </a:t>
                </a:r>
              </a:p>
            </p:txBody>
          </p:sp>
        </mc:Fallback>
      </mc:AlternateContent>
    </p:spTree>
    <p:extLst>
      <p:ext uri="{BB962C8B-B14F-4D97-AF65-F5344CB8AC3E}">
        <p14:creationId xmlns:p14="http://schemas.microsoft.com/office/powerpoint/2010/main" val="3773326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E211-5CC3-4332-46FC-340A96A9511A}"/>
              </a:ext>
            </a:extLst>
          </p:cNvPr>
          <p:cNvSpPr>
            <a:spLocks noGrp="1"/>
          </p:cNvSpPr>
          <p:nvPr>
            <p:ph type="title"/>
          </p:nvPr>
        </p:nvSpPr>
        <p:spPr/>
        <p:txBody>
          <a:bodyPr/>
          <a:lstStyle/>
          <a:p>
            <a:r>
              <a:rPr lang="en-US" dirty="0"/>
              <a:t>PV inverter with an HF transformer using an isolated push-pull boost converter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CADDD0-211B-A08A-A824-9BB8AF7A2247}"/>
                  </a:ext>
                </a:extLst>
              </p:cNvPr>
              <p:cNvSpPr>
                <a:spLocks noGrp="1"/>
              </p:cNvSpPr>
              <p:nvPr>
                <p:ph idx="1"/>
              </p:nvPr>
            </p:nvSpPr>
            <p:spPr>
              <a:xfrm>
                <a:off x="838200" y="1825625"/>
                <a:ext cx="10515600" cy="4764018"/>
              </a:xfrm>
            </p:spPr>
            <p:txBody>
              <a:bodyPr>
                <a:normAutofit fontScale="92500" lnSpcReduction="10000"/>
              </a:bodyPr>
              <a:lstStyle/>
              <a:p>
                <a:r>
                  <a:rPr lang="en-IN" b="1" dirty="0"/>
                  <a:t>High‑frequency rectifier bridge and DC link</a:t>
                </a:r>
              </a:p>
              <a:p>
                <a:pPr lvl="1"/>
                <a:r>
                  <a:rPr lang="en-IN" dirty="0"/>
                  <a:t>On the transformer secondary, a diode bridge (high‑frequency bridge) rectifies the HF AC to DC, and an L–C filter removes the HF ripple to create a stable DC‑link voltage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a:rPr lang="ar-AE" i="1">
                            <a:latin typeface="Cambria Math" panose="02040503050406030204" pitchFamily="18" charset="0"/>
                          </a:rPr>
                          <m:t>𝑥</m:t>
                        </m:r>
                      </m:sub>
                    </m:sSub>
                  </m:oMath>
                </a14:m>
                <a:r>
                  <a:rPr lang="ar-AE" dirty="0"/>
                  <a:t>.</a:t>
                </a:r>
              </a:p>
              <a:p>
                <a:pPr lvl="1"/>
                <a:r>
                  <a:rPr lang="en-IN" dirty="0"/>
                  <a:t>This stage behaves as an isolated boost converter: by controlling the duty ratio of the push‑pull switches, the DC‑link voltage is regulated above the PV voltage and kept nearly constant for the grid‑side inverter.</a:t>
                </a:r>
              </a:p>
              <a:p>
                <a:r>
                  <a:rPr lang="en-IN" b="1" dirty="0"/>
                  <a:t>Line‑frequency grid‑tie inverter and output filter</a:t>
                </a:r>
              </a:p>
              <a:p>
                <a:pPr lvl="1"/>
                <a:r>
                  <a:rPr lang="en-IN" dirty="0"/>
                  <a:t>The line‑frequency inverter (typically a single‑ or three‑phase VSI bridge) converts the isolated DC‑link voltage into AC synchronized with the grid, controlling amplitude, phase, and frequency to inject the desired active/reactive power.</a:t>
                </a:r>
              </a:p>
              <a:p>
                <a:pPr lvl="1"/>
                <a:r>
                  <a:rPr lang="en-IN" dirty="0"/>
                  <a:t>The output L or LCL filter attenuates PWM switching harmonics so that the delivered current has low THD and meets grid‑code limits, and the final connection block includes protection and synchronization circuitry for safe coupling to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m:rPr>
                            <m:nor/>
                          </m:rPr>
                          <a:rPr lang="en-IN" i="1"/>
                          <m:t>grid</m:t>
                        </m:r>
                      </m:sub>
                    </m:sSub>
                  </m:oMath>
                </a14:m>
                <a:r>
                  <a:rPr lang="ar-AE" dirty="0"/>
                  <a:t>.</a:t>
                </a:r>
              </a:p>
            </p:txBody>
          </p:sp>
        </mc:Choice>
        <mc:Fallback xmlns="">
          <p:sp>
            <p:nvSpPr>
              <p:cNvPr id="3" name="Content Placeholder 2">
                <a:extLst>
                  <a:ext uri="{FF2B5EF4-FFF2-40B4-BE49-F238E27FC236}">
                    <a16:creationId xmlns:a16="http://schemas.microsoft.com/office/drawing/2014/main" id="{E4CADDD0-211B-A08A-A824-9BB8AF7A2247}"/>
                  </a:ext>
                </a:extLst>
              </p:cNvPr>
              <p:cNvSpPr>
                <a:spLocks noGrp="1" noRot="1" noChangeAspect="1" noMove="1" noResize="1" noEditPoints="1" noAdjustHandles="1" noChangeArrowheads="1" noChangeShapeType="1" noTextEdit="1"/>
              </p:cNvSpPr>
              <p:nvPr>
                <p:ph idx="1"/>
              </p:nvPr>
            </p:nvSpPr>
            <p:spPr>
              <a:xfrm>
                <a:off x="838200" y="1825625"/>
                <a:ext cx="10515600" cy="4764018"/>
              </a:xfrm>
              <a:blipFill>
                <a:blip r:embed="rId2"/>
                <a:stretch>
                  <a:fillRect l="-928" t="-2558" r="-986"/>
                </a:stretch>
              </a:blipFill>
            </p:spPr>
            <p:txBody>
              <a:bodyPr/>
              <a:lstStyle/>
              <a:p>
                <a:r>
                  <a:rPr lang="en-IN">
                    <a:noFill/>
                  </a:rPr>
                  <a:t> </a:t>
                </a:r>
              </a:p>
            </p:txBody>
          </p:sp>
        </mc:Fallback>
      </mc:AlternateContent>
    </p:spTree>
    <p:extLst>
      <p:ext uri="{BB962C8B-B14F-4D97-AF65-F5344CB8AC3E}">
        <p14:creationId xmlns:p14="http://schemas.microsoft.com/office/powerpoint/2010/main" val="3678595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EFC49-63BC-33CC-E67D-DB002508B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ECDCE6-AA35-5B7C-F4FE-1016B2E0F4F4}"/>
              </a:ext>
            </a:extLst>
          </p:cNvPr>
          <p:cNvSpPr>
            <a:spLocks noGrp="1"/>
          </p:cNvSpPr>
          <p:nvPr>
            <p:ph type="title"/>
          </p:nvPr>
        </p:nvSpPr>
        <p:spPr/>
        <p:txBody>
          <a:bodyPr/>
          <a:lstStyle/>
          <a:p>
            <a:r>
              <a:rPr lang="en-US" dirty="0"/>
              <a:t>PV inverter with an HF transformer using an isolated push-pull boost converter </a:t>
            </a:r>
          </a:p>
        </p:txBody>
      </p:sp>
      <p:sp>
        <p:nvSpPr>
          <p:cNvPr id="4" name="Content Placeholder 3">
            <a:extLst>
              <a:ext uri="{FF2B5EF4-FFF2-40B4-BE49-F238E27FC236}">
                <a16:creationId xmlns:a16="http://schemas.microsoft.com/office/drawing/2014/main" id="{11E81DFD-63D5-FD85-0404-B07E5C405921}"/>
              </a:ext>
            </a:extLst>
          </p:cNvPr>
          <p:cNvSpPr>
            <a:spLocks noGrp="1"/>
          </p:cNvSpPr>
          <p:nvPr>
            <p:ph idx="1"/>
          </p:nvPr>
        </p:nvSpPr>
        <p:spPr/>
        <p:txBody>
          <a:bodyPr>
            <a:normAutofit/>
          </a:bodyPr>
          <a:lstStyle/>
          <a:p>
            <a:r>
              <a:rPr lang="en-US" sz="2400" dirty="0"/>
              <a:t>DC-AC inverter is a low-cost inverter switched at the line frequency.</a:t>
            </a:r>
          </a:p>
          <a:p>
            <a:r>
              <a:rPr lang="en-US" sz="2400" dirty="0"/>
              <a:t>In order to keep the magnetic components small high switching frequencies in the range </a:t>
            </a:r>
            <a:r>
              <a:rPr lang="en-US" sz="2400" b="1" dirty="0"/>
              <a:t>of 20 — 100 kHz </a:t>
            </a:r>
            <a:r>
              <a:rPr lang="en-US" sz="2400" dirty="0"/>
              <a:t>are typically employed. </a:t>
            </a:r>
          </a:p>
          <a:p>
            <a:r>
              <a:rPr lang="en-US" sz="2400" dirty="0"/>
              <a:t>The full-bridge converter is usually utilized at power levels above </a:t>
            </a:r>
            <a:r>
              <a:rPr lang="en-US" sz="2400" b="1" dirty="0"/>
              <a:t>750 W</a:t>
            </a:r>
            <a:r>
              <a:rPr lang="en-US" sz="2400" dirty="0"/>
              <a:t>. </a:t>
            </a:r>
          </a:p>
          <a:p>
            <a:r>
              <a:rPr lang="en-US" sz="2400" dirty="0"/>
              <a:t>The </a:t>
            </a:r>
            <a:r>
              <a:rPr lang="en-US" sz="2400" b="1" dirty="0"/>
              <a:t>advantages</a:t>
            </a:r>
            <a:r>
              <a:rPr lang="en-US" sz="2400" dirty="0"/>
              <a:t> of this topology are: </a:t>
            </a:r>
          </a:p>
          <a:p>
            <a:pPr lvl="1"/>
            <a:r>
              <a:rPr lang="en-US" sz="2000" dirty="0"/>
              <a:t>Good transformer utilization bipolar magnetization of the core</a:t>
            </a:r>
          </a:p>
          <a:p>
            <a:pPr lvl="1"/>
            <a:r>
              <a:rPr lang="en-US" sz="2000" dirty="0"/>
              <a:t>Good performance with current programmed control — reduced DC magnetization of transformer. </a:t>
            </a:r>
          </a:p>
          <a:p>
            <a:r>
              <a:rPr lang="en-US" sz="2400" dirty="0"/>
              <a:t>The main disadvantages in comparison with push-pull topology are </a:t>
            </a:r>
          </a:p>
          <a:p>
            <a:pPr lvl="1"/>
            <a:r>
              <a:rPr lang="en-US" sz="2000" dirty="0"/>
              <a:t>Higher active part count </a:t>
            </a:r>
          </a:p>
          <a:p>
            <a:pPr lvl="1"/>
            <a:r>
              <a:rPr lang="en-US" sz="2000" dirty="0"/>
              <a:t>Higher transformer ratio needed for boosting the DC voltage to the grid level. </a:t>
            </a:r>
            <a:endParaRPr lang="en-IN" sz="2000" dirty="0"/>
          </a:p>
        </p:txBody>
      </p:sp>
    </p:spTree>
    <p:extLst>
      <p:ext uri="{BB962C8B-B14F-4D97-AF65-F5344CB8AC3E}">
        <p14:creationId xmlns:p14="http://schemas.microsoft.com/office/powerpoint/2010/main" val="2213816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70100-C34D-D4D9-0E92-66CF0A0B84F1}"/>
              </a:ext>
            </a:extLst>
          </p:cNvPr>
          <p:cNvSpPr>
            <a:spLocks noGrp="1"/>
          </p:cNvSpPr>
          <p:nvPr>
            <p:ph type="title"/>
          </p:nvPr>
        </p:nvSpPr>
        <p:spPr/>
        <p:txBody>
          <a:bodyPr/>
          <a:lstStyle/>
          <a:p>
            <a:r>
              <a:rPr lang="en-US" dirty="0"/>
              <a:t>PV inverter with an HF transformer using an isolated push-pull boost converter </a:t>
            </a:r>
            <a:endParaRPr lang="en-IN" dirty="0"/>
          </a:p>
        </p:txBody>
      </p:sp>
      <p:sp>
        <p:nvSpPr>
          <p:cNvPr id="3" name="Content Placeholder 2">
            <a:extLst>
              <a:ext uri="{FF2B5EF4-FFF2-40B4-BE49-F238E27FC236}">
                <a16:creationId xmlns:a16="http://schemas.microsoft.com/office/drawing/2014/main" id="{26BFD2EA-DB64-4971-D25C-3A49212FED16}"/>
              </a:ext>
            </a:extLst>
          </p:cNvPr>
          <p:cNvSpPr>
            <a:spLocks noGrp="1"/>
          </p:cNvSpPr>
          <p:nvPr>
            <p:ph idx="1"/>
          </p:nvPr>
        </p:nvSpPr>
        <p:spPr/>
        <p:txBody>
          <a:bodyPr>
            <a:normAutofit/>
          </a:bodyPr>
          <a:lstStyle/>
          <a:p>
            <a:r>
              <a:rPr lang="en-US" sz="2400" dirty="0"/>
              <a:t>The </a:t>
            </a:r>
            <a:r>
              <a:rPr lang="en-US" sz="2400" b="1" dirty="0"/>
              <a:t>single inductor push-pull converter </a:t>
            </a:r>
            <a:r>
              <a:rPr lang="en-US" sz="2400" dirty="0"/>
              <a:t>can provide boosting function on both the boosting inductor and transformer, reducing the transformer ratio. Thus, higher efficiency can be achieved together with smoother input current. </a:t>
            </a:r>
          </a:p>
          <a:p>
            <a:r>
              <a:rPr lang="en-US" sz="2400" dirty="0"/>
              <a:t>On the negative side higher blocking voltage switches are required and the transformer with tap point puts some construction and reliability problems. </a:t>
            </a:r>
          </a:p>
          <a:p>
            <a:r>
              <a:rPr lang="en-US" sz="2400" dirty="0"/>
              <a:t>Those shortcomings can be alleviated using the </a:t>
            </a:r>
            <a:r>
              <a:rPr lang="en-US" sz="2400" b="1" dirty="0"/>
              <a:t>double inductor push-pull converter (DIC) </a:t>
            </a:r>
            <a:r>
              <a:rPr lang="en-US" sz="2400" dirty="0"/>
              <a:t>where the boost inductor has been split into two. Actually, this topology is equivalent with two interleaved boost converters leading to lower ripple in the input current. The transformer construction is simpler not requiring a tap point. The single disadvantage of this topology remains the need for an extra inductor. </a:t>
            </a:r>
            <a:endParaRPr lang="en-IN" sz="2400" dirty="0"/>
          </a:p>
        </p:txBody>
      </p:sp>
    </p:spTree>
    <p:extLst>
      <p:ext uri="{BB962C8B-B14F-4D97-AF65-F5344CB8AC3E}">
        <p14:creationId xmlns:p14="http://schemas.microsoft.com/office/powerpoint/2010/main" val="1754513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FE522-65EA-2F59-E8BD-E4FF0DDA112E}"/>
              </a:ext>
            </a:extLst>
          </p:cNvPr>
          <p:cNvSpPr>
            <a:spLocks noGrp="1"/>
          </p:cNvSpPr>
          <p:nvPr>
            <p:ph type="title"/>
          </p:nvPr>
        </p:nvSpPr>
        <p:spPr/>
        <p:txBody>
          <a:bodyPr/>
          <a:lstStyle/>
          <a:p>
            <a:r>
              <a:rPr lang="en-IN" dirty="0"/>
              <a:t>PV inverter with DC- DC converter and no isolation</a:t>
            </a:r>
          </a:p>
        </p:txBody>
      </p:sp>
      <p:pic>
        <p:nvPicPr>
          <p:cNvPr id="5" name="Content Placeholder 4">
            <a:extLst>
              <a:ext uri="{FF2B5EF4-FFF2-40B4-BE49-F238E27FC236}">
                <a16:creationId xmlns:a16="http://schemas.microsoft.com/office/drawing/2014/main" id="{AF9F8137-E81B-6F33-21A5-5182519AE2EC}"/>
              </a:ext>
            </a:extLst>
          </p:cNvPr>
          <p:cNvPicPr>
            <a:picLocks noGrp="1" noChangeAspect="1"/>
          </p:cNvPicPr>
          <p:nvPr>
            <p:ph idx="1"/>
          </p:nvPr>
        </p:nvPicPr>
        <p:blipFill>
          <a:blip r:embed="rId2"/>
          <a:stretch>
            <a:fillRect/>
          </a:stretch>
        </p:blipFill>
        <p:spPr>
          <a:xfrm>
            <a:off x="838201" y="1835564"/>
            <a:ext cx="6636026" cy="4351338"/>
          </a:xfrm>
        </p:spPr>
      </p:pic>
      <p:sp>
        <p:nvSpPr>
          <p:cNvPr id="9" name="Rectangle 4">
            <a:extLst>
              <a:ext uri="{FF2B5EF4-FFF2-40B4-BE49-F238E27FC236}">
                <a16:creationId xmlns:a16="http://schemas.microsoft.com/office/drawing/2014/main" id="{37DD3383-BA28-46C2-5734-7B0087101383}"/>
              </a:ext>
            </a:extLst>
          </p:cNvPr>
          <p:cNvSpPr>
            <a:spLocks noChangeArrowheads="1"/>
          </p:cNvSpPr>
          <p:nvPr/>
        </p:nvSpPr>
        <p:spPr bwMode="auto">
          <a:xfrm>
            <a:off x="7835151" y="1543185"/>
            <a:ext cx="4250832"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cs typeface="Calibri" panose="020F0502020204030204" pitchFamily="34" charset="0"/>
              </a:rPr>
              <a:t>In some countries as the grid-isolation is not </a:t>
            </a:r>
            <a:br>
              <a:rPr kumimoji="0" lang="en-US" altLang="en-US" sz="2400" b="0" i="0" u="none" strike="noStrike" cap="none" normalizeH="0" baseline="0" dirty="0">
                <a:ln>
                  <a:noFill/>
                </a:ln>
                <a:solidFill>
                  <a:schemeClr val="tx1"/>
                </a:solidFill>
                <a:effectLst/>
                <a:cs typeface="Calibri" panose="020F0502020204030204" pitchFamily="34" charset="0"/>
              </a:rPr>
            </a:br>
            <a:r>
              <a:rPr kumimoji="0" lang="en-US" altLang="en-US" sz="2400" b="0" i="0" u="none" strike="noStrike" cap="none" normalizeH="0" baseline="0" dirty="0">
                <a:ln>
                  <a:noFill/>
                </a:ln>
                <a:solidFill>
                  <a:schemeClr val="tx1"/>
                </a:solidFill>
                <a:effectLst/>
                <a:cs typeface="Calibri" panose="020F0502020204030204" pitchFamily="34" charset="0"/>
              </a:rPr>
              <a:t>mandatory, more simplified PV Inverter design can be </a:t>
            </a:r>
            <a:br>
              <a:rPr kumimoji="0" lang="en-US" altLang="en-US" sz="2400" b="0" i="0" u="none" strike="noStrike" cap="none" normalizeH="0" baseline="0" dirty="0">
                <a:ln>
                  <a:noFill/>
                </a:ln>
                <a:solidFill>
                  <a:schemeClr val="tx1"/>
                </a:solidFill>
                <a:effectLst/>
                <a:cs typeface="Calibri" panose="020F0502020204030204" pitchFamily="34" charset="0"/>
              </a:rPr>
            </a:br>
            <a:r>
              <a:rPr kumimoji="0" lang="en-US" altLang="en-US" sz="2400" b="0" i="0" u="none" strike="noStrike" cap="none" normalizeH="0" baseline="0" dirty="0">
                <a:ln>
                  <a:noFill/>
                </a:ln>
                <a:solidFill>
                  <a:schemeClr val="tx1"/>
                </a:solidFill>
                <a:effectLst/>
                <a:cs typeface="Calibri" panose="020F0502020204030204" pitchFamily="34" charset="0"/>
              </a:rPr>
              <a:t>used</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462238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AB26D-F98C-BAF3-78CA-5D0BCDB59AF6}"/>
              </a:ext>
            </a:extLst>
          </p:cNvPr>
          <p:cNvSpPr>
            <a:spLocks noGrp="1"/>
          </p:cNvSpPr>
          <p:nvPr>
            <p:ph type="title"/>
          </p:nvPr>
        </p:nvSpPr>
        <p:spPr>
          <a:xfrm>
            <a:off x="838199" y="365125"/>
            <a:ext cx="11032375" cy="1325563"/>
          </a:xfrm>
        </p:spPr>
        <p:txBody>
          <a:bodyPr>
            <a:normAutofit/>
          </a:bodyPr>
          <a:lstStyle/>
          <a:p>
            <a:r>
              <a:rPr lang="en-IN" sz="4000" dirty="0"/>
              <a:t>PV inverter with DC- DC converter and no isolation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B673E7-D2BF-DF8B-5313-2C3A76D51369}"/>
                  </a:ext>
                </a:extLst>
              </p:cNvPr>
              <p:cNvSpPr>
                <a:spLocks noGrp="1"/>
              </p:cNvSpPr>
              <p:nvPr>
                <p:ph idx="1"/>
              </p:nvPr>
            </p:nvSpPr>
            <p:spPr>
              <a:xfrm>
                <a:off x="838200" y="1546167"/>
                <a:ext cx="10515600" cy="4771506"/>
              </a:xfrm>
            </p:spPr>
            <p:txBody>
              <a:bodyPr>
                <a:normAutofit lnSpcReduction="10000"/>
              </a:bodyPr>
              <a:lstStyle/>
              <a:p>
                <a:r>
                  <a:rPr lang="en-IN" b="1" dirty="0"/>
                  <a:t>PV array</a:t>
                </a:r>
              </a:p>
              <a:p>
                <a:pPr lvl="1"/>
                <a:r>
                  <a:rPr lang="en-IN" dirty="0"/>
                  <a:t>The PV array generates a variable DC voltage and current depending on irradiance and temperature.</a:t>
                </a:r>
              </a:p>
              <a:p>
                <a:pPr lvl="1"/>
                <a:r>
                  <a:rPr lang="en-IN" dirty="0"/>
                  <a:t>Its operating point is adjusted by the DC–DC converter control (MPPT) so that the array delivers maximum available power.</a:t>
                </a:r>
              </a:p>
              <a:p>
                <a:r>
                  <a:rPr lang="en-IN" b="1" dirty="0"/>
                  <a:t>Non‑isolated DC–DC boost converter</a:t>
                </a:r>
              </a:p>
              <a:p>
                <a:pPr lvl="1"/>
                <a:r>
                  <a:rPr lang="en-IN" dirty="0"/>
                  <a:t>The inductor–switch–diode–capacitor network forms a boost converter that steps the PV voltage up to a higher DC link voltage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m:rPr>
                            <m:nor/>
                          </m:rPr>
                          <a:rPr lang="en-IN" i="1"/>
                          <m:t>DCbus</m:t>
                        </m:r>
                      </m:sub>
                    </m:sSub>
                  </m:oMath>
                </a14:m>
                <a:r>
                  <a:rPr lang="ar-AE" dirty="0"/>
                  <a:t> </a:t>
                </a:r>
                <a:r>
                  <a:rPr lang="en-IN" dirty="0"/>
                  <a:t>suitable for feeding the inverter and meeting grid requirements.</a:t>
                </a:r>
              </a:p>
              <a:p>
                <a:pPr lvl="1"/>
                <a:r>
                  <a:rPr lang="en-IN" dirty="0"/>
                  <a:t>By changing the duty cycle of the switch, this stage performs MPPT and keeps the DC link voltage nearly constant even when PV voltage fluctuates; there is no galvanic isolation because the converter uses only inductors and capacitors, not a transformer.</a:t>
                </a:r>
              </a:p>
              <a:p>
                <a:endParaRPr lang="en-IN" dirty="0"/>
              </a:p>
            </p:txBody>
          </p:sp>
        </mc:Choice>
        <mc:Fallback xmlns="">
          <p:sp>
            <p:nvSpPr>
              <p:cNvPr id="3" name="Content Placeholder 2">
                <a:extLst>
                  <a:ext uri="{FF2B5EF4-FFF2-40B4-BE49-F238E27FC236}">
                    <a16:creationId xmlns:a16="http://schemas.microsoft.com/office/drawing/2014/main" id="{6FB673E7-D2BF-DF8B-5313-2C3A76D51369}"/>
                  </a:ext>
                </a:extLst>
              </p:cNvPr>
              <p:cNvSpPr>
                <a:spLocks noGrp="1" noRot="1" noChangeAspect="1" noMove="1" noResize="1" noEditPoints="1" noAdjustHandles="1" noChangeArrowheads="1" noChangeShapeType="1" noTextEdit="1"/>
              </p:cNvSpPr>
              <p:nvPr>
                <p:ph idx="1"/>
              </p:nvPr>
            </p:nvSpPr>
            <p:spPr>
              <a:xfrm>
                <a:off x="838200" y="1546167"/>
                <a:ext cx="10515600" cy="4771506"/>
              </a:xfrm>
              <a:blipFill>
                <a:blip r:embed="rId2"/>
                <a:stretch>
                  <a:fillRect l="-1043" t="-2941" r="-754"/>
                </a:stretch>
              </a:blipFill>
            </p:spPr>
            <p:txBody>
              <a:bodyPr/>
              <a:lstStyle/>
              <a:p>
                <a:r>
                  <a:rPr lang="en-IN">
                    <a:noFill/>
                  </a:rPr>
                  <a:t> </a:t>
                </a:r>
              </a:p>
            </p:txBody>
          </p:sp>
        </mc:Fallback>
      </mc:AlternateContent>
    </p:spTree>
    <p:extLst>
      <p:ext uri="{BB962C8B-B14F-4D97-AF65-F5344CB8AC3E}">
        <p14:creationId xmlns:p14="http://schemas.microsoft.com/office/powerpoint/2010/main" val="926418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73A0E-15D7-6577-CBA2-53D527181C73}"/>
              </a:ext>
            </a:extLst>
          </p:cNvPr>
          <p:cNvSpPr>
            <a:spLocks noGrp="1"/>
          </p:cNvSpPr>
          <p:nvPr>
            <p:ph type="title"/>
          </p:nvPr>
        </p:nvSpPr>
        <p:spPr/>
        <p:txBody>
          <a:bodyPr/>
          <a:lstStyle/>
          <a:p>
            <a:r>
              <a:rPr lang="en-IN" dirty="0"/>
              <a:t>PV inverter with DC- DC converter and no isolation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A6A0BA-568A-A06A-8B51-F1E23E3177EF}"/>
                  </a:ext>
                </a:extLst>
              </p:cNvPr>
              <p:cNvSpPr>
                <a:spLocks noGrp="1"/>
              </p:cNvSpPr>
              <p:nvPr>
                <p:ph idx="1"/>
              </p:nvPr>
            </p:nvSpPr>
            <p:spPr/>
            <p:txBody>
              <a:bodyPr>
                <a:normAutofit lnSpcReduction="10000"/>
              </a:bodyPr>
              <a:lstStyle/>
              <a:p>
                <a:r>
                  <a:rPr lang="en-IN" b="1" dirty="0"/>
                  <a:t>DC link capacitor</a:t>
                </a:r>
              </a:p>
              <a:p>
                <a:pPr lvl="1"/>
                <a:r>
                  <a:rPr lang="en-IN" dirty="0"/>
                  <a:t>The capacitor across the DC bus smooths the pulsating output of the boost converter and provides an energy buffer between the PV side and the inverter.</a:t>
                </a:r>
              </a:p>
              <a:p>
                <a:pPr lvl="1"/>
                <a:r>
                  <a:rPr lang="en-IN" dirty="0"/>
                  <a:t>It reduces voltage ripple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m:rPr>
                            <m:nor/>
                          </m:rPr>
                          <a:rPr lang="en-IN" i="1"/>
                          <m:t>DCbus</m:t>
                        </m:r>
                      </m:sub>
                    </m:sSub>
                  </m:oMath>
                </a14:m>
                <a:r>
                  <a:rPr lang="ar-AE" dirty="0"/>
                  <a:t>, </a:t>
                </a:r>
                <a:r>
                  <a:rPr lang="en-IN" dirty="0"/>
                  <a:t>allowing the grid‑side inverter to draw a controlled current with low distortion.</a:t>
                </a:r>
              </a:p>
              <a:p>
                <a:r>
                  <a:rPr lang="en-IN" b="1" dirty="0"/>
                  <a:t>Full‑bridge voltage source inverter (VSI)</a:t>
                </a:r>
              </a:p>
              <a:p>
                <a:pPr lvl="1"/>
                <a:r>
                  <a:rPr lang="en-IN" dirty="0"/>
                  <a:t>The four switches in an H‑bridge convert the DC‑link voltage into a high‑frequency PWM AC waveform synchronized with the grid.</a:t>
                </a:r>
              </a:p>
              <a:p>
                <a:pPr lvl="1"/>
                <a:r>
                  <a:rPr lang="en-IN" dirty="0"/>
                  <a:t>Control of switching generates a sinusoidal current (after filtering) with desired magnitude and phase so that active/reactive power delivered to the grid can be regulated.</a:t>
                </a:r>
              </a:p>
              <a:p>
                <a:endParaRPr lang="en-IN" dirty="0"/>
              </a:p>
            </p:txBody>
          </p:sp>
        </mc:Choice>
        <mc:Fallback xmlns="">
          <p:sp>
            <p:nvSpPr>
              <p:cNvPr id="3" name="Content Placeholder 2">
                <a:extLst>
                  <a:ext uri="{FF2B5EF4-FFF2-40B4-BE49-F238E27FC236}">
                    <a16:creationId xmlns:a16="http://schemas.microsoft.com/office/drawing/2014/main" id="{2AA6A0BA-568A-A06A-8B51-F1E23E3177EF}"/>
                  </a:ext>
                </a:extLst>
              </p:cNvPr>
              <p:cNvSpPr>
                <a:spLocks noGrp="1" noRot="1" noChangeAspect="1" noMove="1" noResize="1" noEditPoints="1" noAdjustHandles="1" noChangeArrowheads="1" noChangeShapeType="1" noTextEdit="1"/>
              </p:cNvSpPr>
              <p:nvPr>
                <p:ph idx="1"/>
              </p:nvPr>
            </p:nvSpPr>
            <p:spPr>
              <a:blipFill>
                <a:blip r:embed="rId2"/>
                <a:stretch>
                  <a:fillRect l="-1043" t="-3081"/>
                </a:stretch>
              </a:blipFill>
            </p:spPr>
            <p:txBody>
              <a:bodyPr/>
              <a:lstStyle/>
              <a:p>
                <a:r>
                  <a:rPr lang="en-IN">
                    <a:noFill/>
                  </a:rPr>
                  <a:t> </a:t>
                </a:r>
              </a:p>
            </p:txBody>
          </p:sp>
        </mc:Fallback>
      </mc:AlternateContent>
    </p:spTree>
    <p:extLst>
      <p:ext uri="{BB962C8B-B14F-4D97-AF65-F5344CB8AC3E}">
        <p14:creationId xmlns:p14="http://schemas.microsoft.com/office/powerpoint/2010/main" val="54234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8CD5F-7C40-BA58-A0AB-54F30187D8AF}"/>
              </a:ext>
            </a:extLst>
          </p:cNvPr>
          <p:cNvSpPr>
            <a:spLocks noGrp="1"/>
          </p:cNvSpPr>
          <p:nvPr>
            <p:ph type="title"/>
          </p:nvPr>
        </p:nvSpPr>
        <p:spPr/>
        <p:txBody>
          <a:bodyPr/>
          <a:lstStyle/>
          <a:p>
            <a:r>
              <a:rPr lang="en-IN"/>
              <a:t>PV inverter with DC- DC converter and no isolation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408561-648A-E25F-6397-7ED5A43E8129}"/>
                  </a:ext>
                </a:extLst>
              </p:cNvPr>
              <p:cNvSpPr>
                <a:spLocks noGrp="1"/>
              </p:cNvSpPr>
              <p:nvPr>
                <p:ph idx="1"/>
              </p:nvPr>
            </p:nvSpPr>
            <p:spPr/>
            <p:txBody>
              <a:bodyPr/>
              <a:lstStyle/>
              <a:p>
                <a:r>
                  <a:rPr lang="en-IN" b="1" dirty="0"/>
                  <a:t>Output filter and grid connection</a:t>
                </a:r>
              </a:p>
              <a:p>
                <a:pPr lvl="1"/>
                <a:r>
                  <a:rPr lang="en-IN" dirty="0"/>
                  <a:t>The L or LCL filter removes high‑frequency switching harmonics from the inverter output, so the current injected into the grid meets THD and power‑quality limits.</a:t>
                </a:r>
              </a:p>
              <a:p>
                <a:pPr lvl="1"/>
                <a:r>
                  <a:rPr lang="en-IN" dirty="0"/>
                  <a:t>The final block connects to the grid voltage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m:rPr>
                            <m:nor/>
                          </m:rPr>
                          <a:rPr lang="en-IN" i="1"/>
                          <m:t>grid</m:t>
                        </m:r>
                      </m:sub>
                    </m:sSub>
                  </m:oMath>
                </a14:m>
                <a:r>
                  <a:rPr lang="ar-AE" dirty="0"/>
                  <a:t> </a:t>
                </a:r>
                <a:r>
                  <a:rPr lang="en-IN" dirty="0"/>
                  <a:t>and includes measurement and protection (synchronization, anti‑islanding, over/under‑voltage, etc.) while the overall system remains compact and efficient because it omits any isolation transformer.</a:t>
                </a:r>
              </a:p>
              <a:p>
                <a:endParaRPr lang="en-IN" dirty="0"/>
              </a:p>
            </p:txBody>
          </p:sp>
        </mc:Choice>
        <mc:Fallback xmlns="">
          <p:sp>
            <p:nvSpPr>
              <p:cNvPr id="3" name="Content Placeholder 2">
                <a:extLst>
                  <a:ext uri="{FF2B5EF4-FFF2-40B4-BE49-F238E27FC236}">
                    <a16:creationId xmlns:a16="http://schemas.microsoft.com/office/drawing/2014/main" id="{A1408561-648A-E25F-6397-7ED5A43E812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315698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BD743-C445-C815-B0FA-C3D95ED6DFDD}"/>
              </a:ext>
            </a:extLst>
          </p:cNvPr>
          <p:cNvSpPr>
            <a:spLocks noGrp="1"/>
          </p:cNvSpPr>
          <p:nvPr>
            <p:ph type="title"/>
          </p:nvPr>
        </p:nvSpPr>
        <p:spPr/>
        <p:txBody>
          <a:bodyPr/>
          <a:lstStyle/>
          <a:p>
            <a:r>
              <a:rPr lang="en-IN" dirty="0"/>
              <a:t>PV inverter without DC - DC converter and with isolation</a:t>
            </a:r>
          </a:p>
        </p:txBody>
      </p:sp>
      <p:pic>
        <p:nvPicPr>
          <p:cNvPr id="5" name="Content Placeholder 4">
            <a:extLst>
              <a:ext uri="{FF2B5EF4-FFF2-40B4-BE49-F238E27FC236}">
                <a16:creationId xmlns:a16="http://schemas.microsoft.com/office/drawing/2014/main" id="{4E4EB051-9514-4A1D-8B2C-95B2168454D1}"/>
              </a:ext>
            </a:extLst>
          </p:cNvPr>
          <p:cNvPicPr>
            <a:picLocks noGrp="1" noChangeAspect="1"/>
          </p:cNvPicPr>
          <p:nvPr>
            <p:ph idx="1"/>
          </p:nvPr>
        </p:nvPicPr>
        <p:blipFill>
          <a:blip r:embed="rId2"/>
          <a:stretch>
            <a:fillRect/>
          </a:stretch>
        </p:blipFill>
        <p:spPr>
          <a:xfrm>
            <a:off x="1605091" y="1495294"/>
            <a:ext cx="8324101" cy="4997581"/>
          </a:xfrm>
        </p:spPr>
      </p:pic>
      <p:sp>
        <p:nvSpPr>
          <p:cNvPr id="7" name="TextBox 6">
            <a:extLst>
              <a:ext uri="{FF2B5EF4-FFF2-40B4-BE49-F238E27FC236}">
                <a16:creationId xmlns:a16="http://schemas.microsoft.com/office/drawing/2014/main" id="{6B4996F2-96EA-E6C8-70FB-F56F63E4524C}"/>
              </a:ext>
            </a:extLst>
          </p:cNvPr>
          <p:cNvSpPr txBox="1"/>
          <p:nvPr/>
        </p:nvSpPr>
        <p:spPr>
          <a:xfrm>
            <a:off x="4390611" y="6308209"/>
            <a:ext cx="6097656" cy="369332"/>
          </a:xfrm>
          <a:prstGeom prst="rect">
            <a:avLst/>
          </a:prstGeom>
          <a:noFill/>
        </p:spPr>
        <p:txBody>
          <a:bodyPr wrap="square">
            <a:spAutoFit/>
          </a:bodyPr>
          <a:lstStyle/>
          <a:p>
            <a:r>
              <a:rPr lang="en-US" dirty="0"/>
              <a:t>A typical transformer-less topology using PWM IGBT inverters</a:t>
            </a:r>
            <a:endParaRPr lang="en-IN" dirty="0"/>
          </a:p>
        </p:txBody>
      </p:sp>
    </p:spTree>
    <p:extLst>
      <p:ext uri="{BB962C8B-B14F-4D97-AF65-F5344CB8AC3E}">
        <p14:creationId xmlns:p14="http://schemas.microsoft.com/office/powerpoint/2010/main" val="896681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07A87-EA16-0A84-389E-6234531FCB41}"/>
              </a:ext>
            </a:extLst>
          </p:cNvPr>
          <p:cNvSpPr>
            <a:spLocks noGrp="1"/>
          </p:cNvSpPr>
          <p:nvPr>
            <p:ph type="title"/>
          </p:nvPr>
        </p:nvSpPr>
        <p:spPr/>
        <p:txBody>
          <a:bodyPr/>
          <a:lstStyle/>
          <a:p>
            <a:r>
              <a:rPr lang="en-IN" dirty="0"/>
              <a:t>PV inverter without DC - DC converter and with isolation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DAC93B-382E-2D32-B3B6-B8C096E3F6CA}"/>
                  </a:ext>
                </a:extLst>
              </p:cNvPr>
              <p:cNvSpPr>
                <a:spLocks noGrp="1"/>
              </p:cNvSpPr>
              <p:nvPr>
                <p:ph idx="1"/>
              </p:nvPr>
            </p:nvSpPr>
            <p:spPr>
              <a:xfrm>
                <a:off x="838200" y="1825625"/>
                <a:ext cx="10959548" cy="4773958"/>
              </a:xfrm>
            </p:spPr>
            <p:txBody>
              <a:bodyPr>
                <a:normAutofit/>
              </a:bodyPr>
              <a:lstStyle/>
              <a:p>
                <a:r>
                  <a:rPr lang="en-US" dirty="0"/>
                  <a:t>This topology can be used when a large number of PV panels are available connected in series producing in excess of the grid voltage peak at all times.</a:t>
                </a:r>
              </a:p>
              <a:p>
                <a:r>
                  <a:rPr lang="en-US" dirty="0"/>
                  <a:t>In this topology the PV array feeds a single DC–AC stage, and galvanic isolation is provided by a line‑frequency transformer at the output.</a:t>
                </a:r>
              </a:p>
              <a:p>
                <a:r>
                  <a:rPr lang="en-US" b="1" dirty="0"/>
                  <a:t>PV array and DC link capacitor</a:t>
                </a:r>
              </a:p>
              <a:p>
                <a:pPr lvl="1"/>
                <a:r>
                  <a:rPr lang="en-US" dirty="0"/>
                  <a:t>The PV array delivers a variable DC voltage and current directly to the inverter input; there is no DC–DC converter, so the inverter must work over the PV voltage range.</a:t>
                </a:r>
              </a:p>
              <a:p>
                <a:pPr lvl="1"/>
                <a:r>
                  <a:rPr lang="en-US" dirty="0"/>
                  <a:t>The capacitor </a:t>
                </a:r>
                <a14:m>
                  <m:oMath xmlns:m="http://schemas.openxmlformats.org/officeDocument/2006/math">
                    <m:r>
                      <a:rPr lang="en-US" i="1">
                        <a:latin typeface="Cambria Math" panose="02040503050406030204" pitchFamily="18" charset="0"/>
                      </a:rPr>
                      <m:t>𝐶</m:t>
                    </m:r>
                  </m:oMath>
                </a14:m>
                <a:r>
                  <a:rPr lang="en-US" dirty="0"/>
                  <a:t> across the array smooths the DC voltage, supplies instantaneous power during switching transitions, and helps keep the dc bus sufficiently stiff for proper inverter operation. </a:t>
                </a:r>
              </a:p>
            </p:txBody>
          </p:sp>
        </mc:Choice>
        <mc:Fallback xmlns="">
          <p:sp>
            <p:nvSpPr>
              <p:cNvPr id="3" name="Content Placeholder 2">
                <a:extLst>
                  <a:ext uri="{FF2B5EF4-FFF2-40B4-BE49-F238E27FC236}">
                    <a16:creationId xmlns:a16="http://schemas.microsoft.com/office/drawing/2014/main" id="{8FDAC93B-382E-2D32-B3B6-B8C096E3F6CA}"/>
                  </a:ext>
                </a:extLst>
              </p:cNvPr>
              <p:cNvSpPr>
                <a:spLocks noGrp="1" noRot="1" noChangeAspect="1" noMove="1" noResize="1" noEditPoints="1" noAdjustHandles="1" noChangeArrowheads="1" noChangeShapeType="1" noTextEdit="1"/>
              </p:cNvSpPr>
              <p:nvPr>
                <p:ph idx="1"/>
              </p:nvPr>
            </p:nvSpPr>
            <p:spPr>
              <a:xfrm>
                <a:off x="838200" y="1825625"/>
                <a:ext cx="10959548" cy="4773958"/>
              </a:xfrm>
              <a:blipFill>
                <a:blip r:embed="rId2"/>
                <a:stretch>
                  <a:fillRect l="-1002" t="-2041" r="-1503" b="-2296"/>
                </a:stretch>
              </a:blipFill>
            </p:spPr>
            <p:txBody>
              <a:bodyPr/>
              <a:lstStyle/>
              <a:p>
                <a:r>
                  <a:rPr lang="en-IN">
                    <a:noFill/>
                  </a:rPr>
                  <a:t> </a:t>
                </a:r>
              </a:p>
            </p:txBody>
          </p:sp>
        </mc:Fallback>
      </mc:AlternateContent>
    </p:spTree>
    <p:extLst>
      <p:ext uri="{BB962C8B-B14F-4D97-AF65-F5344CB8AC3E}">
        <p14:creationId xmlns:p14="http://schemas.microsoft.com/office/powerpoint/2010/main" val="37075365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3F158-4122-E828-F5AF-0C1D48AE29C9}"/>
              </a:ext>
            </a:extLst>
          </p:cNvPr>
          <p:cNvSpPr>
            <a:spLocks noGrp="1"/>
          </p:cNvSpPr>
          <p:nvPr>
            <p:ph type="title"/>
          </p:nvPr>
        </p:nvSpPr>
        <p:spPr/>
        <p:txBody>
          <a:bodyPr/>
          <a:lstStyle/>
          <a:p>
            <a:r>
              <a:rPr lang="en-IN" dirty="0"/>
              <a:t>PV inverter without DC - DC converter and with isolation</a:t>
            </a:r>
          </a:p>
        </p:txBody>
      </p:sp>
      <p:sp>
        <p:nvSpPr>
          <p:cNvPr id="3" name="Content Placeholder 2">
            <a:extLst>
              <a:ext uri="{FF2B5EF4-FFF2-40B4-BE49-F238E27FC236}">
                <a16:creationId xmlns:a16="http://schemas.microsoft.com/office/drawing/2014/main" id="{AC6DBF33-90C2-9D71-FA67-AE0247A35ED0}"/>
              </a:ext>
            </a:extLst>
          </p:cNvPr>
          <p:cNvSpPr>
            <a:spLocks noGrp="1"/>
          </p:cNvSpPr>
          <p:nvPr>
            <p:ph idx="1"/>
          </p:nvPr>
        </p:nvSpPr>
        <p:spPr>
          <a:xfrm>
            <a:off x="838200" y="1825624"/>
            <a:ext cx="10515600" cy="4754079"/>
          </a:xfrm>
        </p:spPr>
        <p:txBody>
          <a:bodyPr>
            <a:normAutofit lnSpcReduction="10000"/>
          </a:bodyPr>
          <a:lstStyle/>
          <a:p>
            <a:r>
              <a:rPr lang="en-IN" b="1" dirty="0"/>
              <a:t>Full‑bridge voltage source inverter</a:t>
            </a:r>
          </a:p>
          <a:p>
            <a:pPr lvl="1"/>
            <a:r>
              <a:rPr lang="en-IN" dirty="0"/>
              <a:t>The four switches form a single‑phase full‑bridge that converts the DC from the PV array into a high‑frequency PWM bipolar (or unipolar) AC waveform.</a:t>
            </a:r>
          </a:p>
          <a:p>
            <a:pPr lvl="1"/>
            <a:r>
              <a:rPr lang="en-IN" dirty="0"/>
              <a:t>By modulating these switches, the control system shapes the fundamental component of the bridge output so that, after filtering and transformation, it matches grid frequency and supports synchronization and power‑factor control.</a:t>
            </a:r>
          </a:p>
          <a:p>
            <a:r>
              <a:rPr lang="en-IN" b="1" dirty="0"/>
              <a:t>AC filter</a:t>
            </a:r>
          </a:p>
          <a:p>
            <a:pPr lvl="1"/>
            <a:r>
              <a:rPr lang="en-IN" dirty="0"/>
              <a:t>The filter (typically L or LCL) is placed between the inverter and transformer to attenuate the high‑frequency switching harmonics present in the bridge output.</a:t>
            </a:r>
          </a:p>
          <a:p>
            <a:pPr lvl="1"/>
            <a:r>
              <a:rPr lang="en-IN" dirty="0"/>
              <a:t>It ensures that mainly the 50/60 Hz fundamental reaches the transformer, so the current seen by the grid has low THD and meets power‑quality limits.</a:t>
            </a:r>
          </a:p>
        </p:txBody>
      </p:sp>
    </p:spTree>
    <p:extLst>
      <p:ext uri="{BB962C8B-B14F-4D97-AF65-F5344CB8AC3E}">
        <p14:creationId xmlns:p14="http://schemas.microsoft.com/office/powerpoint/2010/main" val="1279902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3F158-4122-E828-F5AF-0C1D48AE29C9}"/>
              </a:ext>
            </a:extLst>
          </p:cNvPr>
          <p:cNvSpPr>
            <a:spLocks noGrp="1"/>
          </p:cNvSpPr>
          <p:nvPr>
            <p:ph type="title"/>
          </p:nvPr>
        </p:nvSpPr>
        <p:spPr/>
        <p:txBody>
          <a:bodyPr/>
          <a:lstStyle/>
          <a:p>
            <a:r>
              <a:rPr lang="en-IN" dirty="0"/>
              <a:t>PV inverter without DC - DC converter and with isolation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C6DBF33-90C2-9D71-FA67-AE0247A35ED0}"/>
                  </a:ext>
                </a:extLst>
              </p:cNvPr>
              <p:cNvSpPr>
                <a:spLocks noGrp="1"/>
              </p:cNvSpPr>
              <p:nvPr>
                <p:ph idx="1"/>
              </p:nvPr>
            </p:nvSpPr>
            <p:spPr/>
            <p:txBody>
              <a:bodyPr>
                <a:normAutofit/>
              </a:bodyPr>
              <a:lstStyle/>
              <a:p>
                <a:r>
                  <a:rPr lang="en-IN" b="1" dirty="0"/>
                  <a:t>Line‑frequency isolation transformer and grid connection</a:t>
                </a:r>
              </a:p>
              <a:p>
                <a:pPr lvl="1"/>
                <a:r>
                  <a:rPr lang="en-IN" dirty="0"/>
                  <a:t>The line‑frequency transformer operates at 50/60 Hz, providing galvanic isolation between the PV/inverter side and the utility grid and blocking any DC component.</a:t>
                </a:r>
              </a:p>
              <a:p>
                <a:pPr lvl="1"/>
                <a:r>
                  <a:rPr lang="en-IN" dirty="0"/>
                  <a:t>It also steps the voltage up or down so the filtered inverter output matches the required grid voltage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𝑉</m:t>
                        </m:r>
                      </m:e>
                      <m:sub>
                        <m:r>
                          <m:rPr>
                            <m:nor/>
                          </m:rPr>
                          <a:rPr lang="en-IN" i="1"/>
                          <m:t>grid</m:t>
                        </m:r>
                      </m:sub>
                    </m:sSub>
                  </m:oMath>
                </a14:m>
                <a:r>
                  <a:rPr lang="ar-AE" dirty="0"/>
                  <a:t>, </a:t>
                </a:r>
                <a:r>
                  <a:rPr lang="en-IN" dirty="0"/>
                  <a:t>enabling safe, code‑compliant interconnection while the overall system remains structurally simple (single conversion stage on the DC side).</a:t>
                </a:r>
              </a:p>
            </p:txBody>
          </p:sp>
        </mc:Choice>
        <mc:Fallback xmlns="">
          <p:sp>
            <p:nvSpPr>
              <p:cNvPr id="3" name="Content Placeholder 2">
                <a:extLst>
                  <a:ext uri="{FF2B5EF4-FFF2-40B4-BE49-F238E27FC236}">
                    <a16:creationId xmlns:a16="http://schemas.microsoft.com/office/drawing/2014/main" id="{AC6DBF33-90C2-9D71-FA67-AE0247A35ED0}"/>
                  </a:ext>
                </a:extLst>
              </p:cNvPr>
              <p:cNvSpPr>
                <a:spLocks noGrp="1" noRot="1" noChangeAspect="1" noMove="1" noResize="1" noEditPoints="1" noAdjustHandles="1" noChangeArrowheads="1" noChangeShapeType="1" noTextEdit="1"/>
              </p:cNvSpPr>
              <p:nvPr>
                <p:ph idx="1"/>
              </p:nvPr>
            </p:nvSpPr>
            <p:spPr>
              <a:blipFill>
                <a:blip r:embed="rId2"/>
                <a:stretch>
                  <a:fillRect l="-1043" t="-2241" r="-870"/>
                </a:stretch>
              </a:blipFill>
            </p:spPr>
            <p:txBody>
              <a:bodyPr/>
              <a:lstStyle/>
              <a:p>
                <a:r>
                  <a:rPr lang="en-IN">
                    <a:noFill/>
                  </a:rPr>
                  <a:t> </a:t>
                </a:r>
              </a:p>
            </p:txBody>
          </p:sp>
        </mc:Fallback>
      </mc:AlternateContent>
    </p:spTree>
    <p:extLst>
      <p:ext uri="{BB962C8B-B14F-4D97-AF65-F5344CB8AC3E}">
        <p14:creationId xmlns:p14="http://schemas.microsoft.com/office/powerpoint/2010/main" val="2218725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8501A-B077-F7B5-C795-CA4E39E8AF80}"/>
              </a:ext>
            </a:extLst>
          </p:cNvPr>
          <p:cNvSpPr>
            <a:spLocks noGrp="1"/>
          </p:cNvSpPr>
          <p:nvPr>
            <p:ph type="title"/>
          </p:nvPr>
        </p:nvSpPr>
        <p:spPr/>
        <p:txBody>
          <a:bodyPr/>
          <a:lstStyle/>
          <a:p>
            <a:r>
              <a:rPr lang="en-IN" dirty="0"/>
              <a:t>PV inverter without DC - DC converter and  without isolation</a:t>
            </a:r>
          </a:p>
        </p:txBody>
      </p:sp>
      <p:pic>
        <p:nvPicPr>
          <p:cNvPr id="5" name="Content Placeholder 4">
            <a:extLst>
              <a:ext uri="{FF2B5EF4-FFF2-40B4-BE49-F238E27FC236}">
                <a16:creationId xmlns:a16="http://schemas.microsoft.com/office/drawing/2014/main" id="{3C87C2ED-FB0E-0153-2F92-FF8AC4BAF026}"/>
              </a:ext>
            </a:extLst>
          </p:cNvPr>
          <p:cNvPicPr>
            <a:picLocks noGrp="1" noChangeAspect="1"/>
          </p:cNvPicPr>
          <p:nvPr>
            <p:ph idx="1"/>
          </p:nvPr>
        </p:nvPicPr>
        <p:blipFill>
          <a:blip r:embed="rId2"/>
          <a:stretch>
            <a:fillRect/>
          </a:stretch>
        </p:blipFill>
        <p:spPr>
          <a:xfrm>
            <a:off x="2735479" y="1825625"/>
            <a:ext cx="6721041" cy="4351338"/>
          </a:xfrm>
        </p:spPr>
      </p:pic>
    </p:spTree>
    <p:extLst>
      <p:ext uri="{BB962C8B-B14F-4D97-AF65-F5344CB8AC3E}">
        <p14:creationId xmlns:p14="http://schemas.microsoft.com/office/powerpoint/2010/main" val="617889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84069-FBBD-825E-3F3B-B6936EEB95E3}"/>
              </a:ext>
            </a:extLst>
          </p:cNvPr>
          <p:cNvSpPr>
            <a:spLocks noGrp="1"/>
          </p:cNvSpPr>
          <p:nvPr>
            <p:ph type="title"/>
          </p:nvPr>
        </p:nvSpPr>
        <p:spPr/>
        <p:txBody>
          <a:bodyPr/>
          <a:lstStyle/>
          <a:p>
            <a:r>
              <a:rPr lang="en-IN" dirty="0"/>
              <a:t>PV inverter without DC - DC converter and  without isolation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F994C5-4C20-165F-BD30-81EC9207DD41}"/>
                  </a:ext>
                </a:extLst>
              </p:cNvPr>
              <p:cNvSpPr>
                <a:spLocks noGrp="1"/>
              </p:cNvSpPr>
              <p:nvPr>
                <p:ph idx="1"/>
              </p:nvPr>
            </p:nvSpPr>
            <p:spPr/>
            <p:txBody>
              <a:bodyPr>
                <a:normAutofit/>
              </a:bodyPr>
              <a:lstStyle/>
              <a:p>
                <a:r>
                  <a:rPr lang="en-US" sz="2400" dirty="0"/>
                  <a:t>Transformer‑less, grid‑connected PV inverter where each PV string feeds its own full‑bridge cell and the AC grid is isolated only by the power‑electronic switches and filter inductor, not by any line‑frequency transformer or DC‑DC stage.</a:t>
                </a:r>
              </a:p>
              <a:p>
                <a:r>
                  <a:rPr lang="en-IN" sz="2400" dirty="0"/>
                  <a:t>Two independent PV arrays (PV array 1 and 2) each supply a DC voltage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𝐸</m:t>
                        </m:r>
                      </m:e>
                      <m:sub>
                        <m:r>
                          <a:rPr lang="ar-AE" sz="2400">
                            <a:latin typeface="Cambria Math" panose="02040503050406030204" pitchFamily="18" charset="0"/>
                          </a:rPr>
                          <m:t>1</m:t>
                        </m:r>
                      </m:sub>
                    </m:sSub>
                  </m:oMath>
                </a14:m>
                <a:r>
                  <a:rPr lang="ar-AE" sz="2400" dirty="0"/>
                  <a:t> </a:t>
                </a:r>
                <a:r>
                  <a:rPr lang="en-IN" sz="2400" dirty="0"/>
                  <a:t>and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𝐸</m:t>
                        </m:r>
                      </m:e>
                      <m:sub>
                        <m:r>
                          <a:rPr lang="ar-AE" sz="2400">
                            <a:latin typeface="Cambria Math" panose="02040503050406030204" pitchFamily="18" charset="0"/>
                          </a:rPr>
                          <m:t>2</m:t>
                        </m:r>
                      </m:sub>
                    </m:sSub>
                  </m:oMath>
                </a14:m>
                <a:r>
                  <a:rPr lang="ar-AE" sz="2400" dirty="0"/>
                  <a:t> </a:t>
                </a:r>
                <a:r>
                  <a:rPr lang="en-IN" sz="2400" dirty="0"/>
                  <a:t>that is buffered by capacitors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𝐶</m:t>
                        </m:r>
                      </m:e>
                      <m:sub>
                        <m:r>
                          <a:rPr lang="ar-AE" sz="2400">
                            <a:latin typeface="Cambria Math" panose="02040503050406030204" pitchFamily="18" charset="0"/>
                          </a:rPr>
                          <m:t>1</m:t>
                        </m:r>
                      </m:sub>
                    </m:sSub>
                  </m:oMath>
                </a14:m>
                <a:r>
                  <a:rPr lang="ar-AE" sz="2400" dirty="0"/>
                  <a:t> </a:t>
                </a:r>
                <a:r>
                  <a:rPr lang="en-IN" sz="2400" dirty="0"/>
                  <a:t>and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𝐶</m:t>
                        </m:r>
                      </m:e>
                      <m:sub>
                        <m:r>
                          <a:rPr lang="ar-AE" sz="2400">
                            <a:latin typeface="Cambria Math" panose="02040503050406030204" pitchFamily="18" charset="0"/>
                          </a:rPr>
                          <m:t>2</m:t>
                        </m:r>
                      </m:sub>
                    </m:sSub>
                  </m:oMath>
                </a14:m>
                <a:r>
                  <a:rPr lang="ar-AE" sz="2400" dirty="0"/>
                  <a:t>.​</a:t>
                </a:r>
              </a:p>
              <a:p>
                <a:r>
                  <a:rPr lang="en-IN" sz="2400" dirty="0"/>
                  <a:t>Each array is connected directly to its own single‑phase full‑bridge leg made of four switches </a:t>
                </a:r>
                <a14:m>
                  <m:oMath xmlns:m="http://schemas.openxmlformats.org/officeDocument/2006/math">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a:latin typeface="Cambria Math" panose="02040503050406030204" pitchFamily="18" charset="0"/>
                              </a:rPr>
                              <m:t>1</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𝑏</m:t>
                            </m:r>
                          </m:e>
                          <m:sub>
                            <m:r>
                              <a:rPr lang="ar-AE" sz="2400">
                                <a:latin typeface="Cambria Math" panose="02040503050406030204" pitchFamily="18" charset="0"/>
                              </a:rPr>
                              <m:t>2</m:t>
                            </m:r>
                          </m:sub>
                        </m:sSub>
                      </m:e>
                    </m:d>
                  </m:oMath>
                </a14:m>
                <a:r>
                  <a:rPr lang="ar-AE" sz="2400" dirty="0"/>
                  <a:t> </a:t>
                </a:r>
                <a:r>
                  <a:rPr lang="en-IN" sz="2400" dirty="0"/>
                  <a:t>and </a:t>
                </a:r>
                <a14:m>
                  <m:oMath xmlns:m="http://schemas.openxmlformats.org/officeDocument/2006/math">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𝑐</m:t>
                            </m:r>
                          </m:e>
                          <m:sub>
                            <m:r>
                              <a:rPr lang="ar-AE" sz="2400">
                                <a:latin typeface="Cambria Math" panose="02040503050406030204" pitchFamily="18" charset="0"/>
                              </a:rPr>
                              <m:t>1</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𝑑</m:t>
                            </m:r>
                          </m:e>
                          <m:sub>
                            <m:r>
                              <a:rPr lang="ar-AE" sz="2400">
                                <a:latin typeface="Cambria Math" panose="02040503050406030204" pitchFamily="18" charset="0"/>
                              </a:rPr>
                              <m:t>2</m:t>
                            </m:r>
                          </m:sub>
                        </m:sSub>
                      </m:e>
                    </m:d>
                  </m:oMath>
                </a14:m>
                <a:r>
                  <a:rPr lang="ar-AE" sz="2400" dirty="0"/>
                  <a:t>; </a:t>
                </a:r>
                <a:r>
                  <a:rPr lang="en-IN" sz="2400" dirty="0"/>
                  <a:t>these H‑bridges are then cascaded in series on the AC side, forming a multilevel or cascaded H‑bridge inverter.​</a:t>
                </a:r>
              </a:p>
              <a:p>
                <a:r>
                  <a:rPr lang="en-IN" sz="2400" dirty="0"/>
                  <a:t>The series output of the cascaded inverter produces the inverter voltage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𝑣</m:t>
                        </m:r>
                      </m:e>
                      <m:sub>
                        <m:r>
                          <a:rPr lang="ar-AE" sz="2400" i="1">
                            <a:latin typeface="Cambria Math" panose="02040503050406030204" pitchFamily="18" charset="0"/>
                          </a:rPr>
                          <m:t>𝑖𝑛𝑣</m:t>
                        </m:r>
                      </m:sub>
                    </m:sSub>
                  </m:oMath>
                </a14:m>
                <a:r>
                  <a:rPr lang="ar-AE" sz="2400" dirty="0"/>
                  <a:t>, </a:t>
                </a:r>
                <a:r>
                  <a:rPr lang="en-IN" sz="2400" dirty="0"/>
                  <a:t>which passes through an L‑filter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𝐿</m:t>
                        </m:r>
                      </m:e>
                      <m:sub>
                        <m:r>
                          <a:rPr lang="ar-AE" sz="2400" i="1">
                            <a:latin typeface="Cambria Math" panose="02040503050406030204" pitchFamily="18" charset="0"/>
                          </a:rPr>
                          <m:t>𝑖𝑛𝑣</m:t>
                        </m:r>
                      </m:sub>
                    </m:sSub>
                  </m:oMath>
                </a14:m>
                <a:r>
                  <a:rPr lang="ar-AE" sz="2400" dirty="0"/>
                  <a:t> </a:t>
                </a:r>
                <a:r>
                  <a:rPr lang="en-IN" sz="2400" dirty="0"/>
                  <a:t>to shape the grid current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𝑖</m:t>
                        </m:r>
                      </m:e>
                      <m:sub>
                        <m:r>
                          <a:rPr lang="ar-AE" sz="2400" i="1">
                            <a:latin typeface="Cambria Math" panose="02040503050406030204" pitchFamily="18" charset="0"/>
                          </a:rPr>
                          <m:t>𝑖𝑛𝑣</m:t>
                        </m:r>
                      </m:sub>
                    </m:sSub>
                  </m:oMath>
                </a14:m>
                <a:r>
                  <a:rPr lang="ar-AE" sz="2400" dirty="0"/>
                  <a:t> </a:t>
                </a:r>
                <a:r>
                  <a:rPr lang="en-IN" sz="2400" dirty="0"/>
                  <a:t>before injection into the grid voltage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𝑣</m:t>
                        </m:r>
                      </m:e>
                      <m:sub>
                        <m:r>
                          <a:rPr lang="ar-AE" sz="2400" i="1">
                            <a:latin typeface="Cambria Math" panose="02040503050406030204" pitchFamily="18" charset="0"/>
                          </a:rPr>
                          <m:t>𝑔𝑟𝑖𝑑</m:t>
                        </m:r>
                      </m:sub>
                    </m:sSub>
                  </m:oMath>
                </a14:m>
                <a:endParaRPr lang="ar-AE" sz="2400" dirty="0"/>
              </a:p>
            </p:txBody>
          </p:sp>
        </mc:Choice>
        <mc:Fallback xmlns="">
          <p:sp>
            <p:nvSpPr>
              <p:cNvPr id="3" name="Content Placeholder 2">
                <a:extLst>
                  <a:ext uri="{FF2B5EF4-FFF2-40B4-BE49-F238E27FC236}">
                    <a16:creationId xmlns:a16="http://schemas.microsoft.com/office/drawing/2014/main" id="{4FF994C5-4C20-165F-BD30-81EC9207DD41}"/>
                  </a:ext>
                </a:extLst>
              </p:cNvPr>
              <p:cNvSpPr>
                <a:spLocks noGrp="1" noRot="1" noChangeAspect="1" noMove="1" noResize="1" noEditPoints="1" noAdjustHandles="1" noChangeArrowheads="1" noChangeShapeType="1" noTextEdit="1"/>
              </p:cNvSpPr>
              <p:nvPr>
                <p:ph idx="1"/>
              </p:nvPr>
            </p:nvSpPr>
            <p:spPr>
              <a:blipFill>
                <a:blip r:embed="rId2"/>
                <a:stretch>
                  <a:fillRect l="-812" t="-1961"/>
                </a:stretch>
              </a:blipFill>
            </p:spPr>
            <p:txBody>
              <a:bodyPr/>
              <a:lstStyle/>
              <a:p>
                <a:r>
                  <a:rPr lang="en-IN">
                    <a:noFill/>
                  </a:rPr>
                  <a:t> </a:t>
                </a:r>
              </a:p>
            </p:txBody>
          </p:sp>
        </mc:Fallback>
      </mc:AlternateContent>
    </p:spTree>
    <p:extLst>
      <p:ext uri="{BB962C8B-B14F-4D97-AF65-F5344CB8AC3E}">
        <p14:creationId xmlns:p14="http://schemas.microsoft.com/office/powerpoint/2010/main" val="12690868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78AB-DF40-9E05-543F-238C3D15C959}"/>
              </a:ext>
            </a:extLst>
          </p:cNvPr>
          <p:cNvSpPr>
            <a:spLocks noGrp="1"/>
          </p:cNvSpPr>
          <p:nvPr>
            <p:ph type="title"/>
          </p:nvPr>
        </p:nvSpPr>
        <p:spPr/>
        <p:txBody>
          <a:bodyPr/>
          <a:lstStyle/>
          <a:p>
            <a:r>
              <a:rPr lang="en-IN" dirty="0"/>
              <a:t>PV inverter without DC - DC converter and  without isolation</a:t>
            </a:r>
          </a:p>
        </p:txBody>
      </p:sp>
      <p:sp>
        <p:nvSpPr>
          <p:cNvPr id="3" name="Content Placeholder 2">
            <a:extLst>
              <a:ext uri="{FF2B5EF4-FFF2-40B4-BE49-F238E27FC236}">
                <a16:creationId xmlns:a16="http://schemas.microsoft.com/office/drawing/2014/main" id="{37F10674-A881-E6EF-EC03-7F91A40BAAA2}"/>
              </a:ext>
            </a:extLst>
          </p:cNvPr>
          <p:cNvSpPr>
            <a:spLocks noGrp="1"/>
          </p:cNvSpPr>
          <p:nvPr>
            <p:ph idx="1"/>
          </p:nvPr>
        </p:nvSpPr>
        <p:spPr>
          <a:xfrm>
            <a:off x="838200" y="1825625"/>
            <a:ext cx="10515600" cy="4667250"/>
          </a:xfrm>
        </p:spPr>
        <p:txBody>
          <a:bodyPr>
            <a:normAutofit fontScale="92500" lnSpcReduction="10000"/>
          </a:bodyPr>
          <a:lstStyle/>
          <a:p>
            <a:r>
              <a:rPr lang="en-US" dirty="0"/>
              <a:t>Operation without DC‑DC converter</a:t>
            </a:r>
          </a:p>
          <a:p>
            <a:pPr lvl="1"/>
            <a:r>
              <a:rPr lang="en-US" sz="2000" dirty="0"/>
              <a:t>There is no intermediate boost or buck DC‑DC stage; instead, each PV array’s DC voltage is used directly by its full‑bridge cell, and appropriate modulation (e.g., sinusoidal PWM) synthesizes the required AC voltage for the grid.​</a:t>
            </a:r>
          </a:p>
          <a:p>
            <a:pPr lvl="1"/>
            <a:r>
              <a:rPr lang="en-US" sz="2000" dirty="0"/>
              <a:t>The cascaded structure allows the effective AC voltage to be the sum of the cell voltages, so the grid‑level amplitude can be met by stacking moderate PV voltages rather than stepping them up with a DC‑DC converter.</a:t>
            </a:r>
          </a:p>
          <a:p>
            <a:r>
              <a:rPr lang="en-US" dirty="0"/>
              <a:t>Transformer‑less but with isolation</a:t>
            </a:r>
          </a:p>
          <a:p>
            <a:pPr lvl="1"/>
            <a:r>
              <a:rPr lang="en-US" sz="2200" dirty="0"/>
              <a:t>“Transformer‑less” here means no bulky line‑frequency isolation transformer between the inverter and the grid, which improves efficiency and reduces size and cost, but eliminates galvanic isolation between PV arrays and grid.​</a:t>
            </a:r>
          </a:p>
          <a:p>
            <a:pPr lvl="1"/>
            <a:r>
              <a:rPr lang="en-US" sz="2200" dirty="0"/>
              <a:t>Electrical isolation for safety and control is still provided at the signal/power‑drive level (for example by isolated gate drivers and control‑signal transformers), and protection functions ensure that fault currents and leakage through the parasitic capacitance of the PV arrays remain within limits despite the absence of a power transformer.</a:t>
            </a:r>
            <a:br>
              <a:rPr lang="en-US" sz="2200" dirty="0"/>
            </a:br>
            <a:endParaRPr lang="en-IN" sz="2200" dirty="0"/>
          </a:p>
        </p:txBody>
      </p:sp>
    </p:spTree>
    <p:extLst>
      <p:ext uri="{BB962C8B-B14F-4D97-AF65-F5344CB8AC3E}">
        <p14:creationId xmlns:p14="http://schemas.microsoft.com/office/powerpoint/2010/main" val="1277057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3CCA8-D21B-FE56-AE37-3DC1B7AEA564}"/>
              </a:ext>
            </a:extLst>
          </p:cNvPr>
          <p:cNvSpPr>
            <a:spLocks noGrp="1"/>
          </p:cNvSpPr>
          <p:nvPr>
            <p:ph type="title"/>
          </p:nvPr>
        </p:nvSpPr>
        <p:spPr/>
        <p:txBody>
          <a:bodyPr/>
          <a:lstStyle/>
          <a:p>
            <a:r>
              <a:rPr lang="en-IN" dirty="0"/>
              <a:t>PV inverter without DC - DC converter and  without isolation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E3DF54-164A-8060-29A6-038B9FEB0258}"/>
                  </a:ext>
                </a:extLst>
              </p:cNvPr>
              <p:cNvSpPr>
                <a:spLocks noGrp="1"/>
              </p:cNvSpPr>
              <p:nvPr>
                <p:ph idx="1"/>
              </p:nvPr>
            </p:nvSpPr>
            <p:spPr>
              <a:xfrm>
                <a:off x="838200" y="1825625"/>
                <a:ext cx="10939670" cy="4351338"/>
              </a:xfrm>
            </p:spPr>
            <p:txBody>
              <a:bodyPr/>
              <a:lstStyle/>
              <a:p>
                <a:r>
                  <a:rPr lang="en-IN" dirty="0"/>
                  <a:t>Multilevel / cascaded </a:t>
                </a:r>
                <a:r>
                  <a:rPr lang="en-IN" dirty="0" err="1"/>
                  <a:t>behavior</a:t>
                </a:r>
                <a:endParaRPr lang="en-IN" dirty="0"/>
              </a:p>
              <a:p>
                <a:pPr lvl="1"/>
                <a:r>
                  <a:rPr lang="en-IN" dirty="0"/>
                  <a:t>By independently controlling the switching states of bridges </a:t>
                </a:r>
                <a14:m>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𝑎</m:t>
                            </m:r>
                          </m:e>
                          <m:sub>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a:latin typeface="Cambria Math" panose="02040503050406030204" pitchFamily="18" charset="0"/>
                              </a:rPr>
                              <m:t>2</m:t>
                            </m:r>
                          </m:sub>
                        </m:sSub>
                      </m:e>
                    </m:d>
                  </m:oMath>
                </a14:m>
                <a:r>
                  <a:rPr lang="ar-AE" dirty="0"/>
                  <a:t> </a:t>
                </a:r>
                <a:r>
                  <a:rPr lang="en-IN" dirty="0"/>
                  <a:t>and </a:t>
                </a:r>
                <a14:m>
                  <m:oMath xmlns:m="http://schemas.openxmlformats.org/officeDocument/2006/math">
                    <m:d>
                      <m:dPr>
                        <m:sep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𝑐</m:t>
                            </m:r>
                          </m:e>
                          <m:sub>
                            <m:r>
                              <a:rPr lang="ar-AE">
                                <a:latin typeface="Cambria Math" panose="02040503050406030204" pitchFamily="18" charset="0"/>
                              </a:rPr>
                              <m:t>1</m:t>
                            </m:r>
                          </m:sub>
                        </m:sSub>
                      </m:e>
                      <m:e>
                        <m:sSub>
                          <m:sSubPr>
                            <m:ctrlPr>
                              <a:rPr lang="ar-AE" i="1">
                                <a:latin typeface="Cambria Math" panose="02040503050406030204" pitchFamily="18" charset="0"/>
                              </a:rPr>
                            </m:ctrlPr>
                          </m:sSubPr>
                          <m:e>
                            <m:r>
                              <a:rPr lang="ar-AE" i="1">
                                <a:latin typeface="Cambria Math" panose="02040503050406030204" pitchFamily="18" charset="0"/>
                              </a:rPr>
                              <m:t>𝑑</m:t>
                            </m:r>
                          </m:e>
                          <m:sub>
                            <m:r>
                              <a:rPr lang="ar-AE">
                                <a:latin typeface="Cambria Math" panose="02040503050406030204" pitchFamily="18" charset="0"/>
                              </a:rPr>
                              <m:t>2</m:t>
                            </m:r>
                          </m:sub>
                        </m:sSub>
                      </m:e>
                    </m:d>
                  </m:oMath>
                </a14:m>
                <a:r>
                  <a:rPr lang="ar-AE" dirty="0"/>
                  <a:t>,</a:t>
                </a:r>
                <a:r>
                  <a:rPr lang="en-US" dirty="0"/>
                  <a:t> </a:t>
                </a:r>
                <a:r>
                  <a:rPr lang="en-IN" dirty="0"/>
                  <a:t>the inverter can generate multiple discrete output levels such as </a:t>
                </a:r>
                <a14:m>
                  <m:oMath xmlns:m="http://schemas.openxmlformats.org/officeDocument/2006/math">
                    <m:r>
                      <a:rPr lang="en-IN">
                        <a:latin typeface="Cambria Math" panose="02040503050406030204" pitchFamily="18" charset="0"/>
                      </a:rPr>
                      <m:t>−</m:t>
                    </m:r>
                    <m:sSub>
                      <m:sSubPr>
                        <m:ctrlPr>
                          <a:rPr lang="ar-AE" i="1">
                            <a:latin typeface="Cambria Math" panose="02040503050406030204" pitchFamily="18" charset="0"/>
                          </a:rPr>
                        </m:ctrlPr>
                      </m:sSubPr>
                      <m:e>
                        <m:sSub>
                          <m:sSubPr>
                            <m:ctrlPr>
                              <a:rPr lang="ar-AE" i="1">
                                <a:latin typeface="Cambria Math" panose="02040503050406030204" pitchFamily="18" charset="0"/>
                              </a:rPr>
                            </m:ctrlPr>
                          </m:sSubPr>
                          <m:e>
                            <m:sSub>
                              <m:sSubPr>
                                <m:ctrlPr>
                                  <a:rPr lang="ar-AE" i="1">
                                    <a:latin typeface="Cambria Math" panose="02040503050406030204" pitchFamily="18" charset="0"/>
                                  </a:rPr>
                                </m:ctrlPr>
                              </m:sSubPr>
                              <m:e>
                                <m:r>
                                  <a:rPr lang="en-US" b="0" i="1" smtClean="0">
                                    <a:latin typeface="Cambria Math" panose="02040503050406030204" pitchFamily="18" charset="0"/>
                                  </a:rPr>
                                  <m:t>(</m:t>
                                </m:r>
                                <m:r>
                                  <a:rPr lang="ar-AE" i="1">
                                    <a:latin typeface="Cambria Math" panose="02040503050406030204" pitchFamily="18" charset="0"/>
                                  </a:rPr>
                                  <m:t>𝐸</m:t>
                                </m:r>
                              </m:e>
                              <m:sub>
                                <m:r>
                                  <a:rPr lang="en-US" b="0" i="0" smtClean="0">
                                    <a:latin typeface="Cambria Math" panose="02040503050406030204" pitchFamily="18" charset="0"/>
                                  </a:rPr>
                                  <m:t>1</m:t>
                                </m:r>
                              </m:sub>
                            </m:sSub>
                            <m:r>
                              <a:rPr lang="en-US" b="0" i="1" smtClean="0">
                                <a:latin typeface="Cambria Math" panose="02040503050406030204" pitchFamily="18" charset="0"/>
                              </a:rPr>
                              <m:t>+</m:t>
                            </m:r>
                            <m:r>
                              <a:rPr lang="ar-AE" i="1">
                                <a:latin typeface="Cambria Math" panose="02040503050406030204" pitchFamily="18" charset="0"/>
                              </a:rPr>
                              <m:t>𝐸</m:t>
                            </m:r>
                          </m:e>
                          <m:sub>
                            <m:r>
                              <a:rPr lang="ar-AE">
                                <a:latin typeface="Cambria Math" panose="02040503050406030204" pitchFamily="18" charset="0"/>
                              </a:rPr>
                              <m:t>2</m:t>
                            </m:r>
                          </m:sub>
                        </m:sSub>
                        <m:r>
                          <a:rPr lang="en-US" b="0" i="1" smtClean="0">
                            <a:latin typeface="Cambria Math" panose="02040503050406030204" pitchFamily="18" charset="0"/>
                          </a:rPr>
                          <m:t>), −</m:t>
                        </m:r>
                        <m:r>
                          <a:rPr lang="ar-AE" i="1">
                            <a:latin typeface="Cambria Math" panose="02040503050406030204" pitchFamily="18" charset="0"/>
                          </a:rPr>
                          <m:t>𝐸</m:t>
                        </m:r>
                      </m:e>
                      <m:sub>
                        <m:r>
                          <a:rPr lang="ar-AE">
                            <a:latin typeface="Cambria Math" panose="02040503050406030204" pitchFamily="18" charset="0"/>
                          </a:rPr>
                          <m:t>1</m:t>
                        </m:r>
                        <m:r>
                          <a:rPr lang="en-US" b="0" i="0" smtClean="0">
                            <a:latin typeface="Cambria Math" panose="02040503050406030204" pitchFamily="18" charset="0"/>
                          </a:rPr>
                          <m:t> </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𝐸</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𝐸</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sSub>
                          <m:sSubPr>
                            <m:ctrlPr>
                              <a:rPr lang="ar-AE" i="1">
                                <a:latin typeface="Cambria Math" panose="02040503050406030204" pitchFamily="18" charset="0"/>
                              </a:rPr>
                            </m:ctrlPr>
                          </m:sSubPr>
                          <m:e>
                            <m:r>
                              <a:rPr lang="ar-AE" i="1">
                                <a:latin typeface="Cambria Math" panose="02040503050406030204" pitchFamily="18" charset="0"/>
                              </a:rPr>
                              <m:t>𝐸</m:t>
                            </m:r>
                          </m:e>
                          <m:sub>
                            <m:r>
                              <a:rPr lang="ar-AE">
                                <a:latin typeface="Cambria Math" panose="02040503050406030204" pitchFamily="18" charset="0"/>
                              </a:rPr>
                              <m:t>2</m:t>
                            </m:r>
                          </m:sub>
                        </m:sSub>
                        <m:r>
                          <a:rPr lang="en-US" b="0" i="1" smtClean="0">
                            <a:latin typeface="Cambria Math" panose="02040503050406030204" pitchFamily="18" charset="0"/>
                          </a:rPr>
                          <m:t>, </m:t>
                        </m:r>
                        <m:r>
                          <a:rPr lang="ar-AE" i="1">
                            <a:latin typeface="Cambria Math" panose="02040503050406030204" pitchFamily="18" charset="0"/>
                          </a:rPr>
                          <m:t>𝐸</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𝐸</m:t>
                        </m:r>
                      </m:e>
                      <m:sub>
                        <m:r>
                          <a:rPr lang="ar-AE">
                            <a:latin typeface="Cambria Math" panose="02040503050406030204" pitchFamily="18" charset="0"/>
                          </a:rPr>
                          <m:t>2</m:t>
                        </m:r>
                      </m:sub>
                    </m:sSub>
                  </m:oMath>
                </a14:m>
                <a:r>
                  <a:rPr lang="ar-AE" dirty="0"/>
                  <a:t> </a:t>
                </a:r>
                <a:r>
                  <a:rPr lang="en-IN" dirty="0"/>
                  <a:t>depending on how many cells are contributing at a given instant.​</a:t>
                </a:r>
              </a:p>
              <a:p>
                <a:pPr lvl="1"/>
                <a:r>
                  <a:rPr lang="en-IN" dirty="0"/>
                  <a:t>This multilevel synthesis reduces voltage steps, lowers total harmonic distortion and filter size, and enables each PV string to operate near its own MPP while still forming a synchronized grid current through appropriate modulation and current control loops.</a:t>
                </a:r>
              </a:p>
              <a:p>
                <a:endParaRPr lang="en-IN" dirty="0"/>
              </a:p>
            </p:txBody>
          </p:sp>
        </mc:Choice>
        <mc:Fallback xmlns="">
          <p:sp>
            <p:nvSpPr>
              <p:cNvPr id="3" name="Content Placeholder 2">
                <a:extLst>
                  <a:ext uri="{FF2B5EF4-FFF2-40B4-BE49-F238E27FC236}">
                    <a16:creationId xmlns:a16="http://schemas.microsoft.com/office/drawing/2014/main" id="{A4E3DF54-164A-8060-29A6-038B9FEB0258}"/>
                  </a:ext>
                </a:extLst>
              </p:cNvPr>
              <p:cNvSpPr>
                <a:spLocks noGrp="1" noRot="1" noChangeAspect="1" noMove="1" noResize="1" noEditPoints="1" noAdjustHandles="1" noChangeArrowheads="1" noChangeShapeType="1" noTextEdit="1"/>
              </p:cNvSpPr>
              <p:nvPr>
                <p:ph idx="1"/>
              </p:nvPr>
            </p:nvSpPr>
            <p:spPr>
              <a:xfrm>
                <a:off x="838200" y="1825625"/>
                <a:ext cx="10939670" cy="4351338"/>
              </a:xfrm>
              <a:blipFill>
                <a:blip r:embed="rId2"/>
                <a:stretch>
                  <a:fillRect l="-1003" t="-2241" r="-780"/>
                </a:stretch>
              </a:blipFill>
            </p:spPr>
            <p:txBody>
              <a:bodyPr/>
              <a:lstStyle/>
              <a:p>
                <a:r>
                  <a:rPr lang="en-IN">
                    <a:noFill/>
                  </a:rPr>
                  <a:t> </a:t>
                </a:r>
              </a:p>
            </p:txBody>
          </p:sp>
        </mc:Fallback>
      </mc:AlternateContent>
    </p:spTree>
    <p:extLst>
      <p:ext uri="{BB962C8B-B14F-4D97-AF65-F5344CB8AC3E}">
        <p14:creationId xmlns:p14="http://schemas.microsoft.com/office/powerpoint/2010/main" val="2827676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40E94-F739-986E-2A6C-7AA337B8F742}"/>
              </a:ext>
            </a:extLst>
          </p:cNvPr>
          <p:cNvSpPr>
            <a:spLocks noGrp="1"/>
          </p:cNvSpPr>
          <p:nvPr>
            <p:ph type="title"/>
          </p:nvPr>
        </p:nvSpPr>
        <p:spPr/>
        <p:txBody>
          <a:bodyPr>
            <a:normAutofit/>
          </a:bodyPr>
          <a:lstStyle/>
          <a:p>
            <a:r>
              <a:rPr lang="en-IN" dirty="0"/>
              <a:t>PV INVERTER DC TO DC CONVERTER AND  NO ISOLATION</a:t>
            </a:r>
          </a:p>
        </p:txBody>
      </p:sp>
      <p:pic>
        <p:nvPicPr>
          <p:cNvPr id="6" name="Content Placeholder 5">
            <a:extLst>
              <a:ext uri="{FF2B5EF4-FFF2-40B4-BE49-F238E27FC236}">
                <a16:creationId xmlns:a16="http://schemas.microsoft.com/office/drawing/2014/main" id="{23B60DBA-71E0-8024-19CB-3B58D874BF6A}"/>
              </a:ext>
            </a:extLst>
          </p:cNvPr>
          <p:cNvPicPr>
            <a:picLocks noGrp="1" noChangeAspect="1"/>
          </p:cNvPicPr>
          <p:nvPr>
            <p:ph idx="1"/>
          </p:nvPr>
        </p:nvPicPr>
        <p:blipFill>
          <a:blip r:embed="rId2"/>
          <a:stretch>
            <a:fillRect/>
          </a:stretch>
        </p:blipFill>
        <p:spPr>
          <a:xfrm>
            <a:off x="6148822" y="2910760"/>
            <a:ext cx="4610100" cy="1085850"/>
          </a:xfrm>
        </p:spPr>
      </p:pic>
      <p:pic>
        <p:nvPicPr>
          <p:cNvPr id="8" name="Picture 7">
            <a:extLst>
              <a:ext uri="{FF2B5EF4-FFF2-40B4-BE49-F238E27FC236}">
                <a16:creationId xmlns:a16="http://schemas.microsoft.com/office/drawing/2014/main" id="{71F803AC-65A6-0011-920A-5CB564517BFF}"/>
              </a:ext>
            </a:extLst>
          </p:cNvPr>
          <p:cNvPicPr>
            <a:picLocks noChangeAspect="1"/>
          </p:cNvPicPr>
          <p:nvPr/>
        </p:nvPicPr>
        <p:blipFill>
          <a:blip r:embed="rId3"/>
          <a:stretch>
            <a:fillRect/>
          </a:stretch>
        </p:blipFill>
        <p:spPr>
          <a:xfrm>
            <a:off x="1613029" y="2396410"/>
            <a:ext cx="4476750" cy="1028700"/>
          </a:xfrm>
          <a:prstGeom prst="rect">
            <a:avLst/>
          </a:prstGeom>
        </p:spPr>
      </p:pic>
      <p:pic>
        <p:nvPicPr>
          <p:cNvPr id="10" name="Picture 9">
            <a:extLst>
              <a:ext uri="{FF2B5EF4-FFF2-40B4-BE49-F238E27FC236}">
                <a16:creationId xmlns:a16="http://schemas.microsoft.com/office/drawing/2014/main" id="{A847CC6A-AB0E-A511-DF81-9760E42D9931}"/>
              </a:ext>
            </a:extLst>
          </p:cNvPr>
          <p:cNvPicPr>
            <a:picLocks noChangeAspect="1"/>
          </p:cNvPicPr>
          <p:nvPr/>
        </p:nvPicPr>
        <p:blipFill>
          <a:blip r:embed="rId4"/>
          <a:stretch>
            <a:fillRect/>
          </a:stretch>
        </p:blipFill>
        <p:spPr>
          <a:xfrm>
            <a:off x="1613029" y="3493536"/>
            <a:ext cx="4819650" cy="533400"/>
          </a:xfrm>
          <a:prstGeom prst="rect">
            <a:avLst/>
          </a:prstGeom>
        </p:spPr>
      </p:pic>
      <p:pic>
        <p:nvPicPr>
          <p:cNvPr id="12" name="Picture 11">
            <a:extLst>
              <a:ext uri="{FF2B5EF4-FFF2-40B4-BE49-F238E27FC236}">
                <a16:creationId xmlns:a16="http://schemas.microsoft.com/office/drawing/2014/main" id="{48DFB034-4673-079F-4F42-7482256FC7A1}"/>
              </a:ext>
            </a:extLst>
          </p:cNvPr>
          <p:cNvPicPr>
            <a:picLocks noChangeAspect="1"/>
          </p:cNvPicPr>
          <p:nvPr/>
        </p:nvPicPr>
        <p:blipFill>
          <a:blip r:embed="rId5"/>
          <a:stretch>
            <a:fillRect/>
          </a:stretch>
        </p:blipFill>
        <p:spPr>
          <a:xfrm>
            <a:off x="1484312" y="4480247"/>
            <a:ext cx="4980606" cy="1434780"/>
          </a:xfrm>
          <a:prstGeom prst="rect">
            <a:avLst/>
          </a:prstGeom>
        </p:spPr>
      </p:pic>
      <p:pic>
        <p:nvPicPr>
          <p:cNvPr id="14" name="Picture 13">
            <a:extLst>
              <a:ext uri="{FF2B5EF4-FFF2-40B4-BE49-F238E27FC236}">
                <a16:creationId xmlns:a16="http://schemas.microsoft.com/office/drawing/2014/main" id="{2790F798-6D33-640A-D37C-AE94311E3EB3}"/>
              </a:ext>
            </a:extLst>
          </p:cNvPr>
          <p:cNvPicPr>
            <a:picLocks noChangeAspect="1"/>
          </p:cNvPicPr>
          <p:nvPr/>
        </p:nvPicPr>
        <p:blipFill>
          <a:blip r:embed="rId6"/>
          <a:stretch>
            <a:fillRect/>
          </a:stretch>
        </p:blipFill>
        <p:spPr>
          <a:xfrm>
            <a:off x="6979297" y="3996610"/>
            <a:ext cx="4401616" cy="465211"/>
          </a:xfrm>
          <a:prstGeom prst="rect">
            <a:avLst/>
          </a:prstGeom>
        </p:spPr>
      </p:pic>
      <p:pic>
        <p:nvPicPr>
          <p:cNvPr id="16" name="Picture 15">
            <a:extLst>
              <a:ext uri="{FF2B5EF4-FFF2-40B4-BE49-F238E27FC236}">
                <a16:creationId xmlns:a16="http://schemas.microsoft.com/office/drawing/2014/main" id="{EF0530A3-37A4-5F96-85A2-90D266D2D854}"/>
              </a:ext>
            </a:extLst>
          </p:cNvPr>
          <p:cNvPicPr>
            <a:picLocks noChangeAspect="1"/>
          </p:cNvPicPr>
          <p:nvPr/>
        </p:nvPicPr>
        <p:blipFill>
          <a:blip r:embed="rId7"/>
          <a:stretch>
            <a:fillRect/>
          </a:stretch>
        </p:blipFill>
        <p:spPr>
          <a:xfrm>
            <a:off x="6599464" y="4480247"/>
            <a:ext cx="4708038" cy="1513612"/>
          </a:xfrm>
          <a:prstGeom prst="rect">
            <a:avLst/>
          </a:prstGeom>
        </p:spPr>
      </p:pic>
    </p:spTree>
    <p:extLst>
      <p:ext uri="{BB962C8B-B14F-4D97-AF65-F5344CB8AC3E}">
        <p14:creationId xmlns:p14="http://schemas.microsoft.com/office/powerpoint/2010/main" val="345608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C5CC5-B00C-5ED6-CCA3-D06152199F54}"/>
              </a:ext>
            </a:extLst>
          </p:cNvPr>
          <p:cNvSpPr>
            <a:spLocks noGrp="1"/>
          </p:cNvSpPr>
          <p:nvPr>
            <p:ph type="title"/>
          </p:nvPr>
        </p:nvSpPr>
        <p:spPr>
          <a:xfrm>
            <a:off x="838199" y="365125"/>
            <a:ext cx="10989365" cy="1325563"/>
          </a:xfrm>
        </p:spPr>
        <p:txBody>
          <a:bodyPr/>
          <a:lstStyle/>
          <a:p>
            <a:r>
              <a:rPr lang="en-IN" dirty="0"/>
              <a:t>PV inverters with DC-Dc converter and isolation</a:t>
            </a:r>
          </a:p>
        </p:txBody>
      </p:sp>
      <p:pic>
        <p:nvPicPr>
          <p:cNvPr id="7" name="Picture 6">
            <a:extLst>
              <a:ext uri="{FF2B5EF4-FFF2-40B4-BE49-F238E27FC236}">
                <a16:creationId xmlns:a16="http://schemas.microsoft.com/office/drawing/2014/main" id="{E27A3734-2F4E-E8D8-6124-93F2F07D7D61}"/>
              </a:ext>
            </a:extLst>
          </p:cNvPr>
          <p:cNvPicPr>
            <a:picLocks noChangeAspect="1"/>
          </p:cNvPicPr>
          <p:nvPr/>
        </p:nvPicPr>
        <p:blipFill>
          <a:blip r:embed="rId2"/>
          <a:stretch>
            <a:fillRect/>
          </a:stretch>
        </p:blipFill>
        <p:spPr>
          <a:xfrm>
            <a:off x="838199" y="1520703"/>
            <a:ext cx="9815640" cy="2126942"/>
          </a:xfrm>
          <a:prstGeom prst="rect">
            <a:avLst/>
          </a:prstGeom>
        </p:spPr>
      </p:pic>
      <p:sp>
        <p:nvSpPr>
          <p:cNvPr id="8" name="TextBox 7">
            <a:extLst>
              <a:ext uri="{FF2B5EF4-FFF2-40B4-BE49-F238E27FC236}">
                <a16:creationId xmlns:a16="http://schemas.microsoft.com/office/drawing/2014/main" id="{3D324A81-7EED-1CE3-D72B-50BBB1B09FD9}"/>
              </a:ext>
            </a:extLst>
          </p:cNvPr>
          <p:cNvSpPr txBox="1"/>
          <p:nvPr/>
        </p:nvSpPr>
        <p:spPr>
          <a:xfrm>
            <a:off x="5157973" y="3429000"/>
            <a:ext cx="1176091" cy="461665"/>
          </a:xfrm>
          <a:prstGeom prst="rect">
            <a:avLst/>
          </a:prstGeom>
          <a:noFill/>
        </p:spPr>
        <p:txBody>
          <a:bodyPr wrap="none" rtlCol="0">
            <a:spAutoFit/>
          </a:bodyPr>
          <a:lstStyle/>
          <a:p>
            <a:r>
              <a:rPr lang="en-IN" sz="2400" dirty="0"/>
              <a:t>Figure a</a:t>
            </a:r>
          </a:p>
        </p:txBody>
      </p:sp>
      <p:pic>
        <p:nvPicPr>
          <p:cNvPr id="11" name="Content Placeholder 4">
            <a:extLst>
              <a:ext uri="{FF2B5EF4-FFF2-40B4-BE49-F238E27FC236}">
                <a16:creationId xmlns:a16="http://schemas.microsoft.com/office/drawing/2014/main" id="{D3C59B95-981A-5F7A-202C-9625D3832203}"/>
              </a:ext>
            </a:extLst>
          </p:cNvPr>
          <p:cNvPicPr>
            <a:picLocks noGrp="1" noChangeAspect="1"/>
          </p:cNvPicPr>
          <p:nvPr>
            <p:ph idx="1"/>
          </p:nvPr>
        </p:nvPicPr>
        <p:blipFill>
          <a:blip r:embed="rId3"/>
          <a:stretch>
            <a:fillRect/>
          </a:stretch>
        </p:blipFill>
        <p:spPr>
          <a:xfrm>
            <a:off x="838200" y="4024440"/>
            <a:ext cx="10973980" cy="2216157"/>
          </a:xfrm>
        </p:spPr>
      </p:pic>
      <p:sp>
        <p:nvSpPr>
          <p:cNvPr id="12" name="TextBox 11">
            <a:extLst>
              <a:ext uri="{FF2B5EF4-FFF2-40B4-BE49-F238E27FC236}">
                <a16:creationId xmlns:a16="http://schemas.microsoft.com/office/drawing/2014/main" id="{76D6F5C2-4F75-DD6B-56EE-1B274BB342EA}"/>
              </a:ext>
            </a:extLst>
          </p:cNvPr>
          <p:cNvSpPr txBox="1"/>
          <p:nvPr/>
        </p:nvSpPr>
        <p:spPr>
          <a:xfrm>
            <a:off x="5409765" y="6207928"/>
            <a:ext cx="1190519" cy="461665"/>
          </a:xfrm>
          <a:prstGeom prst="rect">
            <a:avLst/>
          </a:prstGeom>
          <a:noFill/>
        </p:spPr>
        <p:txBody>
          <a:bodyPr wrap="none" rtlCol="0">
            <a:spAutoFit/>
          </a:bodyPr>
          <a:lstStyle/>
          <a:p>
            <a:r>
              <a:rPr lang="en-IN" sz="2400" dirty="0"/>
              <a:t>Figure b</a:t>
            </a:r>
          </a:p>
        </p:txBody>
      </p:sp>
    </p:spTree>
    <p:extLst>
      <p:ext uri="{BB962C8B-B14F-4D97-AF65-F5344CB8AC3E}">
        <p14:creationId xmlns:p14="http://schemas.microsoft.com/office/powerpoint/2010/main" val="2227837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E7590-74EE-B528-E816-379B85837642}"/>
              </a:ext>
            </a:extLst>
          </p:cNvPr>
          <p:cNvSpPr>
            <a:spLocks noGrp="1"/>
          </p:cNvSpPr>
          <p:nvPr>
            <p:ph type="title"/>
          </p:nvPr>
        </p:nvSpPr>
        <p:spPr/>
        <p:txBody>
          <a:bodyPr/>
          <a:lstStyle/>
          <a:p>
            <a:r>
              <a:rPr lang="en-IN" dirty="0"/>
              <a:t>PV inverters with DC-Dc converter and isolation</a:t>
            </a:r>
          </a:p>
        </p:txBody>
      </p:sp>
      <p:sp>
        <p:nvSpPr>
          <p:cNvPr id="4" name="Rectangle 1">
            <a:extLst>
              <a:ext uri="{FF2B5EF4-FFF2-40B4-BE49-F238E27FC236}">
                <a16:creationId xmlns:a16="http://schemas.microsoft.com/office/drawing/2014/main" id="{92BAADD1-9969-FD80-86A0-286A8BE6BDAB}"/>
              </a:ext>
            </a:extLst>
          </p:cNvPr>
          <p:cNvSpPr>
            <a:spLocks noGrp="1" noChangeArrowheads="1"/>
          </p:cNvSpPr>
          <p:nvPr>
            <p:ph idx="1"/>
          </p:nvPr>
        </p:nvSpPr>
        <p:spPr bwMode="auto">
          <a:xfrm>
            <a:off x="838200" y="2459504"/>
            <a:ext cx="1086015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cs typeface="Calibri" panose="020F0502020204030204" pitchFamily="34" charset="0"/>
              </a:rPr>
              <a:t>The isolation is typically acquired using a transformer that can be placed on either the grid frequency side (LF) as shown in Fig. a or on the high-frequency (HF) side in the dc-dc convener as shown in Fig. b. </a:t>
            </a: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cs typeface="Calibri" panose="020F0502020204030204" pitchFamily="34" charset="0"/>
              </a:rPr>
              <a:t>The HF transformer leads to more compact solutions but high care should be taken in the transformer design in order to keep the losses low. </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157276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2991</Words>
  <Application>Microsoft Office PowerPoint</Application>
  <PresentationFormat>Widescreen</PresentationFormat>
  <Paragraphs>150</Paragraphs>
  <Slides>29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Calibri Light</vt:lpstr>
      <vt:lpstr>Cambria Math</vt:lpstr>
      <vt:lpstr>Office Theme</vt:lpstr>
      <vt:lpstr>TOPOLOGIES OF PV INVERTER</vt:lpstr>
      <vt:lpstr>NEED OF ISOLATION TRANSFORMER</vt:lpstr>
      <vt:lpstr>PV inverter with DC-DC converter and Isolation</vt:lpstr>
      <vt:lpstr>PV INVERTERS WITH ISOLATION TRANSFORMER</vt:lpstr>
      <vt:lpstr>LF transformer PV inverters</vt:lpstr>
      <vt:lpstr>LF transformer PV inverters</vt:lpstr>
      <vt:lpstr>HF transformer PV inverters</vt:lpstr>
      <vt:lpstr>HF transformer PV inverters</vt:lpstr>
      <vt:lpstr>HF transformer PV inverters</vt:lpstr>
      <vt:lpstr>PV inverter with an HF transformer using an isolated push-pull boost converter </vt:lpstr>
      <vt:lpstr>PV inverter with an HF transformer using an isolated push-pull boost converter </vt:lpstr>
      <vt:lpstr>PV inverter with an HF transformer using an isolated push-pull boost converter </vt:lpstr>
      <vt:lpstr>PV inverter with an HF transformer using an isolated push-pull boost converter </vt:lpstr>
      <vt:lpstr>PV inverter with an HF transformer using an isolated push-pull boost converter </vt:lpstr>
      <vt:lpstr>PV inverter with DC- DC converter and no isolation</vt:lpstr>
      <vt:lpstr>PV inverter with DC- DC converter and no isolation</vt:lpstr>
      <vt:lpstr>PV inverter with DC- DC converter and no isolation</vt:lpstr>
      <vt:lpstr>PV inverter with DC- DC converter and no isolation</vt:lpstr>
      <vt:lpstr>PV inverter without DC - DC converter and with isolation</vt:lpstr>
      <vt:lpstr>PV inverter without DC - DC converter and with isolation</vt:lpstr>
      <vt:lpstr>PV inverter without DC - DC converter and with isolation</vt:lpstr>
      <vt:lpstr>PV inverter without DC - DC converter and with isolation</vt:lpstr>
      <vt:lpstr>PV inverter without DC - DC converter and  without isolation</vt:lpstr>
      <vt:lpstr>PV inverter without DC - DC converter and  without isolation</vt:lpstr>
      <vt:lpstr>PV inverter without DC - DC converter and  without isolation</vt:lpstr>
      <vt:lpstr>PV inverter without DC - DC converter and  without isolation</vt:lpstr>
      <vt:lpstr>PV INVERTER DC TO DC CONVERTER AND  NO ISOLATION</vt:lpstr>
      <vt:lpstr>PV inverters with DC-Dc converter and isolation</vt:lpstr>
      <vt:lpstr>PV inverters with DC-Dc converter and isolation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Neethu Suman</dc:creator>
  <cp:lastModifiedBy>Neethu Suman</cp:lastModifiedBy>
  <cp:revision>1</cp:revision>
  <dcterms:created xsi:type="dcterms:W3CDTF">2025-12-30T07:36:23Z</dcterms:created>
  <dcterms:modified xsi:type="dcterms:W3CDTF">2025-12-30T07:37:07Z</dcterms:modified>
</cp:coreProperties>
</file>