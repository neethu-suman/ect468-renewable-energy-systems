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82" r:id="rId3"/>
    <p:sldId id="283" r:id="rId4"/>
    <p:sldId id="28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894E-CE5E-AC85-A8E2-94289D5467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777AD2-4589-DCAC-1F19-5FF3AB96D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3DF275-8CC3-38AF-52D8-793CC2B32EC2}"/>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B2A71218-E4DD-720A-60B6-ECFAA62FD4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45297-3772-D663-75AB-0AC3B024E951}"/>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2045941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AD8FE-686C-B990-CC2D-6E9F7E1CB9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31EEB8-501F-05B2-FFAB-780F0DF509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E748B5-16D8-6258-6F60-4DEBC34F73D1}"/>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64FDBAB2-A24C-B5A2-9ECA-1DCD40F8B5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42D0E3-93F0-EF86-0F66-2D03FFBC8BDE}"/>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3707465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7FA9-5ED7-2001-637B-D1879161D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D1C86-B76E-9D6D-6D1F-29FC286B4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87D7EE-E1C6-30A0-007F-A5DDF6460B8E}"/>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1FED1A42-006C-CD0D-2625-F261600D2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1F2D9A-6F49-620C-0AFF-9B3CBDE8FFDF}"/>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3928049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E3030-3408-3410-373E-69AFD422DD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45557A-71F0-41B3-5780-E9607CCEEE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99350D-D544-39AB-0C90-BB9653E13E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9B21F4-1ECE-3DB0-DAF2-70CE53EC1A10}"/>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6" name="Footer Placeholder 5">
            <a:extLst>
              <a:ext uri="{FF2B5EF4-FFF2-40B4-BE49-F238E27FC236}">
                <a16:creationId xmlns:a16="http://schemas.microsoft.com/office/drawing/2014/main" id="{50405E7E-09D7-2869-277F-D8D0947B7A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047B98-9BA9-FD76-6740-6F92F427892E}"/>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3803453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12FC-3BFC-701E-C2E7-6903684FB4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14B46E-438A-7B21-0AE5-E025BCC5E7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E530E0-E223-D21B-4A1F-125785DA55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BC6AFF-CE1B-BC88-E258-E3E2CE6759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9262DA-BB39-A76B-8CDA-F9DE4D972F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D5E9C4-AC21-A8AD-9931-982182B740CC}"/>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8" name="Footer Placeholder 7">
            <a:extLst>
              <a:ext uri="{FF2B5EF4-FFF2-40B4-BE49-F238E27FC236}">
                <a16:creationId xmlns:a16="http://schemas.microsoft.com/office/drawing/2014/main" id="{3564F915-B770-5C23-8FE8-ABFEC6B09F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A855EB-A1D0-3B7A-F325-63E232C3C13F}"/>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1323825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E424-DF22-D4EF-741C-6FECEBC0D0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B267C7-8E9E-6733-0E31-24A747C0736A}"/>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4" name="Footer Placeholder 3">
            <a:extLst>
              <a:ext uri="{FF2B5EF4-FFF2-40B4-BE49-F238E27FC236}">
                <a16:creationId xmlns:a16="http://schemas.microsoft.com/office/drawing/2014/main" id="{13C59599-8834-B091-4293-04DBDD0B0E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E77034-751B-884D-617A-5D3B3E1AC0A1}"/>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1687886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C27D8-7758-35D0-BD60-C91B168C0806}"/>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3" name="Footer Placeholder 2">
            <a:extLst>
              <a:ext uri="{FF2B5EF4-FFF2-40B4-BE49-F238E27FC236}">
                <a16:creationId xmlns:a16="http://schemas.microsoft.com/office/drawing/2014/main" id="{6CF675F5-F64B-A3C4-FD8A-70E1FF47BF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121C7F-7461-8933-6371-B0D3BC203863}"/>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1852382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38DA7-9D0B-145E-A7D4-2371226AC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CE4403-BF8E-52A0-376D-5309279DA5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092449-9B73-7619-9BCB-BD505687A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869B20-F0B5-14A0-8921-90B4F8FC432E}"/>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6" name="Footer Placeholder 5">
            <a:extLst>
              <a:ext uri="{FF2B5EF4-FFF2-40B4-BE49-F238E27FC236}">
                <a16:creationId xmlns:a16="http://schemas.microsoft.com/office/drawing/2014/main" id="{78996FB3-3971-0C04-5881-A019373E4B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3A0BB3-EFB5-B779-7622-3ED843EB9507}"/>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1092475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0289-E2A3-082D-D1E5-D1161CEA56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838BAD-4BD1-D073-29A9-6BBCD145B7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5501BD-C8E6-25CB-A98A-5610F67D9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3FF55-A49C-5BB6-B797-B16B8547ACEF}"/>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6" name="Footer Placeholder 5">
            <a:extLst>
              <a:ext uri="{FF2B5EF4-FFF2-40B4-BE49-F238E27FC236}">
                <a16:creationId xmlns:a16="http://schemas.microsoft.com/office/drawing/2014/main" id="{BD47C543-6E4D-4C25-F4DD-9A033C1F61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33C281-8DF8-2322-707E-B239C682BD21}"/>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366734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F3AD-E844-DF76-38DC-5C5012F2CC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456025-17EF-CC47-1928-22C418D0B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2ADF4C-2924-161D-EB05-4141CA459FFB}"/>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869036DC-AA7E-4E79-F318-13EC5EFD99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9549AD-18A2-A2C4-E5A5-CEA2D68472D1}"/>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2104562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A371A8-C7F5-452E-4F88-F1B0C262C9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0D120D-7C8D-BDE9-9AD4-F1E5E0AA6C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F75F9-704A-21D0-0944-E9220C0D7651}"/>
              </a:ext>
            </a:extLst>
          </p:cNvPr>
          <p:cNvSpPr>
            <a:spLocks noGrp="1"/>
          </p:cNvSpPr>
          <p:nvPr>
            <p:ph type="dt" sz="half" idx="10"/>
          </p:nvPr>
        </p:nvSpPr>
        <p:spPr/>
        <p:txBody>
          <a:body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3B5C04DC-8CAA-10B5-190C-A5CBD9F180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6B6BD3-BA14-C1D2-3927-71EC3BBF1FF1}"/>
              </a:ext>
            </a:extLst>
          </p:cNvPr>
          <p:cNvSpPr>
            <a:spLocks noGrp="1"/>
          </p:cNvSpPr>
          <p:nvPr>
            <p:ph type="sldNum" sz="quarter" idx="12"/>
          </p:nvPr>
        </p:nvSpPr>
        <p:spPr/>
        <p:txBody>
          <a:bodyPr/>
          <a:lstStyle/>
          <a:p>
            <a:fld id="{81FABDBA-162F-4C70-B974-D641AE630D53}" type="slidenum">
              <a:rPr lang="en-IN" smtClean="0"/>
              <a:t>‹#›</a:t>
            </a:fld>
            <a:endParaRPr lang="en-IN"/>
          </a:p>
        </p:txBody>
      </p:sp>
    </p:spTree>
    <p:extLst>
      <p:ext uri="{BB962C8B-B14F-4D97-AF65-F5344CB8AC3E}">
        <p14:creationId xmlns:p14="http://schemas.microsoft.com/office/powerpoint/2010/main" val="3658592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A32905-8DFB-481C-3E51-8D0A15D2E9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81EEB1-A571-8CDC-9C51-81507E6026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D31917-158D-7FA9-2DC5-889CE4A73D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8D3EC-94C1-4E9F-AA4F-573DF2094417}" type="datetimeFigureOut">
              <a:rPr lang="en-IN" smtClean="0"/>
              <a:t>25-02-2026</a:t>
            </a:fld>
            <a:endParaRPr lang="en-IN"/>
          </a:p>
        </p:txBody>
      </p:sp>
      <p:sp>
        <p:nvSpPr>
          <p:cNvPr id="5" name="Footer Placeholder 4">
            <a:extLst>
              <a:ext uri="{FF2B5EF4-FFF2-40B4-BE49-F238E27FC236}">
                <a16:creationId xmlns:a16="http://schemas.microsoft.com/office/drawing/2014/main" id="{51A088C3-2900-B235-1B4C-783AF32D87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D877AB-0D86-C6EF-04F4-9413E2843A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FABDBA-162F-4C70-B974-D641AE630D53}" type="slidenum">
              <a:rPr lang="en-IN" smtClean="0"/>
              <a:t>‹#›</a:t>
            </a:fld>
            <a:endParaRPr lang="en-IN"/>
          </a:p>
        </p:txBody>
      </p:sp>
    </p:spTree>
    <p:extLst>
      <p:ext uri="{BB962C8B-B14F-4D97-AF65-F5344CB8AC3E}">
        <p14:creationId xmlns:p14="http://schemas.microsoft.com/office/powerpoint/2010/main" val="2126603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942D4-889B-6E7F-B777-5EA88C9AB93B}"/>
              </a:ext>
            </a:extLst>
          </p:cNvPr>
          <p:cNvSpPr>
            <a:spLocks noGrp="1"/>
          </p:cNvSpPr>
          <p:nvPr>
            <p:ph type="title"/>
          </p:nvPr>
        </p:nvSpPr>
        <p:spPr/>
        <p:txBody>
          <a:bodyPr/>
          <a:lstStyle/>
          <a:p>
            <a:pPr algn="ctr"/>
            <a:r>
              <a:rPr lang="en-US" b="1" dirty="0"/>
              <a:t>Issues in the integration of converter based sources</a:t>
            </a:r>
            <a:endParaRPr lang="en-IN" b="1" dirty="0"/>
          </a:p>
        </p:txBody>
      </p:sp>
      <p:sp>
        <p:nvSpPr>
          <p:cNvPr id="3" name="Content Placeholder 2">
            <a:extLst>
              <a:ext uri="{FF2B5EF4-FFF2-40B4-BE49-F238E27FC236}">
                <a16:creationId xmlns:a16="http://schemas.microsoft.com/office/drawing/2014/main" id="{7A7E2F08-1A66-5A59-319B-3C19DCB576CD}"/>
              </a:ext>
            </a:extLst>
          </p:cNvPr>
          <p:cNvSpPr>
            <a:spLocks noGrp="1"/>
          </p:cNvSpPr>
          <p:nvPr>
            <p:ph idx="1"/>
          </p:nvPr>
        </p:nvSpPr>
        <p:spPr>
          <a:xfrm>
            <a:off x="838200" y="1825625"/>
            <a:ext cx="10515600" cy="4351338"/>
          </a:xfrm>
        </p:spPr>
        <p:txBody>
          <a:bodyPr/>
          <a:lstStyle/>
          <a:p>
            <a:pPr marL="457200" indent="-457200" algn="just">
              <a:buFont typeface="+mj-lt"/>
              <a:buAutoNum type="arabicPeriod"/>
            </a:pPr>
            <a:r>
              <a:rPr lang="en-US" sz="2400" b="1" dirty="0"/>
              <a:t>Availability of Power</a:t>
            </a:r>
          </a:p>
          <a:p>
            <a:pPr algn="just"/>
            <a:r>
              <a:rPr lang="en-US" sz="2000" dirty="0"/>
              <a:t>One of the biggest concerns in the field of renewable energy is power generation depending on natural resources that are uncontrollable by humans. </a:t>
            </a:r>
          </a:p>
          <a:p>
            <a:pPr algn="just"/>
            <a:r>
              <a:rPr lang="en-US" sz="2000" dirty="0"/>
              <a:t>For example, solar powered electricity is generated only when sunshine is available and turns off at night; wind energy also depends on the availability of wind, so if the wind speed is very low, the turbine will not turn, and this result in zero power flow to the grid. </a:t>
            </a:r>
          </a:p>
          <a:p>
            <a:pPr algn="just"/>
            <a:r>
              <a:rPr lang="en-US" sz="2000" dirty="0"/>
              <a:t>On the other hand, too much wind can damage the generator and therefore a delicate balance needs to be maintained in order to keep a consistent generation of energy. </a:t>
            </a:r>
          </a:p>
          <a:p>
            <a:pPr algn="just"/>
            <a:r>
              <a:rPr lang="en-US" sz="2000" dirty="0"/>
              <a:t>The uncertainty in energy production in renewable energy technologies is making integration more complex.</a:t>
            </a:r>
          </a:p>
          <a:p>
            <a:endParaRPr lang="en-IN" dirty="0"/>
          </a:p>
        </p:txBody>
      </p:sp>
    </p:spTree>
    <p:extLst>
      <p:ext uri="{BB962C8B-B14F-4D97-AF65-F5344CB8AC3E}">
        <p14:creationId xmlns:p14="http://schemas.microsoft.com/office/powerpoint/2010/main" val="319739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80A8E-708C-9B18-28D8-5BEDD2F77015}"/>
              </a:ext>
            </a:extLst>
          </p:cNvPr>
          <p:cNvSpPr>
            <a:spLocks noGrp="1"/>
          </p:cNvSpPr>
          <p:nvPr>
            <p:ph type="title"/>
          </p:nvPr>
        </p:nvSpPr>
        <p:spPr/>
        <p:txBody>
          <a:bodyPr>
            <a:normAutofit/>
          </a:bodyPr>
          <a:lstStyle/>
          <a:p>
            <a:pPr algn="ctr"/>
            <a:r>
              <a:rPr lang="en-US" b="1" dirty="0"/>
              <a:t>Issues in the integration of converter based sources</a:t>
            </a:r>
            <a:endParaRPr lang="en-IN" sz="5400" dirty="0"/>
          </a:p>
        </p:txBody>
      </p:sp>
      <p:sp>
        <p:nvSpPr>
          <p:cNvPr id="3" name="Content Placeholder 2">
            <a:extLst>
              <a:ext uri="{FF2B5EF4-FFF2-40B4-BE49-F238E27FC236}">
                <a16:creationId xmlns:a16="http://schemas.microsoft.com/office/drawing/2014/main" id="{32025744-DA7B-36AF-06C4-7EBA258E47DA}"/>
              </a:ext>
            </a:extLst>
          </p:cNvPr>
          <p:cNvSpPr>
            <a:spLocks noGrp="1"/>
          </p:cNvSpPr>
          <p:nvPr>
            <p:ph idx="1"/>
          </p:nvPr>
        </p:nvSpPr>
        <p:spPr/>
        <p:txBody>
          <a:bodyPr/>
          <a:lstStyle/>
          <a:p>
            <a:pPr marL="457200" indent="-457200" algn="just">
              <a:buFont typeface="+mj-lt"/>
              <a:buAutoNum type="arabicPeriod" startAt="2"/>
            </a:pPr>
            <a:r>
              <a:rPr lang="en-US" sz="2400" b="1" dirty="0"/>
              <a:t>Power Quality Issues</a:t>
            </a:r>
          </a:p>
          <a:p>
            <a:pPr lvl="1" algn="just"/>
            <a:r>
              <a:rPr lang="en-US" sz="2000" dirty="0"/>
              <a:t>Consistently high power quality is needed to ensure stability and high efficiency of the network. </a:t>
            </a:r>
          </a:p>
          <a:p>
            <a:pPr lvl="1" algn="just"/>
            <a:r>
              <a:rPr lang="en-US" sz="2000" dirty="0"/>
              <a:t>The quality of the power supply allows the system to work well with high reliability and lower costs. </a:t>
            </a:r>
          </a:p>
          <a:p>
            <a:pPr lvl="1" algn="just"/>
            <a:r>
              <a:rPr lang="en-US" sz="2000" dirty="0"/>
              <a:t>On the other hand, poor power quality can have major adverse effects on the power grid as well as industrial processes. </a:t>
            </a:r>
          </a:p>
          <a:p>
            <a:pPr lvl="1" algn="just"/>
            <a:r>
              <a:rPr lang="en-US" sz="2000" dirty="0"/>
              <a:t>It can lead to high costs and equipment failure. </a:t>
            </a:r>
          </a:p>
          <a:p>
            <a:pPr lvl="1" algn="just"/>
            <a:r>
              <a:rPr lang="en-US" sz="2000" dirty="0"/>
              <a:t>Power quality problems include frequency disorder, voltage/current harmonics, low power factor, voltage variation and transmission lines transits.</a:t>
            </a:r>
          </a:p>
          <a:p>
            <a:endParaRPr lang="en-IN" dirty="0"/>
          </a:p>
        </p:txBody>
      </p:sp>
    </p:spTree>
    <p:extLst>
      <p:ext uri="{BB962C8B-B14F-4D97-AF65-F5344CB8AC3E}">
        <p14:creationId xmlns:p14="http://schemas.microsoft.com/office/powerpoint/2010/main" val="344363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0C7B9-FB09-9C1B-DC45-232AB2C7C14A}"/>
              </a:ext>
            </a:extLst>
          </p:cNvPr>
          <p:cNvSpPr>
            <a:spLocks noGrp="1"/>
          </p:cNvSpPr>
          <p:nvPr>
            <p:ph type="title"/>
          </p:nvPr>
        </p:nvSpPr>
        <p:spPr/>
        <p:txBody>
          <a:bodyPr>
            <a:normAutofit/>
          </a:bodyPr>
          <a:lstStyle/>
          <a:p>
            <a:pPr algn="ctr"/>
            <a:r>
              <a:rPr lang="en-US" b="1" dirty="0"/>
              <a:t>Issues in the integration of converter based sources</a:t>
            </a:r>
            <a:endParaRPr lang="en-IN" sz="5400" dirty="0"/>
          </a:p>
        </p:txBody>
      </p:sp>
      <p:sp>
        <p:nvSpPr>
          <p:cNvPr id="3" name="Content Placeholder 2">
            <a:extLst>
              <a:ext uri="{FF2B5EF4-FFF2-40B4-BE49-F238E27FC236}">
                <a16:creationId xmlns:a16="http://schemas.microsoft.com/office/drawing/2014/main" id="{9B6B7542-3759-9CC3-3F01-0EB50E91C650}"/>
              </a:ext>
            </a:extLst>
          </p:cNvPr>
          <p:cNvSpPr>
            <a:spLocks noGrp="1"/>
          </p:cNvSpPr>
          <p:nvPr>
            <p:ph idx="1"/>
          </p:nvPr>
        </p:nvSpPr>
        <p:spPr/>
        <p:txBody>
          <a:bodyPr/>
          <a:lstStyle/>
          <a:p>
            <a:pPr marL="457200" indent="-457200" algn="just">
              <a:buFont typeface="+mj-lt"/>
              <a:buAutoNum type="arabicPeriod" startAt="3"/>
            </a:pPr>
            <a:r>
              <a:rPr lang="en-US" sz="2400" b="1" dirty="0"/>
              <a:t>Resource Location</a:t>
            </a:r>
          </a:p>
          <a:p>
            <a:pPr lvl="1" algn="just"/>
            <a:r>
              <a:rPr lang="en-US" sz="2000" dirty="0"/>
              <a:t>Most renewable energy plants that share their energy with the grid require large areas of space. </a:t>
            </a:r>
          </a:p>
          <a:p>
            <a:pPr lvl="1" algn="just"/>
            <a:r>
              <a:rPr lang="en-US" sz="2000" dirty="0"/>
              <a:t>In most cases, renewable energy sources are dictated by location which can be off-putting to users. </a:t>
            </a:r>
          </a:p>
          <a:p>
            <a:pPr lvl="1" algn="just"/>
            <a:r>
              <a:rPr lang="en-US" sz="2000" dirty="0"/>
              <a:t>Firstly, some renewable energy sources are simply not available in different regions. </a:t>
            </a:r>
          </a:p>
          <a:p>
            <a:pPr lvl="1" algn="just"/>
            <a:r>
              <a:rPr lang="en-US" sz="2000" dirty="0"/>
              <a:t>Secondly, the distance between the renewable energy source and the grid is a major aspect in term of cost and efficiency. </a:t>
            </a:r>
          </a:p>
          <a:p>
            <a:pPr lvl="1" algn="just"/>
            <a:r>
              <a:rPr lang="en-US" sz="2000" dirty="0"/>
              <a:t>In addition to this, renewable energy sources depend on weather, climate and geographical location, therefore meaning that one type of energy generation is not appropriate for the region.</a:t>
            </a:r>
          </a:p>
          <a:p>
            <a:endParaRPr lang="en-IN" dirty="0"/>
          </a:p>
        </p:txBody>
      </p:sp>
    </p:spTree>
    <p:extLst>
      <p:ext uri="{BB962C8B-B14F-4D97-AF65-F5344CB8AC3E}">
        <p14:creationId xmlns:p14="http://schemas.microsoft.com/office/powerpoint/2010/main" val="400962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E25B-5E79-1BEF-6EA0-CE2B34DBD98A}"/>
              </a:ext>
            </a:extLst>
          </p:cNvPr>
          <p:cNvSpPr>
            <a:spLocks noGrp="1"/>
          </p:cNvSpPr>
          <p:nvPr>
            <p:ph type="title"/>
          </p:nvPr>
        </p:nvSpPr>
        <p:spPr/>
        <p:txBody>
          <a:bodyPr>
            <a:normAutofit/>
          </a:bodyPr>
          <a:lstStyle/>
          <a:p>
            <a:pPr algn="ctr"/>
            <a:r>
              <a:rPr lang="en-US" b="1" dirty="0"/>
              <a:t>Issues in the integration of converter based sources</a:t>
            </a:r>
            <a:endParaRPr lang="en-IN" sz="5400" dirty="0"/>
          </a:p>
        </p:txBody>
      </p:sp>
      <p:sp>
        <p:nvSpPr>
          <p:cNvPr id="3" name="Content Placeholder 2">
            <a:extLst>
              <a:ext uri="{FF2B5EF4-FFF2-40B4-BE49-F238E27FC236}">
                <a16:creationId xmlns:a16="http://schemas.microsoft.com/office/drawing/2014/main" id="{0EDC8893-39AC-299B-6E0B-EA5C926A1F1E}"/>
              </a:ext>
            </a:extLst>
          </p:cNvPr>
          <p:cNvSpPr>
            <a:spLocks noGrp="1"/>
          </p:cNvSpPr>
          <p:nvPr>
            <p:ph idx="1"/>
          </p:nvPr>
        </p:nvSpPr>
        <p:spPr>
          <a:xfrm>
            <a:off x="838201" y="1824015"/>
            <a:ext cx="10979426" cy="4927327"/>
          </a:xfrm>
        </p:spPr>
        <p:txBody>
          <a:bodyPr>
            <a:normAutofit/>
          </a:bodyPr>
          <a:lstStyle/>
          <a:p>
            <a:pPr marL="457200" indent="-457200">
              <a:buFont typeface="+mj-lt"/>
              <a:buAutoNum type="arabicPeriod" startAt="4"/>
            </a:pPr>
            <a:r>
              <a:rPr lang="en-US" sz="2400" b="1" dirty="0"/>
              <a:t>Information Barrier</a:t>
            </a:r>
          </a:p>
          <a:p>
            <a:pPr lvl="1"/>
            <a:r>
              <a:rPr lang="en-US" sz="2000" dirty="0"/>
              <a:t>While this area is improving, there is a lack of information and awareness about the benefits and need of renewable energy. </a:t>
            </a:r>
          </a:p>
          <a:p>
            <a:pPr lvl="1"/>
            <a:r>
              <a:rPr lang="en-US" sz="2000" dirty="0"/>
              <a:t>Investment and capital allowances have been made available for the implementation of renewable energies. </a:t>
            </a:r>
          </a:p>
          <a:p>
            <a:pPr lvl="1"/>
            <a:r>
              <a:rPr lang="en-US" sz="2000" dirty="0"/>
              <a:t>There is a clear need for government agencies to assist and advice applicants and potential recipients how to go about applying for renewable energy incentives.</a:t>
            </a:r>
            <a:endParaRPr lang="en-US" sz="1600" dirty="0"/>
          </a:p>
          <a:p>
            <a:pPr marL="457200" indent="-457200">
              <a:buFont typeface="+mj-lt"/>
              <a:buAutoNum type="arabicPeriod" startAt="5"/>
            </a:pPr>
            <a:r>
              <a:rPr lang="en-US" sz="2400" b="1" dirty="0"/>
              <a:t>Cost Issue</a:t>
            </a:r>
          </a:p>
          <a:p>
            <a:pPr lvl="1"/>
            <a:r>
              <a:rPr lang="en-US" sz="2000" dirty="0"/>
              <a:t>The high initial cost of installation is one of the major hurdles in the development of renewable energy. </a:t>
            </a:r>
          </a:p>
          <a:p>
            <a:pPr lvl="1"/>
            <a:r>
              <a:rPr lang="en-US" sz="2000" dirty="0"/>
              <a:t>Although the development of a coal plant requires about $6 per megawatt, it is known that wind and solar power plants also required high investment. </a:t>
            </a:r>
          </a:p>
          <a:p>
            <a:pPr lvl="1"/>
            <a:r>
              <a:rPr lang="en-US" sz="2000" dirty="0"/>
              <a:t>In addition to this, storage systems of the generated energy is expensive and represents a real challenge in terms of megawatt production.</a:t>
            </a:r>
          </a:p>
          <a:p>
            <a:endParaRPr lang="en-IN" dirty="0"/>
          </a:p>
        </p:txBody>
      </p:sp>
    </p:spTree>
    <p:extLst>
      <p:ext uri="{BB962C8B-B14F-4D97-AF65-F5344CB8AC3E}">
        <p14:creationId xmlns:p14="http://schemas.microsoft.com/office/powerpoint/2010/main" val="392217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499</Words>
  <Application>Microsoft Office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Issues in the integration of converter based sources</vt:lpstr>
      <vt:lpstr>Issues in the integration of converter based sources</vt:lpstr>
      <vt:lpstr>Issues in the integration of converter based sources</vt:lpstr>
      <vt:lpstr>Issues in the integration of converter based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2026-02-25T03:57:47Z</dcterms:created>
  <dcterms:modified xsi:type="dcterms:W3CDTF">2026-02-25T03:58:16Z</dcterms:modified>
</cp:coreProperties>
</file>