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5" r:id="rId2"/>
    <p:sldId id="294" r:id="rId3"/>
    <p:sldId id="304" r:id="rId4"/>
    <p:sldId id="296" r:id="rId5"/>
    <p:sldId id="286" r:id="rId6"/>
    <p:sldId id="287" r:id="rId7"/>
    <p:sldId id="318" r:id="rId8"/>
    <p:sldId id="319" r:id="rId9"/>
    <p:sldId id="320" r:id="rId10"/>
    <p:sldId id="32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28061-2AD7-0450-BF76-A02942AA3A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B88B58-E101-993C-D606-3062AFD4C6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74744D8-EFF0-3CF7-85E1-8B11C4F154CE}"/>
              </a:ext>
            </a:extLst>
          </p:cNvPr>
          <p:cNvSpPr>
            <a:spLocks noGrp="1"/>
          </p:cNvSpPr>
          <p:nvPr>
            <p:ph type="dt" sz="half" idx="10"/>
          </p:nvPr>
        </p:nvSpPr>
        <p:spPr/>
        <p:txBody>
          <a:bodyPr/>
          <a:lstStyle/>
          <a:p>
            <a:fld id="{3C8F5387-4512-4F57-9F82-DECD7B1BDA0E}" type="datetimeFigureOut">
              <a:rPr lang="en-IN" smtClean="0"/>
              <a:t>25-02-2026</a:t>
            </a:fld>
            <a:endParaRPr lang="en-IN"/>
          </a:p>
        </p:txBody>
      </p:sp>
      <p:sp>
        <p:nvSpPr>
          <p:cNvPr id="5" name="Footer Placeholder 4">
            <a:extLst>
              <a:ext uri="{FF2B5EF4-FFF2-40B4-BE49-F238E27FC236}">
                <a16:creationId xmlns:a16="http://schemas.microsoft.com/office/drawing/2014/main" id="{65025EC2-D79F-7F7D-6FE2-A6E00EDA4C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4F9263-01EA-636E-113F-952AB0199EC5}"/>
              </a:ext>
            </a:extLst>
          </p:cNvPr>
          <p:cNvSpPr>
            <a:spLocks noGrp="1"/>
          </p:cNvSpPr>
          <p:nvPr>
            <p:ph type="sldNum" sz="quarter" idx="12"/>
          </p:nvPr>
        </p:nvSpPr>
        <p:spPr/>
        <p:txBody>
          <a:bodyPr/>
          <a:lstStyle/>
          <a:p>
            <a:fld id="{FF6FC6E0-6AE0-405B-BE6F-EC5351A097A8}" type="slidenum">
              <a:rPr lang="en-IN" smtClean="0"/>
              <a:t>‹#›</a:t>
            </a:fld>
            <a:endParaRPr lang="en-IN"/>
          </a:p>
        </p:txBody>
      </p:sp>
    </p:spTree>
    <p:extLst>
      <p:ext uri="{BB962C8B-B14F-4D97-AF65-F5344CB8AC3E}">
        <p14:creationId xmlns:p14="http://schemas.microsoft.com/office/powerpoint/2010/main" val="28839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3558-6724-E257-537B-685F3746EED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06EB66-D1A2-8898-490D-79EC1A7826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A725CA-1247-79E7-EC66-BFF1C43F5682}"/>
              </a:ext>
            </a:extLst>
          </p:cNvPr>
          <p:cNvSpPr>
            <a:spLocks noGrp="1"/>
          </p:cNvSpPr>
          <p:nvPr>
            <p:ph type="dt" sz="half" idx="10"/>
          </p:nvPr>
        </p:nvSpPr>
        <p:spPr/>
        <p:txBody>
          <a:bodyPr/>
          <a:lstStyle/>
          <a:p>
            <a:fld id="{3C8F5387-4512-4F57-9F82-DECD7B1BDA0E}" type="datetimeFigureOut">
              <a:rPr lang="en-IN" smtClean="0"/>
              <a:t>25-02-2026</a:t>
            </a:fld>
            <a:endParaRPr lang="en-IN"/>
          </a:p>
        </p:txBody>
      </p:sp>
      <p:sp>
        <p:nvSpPr>
          <p:cNvPr id="5" name="Footer Placeholder 4">
            <a:extLst>
              <a:ext uri="{FF2B5EF4-FFF2-40B4-BE49-F238E27FC236}">
                <a16:creationId xmlns:a16="http://schemas.microsoft.com/office/drawing/2014/main" id="{35C87F73-1F48-9842-933E-17E127B22D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957461-B9E3-BC27-00EB-C62A2E1E5D57}"/>
              </a:ext>
            </a:extLst>
          </p:cNvPr>
          <p:cNvSpPr>
            <a:spLocks noGrp="1"/>
          </p:cNvSpPr>
          <p:nvPr>
            <p:ph type="sldNum" sz="quarter" idx="12"/>
          </p:nvPr>
        </p:nvSpPr>
        <p:spPr/>
        <p:txBody>
          <a:bodyPr/>
          <a:lstStyle/>
          <a:p>
            <a:fld id="{FF6FC6E0-6AE0-405B-BE6F-EC5351A097A8}" type="slidenum">
              <a:rPr lang="en-IN" smtClean="0"/>
              <a:t>‹#›</a:t>
            </a:fld>
            <a:endParaRPr lang="en-IN"/>
          </a:p>
        </p:txBody>
      </p:sp>
    </p:spTree>
    <p:extLst>
      <p:ext uri="{BB962C8B-B14F-4D97-AF65-F5344CB8AC3E}">
        <p14:creationId xmlns:p14="http://schemas.microsoft.com/office/powerpoint/2010/main" val="1125254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B5A09-E70D-957E-7920-A7C286093C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33157F3-8619-9F51-F8CD-6722602AC7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68D1A5-1322-3D57-7F1B-CD7F0B1C0FD6}"/>
              </a:ext>
            </a:extLst>
          </p:cNvPr>
          <p:cNvSpPr>
            <a:spLocks noGrp="1"/>
          </p:cNvSpPr>
          <p:nvPr>
            <p:ph type="dt" sz="half" idx="10"/>
          </p:nvPr>
        </p:nvSpPr>
        <p:spPr/>
        <p:txBody>
          <a:bodyPr/>
          <a:lstStyle/>
          <a:p>
            <a:fld id="{3C8F5387-4512-4F57-9F82-DECD7B1BDA0E}" type="datetimeFigureOut">
              <a:rPr lang="en-IN" smtClean="0"/>
              <a:t>25-02-2026</a:t>
            </a:fld>
            <a:endParaRPr lang="en-IN"/>
          </a:p>
        </p:txBody>
      </p:sp>
      <p:sp>
        <p:nvSpPr>
          <p:cNvPr id="5" name="Footer Placeholder 4">
            <a:extLst>
              <a:ext uri="{FF2B5EF4-FFF2-40B4-BE49-F238E27FC236}">
                <a16:creationId xmlns:a16="http://schemas.microsoft.com/office/drawing/2014/main" id="{F7B14C92-0CE7-1434-0B53-39CC55018D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C3A863-1C79-00FB-0374-507EEC5E2B57}"/>
              </a:ext>
            </a:extLst>
          </p:cNvPr>
          <p:cNvSpPr>
            <a:spLocks noGrp="1"/>
          </p:cNvSpPr>
          <p:nvPr>
            <p:ph type="sldNum" sz="quarter" idx="12"/>
          </p:nvPr>
        </p:nvSpPr>
        <p:spPr/>
        <p:txBody>
          <a:bodyPr/>
          <a:lstStyle/>
          <a:p>
            <a:fld id="{FF6FC6E0-6AE0-405B-BE6F-EC5351A097A8}" type="slidenum">
              <a:rPr lang="en-IN" smtClean="0"/>
              <a:t>‹#›</a:t>
            </a:fld>
            <a:endParaRPr lang="en-IN"/>
          </a:p>
        </p:txBody>
      </p:sp>
    </p:spTree>
    <p:extLst>
      <p:ext uri="{BB962C8B-B14F-4D97-AF65-F5344CB8AC3E}">
        <p14:creationId xmlns:p14="http://schemas.microsoft.com/office/powerpoint/2010/main" val="1122832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E41D3-1231-7E7A-3BD6-05085A2CC4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E0EF19-DE85-9151-1306-37B8A506DA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F7F04C8-D776-5320-9384-1A810B50C7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BB3794-EA93-D7CC-23DE-EE452A1FB797}"/>
              </a:ext>
            </a:extLst>
          </p:cNvPr>
          <p:cNvSpPr>
            <a:spLocks noGrp="1"/>
          </p:cNvSpPr>
          <p:nvPr>
            <p:ph type="dt" sz="half" idx="10"/>
          </p:nvPr>
        </p:nvSpPr>
        <p:spPr/>
        <p:txBody>
          <a:bodyPr/>
          <a:lstStyle/>
          <a:p>
            <a:fld id="{3C8F5387-4512-4F57-9F82-DECD7B1BDA0E}" type="datetimeFigureOut">
              <a:rPr lang="en-IN" smtClean="0"/>
              <a:t>25-02-2026</a:t>
            </a:fld>
            <a:endParaRPr lang="en-IN"/>
          </a:p>
        </p:txBody>
      </p:sp>
      <p:sp>
        <p:nvSpPr>
          <p:cNvPr id="6" name="Footer Placeholder 5">
            <a:extLst>
              <a:ext uri="{FF2B5EF4-FFF2-40B4-BE49-F238E27FC236}">
                <a16:creationId xmlns:a16="http://schemas.microsoft.com/office/drawing/2014/main" id="{1A91B77E-3642-B316-C763-97F938E133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88701D-5115-C8B5-9910-FF56AC1319C9}"/>
              </a:ext>
            </a:extLst>
          </p:cNvPr>
          <p:cNvSpPr>
            <a:spLocks noGrp="1"/>
          </p:cNvSpPr>
          <p:nvPr>
            <p:ph type="sldNum" sz="quarter" idx="12"/>
          </p:nvPr>
        </p:nvSpPr>
        <p:spPr/>
        <p:txBody>
          <a:bodyPr/>
          <a:lstStyle/>
          <a:p>
            <a:fld id="{FF6FC6E0-6AE0-405B-BE6F-EC5351A097A8}" type="slidenum">
              <a:rPr lang="en-IN" smtClean="0"/>
              <a:t>‹#›</a:t>
            </a:fld>
            <a:endParaRPr lang="en-IN"/>
          </a:p>
        </p:txBody>
      </p:sp>
    </p:spTree>
    <p:extLst>
      <p:ext uri="{BB962C8B-B14F-4D97-AF65-F5344CB8AC3E}">
        <p14:creationId xmlns:p14="http://schemas.microsoft.com/office/powerpoint/2010/main" val="2152980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A5141-7985-61EB-37C2-96C7F1AE1D4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2EC9248-D7A4-0406-4DDB-6426B2445D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92B069-341F-1D73-841E-7A0E8036B6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C879068-B835-CA50-F473-C4BD4483DC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4A01F6-C15F-D90B-A1BF-19D56DB262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3B46A2F-1D9C-3E1C-58BD-8CE3495C3B37}"/>
              </a:ext>
            </a:extLst>
          </p:cNvPr>
          <p:cNvSpPr>
            <a:spLocks noGrp="1"/>
          </p:cNvSpPr>
          <p:nvPr>
            <p:ph type="dt" sz="half" idx="10"/>
          </p:nvPr>
        </p:nvSpPr>
        <p:spPr/>
        <p:txBody>
          <a:bodyPr/>
          <a:lstStyle/>
          <a:p>
            <a:fld id="{3C8F5387-4512-4F57-9F82-DECD7B1BDA0E}" type="datetimeFigureOut">
              <a:rPr lang="en-IN" smtClean="0"/>
              <a:t>25-02-2026</a:t>
            </a:fld>
            <a:endParaRPr lang="en-IN"/>
          </a:p>
        </p:txBody>
      </p:sp>
      <p:sp>
        <p:nvSpPr>
          <p:cNvPr id="8" name="Footer Placeholder 7">
            <a:extLst>
              <a:ext uri="{FF2B5EF4-FFF2-40B4-BE49-F238E27FC236}">
                <a16:creationId xmlns:a16="http://schemas.microsoft.com/office/drawing/2014/main" id="{A3F98E09-C6C2-1141-9EC4-4624E0357BE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F220452-ED51-57A3-A921-33EBD6F8E27A}"/>
              </a:ext>
            </a:extLst>
          </p:cNvPr>
          <p:cNvSpPr>
            <a:spLocks noGrp="1"/>
          </p:cNvSpPr>
          <p:nvPr>
            <p:ph type="sldNum" sz="quarter" idx="12"/>
          </p:nvPr>
        </p:nvSpPr>
        <p:spPr/>
        <p:txBody>
          <a:bodyPr/>
          <a:lstStyle/>
          <a:p>
            <a:fld id="{FF6FC6E0-6AE0-405B-BE6F-EC5351A097A8}" type="slidenum">
              <a:rPr lang="en-IN" smtClean="0"/>
              <a:t>‹#›</a:t>
            </a:fld>
            <a:endParaRPr lang="en-IN"/>
          </a:p>
        </p:txBody>
      </p:sp>
    </p:spTree>
    <p:extLst>
      <p:ext uri="{BB962C8B-B14F-4D97-AF65-F5344CB8AC3E}">
        <p14:creationId xmlns:p14="http://schemas.microsoft.com/office/powerpoint/2010/main" val="739838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37BC4-10C2-5C3E-E215-F1A2F7FB33B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48ECFB2-989D-E60D-F38D-1D1084A5E562}"/>
              </a:ext>
            </a:extLst>
          </p:cNvPr>
          <p:cNvSpPr>
            <a:spLocks noGrp="1"/>
          </p:cNvSpPr>
          <p:nvPr>
            <p:ph type="dt" sz="half" idx="10"/>
          </p:nvPr>
        </p:nvSpPr>
        <p:spPr/>
        <p:txBody>
          <a:bodyPr/>
          <a:lstStyle/>
          <a:p>
            <a:fld id="{3C8F5387-4512-4F57-9F82-DECD7B1BDA0E}" type="datetimeFigureOut">
              <a:rPr lang="en-IN" smtClean="0"/>
              <a:t>25-02-2026</a:t>
            </a:fld>
            <a:endParaRPr lang="en-IN"/>
          </a:p>
        </p:txBody>
      </p:sp>
      <p:sp>
        <p:nvSpPr>
          <p:cNvPr id="4" name="Footer Placeholder 3">
            <a:extLst>
              <a:ext uri="{FF2B5EF4-FFF2-40B4-BE49-F238E27FC236}">
                <a16:creationId xmlns:a16="http://schemas.microsoft.com/office/drawing/2014/main" id="{479E3FCC-71FC-5CC4-D839-F72738A09B0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2376310-57B4-7219-CB72-35626385F72C}"/>
              </a:ext>
            </a:extLst>
          </p:cNvPr>
          <p:cNvSpPr>
            <a:spLocks noGrp="1"/>
          </p:cNvSpPr>
          <p:nvPr>
            <p:ph type="sldNum" sz="quarter" idx="12"/>
          </p:nvPr>
        </p:nvSpPr>
        <p:spPr/>
        <p:txBody>
          <a:bodyPr/>
          <a:lstStyle/>
          <a:p>
            <a:fld id="{FF6FC6E0-6AE0-405B-BE6F-EC5351A097A8}" type="slidenum">
              <a:rPr lang="en-IN" smtClean="0"/>
              <a:t>‹#›</a:t>
            </a:fld>
            <a:endParaRPr lang="en-IN"/>
          </a:p>
        </p:txBody>
      </p:sp>
    </p:spTree>
    <p:extLst>
      <p:ext uri="{BB962C8B-B14F-4D97-AF65-F5344CB8AC3E}">
        <p14:creationId xmlns:p14="http://schemas.microsoft.com/office/powerpoint/2010/main" val="3447272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22FF0D-3751-1E34-6334-B3C6720C3563}"/>
              </a:ext>
            </a:extLst>
          </p:cNvPr>
          <p:cNvSpPr>
            <a:spLocks noGrp="1"/>
          </p:cNvSpPr>
          <p:nvPr>
            <p:ph type="dt" sz="half" idx="10"/>
          </p:nvPr>
        </p:nvSpPr>
        <p:spPr/>
        <p:txBody>
          <a:bodyPr/>
          <a:lstStyle/>
          <a:p>
            <a:fld id="{3C8F5387-4512-4F57-9F82-DECD7B1BDA0E}" type="datetimeFigureOut">
              <a:rPr lang="en-IN" smtClean="0"/>
              <a:t>25-02-2026</a:t>
            </a:fld>
            <a:endParaRPr lang="en-IN"/>
          </a:p>
        </p:txBody>
      </p:sp>
      <p:sp>
        <p:nvSpPr>
          <p:cNvPr id="3" name="Footer Placeholder 2">
            <a:extLst>
              <a:ext uri="{FF2B5EF4-FFF2-40B4-BE49-F238E27FC236}">
                <a16:creationId xmlns:a16="http://schemas.microsoft.com/office/drawing/2014/main" id="{750C86FE-878A-A1DE-D160-94C2E1C37A7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F8091AD-0CEE-3950-472E-CA0A7FC4DC54}"/>
              </a:ext>
            </a:extLst>
          </p:cNvPr>
          <p:cNvSpPr>
            <a:spLocks noGrp="1"/>
          </p:cNvSpPr>
          <p:nvPr>
            <p:ph type="sldNum" sz="quarter" idx="12"/>
          </p:nvPr>
        </p:nvSpPr>
        <p:spPr/>
        <p:txBody>
          <a:bodyPr/>
          <a:lstStyle/>
          <a:p>
            <a:fld id="{FF6FC6E0-6AE0-405B-BE6F-EC5351A097A8}" type="slidenum">
              <a:rPr lang="en-IN" smtClean="0"/>
              <a:t>‹#›</a:t>
            </a:fld>
            <a:endParaRPr lang="en-IN"/>
          </a:p>
        </p:txBody>
      </p:sp>
    </p:spTree>
    <p:extLst>
      <p:ext uri="{BB962C8B-B14F-4D97-AF65-F5344CB8AC3E}">
        <p14:creationId xmlns:p14="http://schemas.microsoft.com/office/powerpoint/2010/main" val="697578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25456-AD56-4A99-7780-86B07619E1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106D8A2-7961-A58F-9C91-FA3BD4F775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6D58B06-513A-BFE6-36F6-6A48786268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C22C10-B4C8-8437-3035-D3406A4D3A9F}"/>
              </a:ext>
            </a:extLst>
          </p:cNvPr>
          <p:cNvSpPr>
            <a:spLocks noGrp="1"/>
          </p:cNvSpPr>
          <p:nvPr>
            <p:ph type="dt" sz="half" idx="10"/>
          </p:nvPr>
        </p:nvSpPr>
        <p:spPr/>
        <p:txBody>
          <a:bodyPr/>
          <a:lstStyle/>
          <a:p>
            <a:fld id="{3C8F5387-4512-4F57-9F82-DECD7B1BDA0E}" type="datetimeFigureOut">
              <a:rPr lang="en-IN" smtClean="0"/>
              <a:t>25-02-2026</a:t>
            </a:fld>
            <a:endParaRPr lang="en-IN"/>
          </a:p>
        </p:txBody>
      </p:sp>
      <p:sp>
        <p:nvSpPr>
          <p:cNvPr id="6" name="Footer Placeholder 5">
            <a:extLst>
              <a:ext uri="{FF2B5EF4-FFF2-40B4-BE49-F238E27FC236}">
                <a16:creationId xmlns:a16="http://schemas.microsoft.com/office/drawing/2014/main" id="{E74819BD-663E-8D32-2ED7-AF14589656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A58589-217B-23DF-9196-94C03F3B1FDE}"/>
              </a:ext>
            </a:extLst>
          </p:cNvPr>
          <p:cNvSpPr>
            <a:spLocks noGrp="1"/>
          </p:cNvSpPr>
          <p:nvPr>
            <p:ph type="sldNum" sz="quarter" idx="12"/>
          </p:nvPr>
        </p:nvSpPr>
        <p:spPr/>
        <p:txBody>
          <a:bodyPr/>
          <a:lstStyle/>
          <a:p>
            <a:fld id="{FF6FC6E0-6AE0-405B-BE6F-EC5351A097A8}" type="slidenum">
              <a:rPr lang="en-IN" smtClean="0"/>
              <a:t>‹#›</a:t>
            </a:fld>
            <a:endParaRPr lang="en-IN"/>
          </a:p>
        </p:txBody>
      </p:sp>
    </p:spTree>
    <p:extLst>
      <p:ext uri="{BB962C8B-B14F-4D97-AF65-F5344CB8AC3E}">
        <p14:creationId xmlns:p14="http://schemas.microsoft.com/office/powerpoint/2010/main" val="243585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543A7-3C73-6854-D968-52C2DBD150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DB041A-4282-B502-0A22-AD12AD92EE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549DAB3-C5CF-A2B8-07A5-A597AF024E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767DE2-9BA0-3169-17F8-3588BC38F038}"/>
              </a:ext>
            </a:extLst>
          </p:cNvPr>
          <p:cNvSpPr>
            <a:spLocks noGrp="1"/>
          </p:cNvSpPr>
          <p:nvPr>
            <p:ph type="dt" sz="half" idx="10"/>
          </p:nvPr>
        </p:nvSpPr>
        <p:spPr/>
        <p:txBody>
          <a:bodyPr/>
          <a:lstStyle/>
          <a:p>
            <a:fld id="{3C8F5387-4512-4F57-9F82-DECD7B1BDA0E}" type="datetimeFigureOut">
              <a:rPr lang="en-IN" smtClean="0"/>
              <a:t>25-02-2026</a:t>
            </a:fld>
            <a:endParaRPr lang="en-IN"/>
          </a:p>
        </p:txBody>
      </p:sp>
      <p:sp>
        <p:nvSpPr>
          <p:cNvPr id="6" name="Footer Placeholder 5">
            <a:extLst>
              <a:ext uri="{FF2B5EF4-FFF2-40B4-BE49-F238E27FC236}">
                <a16:creationId xmlns:a16="http://schemas.microsoft.com/office/drawing/2014/main" id="{3F3F43D4-B6B5-12F4-2709-C9B847597EF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E00D4D-3EB0-7F27-F781-A4B6C6574786}"/>
              </a:ext>
            </a:extLst>
          </p:cNvPr>
          <p:cNvSpPr>
            <a:spLocks noGrp="1"/>
          </p:cNvSpPr>
          <p:nvPr>
            <p:ph type="sldNum" sz="quarter" idx="12"/>
          </p:nvPr>
        </p:nvSpPr>
        <p:spPr/>
        <p:txBody>
          <a:bodyPr/>
          <a:lstStyle/>
          <a:p>
            <a:fld id="{FF6FC6E0-6AE0-405B-BE6F-EC5351A097A8}" type="slidenum">
              <a:rPr lang="en-IN" smtClean="0"/>
              <a:t>‹#›</a:t>
            </a:fld>
            <a:endParaRPr lang="en-IN"/>
          </a:p>
        </p:txBody>
      </p:sp>
    </p:spTree>
    <p:extLst>
      <p:ext uri="{BB962C8B-B14F-4D97-AF65-F5344CB8AC3E}">
        <p14:creationId xmlns:p14="http://schemas.microsoft.com/office/powerpoint/2010/main" val="1948452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26A11-F57C-E6E5-A57E-3A3A6299B68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7D9BA10-3E63-39F2-7C08-02FD93A34D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89B7C3-3E80-0697-DC80-17DD2D7D40E6}"/>
              </a:ext>
            </a:extLst>
          </p:cNvPr>
          <p:cNvSpPr>
            <a:spLocks noGrp="1"/>
          </p:cNvSpPr>
          <p:nvPr>
            <p:ph type="dt" sz="half" idx="10"/>
          </p:nvPr>
        </p:nvSpPr>
        <p:spPr/>
        <p:txBody>
          <a:bodyPr/>
          <a:lstStyle/>
          <a:p>
            <a:fld id="{3C8F5387-4512-4F57-9F82-DECD7B1BDA0E}" type="datetimeFigureOut">
              <a:rPr lang="en-IN" smtClean="0"/>
              <a:t>25-02-2026</a:t>
            </a:fld>
            <a:endParaRPr lang="en-IN"/>
          </a:p>
        </p:txBody>
      </p:sp>
      <p:sp>
        <p:nvSpPr>
          <p:cNvPr id="5" name="Footer Placeholder 4">
            <a:extLst>
              <a:ext uri="{FF2B5EF4-FFF2-40B4-BE49-F238E27FC236}">
                <a16:creationId xmlns:a16="http://schemas.microsoft.com/office/drawing/2014/main" id="{D9E00322-2318-B6E1-94EC-68C2F07F33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41C20F-D348-7C5B-20E3-1F3C5877236E}"/>
              </a:ext>
            </a:extLst>
          </p:cNvPr>
          <p:cNvSpPr>
            <a:spLocks noGrp="1"/>
          </p:cNvSpPr>
          <p:nvPr>
            <p:ph type="sldNum" sz="quarter" idx="12"/>
          </p:nvPr>
        </p:nvSpPr>
        <p:spPr/>
        <p:txBody>
          <a:bodyPr/>
          <a:lstStyle/>
          <a:p>
            <a:fld id="{FF6FC6E0-6AE0-405B-BE6F-EC5351A097A8}" type="slidenum">
              <a:rPr lang="en-IN" smtClean="0"/>
              <a:t>‹#›</a:t>
            </a:fld>
            <a:endParaRPr lang="en-IN"/>
          </a:p>
        </p:txBody>
      </p:sp>
    </p:spTree>
    <p:extLst>
      <p:ext uri="{BB962C8B-B14F-4D97-AF65-F5344CB8AC3E}">
        <p14:creationId xmlns:p14="http://schemas.microsoft.com/office/powerpoint/2010/main" val="523227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3EC28D-0DA7-6AEC-C1DD-70D7555A51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A12243-C324-1EDF-4C56-7C52F31FEA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278E2C-3786-A975-A286-6AD12F96CA76}"/>
              </a:ext>
            </a:extLst>
          </p:cNvPr>
          <p:cNvSpPr>
            <a:spLocks noGrp="1"/>
          </p:cNvSpPr>
          <p:nvPr>
            <p:ph type="dt" sz="half" idx="10"/>
          </p:nvPr>
        </p:nvSpPr>
        <p:spPr/>
        <p:txBody>
          <a:bodyPr/>
          <a:lstStyle/>
          <a:p>
            <a:fld id="{3C8F5387-4512-4F57-9F82-DECD7B1BDA0E}" type="datetimeFigureOut">
              <a:rPr lang="en-IN" smtClean="0"/>
              <a:t>25-02-2026</a:t>
            </a:fld>
            <a:endParaRPr lang="en-IN"/>
          </a:p>
        </p:txBody>
      </p:sp>
      <p:sp>
        <p:nvSpPr>
          <p:cNvPr id="5" name="Footer Placeholder 4">
            <a:extLst>
              <a:ext uri="{FF2B5EF4-FFF2-40B4-BE49-F238E27FC236}">
                <a16:creationId xmlns:a16="http://schemas.microsoft.com/office/drawing/2014/main" id="{3DA25BA2-18E3-69E3-D25D-A39A42A24E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3C28BB-D9C8-D79A-9B81-4549D6B69947}"/>
              </a:ext>
            </a:extLst>
          </p:cNvPr>
          <p:cNvSpPr>
            <a:spLocks noGrp="1"/>
          </p:cNvSpPr>
          <p:nvPr>
            <p:ph type="sldNum" sz="quarter" idx="12"/>
          </p:nvPr>
        </p:nvSpPr>
        <p:spPr/>
        <p:txBody>
          <a:bodyPr/>
          <a:lstStyle/>
          <a:p>
            <a:fld id="{FF6FC6E0-6AE0-405B-BE6F-EC5351A097A8}" type="slidenum">
              <a:rPr lang="en-IN" smtClean="0"/>
              <a:t>‹#›</a:t>
            </a:fld>
            <a:endParaRPr lang="en-IN"/>
          </a:p>
        </p:txBody>
      </p:sp>
    </p:spTree>
    <p:extLst>
      <p:ext uri="{BB962C8B-B14F-4D97-AF65-F5344CB8AC3E}">
        <p14:creationId xmlns:p14="http://schemas.microsoft.com/office/powerpoint/2010/main" val="2322392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F63BDE-432D-754E-78B4-320B79B1C3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FDEA153-84AD-F84C-7065-BC4EF77C2C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3547E4-D718-0F8B-47AF-0630F9B758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8F5387-4512-4F57-9F82-DECD7B1BDA0E}" type="datetimeFigureOut">
              <a:rPr lang="en-IN" smtClean="0"/>
              <a:t>25-02-2026</a:t>
            </a:fld>
            <a:endParaRPr lang="en-IN"/>
          </a:p>
        </p:txBody>
      </p:sp>
      <p:sp>
        <p:nvSpPr>
          <p:cNvPr id="5" name="Footer Placeholder 4">
            <a:extLst>
              <a:ext uri="{FF2B5EF4-FFF2-40B4-BE49-F238E27FC236}">
                <a16:creationId xmlns:a16="http://schemas.microsoft.com/office/drawing/2014/main" id="{1CDB63E1-8408-72C5-2D63-D86EBBEDE6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72BAE0A-9682-4B1D-211D-D63C1CFB05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6FC6E0-6AE0-405B-BE6F-EC5351A097A8}" type="slidenum">
              <a:rPr lang="en-IN" smtClean="0"/>
              <a:t>‹#›</a:t>
            </a:fld>
            <a:endParaRPr lang="en-IN"/>
          </a:p>
        </p:txBody>
      </p:sp>
    </p:spTree>
    <p:extLst>
      <p:ext uri="{BB962C8B-B14F-4D97-AF65-F5344CB8AC3E}">
        <p14:creationId xmlns:p14="http://schemas.microsoft.com/office/powerpoint/2010/main" val="35424461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0155A-AE59-A5B2-E891-9056FC06E493}"/>
              </a:ext>
            </a:extLst>
          </p:cNvPr>
          <p:cNvSpPr>
            <a:spLocks noGrp="1"/>
          </p:cNvSpPr>
          <p:nvPr>
            <p:ph type="title"/>
          </p:nvPr>
        </p:nvSpPr>
        <p:spPr>
          <a:xfrm>
            <a:off x="838200" y="365126"/>
            <a:ext cx="10515600" cy="1105866"/>
          </a:xfrm>
        </p:spPr>
        <p:txBody>
          <a:bodyPr/>
          <a:lstStyle/>
          <a:p>
            <a:pPr algn="ctr"/>
            <a:r>
              <a:rPr lang="en-IN" b="1" dirty="0"/>
              <a:t>Network voltage management</a:t>
            </a:r>
          </a:p>
        </p:txBody>
      </p:sp>
      <p:sp>
        <p:nvSpPr>
          <p:cNvPr id="3" name="Content Placeholder 2">
            <a:extLst>
              <a:ext uri="{FF2B5EF4-FFF2-40B4-BE49-F238E27FC236}">
                <a16:creationId xmlns:a16="http://schemas.microsoft.com/office/drawing/2014/main" id="{0A6E61D3-6B9A-7E3B-77CD-232C32693915}"/>
              </a:ext>
            </a:extLst>
          </p:cNvPr>
          <p:cNvSpPr>
            <a:spLocks noGrp="1"/>
          </p:cNvSpPr>
          <p:nvPr>
            <p:ph idx="1"/>
          </p:nvPr>
        </p:nvSpPr>
        <p:spPr>
          <a:xfrm>
            <a:off x="838200" y="1470993"/>
            <a:ext cx="11229391" cy="5103236"/>
          </a:xfrm>
        </p:spPr>
        <p:txBody>
          <a:bodyPr>
            <a:normAutofit/>
          </a:bodyPr>
          <a:lstStyle/>
          <a:p>
            <a:r>
              <a:rPr lang="en-US" sz="2400" dirty="0"/>
              <a:t>Network voltage management refers to the process of regulating and maintaining a stable voltage level within an electrical power network. </a:t>
            </a:r>
          </a:p>
          <a:p>
            <a:r>
              <a:rPr lang="en-US" sz="2400" dirty="0"/>
              <a:t>Voltage management is critical to ensuring the safe and efficient operation of electrical equipment and preventing damage to the power grid.</a:t>
            </a:r>
          </a:p>
          <a:p>
            <a:r>
              <a:rPr lang="en-US" sz="2400" dirty="0"/>
              <a:t>One of the primary goals of voltage management is to maintain the voltage level within a specified range, typically between 110V and 240V. </a:t>
            </a:r>
          </a:p>
          <a:p>
            <a:r>
              <a:rPr lang="en-US" sz="2400" dirty="0"/>
              <a:t>Voltage can fluctuate due to factors such as changes in demand, fluctuations in supply, and other external factors such as weather conditions. </a:t>
            </a:r>
          </a:p>
          <a:p>
            <a:r>
              <a:rPr lang="en-US" sz="2400" dirty="0"/>
              <a:t>Voltage management techniques aim to mitigate these fluctuations and maintain a stable voltage level within the specified range.</a:t>
            </a:r>
          </a:p>
          <a:p>
            <a:r>
              <a:rPr lang="en-US" sz="2400" dirty="0"/>
              <a:t>Overall, effective voltage management is critical to ensuring the safe and efficient operation of electrical networks, reducing downtime, and minimizing the risk of damage to equipment.</a:t>
            </a:r>
          </a:p>
        </p:txBody>
      </p:sp>
    </p:spTree>
    <p:extLst>
      <p:ext uri="{BB962C8B-B14F-4D97-AF65-F5344CB8AC3E}">
        <p14:creationId xmlns:p14="http://schemas.microsoft.com/office/powerpoint/2010/main" val="31299185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1757A-7B8A-B814-8A47-FB35868CFCE8}"/>
              </a:ext>
            </a:extLst>
          </p:cNvPr>
          <p:cNvSpPr>
            <a:spLocks noGrp="1"/>
          </p:cNvSpPr>
          <p:nvPr>
            <p:ph type="title"/>
          </p:nvPr>
        </p:nvSpPr>
        <p:spPr/>
        <p:txBody>
          <a:bodyPr/>
          <a:lstStyle/>
          <a:p>
            <a:pPr algn="ctr"/>
            <a:r>
              <a:rPr lang="en-IN" b="1" dirty="0"/>
              <a:t>Network voltage management</a:t>
            </a:r>
          </a:p>
        </p:txBody>
      </p:sp>
      <p:sp>
        <p:nvSpPr>
          <p:cNvPr id="3" name="Content Placeholder 2">
            <a:extLst>
              <a:ext uri="{FF2B5EF4-FFF2-40B4-BE49-F238E27FC236}">
                <a16:creationId xmlns:a16="http://schemas.microsoft.com/office/drawing/2014/main" id="{C5B4E52C-A4DD-4D10-3127-6FFCE1C7AA0F}"/>
              </a:ext>
            </a:extLst>
          </p:cNvPr>
          <p:cNvSpPr>
            <a:spLocks noGrp="1"/>
          </p:cNvSpPr>
          <p:nvPr>
            <p:ph idx="1"/>
          </p:nvPr>
        </p:nvSpPr>
        <p:spPr>
          <a:xfrm>
            <a:off x="859972" y="1690688"/>
            <a:ext cx="11332028" cy="4715933"/>
          </a:xfrm>
        </p:spPr>
        <p:txBody>
          <a:bodyPr>
            <a:normAutofit/>
          </a:bodyPr>
          <a:lstStyle/>
          <a:p>
            <a:r>
              <a:rPr lang="en-US" sz="2400" dirty="0"/>
              <a:t>There are several techniques used in voltage management, including:</a:t>
            </a:r>
          </a:p>
          <a:p>
            <a:pPr marL="514350" indent="-514350">
              <a:buFont typeface="+mj-lt"/>
              <a:buAutoNum type="arabicPeriod"/>
            </a:pPr>
            <a:r>
              <a:rPr lang="en-US" sz="2400" b="1" dirty="0"/>
              <a:t>Load management: </a:t>
            </a:r>
          </a:p>
          <a:p>
            <a:pPr lvl="1"/>
            <a:r>
              <a:rPr lang="en-US" sz="2000" dirty="0"/>
              <a:t>This involves adjusting the amount of load on the network to regulate voltage levels. </a:t>
            </a:r>
          </a:p>
          <a:p>
            <a:pPr lvl="1"/>
            <a:r>
              <a:rPr lang="en-US" sz="2000" dirty="0"/>
              <a:t>Load management can be achieved by adjusting the voltage levels at the source, using voltage regulators, or by adjusting the amount of power supplied to individual loads.</a:t>
            </a:r>
          </a:p>
          <a:p>
            <a:pPr marL="514350" indent="-514350">
              <a:buFont typeface="+mj-lt"/>
              <a:buAutoNum type="arabicPeriod"/>
            </a:pPr>
            <a:r>
              <a:rPr lang="en-US" sz="2400" b="1" dirty="0"/>
              <a:t>Reactive power compensation: </a:t>
            </a:r>
          </a:p>
          <a:p>
            <a:pPr lvl="1"/>
            <a:r>
              <a:rPr lang="en-US" sz="2000" dirty="0"/>
              <a:t>Reactive power compensation is defined as the management of reactive power to improve the performance of alternating-current (ac) power systems. </a:t>
            </a:r>
          </a:p>
          <a:p>
            <a:pPr lvl="1"/>
            <a:r>
              <a:rPr lang="en-US" sz="2000" dirty="0"/>
              <a:t>In general, the problem of reactive power compensation is related to load and voltage support. </a:t>
            </a:r>
          </a:p>
          <a:p>
            <a:pPr lvl="1"/>
            <a:r>
              <a:rPr lang="en-US" sz="2000" dirty="0"/>
              <a:t>Reactive power compensation involves the use of reactive power devices such as capacitors and inductors to manage voltage levels. </a:t>
            </a:r>
          </a:p>
          <a:p>
            <a:pPr lvl="1"/>
            <a:r>
              <a:rPr lang="en-US" sz="2000" dirty="0"/>
              <a:t>These devices can be installed at various points in the network to maintain a stable voltage level.</a:t>
            </a:r>
          </a:p>
        </p:txBody>
      </p:sp>
    </p:spTree>
    <p:extLst>
      <p:ext uri="{BB962C8B-B14F-4D97-AF65-F5344CB8AC3E}">
        <p14:creationId xmlns:p14="http://schemas.microsoft.com/office/powerpoint/2010/main" val="1252532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1757A-7B8A-B814-8A47-FB35868CFCE8}"/>
              </a:ext>
            </a:extLst>
          </p:cNvPr>
          <p:cNvSpPr>
            <a:spLocks noGrp="1"/>
          </p:cNvSpPr>
          <p:nvPr>
            <p:ph type="title"/>
          </p:nvPr>
        </p:nvSpPr>
        <p:spPr/>
        <p:txBody>
          <a:bodyPr/>
          <a:lstStyle/>
          <a:p>
            <a:pPr algn="ctr"/>
            <a:r>
              <a:rPr lang="en-IN" b="1" dirty="0"/>
              <a:t>Network voltage management</a:t>
            </a:r>
          </a:p>
        </p:txBody>
      </p:sp>
      <p:sp>
        <p:nvSpPr>
          <p:cNvPr id="3" name="Content Placeholder 2">
            <a:extLst>
              <a:ext uri="{FF2B5EF4-FFF2-40B4-BE49-F238E27FC236}">
                <a16:creationId xmlns:a16="http://schemas.microsoft.com/office/drawing/2014/main" id="{C5B4E52C-A4DD-4D10-3127-6FFCE1C7AA0F}"/>
              </a:ext>
            </a:extLst>
          </p:cNvPr>
          <p:cNvSpPr>
            <a:spLocks noGrp="1"/>
          </p:cNvSpPr>
          <p:nvPr>
            <p:ph idx="1"/>
          </p:nvPr>
        </p:nvSpPr>
        <p:spPr>
          <a:xfrm>
            <a:off x="859972" y="1690688"/>
            <a:ext cx="11332028" cy="4715933"/>
          </a:xfrm>
        </p:spPr>
        <p:txBody>
          <a:bodyPr>
            <a:normAutofit/>
          </a:bodyPr>
          <a:lstStyle/>
          <a:p>
            <a:pPr marL="514350" indent="-514350">
              <a:buFont typeface="+mj-lt"/>
              <a:buAutoNum type="arabicPeriod" startAt="3"/>
            </a:pPr>
            <a:r>
              <a:rPr lang="en-US" sz="2400" b="1" dirty="0"/>
              <a:t>Voltage regulation: </a:t>
            </a:r>
          </a:p>
          <a:p>
            <a:pPr lvl="1"/>
            <a:r>
              <a:rPr lang="en-US" sz="2000" dirty="0"/>
              <a:t>Voltage regulation involves adjusting the voltage level at the source to ensure that it remains within the specified range. </a:t>
            </a:r>
          </a:p>
          <a:p>
            <a:pPr lvl="1"/>
            <a:r>
              <a:rPr lang="en-US" sz="2000" dirty="0"/>
              <a:t>This can be achieved by using voltage regulators or transformers.</a:t>
            </a:r>
          </a:p>
          <a:p>
            <a:pPr marL="514350" indent="-514350">
              <a:buFont typeface="+mj-lt"/>
              <a:buAutoNum type="arabicPeriod" startAt="3"/>
            </a:pPr>
            <a:r>
              <a:rPr lang="en-US" sz="2400" b="1" dirty="0"/>
              <a:t>Power factor correction:</a:t>
            </a:r>
            <a:r>
              <a:rPr lang="en-US" sz="2400" dirty="0"/>
              <a:t> </a:t>
            </a:r>
          </a:p>
          <a:p>
            <a:pPr lvl="1"/>
            <a:r>
              <a:rPr lang="en-US" sz="2000" dirty="0"/>
              <a:t>Power factor correction involves improving the power factor of the network to reduce losses and improve efficiency. </a:t>
            </a:r>
          </a:p>
          <a:p>
            <a:pPr lvl="1"/>
            <a:r>
              <a:rPr lang="en-US" sz="2000" dirty="0"/>
              <a:t>This can be achieved by installing capacitors or other reactive power devices. </a:t>
            </a:r>
          </a:p>
          <a:p>
            <a:pPr lvl="1"/>
            <a:r>
              <a:rPr lang="en-US" sz="2000" dirty="0"/>
              <a:t>Power factor correction is the process of compensating for the lagging current by creating a leading current by connecting capacitors to the supply. </a:t>
            </a:r>
          </a:p>
          <a:p>
            <a:pPr lvl="1"/>
            <a:r>
              <a:rPr lang="en-US" sz="2000" dirty="0"/>
              <a:t>A sufficient capacitance is connected so that the power factor is adjusted to be as close to unity as possible. </a:t>
            </a:r>
          </a:p>
          <a:p>
            <a:pPr marL="514350" indent="-514350">
              <a:buFont typeface="+mj-lt"/>
              <a:buAutoNum type="arabicPeriod" startAt="3"/>
            </a:pPr>
            <a:endParaRPr lang="en-US" sz="2400" dirty="0"/>
          </a:p>
          <a:p>
            <a:endParaRPr lang="en-US" sz="2000" dirty="0"/>
          </a:p>
          <a:p>
            <a:endParaRPr lang="en-IN" sz="2000" dirty="0"/>
          </a:p>
        </p:txBody>
      </p:sp>
    </p:spTree>
    <p:extLst>
      <p:ext uri="{BB962C8B-B14F-4D97-AF65-F5344CB8AC3E}">
        <p14:creationId xmlns:p14="http://schemas.microsoft.com/office/powerpoint/2010/main" val="980453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BF641-4B89-F08E-5702-525A70938276}"/>
              </a:ext>
            </a:extLst>
          </p:cNvPr>
          <p:cNvSpPr>
            <a:spLocks noGrp="1"/>
          </p:cNvSpPr>
          <p:nvPr>
            <p:ph type="title"/>
          </p:nvPr>
        </p:nvSpPr>
        <p:spPr>
          <a:xfrm>
            <a:off x="886408" y="609601"/>
            <a:ext cx="9930818" cy="1191208"/>
          </a:xfrm>
        </p:spPr>
        <p:txBody>
          <a:bodyPr/>
          <a:lstStyle/>
          <a:p>
            <a:pPr algn="ctr"/>
            <a:r>
              <a:rPr lang="en-IN" b="1" dirty="0"/>
              <a:t>Network voltage management</a:t>
            </a:r>
          </a:p>
        </p:txBody>
      </p:sp>
      <p:sp>
        <p:nvSpPr>
          <p:cNvPr id="3" name="Content Placeholder 2">
            <a:extLst>
              <a:ext uri="{FF2B5EF4-FFF2-40B4-BE49-F238E27FC236}">
                <a16:creationId xmlns:a16="http://schemas.microsoft.com/office/drawing/2014/main" id="{87BB5225-FAED-BBDF-2828-347EE025A761}"/>
              </a:ext>
            </a:extLst>
          </p:cNvPr>
          <p:cNvSpPr>
            <a:spLocks noGrp="1"/>
          </p:cNvSpPr>
          <p:nvPr>
            <p:ph idx="1"/>
          </p:nvPr>
        </p:nvSpPr>
        <p:spPr>
          <a:xfrm>
            <a:off x="786104" y="1893589"/>
            <a:ext cx="10131425" cy="4603966"/>
          </a:xfrm>
        </p:spPr>
        <p:txBody>
          <a:bodyPr>
            <a:normAutofit/>
          </a:bodyPr>
          <a:lstStyle/>
          <a:p>
            <a:pPr marL="457200" indent="-457200" algn="just">
              <a:buFont typeface="+mj-lt"/>
              <a:buAutoNum type="arabicPeriod" startAt="4"/>
            </a:pPr>
            <a:r>
              <a:rPr lang="en-US" sz="2400" b="1" dirty="0"/>
              <a:t>Power factor correction:</a:t>
            </a:r>
            <a:r>
              <a:rPr lang="en-US" sz="2400" dirty="0"/>
              <a:t> </a:t>
            </a:r>
          </a:p>
          <a:p>
            <a:pPr lvl="1" algn="just"/>
            <a:r>
              <a:rPr lang="en-US" sz="2000" dirty="0"/>
              <a:t>cos θ = Power factor of the circuit i.e. phase difference between current and voltage waves. </a:t>
            </a:r>
          </a:p>
          <a:p>
            <a:pPr lvl="1" algn="just"/>
            <a:r>
              <a:rPr lang="en-US" sz="2000" dirty="0"/>
              <a:t>So, if we put cos 90° = 0, then the overall power of the circuit will be zero (i.e. In a pure Inductive circuit where voltage is leading by 90° from respectively). Ideal value of power factor is unity (cos θ=1) which enhances the efficiency of the system.</a:t>
            </a:r>
          </a:p>
          <a:p>
            <a:pPr lvl="1" algn="just"/>
            <a:r>
              <a:rPr lang="en-US" sz="2000" dirty="0"/>
              <a:t>Power factor compensation can be active or passive. </a:t>
            </a:r>
          </a:p>
          <a:p>
            <a:pPr lvl="1" algn="just"/>
            <a:r>
              <a:rPr lang="en-US" sz="2000" b="1" dirty="0"/>
              <a:t>Passive power factor correction </a:t>
            </a:r>
            <a:r>
              <a:rPr lang="en-US" sz="2000" dirty="0"/>
              <a:t>involves the use of capacitors. </a:t>
            </a:r>
          </a:p>
          <a:p>
            <a:pPr lvl="1" algn="just"/>
            <a:r>
              <a:rPr lang="en-US" sz="2000" b="1" dirty="0"/>
              <a:t>Active power factor correction</a:t>
            </a:r>
            <a:r>
              <a:rPr lang="en-US" sz="2000" dirty="0"/>
              <a:t> involves the adjustment of firing angle of devices like thyristor.</a:t>
            </a:r>
          </a:p>
          <a:p>
            <a:pPr algn="just"/>
            <a:endParaRPr lang="en-US" sz="2000" dirty="0"/>
          </a:p>
          <a:p>
            <a:endParaRPr lang="en-IN" dirty="0"/>
          </a:p>
        </p:txBody>
      </p:sp>
    </p:spTree>
    <p:extLst>
      <p:ext uri="{BB962C8B-B14F-4D97-AF65-F5344CB8AC3E}">
        <p14:creationId xmlns:p14="http://schemas.microsoft.com/office/powerpoint/2010/main" val="4054179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64E51-25E5-C14F-56DA-79F2E22A75EB}"/>
              </a:ext>
            </a:extLst>
          </p:cNvPr>
          <p:cNvSpPr>
            <a:spLocks noGrp="1"/>
          </p:cNvSpPr>
          <p:nvPr>
            <p:ph type="title"/>
          </p:nvPr>
        </p:nvSpPr>
        <p:spPr/>
        <p:txBody>
          <a:bodyPr/>
          <a:lstStyle/>
          <a:p>
            <a:pPr algn="ctr"/>
            <a:r>
              <a:rPr lang="en-IN" b="1" dirty="0"/>
              <a:t>Power Quality Management</a:t>
            </a:r>
          </a:p>
        </p:txBody>
      </p:sp>
      <p:sp>
        <p:nvSpPr>
          <p:cNvPr id="3" name="Content Placeholder 2">
            <a:extLst>
              <a:ext uri="{FF2B5EF4-FFF2-40B4-BE49-F238E27FC236}">
                <a16:creationId xmlns:a16="http://schemas.microsoft.com/office/drawing/2014/main" id="{BEE04917-FE71-2A42-3102-986E2FBF7285}"/>
              </a:ext>
            </a:extLst>
          </p:cNvPr>
          <p:cNvSpPr>
            <a:spLocks noGrp="1"/>
          </p:cNvSpPr>
          <p:nvPr>
            <p:ph idx="1"/>
          </p:nvPr>
        </p:nvSpPr>
        <p:spPr>
          <a:xfrm>
            <a:off x="644590" y="1516916"/>
            <a:ext cx="10902819" cy="5062788"/>
          </a:xfrm>
        </p:spPr>
        <p:txBody>
          <a:bodyPr>
            <a:normAutofit/>
          </a:bodyPr>
          <a:lstStyle/>
          <a:p>
            <a:r>
              <a:rPr lang="en-US" sz="2400" dirty="0"/>
              <a:t>Power quality management refers to the process of ensuring the quality of electrical power supplied to consumers. </a:t>
            </a:r>
          </a:p>
          <a:p>
            <a:r>
              <a:rPr lang="en-US" sz="2400" dirty="0"/>
              <a:t>It involves monitoring, controlling, and improving various aspects of power quality, including voltage level, frequency, harmonics, transients, and interruptions.</a:t>
            </a:r>
          </a:p>
          <a:p>
            <a:r>
              <a:rPr lang="en-US" sz="2400" dirty="0"/>
              <a:t>Poor power quality can cause problems such as equipment failure, production losses, and safety hazards. </a:t>
            </a:r>
          </a:p>
          <a:p>
            <a:r>
              <a:rPr lang="en-US" sz="2400" dirty="0"/>
              <a:t>Power quality management aims to minimize these problems and ensure the reliable and efficient operation of electrical systems.</a:t>
            </a:r>
          </a:p>
          <a:p>
            <a:r>
              <a:rPr lang="en-US" sz="2400" dirty="0"/>
              <a:t>Some common power quality management techniques include power factor correction, voltage regulation, harmonic filtering, surge suppression, and uninterruptible power supply (UPS) systems. </a:t>
            </a:r>
          </a:p>
          <a:p>
            <a:r>
              <a:rPr lang="en-US" sz="2400" dirty="0"/>
              <a:t>Power quality monitoring and analysis tools are also used to identify and diagnose power quality problems and implement appropriate solutions.</a:t>
            </a:r>
          </a:p>
        </p:txBody>
      </p:sp>
    </p:spTree>
    <p:extLst>
      <p:ext uri="{BB962C8B-B14F-4D97-AF65-F5344CB8AC3E}">
        <p14:creationId xmlns:p14="http://schemas.microsoft.com/office/powerpoint/2010/main" val="3443667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B4317-9751-D4E2-73DE-B49D8613E03F}"/>
              </a:ext>
            </a:extLst>
          </p:cNvPr>
          <p:cNvSpPr>
            <a:spLocks noGrp="1"/>
          </p:cNvSpPr>
          <p:nvPr>
            <p:ph type="title"/>
          </p:nvPr>
        </p:nvSpPr>
        <p:spPr>
          <a:xfrm>
            <a:off x="838200" y="365125"/>
            <a:ext cx="10515600" cy="917023"/>
          </a:xfrm>
        </p:spPr>
        <p:txBody>
          <a:bodyPr>
            <a:normAutofit/>
          </a:bodyPr>
          <a:lstStyle/>
          <a:p>
            <a:pPr algn="ctr"/>
            <a:r>
              <a:rPr lang="en-IN" b="1" dirty="0"/>
              <a:t>Power Quality Management</a:t>
            </a:r>
            <a:endParaRPr lang="en-IN" sz="5400" b="1" dirty="0"/>
          </a:p>
        </p:txBody>
      </p:sp>
      <p:sp>
        <p:nvSpPr>
          <p:cNvPr id="3" name="Content Placeholder 2">
            <a:extLst>
              <a:ext uri="{FF2B5EF4-FFF2-40B4-BE49-F238E27FC236}">
                <a16:creationId xmlns:a16="http://schemas.microsoft.com/office/drawing/2014/main" id="{184982C1-E80D-5104-F9AE-BF528CCDE2DD}"/>
              </a:ext>
            </a:extLst>
          </p:cNvPr>
          <p:cNvSpPr>
            <a:spLocks noGrp="1"/>
          </p:cNvSpPr>
          <p:nvPr>
            <p:ph idx="1"/>
          </p:nvPr>
        </p:nvSpPr>
        <p:spPr>
          <a:xfrm>
            <a:off x="838199" y="1451113"/>
            <a:ext cx="11088757" cy="5406887"/>
          </a:xfrm>
        </p:spPr>
        <p:txBody>
          <a:bodyPr>
            <a:normAutofit/>
          </a:bodyPr>
          <a:lstStyle/>
          <a:p>
            <a:r>
              <a:rPr lang="en-US" dirty="0"/>
              <a:t>Power quality management techniques can include:</a:t>
            </a:r>
            <a:endParaRPr lang="en-US" sz="3200" dirty="0"/>
          </a:p>
          <a:p>
            <a:pPr marL="893763" lvl="1" indent="-436563">
              <a:buFont typeface="+mj-lt"/>
              <a:buAutoNum type="arabicPeriod"/>
            </a:pPr>
            <a:r>
              <a:rPr lang="en-US" b="1" dirty="0"/>
              <a:t>Power factor correction: </a:t>
            </a:r>
            <a:r>
              <a:rPr lang="en-US" dirty="0"/>
              <a:t>This involves adjusting the ratio of active power to apparent power, which can improve the efficiency of electrical equipment and reduce energy costs.</a:t>
            </a:r>
          </a:p>
          <a:p>
            <a:pPr marL="893763" lvl="1" indent="-436563">
              <a:buFont typeface="+mj-lt"/>
              <a:buAutoNum type="arabicPeriod"/>
            </a:pPr>
            <a:r>
              <a:rPr lang="en-US" b="1" dirty="0"/>
              <a:t>Voltage regulation: </a:t>
            </a:r>
            <a:r>
              <a:rPr lang="en-US" dirty="0"/>
              <a:t>This involves regulating the voltage level to ensure that it remains within a certain range, which can prevent equipment damage and ensure proper operation.</a:t>
            </a:r>
          </a:p>
          <a:p>
            <a:pPr marL="893763" lvl="1" indent="-436563">
              <a:buFont typeface="+mj-lt"/>
              <a:buAutoNum type="arabicPeriod"/>
            </a:pPr>
            <a:r>
              <a:rPr lang="en-US" b="1" dirty="0"/>
              <a:t>Harmonic filtering:</a:t>
            </a:r>
            <a:r>
              <a:rPr lang="en-US" dirty="0"/>
              <a:t> This involves removing harmonics from the electrical signal, which can reduce the risk of equipment damage and improve power quality.</a:t>
            </a:r>
          </a:p>
          <a:p>
            <a:pPr marL="893763" lvl="1" indent="-436563">
              <a:buFont typeface="+mj-lt"/>
              <a:buAutoNum type="arabicPeriod"/>
            </a:pPr>
            <a:r>
              <a:rPr lang="en-US" b="1" dirty="0"/>
              <a:t>Surge protection: </a:t>
            </a:r>
            <a:r>
              <a:rPr lang="en-US" dirty="0"/>
              <a:t>This involves protecting equipment from voltage surges caused by lightning, switching operations, or other sources, which can cause equipment damage and downtime.</a:t>
            </a:r>
          </a:p>
          <a:p>
            <a:pPr marL="914400" lvl="1" indent="-457200">
              <a:buFont typeface="+mj-lt"/>
              <a:buAutoNum type="arabicPeriod"/>
            </a:pPr>
            <a:r>
              <a:rPr lang="en-US" b="1" dirty="0"/>
              <a:t>Transient suppression:</a:t>
            </a:r>
            <a:r>
              <a:rPr lang="en-US" dirty="0"/>
              <a:t> This involves suppressing transient voltage spikes, which can cause equipment damage and interfere with equipment operation.</a:t>
            </a:r>
          </a:p>
        </p:txBody>
      </p:sp>
    </p:spTree>
    <p:extLst>
      <p:ext uri="{BB962C8B-B14F-4D97-AF65-F5344CB8AC3E}">
        <p14:creationId xmlns:p14="http://schemas.microsoft.com/office/powerpoint/2010/main" val="4275113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7F182-0CCE-8F80-ECD4-2A74692C1839}"/>
              </a:ext>
            </a:extLst>
          </p:cNvPr>
          <p:cNvSpPr>
            <a:spLocks noGrp="1"/>
          </p:cNvSpPr>
          <p:nvPr>
            <p:ph type="title"/>
          </p:nvPr>
        </p:nvSpPr>
        <p:spPr/>
        <p:txBody>
          <a:bodyPr/>
          <a:lstStyle/>
          <a:p>
            <a:pPr algn="ctr"/>
            <a:r>
              <a:rPr lang="en-IN" b="1" dirty="0"/>
              <a:t>Frequency Management</a:t>
            </a:r>
            <a:endParaRPr lang="en-IN" dirty="0"/>
          </a:p>
        </p:txBody>
      </p:sp>
      <p:sp>
        <p:nvSpPr>
          <p:cNvPr id="3" name="Content Placeholder 2">
            <a:extLst>
              <a:ext uri="{FF2B5EF4-FFF2-40B4-BE49-F238E27FC236}">
                <a16:creationId xmlns:a16="http://schemas.microsoft.com/office/drawing/2014/main" id="{A4D96CD8-68BD-9016-C241-8B9253E7687D}"/>
              </a:ext>
            </a:extLst>
          </p:cNvPr>
          <p:cNvSpPr>
            <a:spLocks noGrp="1"/>
          </p:cNvSpPr>
          <p:nvPr>
            <p:ph idx="1"/>
          </p:nvPr>
        </p:nvSpPr>
        <p:spPr/>
        <p:txBody>
          <a:bodyPr>
            <a:normAutofit/>
          </a:bodyPr>
          <a:lstStyle/>
          <a:p>
            <a:r>
              <a:rPr lang="en-US" sz="2400" dirty="0"/>
              <a:t>Frequency management in the transmission and distribution of electrical energy is the process of maintaining the grid frequency (50 Hz or 60 Hz) within strict, safe, and operational limits by ensuring a continuous, real-time balance between power generation and consumption. When demand exceeds generation, the frequency drops; when generation exceeds demand, the frequency rises.</a:t>
            </a:r>
          </a:p>
          <a:p>
            <a:r>
              <a:rPr lang="en-US" sz="2400" dirty="0"/>
              <a:t>Frequency control is primarily managed at the </a:t>
            </a:r>
            <a:r>
              <a:rPr lang="en-US" sz="2400" b="1" dirty="0"/>
              <a:t>transmission level</a:t>
            </a:r>
            <a:r>
              <a:rPr lang="en-US" sz="2400" dirty="0"/>
              <a:t> by Transmission System Operators (TSOs) using, as of 2025, a combination of traditional spinning reserves and, increasingly, inverter-based resources.</a:t>
            </a:r>
          </a:p>
          <a:p>
            <a:endParaRPr lang="en-IN" sz="2400" dirty="0"/>
          </a:p>
        </p:txBody>
      </p:sp>
    </p:spTree>
    <p:extLst>
      <p:ext uri="{BB962C8B-B14F-4D97-AF65-F5344CB8AC3E}">
        <p14:creationId xmlns:p14="http://schemas.microsoft.com/office/powerpoint/2010/main" val="4286049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6106C-B86E-36DD-FADE-9C0EF1CBE116}"/>
              </a:ext>
            </a:extLst>
          </p:cNvPr>
          <p:cNvSpPr>
            <a:spLocks noGrp="1"/>
          </p:cNvSpPr>
          <p:nvPr>
            <p:ph type="title"/>
          </p:nvPr>
        </p:nvSpPr>
        <p:spPr/>
        <p:txBody>
          <a:bodyPr/>
          <a:lstStyle/>
          <a:p>
            <a:pPr algn="ctr"/>
            <a:r>
              <a:rPr lang="en-IN" b="1" dirty="0"/>
              <a:t>Frequency Management</a:t>
            </a:r>
            <a:endParaRPr lang="en-IN" dirty="0"/>
          </a:p>
        </p:txBody>
      </p:sp>
      <p:sp>
        <p:nvSpPr>
          <p:cNvPr id="4" name="Rectangle 1">
            <a:extLst>
              <a:ext uri="{FF2B5EF4-FFF2-40B4-BE49-F238E27FC236}">
                <a16:creationId xmlns:a16="http://schemas.microsoft.com/office/drawing/2014/main" id="{A194A1F1-108E-02B0-8090-73A238279F4B}"/>
              </a:ext>
            </a:extLst>
          </p:cNvPr>
          <p:cNvSpPr>
            <a:spLocks noGrp="1" noChangeArrowheads="1"/>
          </p:cNvSpPr>
          <p:nvPr>
            <p:ph idx="1"/>
          </p:nvPr>
        </p:nvSpPr>
        <p:spPr bwMode="auto">
          <a:xfrm>
            <a:off x="974476" y="1597223"/>
            <a:ext cx="10097715" cy="419191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1D35"/>
                </a:solidFill>
                <a:effectLst/>
                <a:latin typeface="+mn-lt"/>
              </a:rPr>
              <a:t>Key Levels of Frequency Regulation</a:t>
            </a:r>
            <a:endParaRPr kumimoji="0" lang="en-US" altLang="en-US" sz="24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A0A0A"/>
                </a:solidFill>
                <a:effectLst/>
                <a:latin typeface="+mn-lt"/>
                <a:cs typeface="Arial" panose="020B0604020202020204" pitchFamily="34" charset="0"/>
              </a:rPr>
              <a:t>Frequency regulation is structured into three distinct control levels:</a:t>
            </a:r>
          </a:p>
          <a:p>
            <a:r>
              <a:rPr lang="en-US" sz="2400" b="1" dirty="0">
                <a:latin typeface="+mn-lt"/>
              </a:rPr>
              <a:t>Primary Control (Frequency Containment Reserve - FCR):</a:t>
            </a:r>
            <a:r>
              <a:rPr lang="en-US" sz="2400" dirty="0">
                <a:latin typeface="+mn-lt"/>
              </a:rPr>
              <a:t> Mandatory, automatic response (within 15-30 seconds) by generator governors to stabilize the frequency following a deviation.</a:t>
            </a:r>
          </a:p>
          <a:p>
            <a:r>
              <a:rPr lang="en-US" sz="2400" b="1" dirty="0">
                <a:latin typeface="+mn-lt"/>
              </a:rPr>
              <a:t>Secondary Control (Automatic Generation Control - AGC/</a:t>
            </a:r>
            <a:r>
              <a:rPr lang="en-US" sz="2400" b="1" dirty="0" err="1">
                <a:latin typeface="+mn-lt"/>
              </a:rPr>
              <a:t>aFRR</a:t>
            </a:r>
            <a:r>
              <a:rPr lang="en-US" sz="2400" b="1" dirty="0">
                <a:latin typeface="+mn-lt"/>
              </a:rPr>
              <a:t>):</a:t>
            </a:r>
            <a:r>
              <a:rPr lang="en-US" sz="2400" dirty="0">
                <a:latin typeface="+mn-lt"/>
              </a:rPr>
              <a:t> Automatic, centralized control that restores frequency to the nominal value (50/60 Hz) and balances interchange between control areas within 5 minutes.</a:t>
            </a:r>
          </a:p>
          <a:p>
            <a:r>
              <a:rPr lang="en-US" sz="2400" b="1" dirty="0">
                <a:latin typeface="+mn-lt"/>
              </a:rPr>
              <a:t>Tertiary Control (Manual Regulation - </a:t>
            </a:r>
            <a:r>
              <a:rPr lang="en-US" sz="2400" b="1" dirty="0" err="1">
                <a:latin typeface="+mn-lt"/>
              </a:rPr>
              <a:t>mFRR</a:t>
            </a:r>
            <a:r>
              <a:rPr lang="en-US" sz="2400" b="1" dirty="0">
                <a:latin typeface="+mn-lt"/>
              </a:rPr>
              <a:t>):</a:t>
            </a:r>
            <a:r>
              <a:rPr lang="en-US" sz="2400" dirty="0">
                <a:latin typeface="+mn-lt"/>
              </a:rPr>
              <a:t> Manual, scheduled adjustment of generation to restore secondary reserves and manage network congestion, typically taking 15 minutes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A0A0A"/>
                </a:solidFill>
                <a:effectLst/>
                <a:latin typeface="+mn-lt"/>
                <a:cs typeface="Arial" panose="020B0604020202020204" pitchFamily="34" charset="0"/>
              </a:rPr>
              <a:t> </a:t>
            </a:r>
            <a:endParaRPr kumimoji="0" lang="en-US" altLang="en-US" sz="24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1886145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A55D1-B99B-1739-6B20-5F4470793953}"/>
              </a:ext>
            </a:extLst>
          </p:cNvPr>
          <p:cNvSpPr>
            <a:spLocks noGrp="1"/>
          </p:cNvSpPr>
          <p:nvPr>
            <p:ph type="title"/>
          </p:nvPr>
        </p:nvSpPr>
        <p:spPr/>
        <p:txBody>
          <a:bodyPr/>
          <a:lstStyle/>
          <a:p>
            <a:pPr algn="ctr"/>
            <a:r>
              <a:rPr lang="en-IN" b="1" dirty="0"/>
              <a:t>Frequency Management</a:t>
            </a:r>
            <a:endParaRPr lang="en-IN" dirty="0"/>
          </a:p>
        </p:txBody>
      </p:sp>
      <p:sp>
        <p:nvSpPr>
          <p:cNvPr id="4" name="Rectangle 1">
            <a:extLst>
              <a:ext uri="{FF2B5EF4-FFF2-40B4-BE49-F238E27FC236}">
                <a16:creationId xmlns:a16="http://schemas.microsoft.com/office/drawing/2014/main" id="{4597C5EC-3460-6537-06D0-44B98D54044A}"/>
              </a:ext>
            </a:extLst>
          </p:cNvPr>
          <p:cNvSpPr>
            <a:spLocks noGrp="1" noChangeArrowheads="1"/>
          </p:cNvSpPr>
          <p:nvPr>
            <p:ph idx="1"/>
          </p:nvPr>
        </p:nvSpPr>
        <p:spPr bwMode="auto">
          <a:xfrm>
            <a:off x="899491" y="1584935"/>
            <a:ext cx="10393017" cy="480131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1D35"/>
                </a:solidFill>
                <a:effectLst/>
                <a:latin typeface="+mn-lt"/>
              </a:rPr>
              <a:t>Frequency Management in Transmission (High Voltage) </a:t>
            </a:r>
            <a:r>
              <a:rPr kumimoji="0" lang="en-US" altLang="en-US" sz="2400" b="0" i="0" u="none" strike="noStrike" cap="none" normalizeH="0" baseline="0" dirty="0">
                <a:ln>
                  <a:noFill/>
                </a:ln>
                <a:solidFill>
                  <a:srgbClr val="0A0A0A"/>
                </a:solidFill>
                <a:effectLst/>
                <a:latin typeface="+mn-lt"/>
                <a:cs typeface="Arial" panose="020B0604020202020204" pitchFamily="34" charset="0"/>
              </a:rPr>
              <a:t>TSOs use specialized tools to manage frequency, especially when dealing with high-voltage (220kV-400kV+) transmission. </a:t>
            </a:r>
            <a:endParaRPr kumimoji="0" lang="en-US" altLang="en-US" sz="2400" b="0" i="0" u="none" strike="noStrike" cap="none" normalizeH="0" baseline="0" dirty="0">
              <a:ln>
                <a:noFill/>
              </a:ln>
              <a:solidFill>
                <a:schemeClr val="tx1"/>
              </a:solidFill>
              <a:effectLst/>
              <a:latin typeface="+mn-lt"/>
            </a:endParaRPr>
          </a:p>
          <a:p>
            <a:pPr marL="625475">
              <a:lnSpc>
                <a:spcPct val="100000"/>
              </a:lnSpc>
            </a:pPr>
            <a:r>
              <a:rPr kumimoji="0" lang="en-US" altLang="en-US" sz="2400" b="1" i="0" u="none" strike="noStrike" cap="none" normalizeH="0" baseline="0" dirty="0">
                <a:ln>
                  <a:noFill/>
                </a:ln>
                <a:solidFill>
                  <a:srgbClr val="0A0A0A"/>
                </a:solidFill>
                <a:effectLst/>
                <a:latin typeface="+mn-lt"/>
                <a:cs typeface="Arial" panose="020B0604020202020204" pitchFamily="34" charset="0"/>
              </a:rPr>
              <a:t>Inertia Support:</a:t>
            </a:r>
            <a:r>
              <a:rPr kumimoji="0" lang="en-US" altLang="en-US" sz="2400" b="0" i="0" u="none" strike="noStrike" cap="none" normalizeH="0" baseline="0" dirty="0">
                <a:ln>
                  <a:noFill/>
                </a:ln>
                <a:solidFill>
                  <a:srgbClr val="0A0A0A"/>
                </a:solidFill>
                <a:effectLst/>
                <a:latin typeface="+mn-lt"/>
                <a:cs typeface="Arial" panose="020B0604020202020204" pitchFamily="34" charset="0"/>
              </a:rPr>
              <a:t> Synchronous generators provide rotational inertia, allowing the grid to resist sudden frequency changes.</a:t>
            </a:r>
          </a:p>
          <a:p>
            <a:pPr marL="625475">
              <a:lnSpc>
                <a:spcPct val="100000"/>
              </a:lnSpc>
            </a:pPr>
            <a:r>
              <a:rPr kumimoji="0" lang="en-US" altLang="en-US" sz="2400" b="1" i="0" u="none" strike="noStrike" cap="none" normalizeH="0" baseline="0" dirty="0">
                <a:ln>
                  <a:noFill/>
                </a:ln>
                <a:solidFill>
                  <a:srgbClr val="0A0A0A"/>
                </a:solidFill>
                <a:effectLst/>
                <a:latin typeface="+mn-lt"/>
                <a:cs typeface="Arial" panose="020B0604020202020204" pitchFamily="34" charset="0"/>
              </a:rPr>
              <a:t>Active Power Control:</a:t>
            </a:r>
            <a:r>
              <a:rPr kumimoji="0" lang="en-US" altLang="en-US" sz="2400" b="0" i="0" u="none" strike="noStrike" cap="none" normalizeH="0" baseline="0" dirty="0">
                <a:ln>
                  <a:noFill/>
                </a:ln>
                <a:solidFill>
                  <a:srgbClr val="0A0A0A"/>
                </a:solidFill>
                <a:effectLst/>
                <a:latin typeface="+mn-lt"/>
                <a:cs typeface="Arial" panose="020B0604020202020204" pitchFamily="34" charset="0"/>
              </a:rPr>
              <a:t> Adjusting the output of large-scale generators to match demand.</a:t>
            </a:r>
          </a:p>
          <a:p>
            <a:pPr marL="625475">
              <a:lnSpc>
                <a:spcPct val="100000"/>
              </a:lnSpc>
            </a:pPr>
            <a:r>
              <a:rPr kumimoji="0" lang="en-US" altLang="en-US" sz="2400" b="1" i="0" u="none" strike="noStrike" cap="none" normalizeH="0" baseline="0" dirty="0">
                <a:ln>
                  <a:noFill/>
                </a:ln>
                <a:solidFill>
                  <a:srgbClr val="0A0A0A"/>
                </a:solidFill>
                <a:effectLst/>
                <a:latin typeface="+mn-lt"/>
                <a:cs typeface="Arial" panose="020B0604020202020204" pitchFamily="34" charset="0"/>
              </a:rPr>
              <a:t>HVDC Links:</a:t>
            </a:r>
            <a:r>
              <a:rPr kumimoji="0" lang="en-US" altLang="en-US" sz="2400" b="0" i="0" u="none" strike="noStrike" cap="none" normalizeH="0" baseline="0" dirty="0">
                <a:ln>
                  <a:noFill/>
                </a:ln>
                <a:solidFill>
                  <a:srgbClr val="0A0A0A"/>
                </a:solidFill>
                <a:effectLst/>
                <a:latin typeface="+mn-lt"/>
                <a:cs typeface="Arial" panose="020B0604020202020204" pitchFamily="34" charset="0"/>
              </a:rPr>
              <a:t> High-Voltage DC (HVDC) links are used to connect asynchronous AC systems and allow rapid, precise control of power flow to stabilize frequency.</a:t>
            </a:r>
          </a:p>
          <a:p>
            <a:pPr marL="625475">
              <a:lnSpc>
                <a:spcPct val="100000"/>
              </a:lnSpc>
            </a:pPr>
            <a:r>
              <a:rPr kumimoji="0" lang="en-US" altLang="en-US" sz="2400" b="1" i="0" u="none" strike="noStrike" cap="none" normalizeH="0" baseline="0" dirty="0">
                <a:ln>
                  <a:noFill/>
                </a:ln>
                <a:solidFill>
                  <a:srgbClr val="0A0A0A"/>
                </a:solidFill>
                <a:effectLst/>
                <a:latin typeface="+mn-lt"/>
                <a:cs typeface="Arial" panose="020B0604020202020204" pitchFamily="34" charset="0"/>
              </a:rPr>
              <a:t>Congestion Management:</a:t>
            </a:r>
            <a:r>
              <a:rPr kumimoji="0" lang="en-US" altLang="en-US" sz="2400" b="0" i="0" u="none" strike="noStrike" cap="none" normalizeH="0" baseline="0" dirty="0">
                <a:ln>
                  <a:noFill/>
                </a:ln>
                <a:solidFill>
                  <a:srgbClr val="0A0A0A"/>
                </a:solidFill>
                <a:effectLst/>
                <a:latin typeface="+mn-lt"/>
                <a:cs typeface="Arial" panose="020B0604020202020204" pitchFamily="34" charset="0"/>
              </a:rPr>
              <a:t> Using "redispatch" to re-route power, often necessitated by renewable energy variability.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2021782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02003-D873-73D7-DF55-9DA1F2A6864A}"/>
              </a:ext>
            </a:extLst>
          </p:cNvPr>
          <p:cNvSpPr>
            <a:spLocks noGrp="1"/>
          </p:cNvSpPr>
          <p:nvPr>
            <p:ph type="title"/>
          </p:nvPr>
        </p:nvSpPr>
        <p:spPr/>
        <p:txBody>
          <a:bodyPr/>
          <a:lstStyle/>
          <a:p>
            <a:pPr algn="ctr"/>
            <a:r>
              <a:rPr lang="en-IN" b="1"/>
              <a:t>Frequency Management</a:t>
            </a:r>
            <a:endParaRPr lang="en-IN"/>
          </a:p>
        </p:txBody>
      </p:sp>
      <p:sp>
        <p:nvSpPr>
          <p:cNvPr id="5" name="Rectangle 2">
            <a:extLst>
              <a:ext uri="{FF2B5EF4-FFF2-40B4-BE49-F238E27FC236}">
                <a16:creationId xmlns:a16="http://schemas.microsoft.com/office/drawing/2014/main" id="{64546A4A-F668-321C-07F0-553B29BAFFE1}"/>
              </a:ext>
            </a:extLst>
          </p:cNvPr>
          <p:cNvSpPr>
            <a:spLocks noGrp="1" noChangeArrowheads="1"/>
          </p:cNvSpPr>
          <p:nvPr>
            <p:ph idx="1"/>
          </p:nvPr>
        </p:nvSpPr>
        <p:spPr bwMode="auto">
          <a:xfrm>
            <a:off x="775252" y="1583609"/>
            <a:ext cx="10641496" cy="480131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1D35"/>
                </a:solidFill>
                <a:effectLst/>
                <a:latin typeface="+mn-lt"/>
              </a:rPr>
              <a:t>Frequency Management in Distribution (Medium/Low Voltage) </a:t>
            </a:r>
            <a:r>
              <a:rPr kumimoji="0" lang="en-US" altLang="en-US" sz="2400" b="0" i="0" u="none" strike="noStrike" cap="none" normalizeH="0" baseline="0" dirty="0">
                <a:ln>
                  <a:noFill/>
                </a:ln>
                <a:solidFill>
                  <a:srgbClr val="0A0A0A"/>
                </a:solidFill>
                <a:effectLst/>
                <a:latin typeface="+mn-lt"/>
                <a:cs typeface="Arial" panose="020B0604020202020204" pitchFamily="34" charset="0"/>
              </a:rPr>
              <a:t>Distribution System Operators (DSOs) are increasingly responsible for frequency, as 70% of new renewable energy is connected to distribution grids. </a:t>
            </a:r>
            <a:endParaRPr kumimoji="0" lang="en-US" altLang="en-US" sz="2400" b="0" i="0" u="none" strike="noStrike" cap="none" normalizeH="0" baseline="0" dirty="0">
              <a:ln>
                <a:noFill/>
              </a:ln>
              <a:solidFill>
                <a:schemeClr val="tx1"/>
              </a:solidFill>
              <a:effectLst/>
              <a:latin typeface="+mn-lt"/>
            </a:endParaRPr>
          </a:p>
          <a:p>
            <a:pPr marL="536575" indent="-536575">
              <a:lnSpc>
                <a:spcPct val="100000"/>
              </a:lnSpc>
            </a:pPr>
            <a:r>
              <a:rPr kumimoji="0" lang="en-US" altLang="en-US" sz="2400" b="1" i="0" u="none" strike="noStrike" cap="none" normalizeH="0" baseline="0" dirty="0">
                <a:ln>
                  <a:noFill/>
                </a:ln>
                <a:solidFill>
                  <a:srgbClr val="0A0A0A"/>
                </a:solidFill>
                <a:effectLst/>
                <a:latin typeface="+mn-lt"/>
                <a:cs typeface="Arial" panose="020B0604020202020204" pitchFamily="34" charset="0"/>
              </a:rPr>
              <a:t>Distributed Energy Resources (DERs):</a:t>
            </a:r>
            <a:r>
              <a:rPr kumimoji="0" lang="en-US" altLang="en-US" sz="2400" b="0" i="0" u="none" strike="noStrike" cap="none" normalizeH="0" baseline="0" dirty="0">
                <a:ln>
                  <a:noFill/>
                </a:ln>
                <a:solidFill>
                  <a:srgbClr val="0A0A0A"/>
                </a:solidFill>
                <a:effectLst/>
                <a:latin typeface="+mn-lt"/>
                <a:cs typeface="Arial" panose="020B0604020202020204" pitchFamily="34" charset="0"/>
              </a:rPr>
              <a:t> Rooftop solar and home batteries are used for localized frequency support.</a:t>
            </a:r>
          </a:p>
          <a:p>
            <a:pPr marL="536575" indent="-536575">
              <a:lnSpc>
                <a:spcPct val="100000"/>
              </a:lnSpc>
            </a:pPr>
            <a:r>
              <a:rPr kumimoji="0" lang="en-US" altLang="en-US" sz="2400" b="1" i="0" u="none" strike="noStrike" cap="none" normalizeH="0" baseline="0" dirty="0">
                <a:ln>
                  <a:noFill/>
                </a:ln>
                <a:solidFill>
                  <a:srgbClr val="0A0A0A"/>
                </a:solidFill>
                <a:effectLst/>
                <a:latin typeface="+mn-lt"/>
                <a:cs typeface="Arial" panose="020B0604020202020204" pitchFamily="34" charset="0"/>
              </a:rPr>
              <a:t>Virtual Power Plants (VPP):</a:t>
            </a:r>
            <a:r>
              <a:rPr kumimoji="0" lang="en-US" altLang="en-US" sz="2400" b="0" i="0" u="none" strike="noStrike" cap="none" normalizeH="0" baseline="0" dirty="0">
                <a:ln>
                  <a:noFill/>
                </a:ln>
                <a:solidFill>
                  <a:srgbClr val="0A0A0A"/>
                </a:solidFill>
                <a:effectLst/>
                <a:latin typeface="+mn-lt"/>
                <a:cs typeface="Arial" panose="020B0604020202020204" pitchFamily="34" charset="0"/>
              </a:rPr>
              <a:t> Aggregated DERs can provide frequency services similar to large plants.</a:t>
            </a:r>
          </a:p>
          <a:p>
            <a:pPr marL="536575" indent="-536575">
              <a:lnSpc>
                <a:spcPct val="100000"/>
              </a:lnSpc>
            </a:pPr>
            <a:r>
              <a:rPr kumimoji="0" lang="en-US" altLang="en-US" sz="2400" b="1" i="0" u="none" strike="noStrike" cap="none" normalizeH="0" baseline="0" dirty="0">
                <a:ln>
                  <a:noFill/>
                </a:ln>
                <a:solidFill>
                  <a:srgbClr val="0A0A0A"/>
                </a:solidFill>
                <a:effectLst/>
                <a:latin typeface="+mn-lt"/>
                <a:cs typeface="Arial" panose="020B0604020202020204" pitchFamily="34" charset="0"/>
              </a:rPr>
              <a:t>Demand Response:</a:t>
            </a:r>
            <a:r>
              <a:rPr kumimoji="0" lang="en-US" altLang="en-US" sz="2400" b="0" i="0" u="none" strike="noStrike" cap="none" normalizeH="0" baseline="0" dirty="0">
                <a:ln>
                  <a:noFill/>
                </a:ln>
                <a:solidFill>
                  <a:srgbClr val="0A0A0A"/>
                </a:solidFill>
                <a:effectLst/>
                <a:latin typeface="+mn-lt"/>
                <a:cs typeface="Arial" panose="020B0604020202020204" pitchFamily="34" charset="0"/>
              </a:rPr>
              <a:t> Intelligently controlling demand (e.g., HVAC systems, EV charging) to increase or decrease consumption.</a:t>
            </a:r>
          </a:p>
          <a:p>
            <a:pPr marL="536575" indent="-536575">
              <a:lnSpc>
                <a:spcPct val="100000"/>
              </a:lnSpc>
            </a:pPr>
            <a:r>
              <a:rPr kumimoji="0" lang="en-US" altLang="en-US" sz="2400" b="1" i="0" u="none" strike="noStrike" cap="none" normalizeH="0" baseline="0" dirty="0">
                <a:ln>
                  <a:noFill/>
                </a:ln>
                <a:solidFill>
                  <a:srgbClr val="0A0A0A"/>
                </a:solidFill>
                <a:effectLst/>
                <a:latin typeface="+mn-lt"/>
                <a:cs typeface="Arial" panose="020B0604020202020204" pitchFamily="34" charset="0"/>
              </a:rPr>
              <a:t>Virtual Inertia/Grid-Forming Inverters (GFM):</a:t>
            </a:r>
            <a:r>
              <a:rPr kumimoji="0" lang="en-US" altLang="en-US" sz="2400" b="0" i="0" u="none" strike="noStrike" cap="none" normalizeH="0" baseline="0" dirty="0">
                <a:ln>
                  <a:noFill/>
                </a:ln>
                <a:solidFill>
                  <a:srgbClr val="0A0A0A"/>
                </a:solidFill>
                <a:effectLst/>
                <a:latin typeface="+mn-lt"/>
                <a:cs typeface="Arial" panose="020B0604020202020204" pitchFamily="34" charset="0"/>
              </a:rPr>
              <a:t> Power electronics that mimic the behavior of rotating machines to add stability to low-inertia, renewable-dominated networks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6896079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1245</Words>
  <Application>Microsoft Office PowerPoint</Application>
  <PresentationFormat>Widescreen</PresentationFormat>
  <Paragraphs>70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Network voltage management</vt:lpstr>
      <vt:lpstr>Network voltage management</vt:lpstr>
      <vt:lpstr>Network voltage management</vt:lpstr>
      <vt:lpstr>Network voltage management</vt:lpstr>
      <vt:lpstr>Power Quality Management</vt:lpstr>
      <vt:lpstr>Power Quality Management</vt:lpstr>
      <vt:lpstr>Frequency Management</vt:lpstr>
      <vt:lpstr>Frequency Management</vt:lpstr>
      <vt:lpstr>Frequency Management</vt:lpstr>
      <vt:lpstr>Frequency Management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2026-02-25T03:58:40Z</dcterms:created>
  <dcterms:modified xsi:type="dcterms:W3CDTF">2026-02-25T04:00:02Z</dcterms:modified>
</cp:coreProperties>
</file>