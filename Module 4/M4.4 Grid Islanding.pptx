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8" r:id="rId2"/>
    <p:sldId id="301" r:id="rId3"/>
    <p:sldId id="302" r:id="rId4"/>
    <p:sldId id="317" r:id="rId5"/>
    <p:sldId id="277" r:id="rId6"/>
    <p:sldId id="279" r:id="rId7"/>
    <p:sldId id="303" r:id="rId8"/>
    <p:sldId id="274" r:id="rId9"/>
    <p:sldId id="306" r:id="rId10"/>
    <p:sldId id="30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3DE04-F30F-243B-33FA-89EB38AAE8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550461-BB36-3598-0484-F03D9B64D2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E3CAF6B-191D-D684-4D11-C7781296824D}"/>
              </a:ext>
            </a:extLst>
          </p:cNvPr>
          <p:cNvSpPr>
            <a:spLocks noGrp="1"/>
          </p:cNvSpPr>
          <p:nvPr>
            <p:ph type="dt" sz="half" idx="10"/>
          </p:nvPr>
        </p:nvSpPr>
        <p:spPr/>
        <p:txBody>
          <a:bodyPr/>
          <a:lstStyle/>
          <a:p>
            <a:fld id="{13E1767A-8C0F-40DC-88F9-E18B13AF2844}" type="datetimeFigureOut">
              <a:rPr lang="en-IN" smtClean="0"/>
              <a:t>25-02-2026</a:t>
            </a:fld>
            <a:endParaRPr lang="en-IN"/>
          </a:p>
        </p:txBody>
      </p:sp>
      <p:sp>
        <p:nvSpPr>
          <p:cNvPr id="5" name="Footer Placeholder 4">
            <a:extLst>
              <a:ext uri="{FF2B5EF4-FFF2-40B4-BE49-F238E27FC236}">
                <a16:creationId xmlns:a16="http://schemas.microsoft.com/office/drawing/2014/main" id="{F44B8BA7-A62D-6305-730F-9F763C6BD3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3D033F-C4F9-FF5D-811C-8717410A40ED}"/>
              </a:ext>
            </a:extLst>
          </p:cNvPr>
          <p:cNvSpPr>
            <a:spLocks noGrp="1"/>
          </p:cNvSpPr>
          <p:nvPr>
            <p:ph type="sldNum" sz="quarter" idx="12"/>
          </p:nvPr>
        </p:nvSpPr>
        <p:spPr/>
        <p:txBody>
          <a:bodyPr/>
          <a:lstStyle/>
          <a:p>
            <a:fld id="{47A95D43-1D9D-4F41-855E-FB6544A1E771}" type="slidenum">
              <a:rPr lang="en-IN" smtClean="0"/>
              <a:t>‹#›</a:t>
            </a:fld>
            <a:endParaRPr lang="en-IN"/>
          </a:p>
        </p:txBody>
      </p:sp>
    </p:spTree>
    <p:extLst>
      <p:ext uri="{BB962C8B-B14F-4D97-AF65-F5344CB8AC3E}">
        <p14:creationId xmlns:p14="http://schemas.microsoft.com/office/powerpoint/2010/main" val="1393800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07D9-1E02-FEE0-DF59-8BF11824A4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BA8555-722B-369E-6B75-CE243EBABD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647E95-1826-070A-96D8-DD9021EB779B}"/>
              </a:ext>
            </a:extLst>
          </p:cNvPr>
          <p:cNvSpPr>
            <a:spLocks noGrp="1"/>
          </p:cNvSpPr>
          <p:nvPr>
            <p:ph type="dt" sz="half" idx="10"/>
          </p:nvPr>
        </p:nvSpPr>
        <p:spPr/>
        <p:txBody>
          <a:bodyPr/>
          <a:lstStyle/>
          <a:p>
            <a:fld id="{13E1767A-8C0F-40DC-88F9-E18B13AF2844}" type="datetimeFigureOut">
              <a:rPr lang="en-IN" smtClean="0"/>
              <a:t>25-02-2026</a:t>
            </a:fld>
            <a:endParaRPr lang="en-IN"/>
          </a:p>
        </p:txBody>
      </p:sp>
      <p:sp>
        <p:nvSpPr>
          <p:cNvPr id="5" name="Footer Placeholder 4">
            <a:extLst>
              <a:ext uri="{FF2B5EF4-FFF2-40B4-BE49-F238E27FC236}">
                <a16:creationId xmlns:a16="http://schemas.microsoft.com/office/drawing/2014/main" id="{1B6B5690-E9E4-8D85-B0B8-E6F3416636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7B24D2-E336-E9C4-B715-3060BAC939AB}"/>
              </a:ext>
            </a:extLst>
          </p:cNvPr>
          <p:cNvSpPr>
            <a:spLocks noGrp="1"/>
          </p:cNvSpPr>
          <p:nvPr>
            <p:ph type="sldNum" sz="quarter" idx="12"/>
          </p:nvPr>
        </p:nvSpPr>
        <p:spPr/>
        <p:txBody>
          <a:bodyPr/>
          <a:lstStyle/>
          <a:p>
            <a:fld id="{47A95D43-1D9D-4F41-855E-FB6544A1E771}" type="slidenum">
              <a:rPr lang="en-IN" smtClean="0"/>
              <a:t>‹#›</a:t>
            </a:fld>
            <a:endParaRPr lang="en-IN"/>
          </a:p>
        </p:txBody>
      </p:sp>
    </p:spTree>
    <p:extLst>
      <p:ext uri="{BB962C8B-B14F-4D97-AF65-F5344CB8AC3E}">
        <p14:creationId xmlns:p14="http://schemas.microsoft.com/office/powerpoint/2010/main" val="2361499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2CB90-4EE0-8AA5-6D31-4E83210460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1446DD-B7F0-E188-5A7A-B32C305481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C52DFC-C7A7-68EB-DBBA-E7C5E44F83D6}"/>
              </a:ext>
            </a:extLst>
          </p:cNvPr>
          <p:cNvSpPr>
            <a:spLocks noGrp="1"/>
          </p:cNvSpPr>
          <p:nvPr>
            <p:ph type="dt" sz="half" idx="10"/>
          </p:nvPr>
        </p:nvSpPr>
        <p:spPr/>
        <p:txBody>
          <a:bodyPr/>
          <a:lstStyle/>
          <a:p>
            <a:fld id="{13E1767A-8C0F-40DC-88F9-E18B13AF2844}" type="datetimeFigureOut">
              <a:rPr lang="en-IN" smtClean="0"/>
              <a:t>25-02-2026</a:t>
            </a:fld>
            <a:endParaRPr lang="en-IN"/>
          </a:p>
        </p:txBody>
      </p:sp>
      <p:sp>
        <p:nvSpPr>
          <p:cNvPr id="5" name="Footer Placeholder 4">
            <a:extLst>
              <a:ext uri="{FF2B5EF4-FFF2-40B4-BE49-F238E27FC236}">
                <a16:creationId xmlns:a16="http://schemas.microsoft.com/office/drawing/2014/main" id="{E3648257-48D0-60E4-54EB-5C4665BEBE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25851F-505E-C671-27FE-1E0631A52029}"/>
              </a:ext>
            </a:extLst>
          </p:cNvPr>
          <p:cNvSpPr>
            <a:spLocks noGrp="1"/>
          </p:cNvSpPr>
          <p:nvPr>
            <p:ph type="sldNum" sz="quarter" idx="12"/>
          </p:nvPr>
        </p:nvSpPr>
        <p:spPr/>
        <p:txBody>
          <a:bodyPr/>
          <a:lstStyle/>
          <a:p>
            <a:fld id="{47A95D43-1D9D-4F41-855E-FB6544A1E771}" type="slidenum">
              <a:rPr lang="en-IN" smtClean="0"/>
              <a:t>‹#›</a:t>
            </a:fld>
            <a:endParaRPr lang="en-IN"/>
          </a:p>
        </p:txBody>
      </p:sp>
    </p:spTree>
    <p:extLst>
      <p:ext uri="{BB962C8B-B14F-4D97-AF65-F5344CB8AC3E}">
        <p14:creationId xmlns:p14="http://schemas.microsoft.com/office/powerpoint/2010/main" val="3310177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136D8-68F0-4526-3D77-C07BE73EA1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6BD809-D8DE-112D-0198-889C5B435F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2E989E-84D3-37C6-0283-C66473D3A8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DD1B82-BDBB-A249-00E3-72133A908228}"/>
              </a:ext>
            </a:extLst>
          </p:cNvPr>
          <p:cNvSpPr>
            <a:spLocks noGrp="1"/>
          </p:cNvSpPr>
          <p:nvPr>
            <p:ph type="dt" sz="half" idx="10"/>
          </p:nvPr>
        </p:nvSpPr>
        <p:spPr/>
        <p:txBody>
          <a:bodyPr/>
          <a:lstStyle/>
          <a:p>
            <a:fld id="{13E1767A-8C0F-40DC-88F9-E18B13AF2844}" type="datetimeFigureOut">
              <a:rPr lang="en-IN" smtClean="0"/>
              <a:t>25-02-2026</a:t>
            </a:fld>
            <a:endParaRPr lang="en-IN"/>
          </a:p>
        </p:txBody>
      </p:sp>
      <p:sp>
        <p:nvSpPr>
          <p:cNvPr id="6" name="Footer Placeholder 5">
            <a:extLst>
              <a:ext uri="{FF2B5EF4-FFF2-40B4-BE49-F238E27FC236}">
                <a16:creationId xmlns:a16="http://schemas.microsoft.com/office/drawing/2014/main" id="{F83F04D9-439A-75D2-B597-238A3F3FB0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B009D4-26EC-BC2A-02B0-D419DBCE1816}"/>
              </a:ext>
            </a:extLst>
          </p:cNvPr>
          <p:cNvSpPr>
            <a:spLocks noGrp="1"/>
          </p:cNvSpPr>
          <p:nvPr>
            <p:ph type="sldNum" sz="quarter" idx="12"/>
          </p:nvPr>
        </p:nvSpPr>
        <p:spPr/>
        <p:txBody>
          <a:bodyPr/>
          <a:lstStyle/>
          <a:p>
            <a:fld id="{47A95D43-1D9D-4F41-855E-FB6544A1E771}" type="slidenum">
              <a:rPr lang="en-IN" smtClean="0"/>
              <a:t>‹#›</a:t>
            </a:fld>
            <a:endParaRPr lang="en-IN"/>
          </a:p>
        </p:txBody>
      </p:sp>
    </p:spTree>
    <p:extLst>
      <p:ext uri="{BB962C8B-B14F-4D97-AF65-F5344CB8AC3E}">
        <p14:creationId xmlns:p14="http://schemas.microsoft.com/office/powerpoint/2010/main" val="4124594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4D511-DA47-CF0F-9B25-CD14F2BE7A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448FAC-A751-F8FB-3AE6-E440D350AA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35C778-2CB9-E9AC-4823-2985AE3BBD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E5EAC8-1673-CB79-04FD-41B8208FA3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E215F4-59A2-14AD-D5BA-444A3BC21E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D0FBEF2-940E-72B9-A770-72552CE392C6}"/>
              </a:ext>
            </a:extLst>
          </p:cNvPr>
          <p:cNvSpPr>
            <a:spLocks noGrp="1"/>
          </p:cNvSpPr>
          <p:nvPr>
            <p:ph type="dt" sz="half" idx="10"/>
          </p:nvPr>
        </p:nvSpPr>
        <p:spPr/>
        <p:txBody>
          <a:bodyPr/>
          <a:lstStyle/>
          <a:p>
            <a:fld id="{13E1767A-8C0F-40DC-88F9-E18B13AF2844}" type="datetimeFigureOut">
              <a:rPr lang="en-IN" smtClean="0"/>
              <a:t>25-02-2026</a:t>
            </a:fld>
            <a:endParaRPr lang="en-IN"/>
          </a:p>
        </p:txBody>
      </p:sp>
      <p:sp>
        <p:nvSpPr>
          <p:cNvPr id="8" name="Footer Placeholder 7">
            <a:extLst>
              <a:ext uri="{FF2B5EF4-FFF2-40B4-BE49-F238E27FC236}">
                <a16:creationId xmlns:a16="http://schemas.microsoft.com/office/drawing/2014/main" id="{D36F1625-4F01-0CD8-FE36-9FD95BDF79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F308A32-5B07-3F74-C4BD-E48ACC2C2758}"/>
              </a:ext>
            </a:extLst>
          </p:cNvPr>
          <p:cNvSpPr>
            <a:spLocks noGrp="1"/>
          </p:cNvSpPr>
          <p:nvPr>
            <p:ph type="sldNum" sz="quarter" idx="12"/>
          </p:nvPr>
        </p:nvSpPr>
        <p:spPr/>
        <p:txBody>
          <a:bodyPr/>
          <a:lstStyle/>
          <a:p>
            <a:fld id="{47A95D43-1D9D-4F41-855E-FB6544A1E771}" type="slidenum">
              <a:rPr lang="en-IN" smtClean="0"/>
              <a:t>‹#›</a:t>
            </a:fld>
            <a:endParaRPr lang="en-IN"/>
          </a:p>
        </p:txBody>
      </p:sp>
    </p:spTree>
    <p:extLst>
      <p:ext uri="{BB962C8B-B14F-4D97-AF65-F5344CB8AC3E}">
        <p14:creationId xmlns:p14="http://schemas.microsoft.com/office/powerpoint/2010/main" val="544200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C6D3B-BE9E-12EC-3042-0F57A865C0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4A2B8BA-D458-F7FC-AE64-94049F2419B7}"/>
              </a:ext>
            </a:extLst>
          </p:cNvPr>
          <p:cNvSpPr>
            <a:spLocks noGrp="1"/>
          </p:cNvSpPr>
          <p:nvPr>
            <p:ph type="dt" sz="half" idx="10"/>
          </p:nvPr>
        </p:nvSpPr>
        <p:spPr/>
        <p:txBody>
          <a:bodyPr/>
          <a:lstStyle/>
          <a:p>
            <a:fld id="{13E1767A-8C0F-40DC-88F9-E18B13AF2844}" type="datetimeFigureOut">
              <a:rPr lang="en-IN" smtClean="0"/>
              <a:t>25-02-2026</a:t>
            </a:fld>
            <a:endParaRPr lang="en-IN"/>
          </a:p>
        </p:txBody>
      </p:sp>
      <p:sp>
        <p:nvSpPr>
          <p:cNvPr id="4" name="Footer Placeholder 3">
            <a:extLst>
              <a:ext uri="{FF2B5EF4-FFF2-40B4-BE49-F238E27FC236}">
                <a16:creationId xmlns:a16="http://schemas.microsoft.com/office/drawing/2014/main" id="{B587CA24-14A9-33CE-988B-6779DC5220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19C77F7-40D9-1996-0256-3DB9B02CBC31}"/>
              </a:ext>
            </a:extLst>
          </p:cNvPr>
          <p:cNvSpPr>
            <a:spLocks noGrp="1"/>
          </p:cNvSpPr>
          <p:nvPr>
            <p:ph type="sldNum" sz="quarter" idx="12"/>
          </p:nvPr>
        </p:nvSpPr>
        <p:spPr/>
        <p:txBody>
          <a:bodyPr/>
          <a:lstStyle/>
          <a:p>
            <a:fld id="{47A95D43-1D9D-4F41-855E-FB6544A1E771}" type="slidenum">
              <a:rPr lang="en-IN" smtClean="0"/>
              <a:t>‹#›</a:t>
            </a:fld>
            <a:endParaRPr lang="en-IN"/>
          </a:p>
        </p:txBody>
      </p:sp>
    </p:spTree>
    <p:extLst>
      <p:ext uri="{BB962C8B-B14F-4D97-AF65-F5344CB8AC3E}">
        <p14:creationId xmlns:p14="http://schemas.microsoft.com/office/powerpoint/2010/main" val="2675654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E73A8F-98B6-DE08-5C94-555D22EC8096}"/>
              </a:ext>
            </a:extLst>
          </p:cNvPr>
          <p:cNvSpPr>
            <a:spLocks noGrp="1"/>
          </p:cNvSpPr>
          <p:nvPr>
            <p:ph type="dt" sz="half" idx="10"/>
          </p:nvPr>
        </p:nvSpPr>
        <p:spPr/>
        <p:txBody>
          <a:bodyPr/>
          <a:lstStyle/>
          <a:p>
            <a:fld id="{13E1767A-8C0F-40DC-88F9-E18B13AF2844}" type="datetimeFigureOut">
              <a:rPr lang="en-IN" smtClean="0"/>
              <a:t>25-02-2026</a:t>
            </a:fld>
            <a:endParaRPr lang="en-IN"/>
          </a:p>
        </p:txBody>
      </p:sp>
      <p:sp>
        <p:nvSpPr>
          <p:cNvPr id="3" name="Footer Placeholder 2">
            <a:extLst>
              <a:ext uri="{FF2B5EF4-FFF2-40B4-BE49-F238E27FC236}">
                <a16:creationId xmlns:a16="http://schemas.microsoft.com/office/drawing/2014/main" id="{A962BC5F-0AFA-D2CD-186A-B01D18D3DAF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4779BA0-45BB-508F-D5C6-B62BEE4799D7}"/>
              </a:ext>
            </a:extLst>
          </p:cNvPr>
          <p:cNvSpPr>
            <a:spLocks noGrp="1"/>
          </p:cNvSpPr>
          <p:nvPr>
            <p:ph type="sldNum" sz="quarter" idx="12"/>
          </p:nvPr>
        </p:nvSpPr>
        <p:spPr/>
        <p:txBody>
          <a:bodyPr/>
          <a:lstStyle/>
          <a:p>
            <a:fld id="{47A95D43-1D9D-4F41-855E-FB6544A1E771}" type="slidenum">
              <a:rPr lang="en-IN" smtClean="0"/>
              <a:t>‹#›</a:t>
            </a:fld>
            <a:endParaRPr lang="en-IN"/>
          </a:p>
        </p:txBody>
      </p:sp>
    </p:spTree>
    <p:extLst>
      <p:ext uri="{BB962C8B-B14F-4D97-AF65-F5344CB8AC3E}">
        <p14:creationId xmlns:p14="http://schemas.microsoft.com/office/powerpoint/2010/main" val="563810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924A5-7728-16CD-69F4-E682C8C53C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CB31719-234A-6A01-EED3-25541A26E5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B380C2-C16A-4C66-8FCE-AF39045B88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A14A95-E59B-064E-2E5D-8A266F674AB4}"/>
              </a:ext>
            </a:extLst>
          </p:cNvPr>
          <p:cNvSpPr>
            <a:spLocks noGrp="1"/>
          </p:cNvSpPr>
          <p:nvPr>
            <p:ph type="dt" sz="half" idx="10"/>
          </p:nvPr>
        </p:nvSpPr>
        <p:spPr/>
        <p:txBody>
          <a:bodyPr/>
          <a:lstStyle/>
          <a:p>
            <a:fld id="{13E1767A-8C0F-40DC-88F9-E18B13AF2844}" type="datetimeFigureOut">
              <a:rPr lang="en-IN" smtClean="0"/>
              <a:t>25-02-2026</a:t>
            </a:fld>
            <a:endParaRPr lang="en-IN"/>
          </a:p>
        </p:txBody>
      </p:sp>
      <p:sp>
        <p:nvSpPr>
          <p:cNvPr id="6" name="Footer Placeholder 5">
            <a:extLst>
              <a:ext uri="{FF2B5EF4-FFF2-40B4-BE49-F238E27FC236}">
                <a16:creationId xmlns:a16="http://schemas.microsoft.com/office/drawing/2014/main" id="{4E46A55F-11C3-4860-CD49-515D0922F7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DF67E4-CDA4-08BE-8066-8E89EE0125AF}"/>
              </a:ext>
            </a:extLst>
          </p:cNvPr>
          <p:cNvSpPr>
            <a:spLocks noGrp="1"/>
          </p:cNvSpPr>
          <p:nvPr>
            <p:ph type="sldNum" sz="quarter" idx="12"/>
          </p:nvPr>
        </p:nvSpPr>
        <p:spPr/>
        <p:txBody>
          <a:bodyPr/>
          <a:lstStyle/>
          <a:p>
            <a:fld id="{47A95D43-1D9D-4F41-855E-FB6544A1E771}" type="slidenum">
              <a:rPr lang="en-IN" smtClean="0"/>
              <a:t>‹#›</a:t>
            </a:fld>
            <a:endParaRPr lang="en-IN"/>
          </a:p>
        </p:txBody>
      </p:sp>
    </p:spTree>
    <p:extLst>
      <p:ext uri="{BB962C8B-B14F-4D97-AF65-F5344CB8AC3E}">
        <p14:creationId xmlns:p14="http://schemas.microsoft.com/office/powerpoint/2010/main" val="1515509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CDB51-323F-1DDA-417D-46064E0491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D839E5-0324-B455-30D2-99DDE9444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D51F09-CD0C-4DA7-1519-AB6D9C9D7A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F26CE-2088-F8B6-446D-8687517376C6}"/>
              </a:ext>
            </a:extLst>
          </p:cNvPr>
          <p:cNvSpPr>
            <a:spLocks noGrp="1"/>
          </p:cNvSpPr>
          <p:nvPr>
            <p:ph type="dt" sz="half" idx="10"/>
          </p:nvPr>
        </p:nvSpPr>
        <p:spPr/>
        <p:txBody>
          <a:bodyPr/>
          <a:lstStyle/>
          <a:p>
            <a:fld id="{13E1767A-8C0F-40DC-88F9-E18B13AF2844}" type="datetimeFigureOut">
              <a:rPr lang="en-IN" smtClean="0"/>
              <a:t>25-02-2026</a:t>
            </a:fld>
            <a:endParaRPr lang="en-IN"/>
          </a:p>
        </p:txBody>
      </p:sp>
      <p:sp>
        <p:nvSpPr>
          <p:cNvPr id="6" name="Footer Placeholder 5">
            <a:extLst>
              <a:ext uri="{FF2B5EF4-FFF2-40B4-BE49-F238E27FC236}">
                <a16:creationId xmlns:a16="http://schemas.microsoft.com/office/drawing/2014/main" id="{9B834D84-8304-3D22-C041-FD348EA17D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354895-E0EC-3690-A39F-F5EDFAC93A04}"/>
              </a:ext>
            </a:extLst>
          </p:cNvPr>
          <p:cNvSpPr>
            <a:spLocks noGrp="1"/>
          </p:cNvSpPr>
          <p:nvPr>
            <p:ph type="sldNum" sz="quarter" idx="12"/>
          </p:nvPr>
        </p:nvSpPr>
        <p:spPr/>
        <p:txBody>
          <a:bodyPr/>
          <a:lstStyle/>
          <a:p>
            <a:fld id="{47A95D43-1D9D-4F41-855E-FB6544A1E771}" type="slidenum">
              <a:rPr lang="en-IN" smtClean="0"/>
              <a:t>‹#›</a:t>
            </a:fld>
            <a:endParaRPr lang="en-IN"/>
          </a:p>
        </p:txBody>
      </p:sp>
    </p:spTree>
    <p:extLst>
      <p:ext uri="{BB962C8B-B14F-4D97-AF65-F5344CB8AC3E}">
        <p14:creationId xmlns:p14="http://schemas.microsoft.com/office/powerpoint/2010/main" val="210500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0CB9-FD5F-CDCA-C9DD-C531DAFE96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6ED9DB-9A7F-81E8-5012-6CA8B92711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102920-C348-B715-73AE-FB3A230B954E}"/>
              </a:ext>
            </a:extLst>
          </p:cNvPr>
          <p:cNvSpPr>
            <a:spLocks noGrp="1"/>
          </p:cNvSpPr>
          <p:nvPr>
            <p:ph type="dt" sz="half" idx="10"/>
          </p:nvPr>
        </p:nvSpPr>
        <p:spPr/>
        <p:txBody>
          <a:bodyPr/>
          <a:lstStyle/>
          <a:p>
            <a:fld id="{13E1767A-8C0F-40DC-88F9-E18B13AF2844}" type="datetimeFigureOut">
              <a:rPr lang="en-IN" smtClean="0"/>
              <a:t>25-02-2026</a:t>
            </a:fld>
            <a:endParaRPr lang="en-IN"/>
          </a:p>
        </p:txBody>
      </p:sp>
      <p:sp>
        <p:nvSpPr>
          <p:cNvPr id="5" name="Footer Placeholder 4">
            <a:extLst>
              <a:ext uri="{FF2B5EF4-FFF2-40B4-BE49-F238E27FC236}">
                <a16:creationId xmlns:a16="http://schemas.microsoft.com/office/drawing/2014/main" id="{D59F7DA6-C916-9B92-A718-8E90152857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119B5F-BD41-3FA8-00D4-CB8814FAC99B}"/>
              </a:ext>
            </a:extLst>
          </p:cNvPr>
          <p:cNvSpPr>
            <a:spLocks noGrp="1"/>
          </p:cNvSpPr>
          <p:nvPr>
            <p:ph type="sldNum" sz="quarter" idx="12"/>
          </p:nvPr>
        </p:nvSpPr>
        <p:spPr/>
        <p:txBody>
          <a:bodyPr/>
          <a:lstStyle/>
          <a:p>
            <a:fld id="{47A95D43-1D9D-4F41-855E-FB6544A1E771}" type="slidenum">
              <a:rPr lang="en-IN" smtClean="0"/>
              <a:t>‹#›</a:t>
            </a:fld>
            <a:endParaRPr lang="en-IN"/>
          </a:p>
        </p:txBody>
      </p:sp>
    </p:spTree>
    <p:extLst>
      <p:ext uri="{BB962C8B-B14F-4D97-AF65-F5344CB8AC3E}">
        <p14:creationId xmlns:p14="http://schemas.microsoft.com/office/powerpoint/2010/main" val="3916777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8E0692-573C-DD32-5109-36C841128B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1985E1-72C8-8E94-DD36-72001CD0AD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25ED6E-7A36-5E21-8A2B-6FE6A28ACA6F}"/>
              </a:ext>
            </a:extLst>
          </p:cNvPr>
          <p:cNvSpPr>
            <a:spLocks noGrp="1"/>
          </p:cNvSpPr>
          <p:nvPr>
            <p:ph type="dt" sz="half" idx="10"/>
          </p:nvPr>
        </p:nvSpPr>
        <p:spPr/>
        <p:txBody>
          <a:bodyPr/>
          <a:lstStyle/>
          <a:p>
            <a:fld id="{13E1767A-8C0F-40DC-88F9-E18B13AF2844}" type="datetimeFigureOut">
              <a:rPr lang="en-IN" smtClean="0"/>
              <a:t>25-02-2026</a:t>
            </a:fld>
            <a:endParaRPr lang="en-IN"/>
          </a:p>
        </p:txBody>
      </p:sp>
      <p:sp>
        <p:nvSpPr>
          <p:cNvPr id="5" name="Footer Placeholder 4">
            <a:extLst>
              <a:ext uri="{FF2B5EF4-FFF2-40B4-BE49-F238E27FC236}">
                <a16:creationId xmlns:a16="http://schemas.microsoft.com/office/drawing/2014/main" id="{982819D2-8384-13DB-5F41-2B5F674BD4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47D36F-2654-9316-FC3B-E6BA4A16E7FC}"/>
              </a:ext>
            </a:extLst>
          </p:cNvPr>
          <p:cNvSpPr>
            <a:spLocks noGrp="1"/>
          </p:cNvSpPr>
          <p:nvPr>
            <p:ph type="sldNum" sz="quarter" idx="12"/>
          </p:nvPr>
        </p:nvSpPr>
        <p:spPr/>
        <p:txBody>
          <a:bodyPr/>
          <a:lstStyle/>
          <a:p>
            <a:fld id="{47A95D43-1D9D-4F41-855E-FB6544A1E771}" type="slidenum">
              <a:rPr lang="en-IN" smtClean="0"/>
              <a:t>‹#›</a:t>
            </a:fld>
            <a:endParaRPr lang="en-IN"/>
          </a:p>
        </p:txBody>
      </p:sp>
    </p:spTree>
    <p:extLst>
      <p:ext uri="{BB962C8B-B14F-4D97-AF65-F5344CB8AC3E}">
        <p14:creationId xmlns:p14="http://schemas.microsoft.com/office/powerpoint/2010/main" val="461578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3A6092-D4D4-DC5A-062D-0E865574FF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2F4515-6765-B2FE-E384-2FBCF17D44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6407BE-17DE-8D38-7FF6-CEEB9559D8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E1767A-8C0F-40DC-88F9-E18B13AF2844}" type="datetimeFigureOut">
              <a:rPr lang="en-IN" smtClean="0"/>
              <a:t>25-02-2026</a:t>
            </a:fld>
            <a:endParaRPr lang="en-IN"/>
          </a:p>
        </p:txBody>
      </p:sp>
      <p:sp>
        <p:nvSpPr>
          <p:cNvPr id="5" name="Footer Placeholder 4">
            <a:extLst>
              <a:ext uri="{FF2B5EF4-FFF2-40B4-BE49-F238E27FC236}">
                <a16:creationId xmlns:a16="http://schemas.microsoft.com/office/drawing/2014/main" id="{C1E05648-A2F1-BD53-B6C1-2E5ECCAD49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43E1197-B347-760C-F407-34A1DC187C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A95D43-1D9D-4F41-855E-FB6544A1E771}" type="slidenum">
              <a:rPr lang="en-IN" smtClean="0"/>
              <a:t>‹#›</a:t>
            </a:fld>
            <a:endParaRPr lang="en-IN"/>
          </a:p>
        </p:txBody>
      </p:sp>
    </p:spTree>
    <p:extLst>
      <p:ext uri="{BB962C8B-B14F-4D97-AF65-F5344CB8AC3E}">
        <p14:creationId xmlns:p14="http://schemas.microsoft.com/office/powerpoint/2010/main" val="3543554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C2098-9E93-7A65-1095-5C579EFEFDFF}"/>
              </a:ext>
            </a:extLst>
          </p:cNvPr>
          <p:cNvSpPr>
            <a:spLocks noGrp="1"/>
          </p:cNvSpPr>
          <p:nvPr>
            <p:ph type="title"/>
          </p:nvPr>
        </p:nvSpPr>
        <p:spPr/>
        <p:txBody>
          <a:bodyPr/>
          <a:lstStyle/>
          <a:p>
            <a:pPr algn="ctr"/>
            <a:r>
              <a:rPr lang="en-IN" b="1" dirty="0"/>
              <a:t>Grid Islanding</a:t>
            </a:r>
            <a:endParaRPr lang="en-IN" dirty="0"/>
          </a:p>
        </p:txBody>
      </p:sp>
      <p:sp>
        <p:nvSpPr>
          <p:cNvPr id="3" name="Content Placeholder 2">
            <a:extLst>
              <a:ext uri="{FF2B5EF4-FFF2-40B4-BE49-F238E27FC236}">
                <a16:creationId xmlns:a16="http://schemas.microsoft.com/office/drawing/2014/main" id="{667F317B-6D78-B934-5B11-DDFD86518A4A}"/>
              </a:ext>
            </a:extLst>
          </p:cNvPr>
          <p:cNvSpPr>
            <a:spLocks noGrp="1"/>
          </p:cNvSpPr>
          <p:nvPr>
            <p:ph idx="1"/>
          </p:nvPr>
        </p:nvSpPr>
        <p:spPr/>
        <p:txBody>
          <a:bodyPr>
            <a:normAutofit/>
          </a:bodyPr>
          <a:lstStyle/>
          <a:p>
            <a:r>
              <a:rPr lang="en-US" sz="2400" b="1" dirty="0"/>
              <a:t>Grid Islanding</a:t>
            </a:r>
            <a:r>
              <a:rPr lang="en-US" sz="2400" dirty="0"/>
              <a:t> (or simply </a:t>
            </a:r>
            <a:r>
              <a:rPr lang="en-US" sz="2400" b="1" dirty="0"/>
              <a:t>Islanding</a:t>
            </a:r>
            <a:r>
              <a:rPr lang="en-US" sz="2400" dirty="0"/>
              <a:t>) refers to a condition in which a distributed energy resource (DER), such as a solar photovoltaic (PV) system, wind farm, or a small power plant, continues to supply power to a portion of the grid (or a local load) even after being disconnected from the main power grid.</a:t>
            </a:r>
          </a:p>
          <a:p>
            <a:r>
              <a:rPr lang="en-US" sz="2400" b="1" dirty="0"/>
              <a:t>Types of Islanding:</a:t>
            </a:r>
          </a:p>
          <a:p>
            <a:pPr lvl="1">
              <a:buFont typeface="+mj-lt"/>
              <a:buAutoNum type="arabicPeriod"/>
            </a:pPr>
            <a:r>
              <a:rPr lang="en-US" sz="2000" b="1" dirty="0"/>
              <a:t>Intentional Islanding</a:t>
            </a:r>
            <a:r>
              <a:rPr lang="en-US" sz="2000" dirty="0"/>
              <a:t> – When a microgrid or distributed generation system is deliberately separated from the main grid to ensure a reliable power supply during outages. This is common in </a:t>
            </a:r>
            <a:r>
              <a:rPr lang="en-US" sz="2000" b="1" dirty="0"/>
              <a:t>microgrids</a:t>
            </a:r>
            <a:r>
              <a:rPr lang="en-US" sz="2000" dirty="0"/>
              <a:t> and </a:t>
            </a:r>
            <a:r>
              <a:rPr lang="en-US" sz="2000" b="1" dirty="0"/>
              <a:t>backup power systems</a:t>
            </a:r>
            <a:r>
              <a:rPr lang="en-US" sz="2000" dirty="0"/>
              <a:t>.</a:t>
            </a:r>
          </a:p>
          <a:p>
            <a:pPr lvl="1">
              <a:buFont typeface="+mj-lt"/>
              <a:buAutoNum type="arabicPeriod"/>
            </a:pPr>
            <a:r>
              <a:rPr lang="en-US" sz="2000" b="1" dirty="0"/>
              <a:t>Unintentional Islanding</a:t>
            </a:r>
            <a:r>
              <a:rPr lang="en-US" sz="2000" dirty="0"/>
              <a:t> – Occurs unexpectedly when the distributed generator remains connected to the local load after the main grid fails. This can pose safety risks to utility workers and damage equipment.</a:t>
            </a:r>
          </a:p>
          <a:p>
            <a:endParaRPr lang="en-IN" sz="2400" dirty="0"/>
          </a:p>
        </p:txBody>
      </p:sp>
    </p:spTree>
    <p:extLst>
      <p:ext uri="{BB962C8B-B14F-4D97-AF65-F5344CB8AC3E}">
        <p14:creationId xmlns:p14="http://schemas.microsoft.com/office/powerpoint/2010/main" val="1995090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54B25-82F0-0C9D-4B24-DACC130CCA72}"/>
              </a:ext>
            </a:extLst>
          </p:cNvPr>
          <p:cNvSpPr>
            <a:spLocks noGrp="1"/>
          </p:cNvSpPr>
          <p:nvPr>
            <p:ph type="title"/>
          </p:nvPr>
        </p:nvSpPr>
        <p:spPr/>
        <p:txBody>
          <a:bodyPr/>
          <a:lstStyle/>
          <a:p>
            <a:pPr algn="ctr"/>
            <a:r>
              <a:rPr lang="en-IN" b="1" dirty="0"/>
              <a:t>Grid Islanding</a:t>
            </a:r>
          </a:p>
        </p:txBody>
      </p:sp>
      <p:sp>
        <p:nvSpPr>
          <p:cNvPr id="3" name="Content Placeholder 2">
            <a:extLst>
              <a:ext uri="{FF2B5EF4-FFF2-40B4-BE49-F238E27FC236}">
                <a16:creationId xmlns:a16="http://schemas.microsoft.com/office/drawing/2014/main" id="{08059F67-5ED1-0E95-10C2-E9982E5AACB2}"/>
              </a:ext>
            </a:extLst>
          </p:cNvPr>
          <p:cNvSpPr>
            <a:spLocks noGrp="1"/>
          </p:cNvSpPr>
          <p:nvPr>
            <p:ph idx="1"/>
          </p:nvPr>
        </p:nvSpPr>
        <p:spPr>
          <a:xfrm>
            <a:off x="838200" y="1825624"/>
            <a:ext cx="10515600" cy="4754079"/>
          </a:xfrm>
        </p:spPr>
        <p:txBody>
          <a:bodyPr>
            <a:normAutofit/>
          </a:bodyPr>
          <a:lstStyle/>
          <a:p>
            <a:r>
              <a:rPr lang="en-US" sz="2400" dirty="0"/>
              <a:t>Islanding is a critical and unsafe condition, which may occur in a power system </a:t>
            </a:r>
          </a:p>
          <a:p>
            <a:pPr lvl="1"/>
            <a:r>
              <a:rPr lang="en-US" sz="2000" dirty="0"/>
              <a:t>This condition is caused due to an excessive use of distributed generators in the electrical grid </a:t>
            </a:r>
          </a:p>
          <a:p>
            <a:r>
              <a:rPr lang="en-US" sz="2400" dirty="0"/>
              <a:t>Islanding is the intentional isolation of a part of power system during external widespread grid disturbance </a:t>
            </a:r>
          </a:p>
          <a:p>
            <a:pPr lvl="1"/>
            <a:r>
              <a:rPr lang="en-US" sz="2000" dirty="0"/>
              <a:t>This isolated part of Grid is called </a:t>
            </a:r>
            <a:r>
              <a:rPr lang="en-US" sz="2000" b="1" dirty="0"/>
              <a:t>Island </a:t>
            </a:r>
          </a:p>
          <a:p>
            <a:pPr lvl="1"/>
            <a:r>
              <a:rPr lang="en-US" sz="2000" dirty="0"/>
              <a:t>Such a disturbance may lead to black out </a:t>
            </a:r>
          </a:p>
          <a:p>
            <a:r>
              <a:rPr lang="en-US" sz="2400" dirty="0"/>
              <a:t>Therefore, islanding scheme provides a means to continue to supply power to the essential services in a zone or area </a:t>
            </a:r>
          </a:p>
          <a:p>
            <a:r>
              <a:rPr lang="en-US" sz="2400" dirty="0"/>
              <a:t>Grid is an interconnected system of Generators and Transmission Lines </a:t>
            </a:r>
          </a:p>
          <a:p>
            <a:pPr lvl="1"/>
            <a:r>
              <a:rPr lang="en-US" sz="2000" dirty="0"/>
              <a:t>All the connected Generators run in synchronism </a:t>
            </a:r>
          </a:p>
          <a:p>
            <a:pPr lvl="1"/>
            <a:r>
              <a:rPr lang="en-US" sz="2000" dirty="0"/>
              <a:t>However, if a major disturbance occurs, the Transmission Lines may trip which in turn may create a cascaded effect </a:t>
            </a:r>
          </a:p>
        </p:txBody>
      </p:sp>
    </p:spTree>
    <p:extLst>
      <p:ext uri="{BB962C8B-B14F-4D97-AF65-F5344CB8AC3E}">
        <p14:creationId xmlns:p14="http://schemas.microsoft.com/office/powerpoint/2010/main" val="719398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54B25-82F0-0C9D-4B24-DACC130CCA72}"/>
              </a:ext>
            </a:extLst>
          </p:cNvPr>
          <p:cNvSpPr>
            <a:spLocks noGrp="1"/>
          </p:cNvSpPr>
          <p:nvPr>
            <p:ph type="title"/>
          </p:nvPr>
        </p:nvSpPr>
        <p:spPr/>
        <p:txBody>
          <a:bodyPr/>
          <a:lstStyle/>
          <a:p>
            <a:pPr algn="ctr"/>
            <a:r>
              <a:rPr lang="en-IN" b="1" dirty="0"/>
              <a:t>Grid Islanding</a:t>
            </a:r>
          </a:p>
        </p:txBody>
      </p:sp>
      <p:sp>
        <p:nvSpPr>
          <p:cNvPr id="3" name="Content Placeholder 2">
            <a:extLst>
              <a:ext uri="{FF2B5EF4-FFF2-40B4-BE49-F238E27FC236}">
                <a16:creationId xmlns:a16="http://schemas.microsoft.com/office/drawing/2014/main" id="{08059F67-5ED1-0E95-10C2-E9982E5AACB2}"/>
              </a:ext>
            </a:extLst>
          </p:cNvPr>
          <p:cNvSpPr>
            <a:spLocks noGrp="1"/>
          </p:cNvSpPr>
          <p:nvPr>
            <p:ph idx="1"/>
          </p:nvPr>
        </p:nvSpPr>
        <p:spPr/>
        <p:txBody>
          <a:bodyPr>
            <a:normAutofit/>
          </a:bodyPr>
          <a:lstStyle/>
          <a:p>
            <a:r>
              <a:rPr lang="en-US" sz="2000" dirty="0"/>
              <a:t>This cascaded effect, may eventually lead to collapse of entire Grid and hence black out </a:t>
            </a:r>
          </a:p>
          <a:p>
            <a:r>
              <a:rPr lang="en-US" sz="2000" dirty="0"/>
              <a:t>Islanding scheme in power system is designed in such a way that, in case of major Grid disturbance as sensed by the protection element, a portion of system is isolated by tripping the pre defined tie lines transmission lines </a:t>
            </a:r>
          </a:p>
          <a:p>
            <a:r>
              <a:rPr lang="en-US" sz="2000" dirty="0"/>
              <a:t>Thus, isolating the part of system from the remaining Grid </a:t>
            </a:r>
          </a:p>
          <a:p>
            <a:r>
              <a:rPr lang="en-US" sz="2000" dirty="0"/>
              <a:t>Thus, the effect of Grid disturbance is eliminated to affect this Island</a:t>
            </a:r>
          </a:p>
          <a:p>
            <a:r>
              <a:rPr lang="en-US" sz="2000" dirty="0"/>
              <a:t>Grid Islanding scheme is a set of protective relays, connected at the grid incomer- these relays will sense a disturbance in the grid and give a trip command to the incomer breaker whenever the grid disturbance exceeds a set limit. By opening the incomer breaker, the plant is isolated from the disturbed grid and we can keep our generator safe.</a:t>
            </a:r>
            <a:endParaRPr lang="en-IN" sz="2000" dirty="0"/>
          </a:p>
          <a:p>
            <a:endParaRPr lang="en-US" sz="2000" dirty="0"/>
          </a:p>
        </p:txBody>
      </p:sp>
    </p:spTree>
    <p:extLst>
      <p:ext uri="{BB962C8B-B14F-4D97-AF65-F5344CB8AC3E}">
        <p14:creationId xmlns:p14="http://schemas.microsoft.com/office/powerpoint/2010/main" val="1070044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7B77E-5651-0979-3058-9D087282BCD6}"/>
              </a:ext>
            </a:extLst>
          </p:cNvPr>
          <p:cNvSpPr>
            <a:spLocks noGrp="1"/>
          </p:cNvSpPr>
          <p:nvPr>
            <p:ph type="title"/>
          </p:nvPr>
        </p:nvSpPr>
        <p:spPr/>
        <p:txBody>
          <a:bodyPr/>
          <a:lstStyle/>
          <a:p>
            <a:r>
              <a:rPr lang="en-US" b="1" dirty="0"/>
              <a:t>Island detection system, synchronizing with the grid</a:t>
            </a:r>
            <a:endParaRPr lang="en-IN" dirty="0"/>
          </a:p>
        </p:txBody>
      </p:sp>
      <p:pic>
        <p:nvPicPr>
          <p:cNvPr id="4" name="Content Placeholder 3">
            <a:extLst>
              <a:ext uri="{FF2B5EF4-FFF2-40B4-BE49-F238E27FC236}">
                <a16:creationId xmlns:a16="http://schemas.microsoft.com/office/drawing/2014/main" id="{B4D55951-BC9B-2671-7766-31A5BB00087D}"/>
              </a:ext>
            </a:extLst>
          </p:cNvPr>
          <p:cNvPicPr>
            <a:picLocks noGrp="1" noChangeAspect="1"/>
          </p:cNvPicPr>
          <p:nvPr>
            <p:ph idx="1"/>
          </p:nvPr>
        </p:nvPicPr>
        <p:blipFill>
          <a:blip r:embed="rId2"/>
          <a:stretch>
            <a:fillRect/>
          </a:stretch>
        </p:blipFill>
        <p:spPr>
          <a:xfrm>
            <a:off x="838200" y="2026911"/>
            <a:ext cx="9925878" cy="3996202"/>
          </a:xfrm>
          <a:prstGeom prst="rect">
            <a:avLst/>
          </a:prstGeom>
        </p:spPr>
      </p:pic>
    </p:spTree>
    <p:extLst>
      <p:ext uri="{BB962C8B-B14F-4D97-AF65-F5344CB8AC3E}">
        <p14:creationId xmlns:p14="http://schemas.microsoft.com/office/powerpoint/2010/main" val="4171945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09CF2-3B60-B19C-F1DF-EC163BB9D133}"/>
              </a:ext>
            </a:extLst>
          </p:cNvPr>
          <p:cNvSpPr>
            <a:spLocks noGrp="1"/>
          </p:cNvSpPr>
          <p:nvPr>
            <p:ph type="title"/>
          </p:nvPr>
        </p:nvSpPr>
        <p:spPr/>
        <p:txBody>
          <a:bodyPr/>
          <a:lstStyle/>
          <a:p>
            <a:pPr algn="ctr"/>
            <a:r>
              <a:rPr lang="en-US" b="1" dirty="0"/>
              <a:t>Island detection system, synchronizing with the grid</a:t>
            </a:r>
            <a:endParaRPr lang="en-IN" b="1" dirty="0"/>
          </a:p>
        </p:txBody>
      </p:sp>
      <p:sp>
        <p:nvSpPr>
          <p:cNvPr id="3" name="Content Placeholder 2">
            <a:extLst>
              <a:ext uri="{FF2B5EF4-FFF2-40B4-BE49-F238E27FC236}">
                <a16:creationId xmlns:a16="http://schemas.microsoft.com/office/drawing/2014/main" id="{AC55B9CE-D61B-AC6A-B660-07893F4C5381}"/>
              </a:ext>
            </a:extLst>
          </p:cNvPr>
          <p:cNvSpPr>
            <a:spLocks noGrp="1"/>
          </p:cNvSpPr>
          <p:nvPr>
            <p:ph idx="1"/>
          </p:nvPr>
        </p:nvSpPr>
        <p:spPr>
          <a:xfrm>
            <a:off x="838200" y="2156791"/>
            <a:ext cx="10515600" cy="4020172"/>
          </a:xfrm>
        </p:spPr>
        <p:txBody>
          <a:bodyPr>
            <a:normAutofit/>
          </a:bodyPr>
          <a:lstStyle/>
          <a:p>
            <a:r>
              <a:rPr lang="en-US" sz="2400" dirty="0"/>
              <a:t>Islanding is defined as a condition in which a portion of utility system that contains both load and distributed generation remains energized while it is electrically isolated from the rest of the utility system</a:t>
            </a:r>
          </a:p>
          <a:p>
            <a:r>
              <a:rPr lang="en-US" sz="2400" dirty="0"/>
              <a:t>Islanding detection techniques can briefly be classified to three categories </a:t>
            </a:r>
          </a:p>
          <a:p>
            <a:pPr lvl="1"/>
            <a:r>
              <a:rPr lang="en-US" sz="2000" b="1" dirty="0"/>
              <a:t>ML based technique</a:t>
            </a:r>
          </a:p>
          <a:p>
            <a:pPr lvl="1"/>
            <a:r>
              <a:rPr lang="en-US" sz="2000" b="1" dirty="0"/>
              <a:t>Local detection methods</a:t>
            </a:r>
            <a:r>
              <a:rPr lang="en-US" sz="2000" dirty="0"/>
              <a:t>, where the detection is based on the DG(Distributed Generation) side </a:t>
            </a:r>
          </a:p>
          <a:p>
            <a:pPr lvl="1"/>
            <a:r>
              <a:rPr lang="en-US" sz="2000" b="1" dirty="0"/>
              <a:t>Remote detection methods</a:t>
            </a:r>
            <a:r>
              <a:rPr lang="en-US" sz="2000" dirty="0"/>
              <a:t>, where the detection is based on the utility side</a:t>
            </a:r>
            <a:endParaRPr lang="en-IN" sz="2000" dirty="0"/>
          </a:p>
        </p:txBody>
      </p:sp>
    </p:spTree>
    <p:extLst>
      <p:ext uri="{BB962C8B-B14F-4D97-AF65-F5344CB8AC3E}">
        <p14:creationId xmlns:p14="http://schemas.microsoft.com/office/powerpoint/2010/main" val="360999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D4DEA-2FA9-3321-045B-795AD1E344BC}"/>
              </a:ext>
            </a:extLst>
          </p:cNvPr>
          <p:cNvSpPr>
            <a:spLocks noGrp="1"/>
          </p:cNvSpPr>
          <p:nvPr>
            <p:ph type="title"/>
          </p:nvPr>
        </p:nvSpPr>
        <p:spPr/>
        <p:txBody>
          <a:bodyPr/>
          <a:lstStyle/>
          <a:p>
            <a:pPr algn="ctr"/>
            <a:r>
              <a:rPr lang="en-US" b="1" dirty="0"/>
              <a:t>Island detection system, synchronizing with the grid</a:t>
            </a:r>
            <a:endParaRPr lang="en-IN" dirty="0"/>
          </a:p>
        </p:txBody>
      </p:sp>
      <p:pic>
        <p:nvPicPr>
          <p:cNvPr id="5" name="Content Placeholder 4">
            <a:extLst>
              <a:ext uri="{FF2B5EF4-FFF2-40B4-BE49-F238E27FC236}">
                <a16:creationId xmlns:a16="http://schemas.microsoft.com/office/drawing/2014/main" id="{3D2A57BF-BA0C-5C0B-270A-2FCEF83DCE67}"/>
              </a:ext>
            </a:extLst>
          </p:cNvPr>
          <p:cNvPicPr>
            <a:picLocks noGrp="1" noChangeAspect="1"/>
          </p:cNvPicPr>
          <p:nvPr>
            <p:ph idx="1"/>
          </p:nvPr>
        </p:nvPicPr>
        <p:blipFill>
          <a:blip r:embed="rId2"/>
          <a:stretch>
            <a:fillRect/>
          </a:stretch>
        </p:blipFill>
        <p:spPr>
          <a:xfrm>
            <a:off x="1184660" y="1953765"/>
            <a:ext cx="9808018" cy="4635878"/>
          </a:xfrm>
        </p:spPr>
      </p:pic>
    </p:spTree>
    <p:extLst>
      <p:ext uri="{BB962C8B-B14F-4D97-AF65-F5344CB8AC3E}">
        <p14:creationId xmlns:p14="http://schemas.microsoft.com/office/powerpoint/2010/main" val="3652522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B674-09EA-341A-C6F0-5A5E70D38C42}"/>
              </a:ext>
            </a:extLst>
          </p:cNvPr>
          <p:cNvSpPr>
            <a:spLocks noGrp="1"/>
          </p:cNvSpPr>
          <p:nvPr>
            <p:ph type="title"/>
          </p:nvPr>
        </p:nvSpPr>
        <p:spPr/>
        <p:txBody>
          <a:bodyPr/>
          <a:lstStyle/>
          <a:p>
            <a:pPr algn="ctr"/>
            <a:r>
              <a:rPr lang="en-US" b="1" dirty="0"/>
              <a:t>Island detection system, synchronizing with the grid</a:t>
            </a:r>
            <a:endParaRPr lang="en-IN" dirty="0"/>
          </a:p>
        </p:txBody>
      </p:sp>
      <p:sp>
        <p:nvSpPr>
          <p:cNvPr id="3" name="Content Placeholder 2">
            <a:extLst>
              <a:ext uri="{FF2B5EF4-FFF2-40B4-BE49-F238E27FC236}">
                <a16:creationId xmlns:a16="http://schemas.microsoft.com/office/drawing/2014/main" id="{E84ABF04-76BB-A975-EDBB-BCAC53631B5C}"/>
              </a:ext>
            </a:extLst>
          </p:cNvPr>
          <p:cNvSpPr>
            <a:spLocks noGrp="1"/>
          </p:cNvSpPr>
          <p:nvPr>
            <p:ph idx="1"/>
          </p:nvPr>
        </p:nvSpPr>
        <p:spPr>
          <a:xfrm>
            <a:off x="735497" y="1804136"/>
            <a:ext cx="11376497" cy="4968852"/>
          </a:xfrm>
        </p:spPr>
        <p:txBody>
          <a:bodyPr>
            <a:normAutofit/>
          </a:bodyPr>
          <a:lstStyle/>
          <a:p>
            <a:pPr marL="457200" indent="-457200">
              <a:buFont typeface="+mj-lt"/>
              <a:buAutoNum type="arabicPeriod"/>
            </a:pPr>
            <a:r>
              <a:rPr lang="en-US" sz="2400" b="1" dirty="0"/>
              <a:t>ML based technique</a:t>
            </a:r>
            <a:r>
              <a:rPr lang="en-US" sz="2400" dirty="0"/>
              <a:t>: ML-based islanding detection techniques do not require any communication medium such as that used in remote techniques, no threshold settings as applied in passive techniques, and no power quality issues found in active techniques. The state-of-the-art techniques used for islanding detection today have shifted to ML-based islanding detection, which has certain advantages over remote and local techniques. </a:t>
            </a:r>
          </a:p>
          <a:p>
            <a:pPr marL="457200" indent="-457200">
              <a:buFont typeface="+mj-lt"/>
              <a:buAutoNum type="arabicPeriod"/>
            </a:pPr>
            <a:r>
              <a:rPr lang="en-US" sz="2400" b="1" dirty="0"/>
              <a:t>Remote detection methods </a:t>
            </a:r>
            <a:r>
              <a:rPr lang="en-US" sz="2400" dirty="0"/>
              <a:t>rely on external communication devices which link each DG to the utility side. They are more reliable than the local techniques, but they are more expensive to implement. </a:t>
            </a:r>
          </a:p>
          <a:p>
            <a:pPr marL="457200" indent="-457200">
              <a:buFont typeface="+mj-lt"/>
              <a:buAutoNum type="arabicPeriod"/>
            </a:pPr>
            <a:r>
              <a:rPr lang="en-US" sz="2400" b="1" dirty="0"/>
              <a:t>Local detection methods </a:t>
            </a:r>
            <a:r>
              <a:rPr lang="en-US" sz="2400" dirty="0"/>
              <a:t>can be divided into passive and active detection methods. </a:t>
            </a:r>
          </a:p>
          <a:p>
            <a:pPr marL="0" indent="0">
              <a:buNone/>
            </a:pPr>
            <a:r>
              <a:rPr lang="en-US" sz="2400" dirty="0"/>
              <a:t>The performance of each type of detection scheme can be evaluated according to their non detection zone (NDZ). The NDZ represents the interval in which islanding detection scheme fails to detect islanding condition once islanding occurred</a:t>
            </a:r>
          </a:p>
          <a:p>
            <a:endParaRPr lang="en-IN" sz="2400" dirty="0"/>
          </a:p>
        </p:txBody>
      </p:sp>
    </p:spTree>
    <p:extLst>
      <p:ext uri="{BB962C8B-B14F-4D97-AF65-F5344CB8AC3E}">
        <p14:creationId xmlns:p14="http://schemas.microsoft.com/office/powerpoint/2010/main" val="3371488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C9416-3884-0487-669A-8414098B6676}"/>
              </a:ext>
            </a:extLst>
          </p:cNvPr>
          <p:cNvSpPr>
            <a:spLocks noGrp="1"/>
          </p:cNvSpPr>
          <p:nvPr>
            <p:ph type="title"/>
          </p:nvPr>
        </p:nvSpPr>
        <p:spPr/>
        <p:txBody>
          <a:bodyPr/>
          <a:lstStyle/>
          <a:p>
            <a:pPr algn="ctr"/>
            <a:r>
              <a:rPr lang="en-US" b="1" dirty="0"/>
              <a:t>Island detection system, synchronizing with the grid - Local detection methods</a:t>
            </a:r>
            <a:endParaRPr lang="en-IN" dirty="0"/>
          </a:p>
        </p:txBody>
      </p:sp>
      <p:sp>
        <p:nvSpPr>
          <p:cNvPr id="3" name="Content Placeholder 2">
            <a:extLst>
              <a:ext uri="{FF2B5EF4-FFF2-40B4-BE49-F238E27FC236}">
                <a16:creationId xmlns:a16="http://schemas.microsoft.com/office/drawing/2014/main" id="{EE163941-3C39-5B66-F8C5-6D816AB33975}"/>
              </a:ext>
            </a:extLst>
          </p:cNvPr>
          <p:cNvSpPr>
            <a:spLocks noGrp="1"/>
          </p:cNvSpPr>
          <p:nvPr>
            <p:ph idx="1"/>
          </p:nvPr>
        </p:nvSpPr>
        <p:spPr>
          <a:xfrm>
            <a:off x="838200" y="1824015"/>
            <a:ext cx="10949609" cy="4492197"/>
          </a:xfrm>
        </p:spPr>
        <p:txBody>
          <a:bodyPr>
            <a:normAutofit/>
          </a:bodyPr>
          <a:lstStyle/>
          <a:p>
            <a:pPr marL="514350" indent="-514350">
              <a:buFont typeface="+mj-lt"/>
              <a:buAutoNum type="romanUcPeriod"/>
            </a:pPr>
            <a:r>
              <a:rPr lang="en-US" sz="2400" b="1" dirty="0"/>
              <a:t>Passive detection methods </a:t>
            </a:r>
            <a:r>
              <a:rPr lang="en-US" sz="2400" dirty="0"/>
              <a:t>depend on available local measurements such as frequency, voltage, phase angle, and harmonic distortion, measured on the DG site at the point of common coupling (PCC) with the grid to judge whether there is an islanding operation. These parameters vary greatly when the system is islanded. </a:t>
            </a:r>
          </a:p>
          <a:p>
            <a:pPr lvl="1"/>
            <a:r>
              <a:rPr lang="en-US" sz="2000" dirty="0"/>
              <a:t>Voltage and current harmonics detection</a:t>
            </a:r>
          </a:p>
          <a:p>
            <a:pPr lvl="1"/>
            <a:r>
              <a:rPr lang="en-US" sz="2000" dirty="0"/>
              <a:t>Over/under voltage and over/under frequency</a:t>
            </a:r>
          </a:p>
          <a:p>
            <a:pPr lvl="1"/>
            <a:r>
              <a:rPr lang="en-US" sz="2000" dirty="0"/>
              <a:t>Rate of change of frequency</a:t>
            </a:r>
          </a:p>
          <a:p>
            <a:pPr lvl="1"/>
            <a:r>
              <a:rPr lang="en-US" sz="2000" dirty="0"/>
              <a:t>Rate of change of frequency over power</a:t>
            </a:r>
          </a:p>
          <a:p>
            <a:pPr lvl="1"/>
            <a:r>
              <a:rPr lang="en-US" sz="2000" dirty="0"/>
              <a:t>Rate of change of power output</a:t>
            </a:r>
          </a:p>
          <a:p>
            <a:pPr lvl="1"/>
            <a:r>
              <a:rPr lang="en-US" sz="2000" dirty="0"/>
              <a:t>Voltage unbalance</a:t>
            </a:r>
          </a:p>
        </p:txBody>
      </p:sp>
    </p:spTree>
    <p:extLst>
      <p:ext uri="{BB962C8B-B14F-4D97-AF65-F5344CB8AC3E}">
        <p14:creationId xmlns:p14="http://schemas.microsoft.com/office/powerpoint/2010/main" val="2664873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F2DCE-197F-6385-359A-31FD94CA0663}"/>
              </a:ext>
            </a:extLst>
          </p:cNvPr>
          <p:cNvSpPr>
            <a:spLocks noGrp="1"/>
          </p:cNvSpPr>
          <p:nvPr>
            <p:ph type="title"/>
          </p:nvPr>
        </p:nvSpPr>
        <p:spPr/>
        <p:txBody>
          <a:bodyPr/>
          <a:lstStyle/>
          <a:p>
            <a:pPr algn="ctr"/>
            <a:r>
              <a:rPr lang="en-US" b="1" dirty="0"/>
              <a:t>Island detection system, synchronizing with the grid - Local detection methods</a:t>
            </a:r>
            <a:endParaRPr lang="en-IN" dirty="0"/>
          </a:p>
        </p:txBody>
      </p:sp>
      <p:sp>
        <p:nvSpPr>
          <p:cNvPr id="3" name="Content Placeholder 2">
            <a:extLst>
              <a:ext uri="{FF2B5EF4-FFF2-40B4-BE49-F238E27FC236}">
                <a16:creationId xmlns:a16="http://schemas.microsoft.com/office/drawing/2014/main" id="{B73EED8D-B740-7193-77B2-60AF938895E0}"/>
              </a:ext>
            </a:extLst>
          </p:cNvPr>
          <p:cNvSpPr>
            <a:spLocks noGrp="1"/>
          </p:cNvSpPr>
          <p:nvPr>
            <p:ph idx="1"/>
          </p:nvPr>
        </p:nvSpPr>
        <p:spPr>
          <a:xfrm>
            <a:off x="838200" y="1825625"/>
            <a:ext cx="10515600" cy="3869497"/>
          </a:xfrm>
        </p:spPr>
        <p:txBody>
          <a:bodyPr>
            <a:normAutofit lnSpcReduction="10000"/>
          </a:bodyPr>
          <a:lstStyle/>
          <a:p>
            <a:pPr marL="571500" indent="-571500">
              <a:buFont typeface="+mj-lt"/>
              <a:buAutoNum type="romanUcPeriod" startAt="2"/>
            </a:pPr>
            <a:r>
              <a:rPr lang="en-IN" sz="2400" b="1" dirty="0"/>
              <a:t>Active detection methods </a:t>
            </a:r>
          </a:p>
          <a:p>
            <a:pPr lvl="1"/>
            <a:r>
              <a:rPr lang="en-US" sz="2000" b="0" i="0" u="none" strike="noStrike" baseline="0" dirty="0">
                <a:solidFill>
                  <a:srgbClr val="000000"/>
                </a:solidFill>
                <a:latin typeface="Calibri" panose="020F0502020204030204" pitchFamily="34" charset="0"/>
              </a:rPr>
              <a:t>Generally, a small fluctuation is added to the output current of the distributed power generation system. Since the utility is relatively strong in comparison with the distributed power generation system, the additional small fluctuation cannot significantly affect the local load voltage when the utility is in the nominal condition. </a:t>
            </a:r>
          </a:p>
          <a:p>
            <a:pPr lvl="1"/>
            <a:r>
              <a:rPr lang="en-US" sz="2000" b="0" i="0" u="none" strike="noStrike" baseline="0" dirty="0">
                <a:solidFill>
                  <a:srgbClr val="000000"/>
                </a:solidFill>
                <a:latin typeface="Calibri" panose="020F0502020204030204" pitchFamily="34" charset="0"/>
              </a:rPr>
              <a:t>Conversely, the small fluctuation can cause a significant change in frequency, amplitude or waveform of the local load voltage when the utility is interrupted. Hence, the islanding operation can be detected and judged immediately by such a change. </a:t>
            </a:r>
          </a:p>
          <a:p>
            <a:pPr lvl="1"/>
            <a:r>
              <a:rPr lang="en-US" sz="2000" b="0" i="0" u="none" strike="noStrike" baseline="0" dirty="0">
                <a:solidFill>
                  <a:srgbClr val="000000"/>
                </a:solidFill>
                <a:latin typeface="Calibri" panose="020F0502020204030204" pitchFamily="34" charset="0"/>
              </a:rPr>
              <a:t>Instantly, the distributed power generation system must be disconnected from the utility so as to avoid the islanding operation.</a:t>
            </a:r>
          </a:p>
          <a:p>
            <a:pPr lvl="1"/>
            <a:r>
              <a:rPr lang="en-US" sz="2000" b="1" dirty="0"/>
              <a:t>Active frequency drift, Frequency jump, Active frequency drift with positive feedback, Variation of active and reactive power, Impedance measurement, Detection of impedance at specific frequency</a:t>
            </a:r>
          </a:p>
          <a:p>
            <a:pPr marL="571500" indent="-571500">
              <a:buFont typeface="+mj-lt"/>
              <a:buAutoNum type="romanUcPeriod" startAt="2"/>
            </a:pPr>
            <a:endParaRPr lang="en-IN" sz="2400" dirty="0"/>
          </a:p>
        </p:txBody>
      </p:sp>
    </p:spTree>
    <p:extLst>
      <p:ext uri="{BB962C8B-B14F-4D97-AF65-F5344CB8AC3E}">
        <p14:creationId xmlns:p14="http://schemas.microsoft.com/office/powerpoint/2010/main" val="1082016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B2E45-D7E5-7C5B-33BF-BAB5C4F45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71420-1A2D-F046-C90F-C94B7EA358D7}"/>
              </a:ext>
            </a:extLst>
          </p:cNvPr>
          <p:cNvSpPr>
            <a:spLocks noGrp="1"/>
          </p:cNvSpPr>
          <p:nvPr>
            <p:ph type="title"/>
          </p:nvPr>
        </p:nvSpPr>
        <p:spPr/>
        <p:txBody>
          <a:bodyPr/>
          <a:lstStyle/>
          <a:p>
            <a:pPr algn="ctr"/>
            <a:r>
              <a:rPr lang="en-US" b="1" dirty="0"/>
              <a:t>Island detection system, synchronizing with the grid - Local detection methods</a:t>
            </a:r>
            <a:endParaRPr lang="en-IN" dirty="0"/>
          </a:p>
        </p:txBody>
      </p:sp>
      <p:sp>
        <p:nvSpPr>
          <p:cNvPr id="3" name="Content Placeholder 2">
            <a:extLst>
              <a:ext uri="{FF2B5EF4-FFF2-40B4-BE49-F238E27FC236}">
                <a16:creationId xmlns:a16="http://schemas.microsoft.com/office/drawing/2014/main" id="{4B954734-1249-1485-379B-E5417AF0E737}"/>
              </a:ext>
            </a:extLst>
          </p:cNvPr>
          <p:cNvSpPr>
            <a:spLocks noGrp="1"/>
          </p:cNvSpPr>
          <p:nvPr>
            <p:ph idx="1"/>
          </p:nvPr>
        </p:nvSpPr>
        <p:spPr/>
        <p:txBody>
          <a:bodyPr>
            <a:normAutofit/>
          </a:bodyPr>
          <a:lstStyle/>
          <a:p>
            <a:pPr marL="514350" indent="-514350">
              <a:buFont typeface="+mj-lt"/>
              <a:buAutoNum type="romanUcPeriod" startAt="3"/>
            </a:pPr>
            <a:r>
              <a:rPr lang="en-US" sz="2400" b="1" dirty="0"/>
              <a:t>Hybrid techniques</a:t>
            </a:r>
            <a:r>
              <a:rPr lang="en-US" sz="2400" dirty="0"/>
              <a:t> are a combination of all the above-mentioned techniques and have a long detection time and complex implementation.</a:t>
            </a:r>
          </a:p>
          <a:p>
            <a:r>
              <a:rPr lang="en-US" sz="2400" dirty="0"/>
              <a:t>Grid synchronization attracts large concern due to the integration of renewable energy sources with the power utility grid. In order to remain interconnected while maintaining grid stability, an appropriate control technique is needed. Various RES(Renewable Energy Sources ) are synchronized by monitoring grid voltage, frequency, and phase to ensure proper operation.</a:t>
            </a:r>
          </a:p>
          <a:p>
            <a:endParaRPr lang="en-IN" sz="2400" dirty="0"/>
          </a:p>
        </p:txBody>
      </p:sp>
    </p:spTree>
    <p:extLst>
      <p:ext uri="{BB962C8B-B14F-4D97-AF65-F5344CB8AC3E}">
        <p14:creationId xmlns:p14="http://schemas.microsoft.com/office/powerpoint/2010/main" val="1053039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1027</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Grid Islanding</vt:lpstr>
      <vt:lpstr>Grid Islanding</vt:lpstr>
      <vt:lpstr>Grid Islanding</vt:lpstr>
      <vt:lpstr>Island detection system, synchronizing with the grid</vt:lpstr>
      <vt:lpstr>Island detection system, synchronizing with the grid</vt:lpstr>
      <vt:lpstr>Island detection system, synchronizing with the grid</vt:lpstr>
      <vt:lpstr>Island detection system, synchronizing with the grid</vt:lpstr>
      <vt:lpstr>Island detection system, synchronizing with the grid - Local detection methods</vt:lpstr>
      <vt:lpstr>Island detection system, synchronizing with the grid - Local detection methods</vt:lpstr>
      <vt:lpstr>Island detection system, synchronizing with the grid - Local detection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2026-02-25T03:57:02Z</dcterms:created>
  <dcterms:modified xsi:type="dcterms:W3CDTF">2026-02-25T03:57:27Z</dcterms:modified>
</cp:coreProperties>
</file>