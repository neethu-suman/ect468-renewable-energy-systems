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316" r:id="rId3"/>
    <p:sldId id="265" r:id="rId4"/>
    <p:sldId id="273" r:id="rId5"/>
    <p:sldId id="269" r:id="rId6"/>
    <p:sldId id="266" r:id="rId7"/>
    <p:sldId id="271" r:id="rId8"/>
    <p:sldId id="275" r:id="rId9"/>
    <p:sldId id="267" r:id="rId10"/>
    <p:sldId id="268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ED47-7B5C-3993-F22D-FF1F42093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E51BD-0ADE-B4CC-1EF4-F3315A467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337B-106E-7CAC-B9F8-9ACDAEFD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B783-A37C-87D8-B377-BAFA08FB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68879-8905-04C3-83B9-9D4FA4CC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9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161B-1A89-4AB0-17DF-8380709A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60A5-0EE7-635F-3B6C-C7436FC7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E3BAB-FE09-8C4A-5B75-AC67CDCB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85A57-0354-BE61-BBBB-35769596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6C1E-4B97-EF39-40BB-D4E5418E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5879-FD7D-B5C5-0964-B3D828A1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F4A84-CBBF-6A6A-5F56-77B70555F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3049-91EC-BCC2-3B2A-96DE3DDF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50B96-5735-FEA2-7F3F-5EC845DA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A418-D3DB-9009-ED87-B99584FD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1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0EE4-3873-84CA-A38E-9CC259D1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01EDC-660F-BC7D-44B7-10D410F29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48E7D-B81B-FF3D-0B6F-A08756F66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D6640-80BC-09F3-223E-391D160E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6C863-6DD6-0AE5-B2BC-59686B18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48CC4-9F9F-827B-77FD-1E8E51CD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9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736-153D-1D9D-6442-38B3BF53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A6B40-1394-BB7D-DCF4-C60D5C616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AB732-93AD-F08F-4888-2B0A1568C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15B30-FC21-F612-6BEC-FA092045E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2128D-FCA9-2660-AE44-58FB24FD6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357A8-D20D-2F6F-28A3-34339CAA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76BF3-01F1-EC25-05ED-24D27097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19E93-7B8B-0B4B-B71D-4145D167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46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CA54-A48B-B3F5-F02E-93CEDED5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3E7D7-3973-F2DF-DB23-52D4C3EB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974CB-36AE-22BC-46B7-18570D15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3C8D7-966E-028E-A1FF-9DF3D659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2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BA556-D86F-022D-DB46-57A5672E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D3060-C96E-B649-54F4-C9E324C1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73828-28FA-1166-59DC-465BE825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833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BC8A-E77A-0EE7-C92E-66A4056B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AE5B-E2BC-6093-22BE-5C3FAE79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E42F6-63C3-C927-2BCA-C7ACE8CDB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F321E-D0A0-E609-3329-38EC2033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4903-83DA-DE83-EB79-480A64CD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7F23F-A01E-B4B9-7842-014D055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89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832D-79DC-404D-DB05-F18AF383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3CDB6-1960-34B5-A2B2-5E947F7DB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2229B-C4D8-F87E-F691-872863D02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E431D-BB88-2322-3D56-09E82B62B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A0F23-AE3C-5FBE-8C9C-B7BADD2B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1AB47-901B-68DA-68EA-003A557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3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46F3-BA53-98D0-3AF1-4095EDD4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94A1B-8BC2-6477-E99F-5C86A7516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E5DE-F7C3-9B2F-7314-9B1EB29A3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718CE-08DE-051E-F155-DFE2AFE22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824E-ACE1-D268-D530-F4524099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5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7E78A-F5BF-D1A7-A283-B5376B9E0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B3C20-F634-7140-0383-3524BB0D3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3DC7-0952-A899-4AA1-E119BFA6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517A4-40BE-9221-7EBC-F3F62A8A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8B6B7-122F-0449-227F-3C8E7014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76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1D183-A312-B495-DE9A-11F8C62E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6BE76-1C56-AC2B-D0A4-7E22E0790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0F7A0-A11B-6A35-C3D0-73C90CC9F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5272F-8E30-4D39-9CBB-5120F3BF477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529F-CED0-94DA-EEFD-B921A4E15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451C1-558D-F5EB-360D-B1388058F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9714F-0BC3-460D-835C-208DDE1F2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5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74A-5375-6F45-8DF6-810A2837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Power control and management systems for grid integration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7214C4-261C-ED9E-5394-D904A5044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467" y="2205581"/>
            <a:ext cx="9069066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8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C7FF-81BE-7261-59E2-0995B228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BE86-54F2-49DD-428B-166B4D00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Power control and management systems for grid integration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50CCAB-5CA9-CA90-9E14-DD986E4F4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dirty="0"/>
              <a:t>Grid integration of wind energy is simply a collection of all activities related to connecting WPPs to the grid. </a:t>
            </a:r>
          </a:p>
          <a:p>
            <a:pPr marL="342900" indent="-342900"/>
            <a:r>
              <a:rPr lang="en-US" dirty="0"/>
              <a:t>Activities are split into three categories based on when the activities occur.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Planning</a:t>
            </a:r>
            <a:r>
              <a:rPr lang="en-US" dirty="0"/>
              <a:t> includes activities that occur before a WPP is integrated.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Physical</a:t>
            </a:r>
            <a:r>
              <a:rPr lang="en-US" dirty="0"/>
              <a:t> </a:t>
            </a:r>
            <a:r>
              <a:rPr lang="en-US" b="1" dirty="0"/>
              <a:t>connection</a:t>
            </a:r>
            <a:r>
              <a:rPr lang="en-US" dirty="0"/>
              <a:t> encompasses activities that occur during the physical connection of the wind farm to the grid.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System operations</a:t>
            </a:r>
            <a:r>
              <a:rPr lang="en-US" dirty="0"/>
              <a:t> are the activities that occur after the WPP is connected to the grid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7835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3698-884D-9E49-5CA8-03CE700B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5623"/>
          </a:xfrm>
        </p:spPr>
        <p:txBody>
          <a:bodyPr/>
          <a:lstStyle/>
          <a:p>
            <a:pPr algn="ctr"/>
            <a:r>
              <a:rPr lang="en-IN" b="1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00079-D905-F130-0A9C-B9FE748C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are two distinct types of planning activities related to grid integration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Network-wide activities</a:t>
            </a:r>
            <a:r>
              <a:rPr lang="en-US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Project-specific planning activities</a:t>
            </a:r>
            <a:r>
              <a:rPr lang="en-US" sz="2400" dirty="0"/>
              <a:t> </a:t>
            </a:r>
          </a:p>
          <a:p>
            <a:r>
              <a:rPr lang="en-US" sz="2400" dirty="0"/>
              <a:t>The methodologies for both types of studies are the same, except for input data related to wind power installations. </a:t>
            </a:r>
          </a:p>
          <a:p>
            <a:pPr lvl="1"/>
            <a:r>
              <a:rPr lang="en-US" sz="2000" dirty="0"/>
              <a:t>In a network-wide study, the input is wind energy targets by region</a:t>
            </a:r>
          </a:p>
          <a:p>
            <a:pPr lvl="1"/>
            <a:r>
              <a:rPr lang="en-US" sz="2000" dirty="0"/>
              <a:t>While for a project-specific study, the input is WPP of the project.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540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3333-7BA8-7C9D-2C08-D3AC33E2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1. Network-wide activities</a:t>
            </a:r>
            <a:r>
              <a:rPr lang="en-US" sz="4400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26EF-F68C-27DC-40A0-3ABCCF1D5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Involves the overall strategy for integrating wind power into the existing grid</a:t>
            </a:r>
          </a:p>
          <a:p>
            <a:r>
              <a:rPr lang="en-US" sz="2400" dirty="0"/>
              <a:t>Assessing the current grid capacity, identifying potential bottlenecks, and planning upgrades to accommodate the additional power from wind farms</a:t>
            </a:r>
          </a:p>
          <a:p>
            <a:r>
              <a:rPr lang="en-US" sz="2400" dirty="0"/>
              <a:t>Grid code development, network-wide system integration studies with scenarios for different wind penetration levels, and system operations studies</a:t>
            </a:r>
          </a:p>
          <a:p>
            <a:r>
              <a:rPr lang="en-US" sz="2400" dirty="0"/>
              <a:t>Involves coordinating with other renewable energy sources and ensuring compliance with regulatory standards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3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230C-3019-0BEB-2050-7ECB38B2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2.Project-specific planning activities</a:t>
            </a:r>
            <a:r>
              <a:rPr lang="en-US" sz="4400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A648-0AD5-00D1-190F-973285AE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System impact studies done for a specific wind project </a:t>
            </a:r>
          </a:p>
          <a:p>
            <a:pPr lvl="1"/>
            <a:r>
              <a:rPr lang="en-US" sz="2000" dirty="0"/>
              <a:t>Site-specific resource assessment (wind speed, direction, seasonal variations).</a:t>
            </a:r>
          </a:p>
          <a:p>
            <a:pPr lvl="1"/>
            <a:r>
              <a:rPr lang="en-US" sz="2000" dirty="0"/>
              <a:t>Power output estimation based on turbine capacity and efficiency</a:t>
            </a:r>
          </a:p>
          <a:p>
            <a:pPr lvl="1"/>
            <a:r>
              <a:rPr lang="en-US" sz="2000" dirty="0"/>
              <a:t>Selection of grid connection points, voltage levels, and transformer requirements</a:t>
            </a:r>
          </a:p>
          <a:p>
            <a:pPr lvl="1"/>
            <a:r>
              <a:rPr lang="en-US" sz="2000" dirty="0"/>
              <a:t>Assessment of environmental and land-use constraints for interconnection infrastructure</a:t>
            </a:r>
          </a:p>
          <a:p>
            <a:r>
              <a:rPr lang="en-US" sz="2400" dirty="0"/>
              <a:t>Includes selecting suitable sites, conducting feasibility studies, and designing the layout of the wind farm. </a:t>
            </a:r>
          </a:p>
          <a:p>
            <a:r>
              <a:rPr lang="en-US" sz="2400" dirty="0"/>
              <a:t>Factors such as wind resource assessment, environmental impact, and proximity to the grid are considered. </a:t>
            </a:r>
          </a:p>
          <a:p>
            <a:r>
              <a:rPr lang="en-US" sz="2400" dirty="0"/>
              <a:t>The goal is to maximize energy production while minimizing costs and environmental impact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3783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ADA2-CD31-35BD-1A6B-52CE4619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Physical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652CB-95A5-D0C5-E0B4-3ABBF3A8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Design and implementation of infrastructure from the wind turbines to the grid substation</a:t>
            </a:r>
          </a:p>
          <a:p>
            <a:r>
              <a:rPr lang="en-US" sz="2400" dirty="0"/>
              <a:t>Design varies based on site conditions (terrain, distance, and existing infrastructure), grid requirements, and regulatory guidelines.</a:t>
            </a:r>
          </a:p>
          <a:p>
            <a:r>
              <a:rPr lang="en-US" sz="2400" dirty="0"/>
              <a:t>Physically, a WPP is connected to an existing high voltage transmission line in a substation. </a:t>
            </a:r>
          </a:p>
          <a:p>
            <a:pPr lvl="1"/>
            <a:r>
              <a:rPr lang="en-US" sz="2000" dirty="0"/>
              <a:t>In order to avoid the expense of building a substation, most WPPs choose to connect to an existing substation.</a:t>
            </a:r>
          </a:p>
          <a:p>
            <a:pPr lvl="1"/>
            <a:r>
              <a:rPr lang="en-US" sz="2000" dirty="0"/>
              <a:t>In the substation, the WPP line is connected to the medium voltage busbar, which is connected to a transformer to step up the voltage to the high voltage transmission line. </a:t>
            </a:r>
          </a:p>
          <a:p>
            <a:pPr lvl="1"/>
            <a:r>
              <a:rPr lang="en-US" sz="2000" dirty="0"/>
              <a:t>The medium voltage line from the WPP to the substation is built by the WPP. </a:t>
            </a:r>
          </a:p>
          <a:p>
            <a:pPr lvl="1"/>
            <a:r>
              <a:rPr lang="en-US" sz="2000" dirty="0"/>
              <a:t>The detailed design of the interconnection depends on the conditions on the ground.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08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7872-D616-5D72-D0E5-B60C5B14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Physical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5B30D-101D-25FD-3C6A-ADFF095F9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4" y="1527451"/>
            <a:ext cx="10515600" cy="4965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A. Wind Power Collection System</a:t>
            </a:r>
          </a:p>
          <a:p>
            <a:pPr lvl="1"/>
            <a:r>
              <a:rPr lang="en-US" sz="2000" b="1" dirty="0"/>
              <a:t>Wind turbines generate electricity at low voltage (690V - 1kV)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Multiple turbines are connected via </a:t>
            </a:r>
            <a:r>
              <a:rPr lang="en-US" sz="2000" b="1" dirty="0"/>
              <a:t>medium-voltage (33kV - 66kV) collector lines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Power from all turbines is routed to a </a:t>
            </a:r>
            <a:r>
              <a:rPr lang="en-US" sz="2000" b="1" dirty="0"/>
              <a:t>main collection point or substation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B. Step-Up Transformation</a:t>
            </a:r>
          </a:p>
          <a:p>
            <a:pPr lvl="1"/>
            <a:r>
              <a:rPr lang="en-US" sz="2000" b="1" dirty="0"/>
              <a:t>Step-up transformers</a:t>
            </a:r>
            <a:r>
              <a:rPr lang="en-US" sz="2000" dirty="0"/>
              <a:t> increase voltage to </a:t>
            </a:r>
            <a:r>
              <a:rPr lang="en-US" sz="2000" b="1" dirty="0"/>
              <a:t>transmission level (110kV - 400kV)</a:t>
            </a:r>
            <a:r>
              <a:rPr lang="en-US" sz="2000" dirty="0"/>
              <a:t> for efficient long-distance transmission.</a:t>
            </a:r>
          </a:p>
          <a:p>
            <a:pPr lvl="1"/>
            <a:r>
              <a:rPr lang="en-US" sz="2000" dirty="0"/>
              <a:t>Located at the wind farm or a dedicated substation near the WPP.</a:t>
            </a:r>
          </a:p>
          <a:p>
            <a:pPr marL="0" indent="0">
              <a:buNone/>
            </a:pPr>
            <a:r>
              <a:rPr lang="en-US" sz="2400" b="1" dirty="0"/>
              <a:t>C. Transmission to Grid Substation</a:t>
            </a:r>
          </a:p>
          <a:p>
            <a:pPr lvl="1"/>
            <a:r>
              <a:rPr lang="en-US" sz="2000" dirty="0"/>
              <a:t>A high-voltage transmission line </a:t>
            </a:r>
            <a:r>
              <a:rPr lang="en-US" sz="2000" b="1" dirty="0"/>
              <a:t>(HVAC or HVDC)</a:t>
            </a:r>
            <a:r>
              <a:rPr lang="en-US" sz="2000" dirty="0"/>
              <a:t> carries power to the main grid.</a:t>
            </a:r>
          </a:p>
          <a:p>
            <a:pPr lvl="1"/>
            <a:r>
              <a:rPr lang="en-US" sz="2000" b="1" dirty="0"/>
              <a:t>HVDC transmission</a:t>
            </a:r>
            <a:r>
              <a:rPr lang="en-US" sz="2000" dirty="0"/>
              <a:t> is preferred for offshore wind farms due to lower losses over long distances.</a:t>
            </a:r>
          </a:p>
          <a:p>
            <a:pPr lvl="1"/>
            <a:r>
              <a:rPr lang="en-US" sz="2000" dirty="0"/>
              <a:t>Designed to </a:t>
            </a:r>
            <a:r>
              <a:rPr lang="en-US" sz="2000" b="1" dirty="0"/>
              <a:t>minimize power losses, voltage drops, and reactive power issues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4759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7872-D616-5D72-D0E5-B60C5B14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Physical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5B30D-101D-25FD-3C6A-ADFF095F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D. Grid Interconnection Substation</a:t>
            </a:r>
          </a:p>
          <a:p>
            <a:pPr lvl="1"/>
            <a:r>
              <a:rPr lang="en-US" sz="2000" dirty="0"/>
              <a:t>Connects the wind power plant to the main </a:t>
            </a:r>
            <a:r>
              <a:rPr lang="en-US" sz="2000" b="1" dirty="0"/>
              <a:t>transmission or distribution network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Includes </a:t>
            </a:r>
            <a:r>
              <a:rPr lang="en-US" sz="2000" b="1" dirty="0"/>
              <a:t>circuit breakers, protection relays, SCADA systems, and reactive power compensation units</a:t>
            </a:r>
            <a:r>
              <a:rPr lang="en-US" sz="2000" dirty="0"/>
              <a:t> (STATCOM, SVC).</a:t>
            </a:r>
          </a:p>
          <a:p>
            <a:pPr lvl="1"/>
            <a:r>
              <a:rPr lang="en-US" sz="2000" dirty="0"/>
              <a:t>Must comply with </a:t>
            </a:r>
            <a:r>
              <a:rPr lang="en-US" sz="2000" b="1" dirty="0"/>
              <a:t>grid interconnection standards</a:t>
            </a:r>
            <a:r>
              <a:rPr lang="en-US" sz="2000" dirty="0"/>
              <a:t>, ensuring </a:t>
            </a:r>
            <a:r>
              <a:rPr lang="en-US" sz="2000" b="1" dirty="0"/>
              <a:t>power quality, stability, and fault handling capability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E. Impact of Site Conditions on Design</a:t>
            </a:r>
          </a:p>
          <a:p>
            <a:pPr lvl="1"/>
            <a:r>
              <a:rPr lang="en-US" sz="2000" b="1" dirty="0"/>
              <a:t>Onshore WPPs</a:t>
            </a:r>
            <a:r>
              <a:rPr lang="en-US" sz="2000" dirty="0"/>
              <a:t>: Terrain, land-use restrictions, accessibility influence layout and interconnection design.</a:t>
            </a:r>
          </a:p>
          <a:p>
            <a:pPr lvl="1"/>
            <a:r>
              <a:rPr lang="en-US" sz="2000" b="1" dirty="0"/>
              <a:t>Offshore WPPs</a:t>
            </a:r>
            <a:r>
              <a:rPr lang="en-US" sz="2000" dirty="0"/>
              <a:t>: Subsea cables, offshore substations, and weatherproofing are key considerations.</a:t>
            </a:r>
          </a:p>
          <a:p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24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176E-D84C-8CF0-D6EE-3D2AB79B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System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A054-5B1F-14C8-23DE-0EFCFAF07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After the WPP is physically connected to the transmission line, the attention of grid integration turns to system operations, which integrate the production of WPPs into the grid operations. </a:t>
            </a:r>
          </a:p>
          <a:p>
            <a:r>
              <a:rPr lang="en-US" sz="2400" dirty="0"/>
              <a:t>The goal of grid operations is to commit and dispatch all generation units in the system with the objective of meeting demand in a reliable and economical manner. </a:t>
            </a:r>
          </a:p>
          <a:p>
            <a:r>
              <a:rPr lang="en-US" sz="2400" dirty="0"/>
              <a:t>Wind energy forecasting is an important enabler in order to meet these objectives, given the variability and uncertainty of wind resources. </a:t>
            </a:r>
          </a:p>
          <a:p>
            <a:r>
              <a:rPr lang="en-US" sz="2400" dirty="0"/>
              <a:t>Day-ahead hourly wind energy forecasts are used in the unit commitment process and intraday updates to forecasts are used in the economic dispatch process.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861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517F-8D51-42DB-1963-FF3D2B8B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Unit Commitment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8119C-F416-9500-26B3-58DF3549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involves determining which generating units should be online at any given time to meet the expected demand. </a:t>
            </a:r>
          </a:p>
          <a:p>
            <a:r>
              <a:rPr lang="en-US" sz="2400" dirty="0"/>
              <a:t>The goal is to minimize operational costs while ensuring reliability. </a:t>
            </a:r>
          </a:p>
          <a:p>
            <a:r>
              <a:rPr lang="en-US" sz="2400" dirty="0"/>
              <a:t>This process takes into account factors such as fuel costs, maintenance schedules, and grid constraints. </a:t>
            </a:r>
          </a:p>
          <a:p>
            <a:r>
              <a:rPr lang="en-US" sz="2400" dirty="0"/>
              <a:t>Advanced algorithms and optimization techniques are used to solve the unit commitment problem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5909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487C-A238-ECE4-489D-6BAD2344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Economic Dispatch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DA12F-32A7-021F-1E15-7D6076DC3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Real-time power allocation to minimize generation costs while maintaining grid reliability.</a:t>
            </a:r>
          </a:p>
          <a:p>
            <a:r>
              <a:rPr lang="en-US" sz="2400" dirty="0"/>
              <a:t>Wind power is dispatched based on available wind resources, grid demand, and market prices.</a:t>
            </a:r>
          </a:p>
          <a:p>
            <a:r>
              <a:rPr lang="en-US" sz="2400" dirty="0"/>
              <a:t>It involves determining the optimal output of each generating unit to meet the current demand at the lowest cost. </a:t>
            </a:r>
          </a:p>
          <a:p>
            <a:r>
              <a:rPr lang="en-US" sz="2400" dirty="0"/>
              <a:t>The economic dispatch process considers factors such as fuel prices, generator efficiency, and transmission constraints. </a:t>
            </a:r>
          </a:p>
          <a:p>
            <a:r>
              <a:rPr lang="en-US" sz="2400" dirty="0"/>
              <a:t>Uses </a:t>
            </a:r>
            <a:r>
              <a:rPr lang="en-US" sz="2400" b="1" dirty="0"/>
              <a:t>advanced forecasting techniques (AI, machine learning)</a:t>
            </a:r>
            <a:r>
              <a:rPr lang="en-US" sz="2400" dirty="0"/>
              <a:t> to optimize dispatch.</a:t>
            </a:r>
          </a:p>
        </p:txBody>
      </p:sp>
    </p:spTree>
    <p:extLst>
      <p:ext uri="{BB962C8B-B14F-4D97-AF65-F5344CB8AC3E}">
        <p14:creationId xmlns:p14="http://schemas.microsoft.com/office/powerpoint/2010/main" val="174438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965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 control and management systems for grid integration</vt:lpstr>
      <vt:lpstr>Power control and management systems for grid integration</vt:lpstr>
      <vt:lpstr>Planning</vt:lpstr>
      <vt:lpstr>1. Network-wide activities </vt:lpstr>
      <vt:lpstr>2.Project-specific planning activities </vt:lpstr>
      <vt:lpstr>Physical Connection</vt:lpstr>
      <vt:lpstr>Physical Connection</vt:lpstr>
      <vt:lpstr>Physical Connection</vt:lpstr>
      <vt:lpstr>System Operation</vt:lpstr>
      <vt:lpstr>1. Unit Commitment Process</vt:lpstr>
      <vt:lpstr>2. Economic Dispatch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2026-02-25T03:55:26Z</dcterms:created>
  <dcterms:modified xsi:type="dcterms:W3CDTF">2026-02-25T03:56:31Z</dcterms:modified>
</cp:coreProperties>
</file>