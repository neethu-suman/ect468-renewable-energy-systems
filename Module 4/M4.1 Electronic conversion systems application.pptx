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E67EC-4DB3-7F02-6D27-0634745AB5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1A4C2-A0D8-B10E-CFD5-BC5C15F831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110C2-6AF2-99C1-50FF-21766EE84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0A51E-EFFB-4011-82F4-D04FB490C0D6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A50C3-6C84-08E3-4BFB-AD5021F02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89AA9-15CD-0A13-8B3F-538AE3A10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0EDE2-EE4B-4F4E-9F15-AD3792677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980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52BB9-B23E-D2B5-D6E0-0A4CE8BFF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85A01-D852-D465-F47C-2FAA8E47D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9D227-20BE-F2B5-0F5D-6C8FDF7EC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0A51E-EFFB-4011-82F4-D04FB490C0D6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4CB66-F9F7-1542-808B-35D41A73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1AFA3-B855-34A5-5CB2-81D95B837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0EDE2-EE4B-4F4E-9F15-AD3792677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558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5E51C-0372-666E-E65C-5C1A107BF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41C507-EE13-87AD-9A9D-DCCD7B225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719DF-C01F-653E-2FAD-7960B8260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0A51E-EFFB-4011-82F4-D04FB490C0D6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1CDAB-4233-F4B1-182B-C664718CF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249F1-B806-3B1A-6889-F030F86ED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0EDE2-EE4B-4F4E-9F15-AD3792677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541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87251-FC71-259A-86A1-26725B177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87200-DEA8-FE5E-05F8-3262E294E2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150AF0-6DCB-936F-1B6F-0BA44EB553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78139-4446-C178-664C-031544992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0A51E-EFFB-4011-82F4-D04FB490C0D6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A683BC-2DF9-FD31-A25D-CBA882313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B6D46-ED39-3BB0-4178-9AAE2A487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0EDE2-EE4B-4F4E-9F15-AD3792677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12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236E5-0CFE-69CE-EDDC-87318854D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5F7B04-3CD9-A848-A00A-97F9323EE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88E81-E5B0-05FF-5EAD-F4A0EE4BC9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76F667-B472-3D82-4E3F-24AA731C23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656055-399A-BFE2-FADD-5EE864E9B8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78DCB2-430C-F66A-2B1D-FE5D2677E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0A51E-EFFB-4011-82F4-D04FB490C0D6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DEBFE5-81B3-2A17-906E-154076C48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63D21F-743C-EE81-5D99-39474D535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0EDE2-EE4B-4F4E-9F15-AD3792677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306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A0F7A-4DB0-50EB-506D-2D701A3B2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18989D-1D8B-BC66-3C02-4D99014C1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0A51E-EFFB-4011-82F4-D04FB490C0D6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179678-2C0E-19DE-11A6-8435D834F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AD031-1F4D-A6AA-01AA-BA02BC779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0EDE2-EE4B-4F4E-9F15-AD3792677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912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3B605E-882E-E5F2-38AE-CF2A5BEBB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0A51E-EFFB-4011-82F4-D04FB490C0D6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9EB365-1749-28EC-A737-6FDB8ADB7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2ABE8-345A-0F7F-5A48-62A088F93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0EDE2-EE4B-4F4E-9F15-AD3792677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9025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1932F-B0A5-8A9E-7D2A-DFA5E438F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1D5F2-2EDE-E840-C97F-B316BCF6F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D78A45-6F0D-A497-96C6-00A819353F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6AB0C0-6BB7-E9B3-B54D-307AEA6E3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0A51E-EFFB-4011-82F4-D04FB490C0D6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368D0B-B9B3-C896-3BC6-CF17BD5EA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E2DB93-E231-4AAB-563C-58A608FBB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0EDE2-EE4B-4F4E-9F15-AD3792677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384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591BA-85D4-AC06-3994-9924C643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BE620A-F80B-9A4E-E501-BB6C5818E2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684418-2071-A9DC-6F6C-A59D7DFC96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5C13FB-0C41-9C31-21DD-E66A04C5C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0A51E-EFFB-4011-82F4-D04FB490C0D6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006C60-FC90-EE89-38A8-A7708D798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23DC1E-5160-F0EB-E90B-98D35955B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0EDE2-EE4B-4F4E-9F15-AD3792677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245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13D53-E332-AA16-51B8-457BBCD6D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0F6FB0-25EE-3F45-536F-8D2DFBFD8B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9C489-F97C-782C-50C2-32720DA33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0A51E-EFFB-4011-82F4-D04FB490C0D6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C12E1-5415-C85B-6459-C7A5E63F8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CBFB5-6437-7C96-6A35-149148E5B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0EDE2-EE4B-4F4E-9F15-AD3792677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6302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99A5E8-B494-6C65-1931-4A2F51B084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52A3FA-14CE-51A8-DABA-8E82B5BA00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8E64A-0B84-B994-6371-2274171FB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0A51E-EFFB-4011-82F4-D04FB490C0D6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85F90-F74A-7547-6DCE-49931044B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25D83-A23A-E3E2-0E66-9950758A9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0EDE2-EE4B-4F4E-9F15-AD3792677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1743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5AD98E-9607-036A-B7ED-71E241FC3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D409A5-F8E6-400F-DB26-BD12937A95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59901-2215-A221-BA6E-55DAED678E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0A51E-EFFB-4011-82F4-D04FB490C0D6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D8208-8345-2949-8730-224664AE0F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566A27-70BF-324C-DFFF-C0FE7DC0D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50EDE2-EE4B-4F4E-9F15-AD3792677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740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71906-8A1B-566A-C274-39D78507E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MODULE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F2601E-8790-FD0E-9E47-7FD3CFAB2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Electronic conversion systems application to renewable energy generation systems: Basic schemes and functional advantages</a:t>
            </a:r>
          </a:p>
          <a:p>
            <a:pPr algn="just"/>
            <a:r>
              <a:rPr lang="en-US" sz="2400" dirty="0"/>
              <a:t>Power control and management systems for grid integration</a:t>
            </a:r>
          </a:p>
          <a:p>
            <a:pPr algn="just"/>
            <a:r>
              <a:rPr lang="en-US" sz="2400" dirty="0"/>
              <a:t>Island detection systems</a:t>
            </a:r>
          </a:p>
          <a:p>
            <a:pPr algn="just"/>
            <a:r>
              <a:rPr lang="en-US" sz="2400" dirty="0"/>
              <a:t>Synchronizing with the grid</a:t>
            </a:r>
          </a:p>
          <a:p>
            <a:pPr algn="just"/>
            <a:r>
              <a:rPr lang="en-US" sz="2400" dirty="0"/>
              <a:t>Issues in integration of converter based sources</a:t>
            </a:r>
          </a:p>
          <a:p>
            <a:pPr algn="just"/>
            <a:r>
              <a:rPr lang="en-US" sz="2400" dirty="0"/>
              <a:t>Network voltage management</a:t>
            </a:r>
          </a:p>
          <a:p>
            <a:pPr algn="just"/>
            <a:r>
              <a:rPr lang="en-US" sz="2400" dirty="0"/>
              <a:t>Power quality management and Frequency management</a:t>
            </a:r>
          </a:p>
          <a:p>
            <a:pPr algn="just"/>
            <a:r>
              <a:rPr lang="en-US" sz="2400" dirty="0"/>
              <a:t>Influence of PV/WECS on system transient response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083746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1B581-AB55-D4DE-7070-6503F8CDD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Renewable Energy Conversion System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3971EA-2C7F-FA63-14C4-CE740AF6EE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3026" y="1303059"/>
            <a:ext cx="8613913" cy="5554941"/>
          </a:xfrm>
        </p:spPr>
      </p:pic>
    </p:spTree>
    <p:extLst>
      <p:ext uri="{BB962C8B-B14F-4D97-AF65-F5344CB8AC3E}">
        <p14:creationId xmlns:p14="http://schemas.microsoft.com/office/powerpoint/2010/main" val="2251606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5A768-D796-1B37-F8E6-B06FFBAAF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Wind power conversion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133C6-0D68-89D8-6D1C-B7D579F65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671485"/>
            <a:ext cx="11240728" cy="4119716"/>
          </a:xfrm>
        </p:spPr>
        <p:txBody>
          <a:bodyPr/>
          <a:lstStyle/>
          <a:p>
            <a:r>
              <a:rPr lang="en-US" sz="2000" dirty="0"/>
              <a:t>The function of a wind turbine is to convert the linear motion of the wind into rotational energy that can be used to drive a generator, as illustrated in Fig. 1.</a:t>
            </a:r>
          </a:p>
          <a:p>
            <a:r>
              <a:rPr lang="en-US" sz="2000" dirty="0"/>
              <a:t>Wind turbines capture the power from the wind by means of aerodynamically designed blades and convert it into rotating mechanical power. </a:t>
            </a:r>
          </a:p>
          <a:p>
            <a:r>
              <a:rPr lang="en-US" sz="2000" dirty="0"/>
              <a:t>At present, the most popular wind turbine is the Horizontal Axis Wind Turbine (HAWTs) where the number of blades is typically three.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261855-8748-716B-7964-C1ADC5A0A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200" y="3731343"/>
            <a:ext cx="10851482" cy="2937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604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A45C0-C964-0533-46D5-599563E46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Wind power conversion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3516E-C4A3-1BD2-1B65-909F9B714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11162488" cy="4570018"/>
          </a:xfrm>
        </p:spPr>
        <p:txBody>
          <a:bodyPr>
            <a:normAutofit/>
          </a:bodyPr>
          <a:lstStyle/>
          <a:p>
            <a:r>
              <a:rPr lang="en-US" sz="2000" dirty="0"/>
              <a:t>Electric generators work on the principle of electromagnetic induction.</a:t>
            </a:r>
          </a:p>
          <a:p>
            <a:r>
              <a:rPr lang="en-US" sz="2000" dirty="0"/>
              <a:t>Electromagnetic Induction is a current produced because of voltage production (electromotive force) due to a changing magnetic field. This either happens when a conductor is placed in a moving magnetic field (when using an AC power source) or when a conductor is constantly moving in a stationary magnetic field.</a:t>
            </a:r>
          </a:p>
          <a:p>
            <a:r>
              <a:rPr lang="en-US" sz="2000" dirty="0"/>
              <a:t>How conversion happens in generator</a:t>
            </a:r>
          </a:p>
          <a:p>
            <a:r>
              <a:rPr lang="en-US" sz="2000" dirty="0"/>
              <a:t>The generation of electrical power requires relative motion between a magnetic field and a conductor. In a generator, mechanical energy is converted into electrical energy. The electricity produced by most generators is in the form of alternating current.</a:t>
            </a:r>
          </a:p>
          <a:p>
            <a:r>
              <a:rPr lang="en-US" sz="2000" dirty="0"/>
              <a:t>A power converter is an electrical circuit that changes the electric energy from one form into the desired form optimized for the specific load.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7603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FCD59-1000-358C-A8A7-0E16E298F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Wind Power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1638A-BCE3-5F78-EBC8-D879DCCEF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007" y="1563330"/>
            <a:ext cx="10131425" cy="4178710"/>
          </a:xfrm>
        </p:spPr>
        <p:txBody>
          <a:bodyPr>
            <a:normAutofit/>
          </a:bodyPr>
          <a:lstStyle/>
          <a:p>
            <a:r>
              <a:rPr lang="en-US" sz="2200" dirty="0"/>
              <a:t>The aerodynamic power, P, of a wind turbine is given by:</a:t>
            </a:r>
          </a:p>
          <a:p>
            <a:r>
              <a:rPr lang="en-US" sz="2200" dirty="0"/>
              <a:t>where ρ is the air density, </a:t>
            </a:r>
          </a:p>
          <a:p>
            <a:r>
              <a:rPr lang="en-US" sz="2200" dirty="0"/>
              <a:t> R is the turbine radius, </a:t>
            </a:r>
          </a:p>
          <a:p>
            <a:r>
              <a:rPr lang="en-US" sz="2200" dirty="0"/>
              <a:t>v is the wind speed and Cp is the turbine power coefficient which represents the power conversion efficiency of a wind turbine.</a:t>
            </a:r>
          </a:p>
          <a:p>
            <a:r>
              <a:rPr lang="en-US" sz="2200" dirty="0"/>
              <a:t> Cp is a function of the tip-speed ratio (λ), as well as the blade pitch angle (β) in a pitch controlled wind turbine. The Betz limit, </a:t>
            </a:r>
            <a:r>
              <a:rPr lang="en-US" sz="2200" dirty="0" err="1"/>
              <a:t>Cpmax</a:t>
            </a:r>
            <a:r>
              <a:rPr lang="en-US" sz="2200" dirty="0"/>
              <a:t> (theoretical) =16/27, is the maximum theoretically possible rotor power coefficient. </a:t>
            </a:r>
          </a:p>
          <a:p>
            <a:r>
              <a:rPr lang="en-US" sz="2200" dirty="0"/>
              <a:t>λ is defined as the ratio of the tip speed of the turbine blades to wind speed, and given by: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9A3261-BA81-634E-18ED-46A583D3A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9392" y="1337733"/>
            <a:ext cx="3966871" cy="1325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D9DF55-0EF7-A1F4-3325-A09BFA04A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535" y="5170547"/>
            <a:ext cx="7964343" cy="146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237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2656E-4749-7E21-EC2B-0437FF4D1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Basic schemes and functional advantages</a:t>
            </a:r>
            <a:br>
              <a:rPr lang="en-US" b="1" dirty="0"/>
            </a:br>
            <a:r>
              <a:rPr lang="en-US" b="1" dirty="0"/>
              <a:t>Wind energy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0C005-A599-E92D-3E65-041C8D737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10822020" cy="453110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Wind energy is an alternative to fossil fuels, </a:t>
            </a:r>
          </a:p>
          <a:p>
            <a:r>
              <a:rPr lang="en-US" dirty="0"/>
              <a:t>it is plentiful</a:t>
            </a:r>
          </a:p>
          <a:p>
            <a:r>
              <a:rPr lang="en-US" dirty="0"/>
              <a:t>Renewable</a:t>
            </a:r>
          </a:p>
          <a:p>
            <a:r>
              <a:rPr lang="en-US" dirty="0"/>
              <a:t>widely distributed</a:t>
            </a:r>
          </a:p>
          <a:p>
            <a:r>
              <a:rPr lang="en-US" dirty="0"/>
              <a:t>Clean</a:t>
            </a:r>
          </a:p>
          <a:p>
            <a:r>
              <a:rPr lang="en-US" dirty="0"/>
              <a:t>low cost</a:t>
            </a:r>
          </a:p>
          <a:p>
            <a:r>
              <a:rPr lang="en-US" dirty="0"/>
              <a:t>produces no emissions during operation</a:t>
            </a:r>
          </a:p>
          <a:p>
            <a:r>
              <a:rPr lang="en-US" dirty="0"/>
              <a:t>uses a tiny land area</a:t>
            </a:r>
          </a:p>
          <a:p>
            <a:r>
              <a:rPr lang="en-US" dirty="0"/>
              <a:t>The effects on the environment are generally less problematic than those from other conventional power sources.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19E13F-2DB2-9D8F-7429-EF4BC9924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442" y="2666179"/>
            <a:ext cx="6064147" cy="228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598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AD96E-0E1E-E6DF-6636-7F51BE9CD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Basic schemes and functional advantages </a:t>
            </a:r>
            <a:br>
              <a:rPr lang="en-US" b="1" dirty="0"/>
            </a:br>
            <a:r>
              <a:rPr lang="en-IN" b="1" dirty="0"/>
              <a:t>Solar Power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E0583-97E1-55D4-CE76-E6ED49345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926077"/>
            <a:ext cx="10131425" cy="3865123"/>
          </a:xfrm>
        </p:spPr>
        <p:txBody>
          <a:bodyPr/>
          <a:lstStyle/>
          <a:p>
            <a:r>
              <a:rPr lang="en-US" sz="2000" dirty="0"/>
              <a:t>An energy source that is both renewable and inexhaustible </a:t>
            </a:r>
          </a:p>
          <a:p>
            <a:r>
              <a:rPr lang="en-US" sz="2000" dirty="0"/>
              <a:t>Solar Power Reduces Carbon Emissions</a:t>
            </a:r>
          </a:p>
          <a:p>
            <a:r>
              <a:rPr lang="en-US" sz="2000" dirty="0"/>
              <a:t>Solar Panels Reduce Dependence on the National Grid</a:t>
            </a:r>
          </a:p>
          <a:p>
            <a:r>
              <a:rPr lang="en-US" sz="2000" dirty="0"/>
              <a:t>Using solar energy helps drastically cut down the electricity you use from the national grid.</a:t>
            </a:r>
          </a:p>
          <a:p>
            <a:r>
              <a:rPr lang="en-US" sz="2000" dirty="0"/>
              <a:t>Solar Energy is Sustainable</a:t>
            </a:r>
          </a:p>
          <a:p>
            <a:r>
              <a:rPr lang="en-US" sz="2000" dirty="0"/>
              <a:t>Solar Panels are Long-Lasting</a:t>
            </a:r>
          </a:p>
          <a:p>
            <a:r>
              <a:rPr lang="en-US" sz="2000" dirty="0"/>
              <a:t>It can be used on under </a:t>
            </a:r>
            <a:r>
              <a:rPr lang="en-US" sz="2000" dirty="0" err="1"/>
              <a:t>utilised</a:t>
            </a:r>
            <a:r>
              <a:rPr lang="en-US" sz="2000" dirty="0"/>
              <a:t> land</a:t>
            </a:r>
          </a:p>
          <a:p>
            <a:r>
              <a:rPr lang="en-US" sz="2000" dirty="0"/>
              <a:t>Solar Power is Good for the Economy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B764D-6B92-722D-FC46-8C2F0A7EB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582" y="3732927"/>
            <a:ext cx="6508636" cy="292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055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532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MODULE 4</vt:lpstr>
      <vt:lpstr>Renewable Energy Conversion System</vt:lpstr>
      <vt:lpstr>Wind power conversion</vt:lpstr>
      <vt:lpstr>Wind power conversion</vt:lpstr>
      <vt:lpstr>Wind Power</vt:lpstr>
      <vt:lpstr>Basic schemes and functional advantages Wind energy</vt:lpstr>
      <vt:lpstr>Basic schemes and functional advantages  Solar Power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1</cp:revision>
  <dcterms:created xsi:type="dcterms:W3CDTF">2026-02-17T05:14:59Z</dcterms:created>
  <dcterms:modified xsi:type="dcterms:W3CDTF">2026-02-17T05:15:46Z</dcterms:modified>
</cp:coreProperties>
</file>