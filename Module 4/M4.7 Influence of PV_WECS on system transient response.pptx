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7" r:id="rId2"/>
    <p:sldId id="298" r:id="rId3"/>
    <p:sldId id="299" r:id="rId4"/>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52D1D-93EA-7D7C-99FA-E40B341C69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ABC832-2B09-D84A-FB7A-F62A829B66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2CC77B-0271-2EF3-CDEB-ECE40CF8D024}"/>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578C0C22-0E7D-7602-95D7-C3FD232665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1EB319-69BA-7996-1A99-4010222D5673}"/>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2706025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0550-03D3-A55A-6A58-5F5F37CAD4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7C4CE3-6A39-E014-260E-42471B9DFB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82B88-C812-1904-C714-B51529E0D448}"/>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FBA6C85B-0D85-E7A4-1792-86B0F46E79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750D60-79C9-1DD8-04CB-0394DA0B4BFA}"/>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7120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7B1DB-7D6C-E67B-12FE-69F1A4D848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16F57F-8683-D12D-4BC0-F8739E04A7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78C3E8-3A39-FE63-1AB1-157446D5FCCD}"/>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A038DF30-CB65-B35C-0640-8C637C7E29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37E769-C7DE-FFB2-4B81-E7B9ED38242F}"/>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634496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7ADF-8562-F51A-DDE4-9F4F462D79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D8B3C4-8BCA-9A40-65C7-31B2856162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9DE075-FBE2-A991-24FE-6DCB793221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03D34B-3541-3924-4796-15CDAE642C48}"/>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6" name="Footer Placeholder 5">
            <a:extLst>
              <a:ext uri="{FF2B5EF4-FFF2-40B4-BE49-F238E27FC236}">
                <a16:creationId xmlns:a16="http://schemas.microsoft.com/office/drawing/2014/main" id="{0D1692B9-2348-D0C8-4E0C-6B72E675FD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7F3BDE-D2B1-9794-F402-0614729B9B62}"/>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2198736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6104E-2CD3-B2A4-3879-96997C06F2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2CDE08-EA52-B4DD-3C1E-8720F662F6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686F1A-B4C6-0BE2-C6D6-ED1A03B103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FDD7CD-DBCF-69DE-2862-81E2C90FAF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D8AC6-2A5B-CE75-675F-81B3C9692E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2A2BF4-B511-64E1-B943-ADB49AA7F6C2}"/>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8" name="Footer Placeholder 7">
            <a:extLst>
              <a:ext uri="{FF2B5EF4-FFF2-40B4-BE49-F238E27FC236}">
                <a16:creationId xmlns:a16="http://schemas.microsoft.com/office/drawing/2014/main" id="{774F97AF-3EC7-DC53-F599-1A001CFA23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E8E99D-D266-586B-0A4E-228D105EBC54}"/>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1710910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D8A96-43E0-D3CE-34C9-84860CF824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F7ACEF-7704-8CA7-2E52-29BCE594B0B8}"/>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4" name="Footer Placeholder 3">
            <a:extLst>
              <a:ext uri="{FF2B5EF4-FFF2-40B4-BE49-F238E27FC236}">
                <a16:creationId xmlns:a16="http://schemas.microsoft.com/office/drawing/2014/main" id="{5E723B0B-A6FA-C000-FED7-550BCBF422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96D583-6645-0C4E-2B42-E61BFBF26145}"/>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2886030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D4E98-9169-482E-D74B-5496DEB96F59}"/>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3" name="Footer Placeholder 2">
            <a:extLst>
              <a:ext uri="{FF2B5EF4-FFF2-40B4-BE49-F238E27FC236}">
                <a16:creationId xmlns:a16="http://schemas.microsoft.com/office/drawing/2014/main" id="{ABA55C78-8EB9-2A3C-B745-98C6B2F2FF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0D4399-EC82-B5CE-C9B5-18A66A99B3DC}"/>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374395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2719-F15B-306E-43BE-992AC7DD4F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176C6D-CF05-7BCE-CC4A-5A4A929372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23A612-270B-9A52-6538-6B421F804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A40BD-C6AE-323A-6672-EF7E947996BA}"/>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6" name="Footer Placeholder 5">
            <a:extLst>
              <a:ext uri="{FF2B5EF4-FFF2-40B4-BE49-F238E27FC236}">
                <a16:creationId xmlns:a16="http://schemas.microsoft.com/office/drawing/2014/main" id="{9635AE41-9C76-ECF5-A485-27F596F059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08964A-E956-E41E-F81F-CAF611CFFE52}"/>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669504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6B8BD-E778-10C1-6CD8-FEF0DE0F32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2FD718-EA8C-BF56-AF4A-2E5152A378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F3369C-61D8-618E-0EAE-F75A28BAA8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BFDDC-10DA-A26C-1335-82A6AFF00779}"/>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6" name="Footer Placeholder 5">
            <a:extLst>
              <a:ext uri="{FF2B5EF4-FFF2-40B4-BE49-F238E27FC236}">
                <a16:creationId xmlns:a16="http://schemas.microsoft.com/office/drawing/2014/main" id="{57BA89B1-8F62-50AD-6CEE-CD5D1465E5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69C505-1770-E797-B503-563CEEA0573E}"/>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1284408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4442D-FF4F-D0AB-C2D0-3DBFCF97DD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8CB6BB-E3FD-04E7-6688-9B15139307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9EDB6A-877F-F68B-9E82-4BDF8359BD09}"/>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8FDAECB1-904F-C083-1154-6FB453F04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6892C8-A0A0-E433-71E0-2E47CD5DB76E}"/>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1951683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0C5D6-830E-1DBD-1B15-51CEE36436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DC035B-7CDC-4639-6131-C06F68B55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EBA18-0509-4FED-2ACE-7593F9983C8A}"/>
              </a:ext>
            </a:extLst>
          </p:cNvPr>
          <p:cNvSpPr>
            <a:spLocks noGrp="1"/>
          </p:cNvSpPr>
          <p:nvPr>
            <p:ph type="dt" sz="half" idx="10"/>
          </p:nvPr>
        </p:nvSpPr>
        <p:spPr/>
        <p:txBody>
          <a:body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14203AD1-0B4A-C775-F9CB-C80E70F842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CABEE-720B-8D0D-0FE9-C120005C7657}"/>
              </a:ext>
            </a:extLst>
          </p:cNvPr>
          <p:cNvSpPr>
            <a:spLocks noGrp="1"/>
          </p:cNvSpPr>
          <p:nvPr>
            <p:ph type="sldNum" sz="quarter" idx="12"/>
          </p:nvPr>
        </p:nvSpPr>
        <p:spPr/>
        <p:txBody>
          <a:bodyPr/>
          <a:lstStyle/>
          <a:p>
            <a:fld id="{2840A486-AD47-4622-AA68-707E8DE2870A}" type="slidenum">
              <a:rPr lang="en-IN" smtClean="0"/>
              <a:t>‹#›</a:t>
            </a:fld>
            <a:endParaRPr lang="en-IN"/>
          </a:p>
        </p:txBody>
      </p:sp>
    </p:spTree>
    <p:extLst>
      <p:ext uri="{BB962C8B-B14F-4D97-AF65-F5344CB8AC3E}">
        <p14:creationId xmlns:p14="http://schemas.microsoft.com/office/powerpoint/2010/main" val="146050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CC72E-1551-6FA4-67A1-5540D2456C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D8A839-6466-05B0-E5B5-F449E54041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AFF325-B71B-6FB1-914B-CD7EED3B8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A23322-F422-4015-BEE0-BEB1989F6A68}" type="datetimeFigureOut">
              <a:rPr lang="en-IN" smtClean="0"/>
              <a:t>25-02-2026</a:t>
            </a:fld>
            <a:endParaRPr lang="en-IN"/>
          </a:p>
        </p:txBody>
      </p:sp>
      <p:sp>
        <p:nvSpPr>
          <p:cNvPr id="5" name="Footer Placeholder 4">
            <a:extLst>
              <a:ext uri="{FF2B5EF4-FFF2-40B4-BE49-F238E27FC236}">
                <a16:creationId xmlns:a16="http://schemas.microsoft.com/office/drawing/2014/main" id="{5EEBCBD4-6C86-33BD-2AB3-E32227E7EC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6A09C1-7F54-CE18-CE4F-8C5E310F3B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0A486-AD47-4622-AA68-707E8DE2870A}" type="slidenum">
              <a:rPr lang="en-IN" smtClean="0"/>
              <a:t>‹#›</a:t>
            </a:fld>
            <a:endParaRPr lang="en-IN"/>
          </a:p>
        </p:txBody>
      </p:sp>
    </p:spTree>
    <p:extLst>
      <p:ext uri="{BB962C8B-B14F-4D97-AF65-F5344CB8AC3E}">
        <p14:creationId xmlns:p14="http://schemas.microsoft.com/office/powerpoint/2010/main" val="332271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AA404-FF93-9064-6A4D-C198FE2F26CB}"/>
              </a:ext>
            </a:extLst>
          </p:cNvPr>
          <p:cNvSpPr>
            <a:spLocks noGrp="1"/>
          </p:cNvSpPr>
          <p:nvPr>
            <p:ph type="title"/>
          </p:nvPr>
        </p:nvSpPr>
        <p:spPr/>
        <p:txBody>
          <a:bodyPr/>
          <a:lstStyle/>
          <a:p>
            <a:pPr algn="ctr"/>
            <a:r>
              <a:rPr lang="en-US" b="1" dirty="0"/>
              <a:t>Influence of PV on System Transient Response</a:t>
            </a:r>
            <a:endParaRPr lang="en-IN" b="1" dirty="0"/>
          </a:p>
        </p:txBody>
      </p:sp>
      <p:sp>
        <p:nvSpPr>
          <p:cNvPr id="3" name="Content Placeholder 2">
            <a:extLst>
              <a:ext uri="{FF2B5EF4-FFF2-40B4-BE49-F238E27FC236}">
                <a16:creationId xmlns:a16="http://schemas.microsoft.com/office/drawing/2014/main" id="{85566F95-5882-36FA-256B-F7457E7CD5FA}"/>
              </a:ext>
            </a:extLst>
          </p:cNvPr>
          <p:cNvSpPr>
            <a:spLocks noGrp="1"/>
          </p:cNvSpPr>
          <p:nvPr>
            <p:ph idx="1"/>
          </p:nvPr>
        </p:nvSpPr>
        <p:spPr/>
        <p:txBody>
          <a:bodyPr>
            <a:noAutofit/>
          </a:bodyPr>
          <a:lstStyle/>
          <a:p>
            <a:pPr algn="just"/>
            <a:r>
              <a:rPr lang="en-US" sz="2400" b="1" dirty="0"/>
              <a:t>Inertia:</a:t>
            </a:r>
            <a:r>
              <a:rPr lang="en-US" sz="2400" dirty="0"/>
              <a:t> PV systems typically do not have any inherent rotational inertia, which means they cannot provide the same level of stability and damping during grid disturbances as traditional synchronous generators. This lack of inertia can potentially lead to frequency deviations and voltage fluctuations during transient events.</a:t>
            </a:r>
          </a:p>
          <a:p>
            <a:pPr algn="just"/>
            <a:r>
              <a:rPr lang="en-US" sz="2400" b="1" dirty="0"/>
              <a:t>Fault current contribution:</a:t>
            </a:r>
            <a:r>
              <a:rPr lang="en-US" sz="2400" dirty="0"/>
              <a:t> PV systems can provide additional fault current to the system during transient events, which can help to improve the fault clearing performance of protection devices. However, this can also lead to overcurrent issues and may require additional protection measures to be implemented</a:t>
            </a:r>
            <a:endParaRPr lang="en-IN" sz="2400" dirty="0"/>
          </a:p>
        </p:txBody>
      </p:sp>
    </p:spTree>
    <p:extLst>
      <p:ext uri="{BB962C8B-B14F-4D97-AF65-F5344CB8AC3E}">
        <p14:creationId xmlns:p14="http://schemas.microsoft.com/office/powerpoint/2010/main" val="1151518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D8A02-1FCD-4E62-6029-50ED5441E397}"/>
              </a:ext>
            </a:extLst>
          </p:cNvPr>
          <p:cNvSpPr>
            <a:spLocks noGrp="1"/>
          </p:cNvSpPr>
          <p:nvPr>
            <p:ph type="title"/>
          </p:nvPr>
        </p:nvSpPr>
        <p:spPr/>
        <p:txBody>
          <a:bodyPr/>
          <a:lstStyle/>
          <a:p>
            <a:pPr algn="ctr"/>
            <a:r>
              <a:rPr lang="en-US" b="1" dirty="0"/>
              <a:t>Influence of PV on System Transient Response</a:t>
            </a:r>
            <a:endParaRPr lang="en-IN" dirty="0"/>
          </a:p>
        </p:txBody>
      </p:sp>
      <p:sp>
        <p:nvSpPr>
          <p:cNvPr id="3" name="Content Placeholder 2">
            <a:extLst>
              <a:ext uri="{FF2B5EF4-FFF2-40B4-BE49-F238E27FC236}">
                <a16:creationId xmlns:a16="http://schemas.microsoft.com/office/drawing/2014/main" id="{0262B29C-858B-FBBE-2CC1-8205B05F70A2}"/>
              </a:ext>
            </a:extLst>
          </p:cNvPr>
          <p:cNvSpPr>
            <a:spLocks noGrp="1"/>
          </p:cNvSpPr>
          <p:nvPr>
            <p:ph idx="1"/>
          </p:nvPr>
        </p:nvSpPr>
        <p:spPr/>
        <p:txBody>
          <a:bodyPr>
            <a:normAutofit/>
          </a:bodyPr>
          <a:lstStyle/>
          <a:p>
            <a:r>
              <a:rPr lang="en-US" sz="2400" b="1" dirty="0"/>
              <a:t>Voltage support: </a:t>
            </a:r>
            <a:r>
              <a:rPr lang="en-US" sz="2400" dirty="0"/>
              <a:t>PV systems can provide voltage support during transient events by injecting reactive power into the system. This can help to stabilize the grid and improve voltage stability, particularly in weak areas of the system. </a:t>
            </a:r>
          </a:p>
          <a:p>
            <a:r>
              <a:rPr lang="en-US" sz="2400" b="1" dirty="0"/>
              <a:t>Control strategies: </a:t>
            </a:r>
            <a:r>
              <a:rPr lang="en-US" sz="2400" dirty="0"/>
              <a:t>Advanced control strategies for PV systems, such as virtual inertia and fast frequency response, can help to mitigate some of the transient response issues associated with PV integration. These strategies can provide additional stability and damping during grid disturbances, similar to the way traditional generators operate</a:t>
            </a:r>
            <a:endParaRPr lang="en-IN" sz="2400" dirty="0"/>
          </a:p>
        </p:txBody>
      </p:sp>
    </p:spTree>
    <p:extLst>
      <p:ext uri="{BB962C8B-B14F-4D97-AF65-F5344CB8AC3E}">
        <p14:creationId xmlns:p14="http://schemas.microsoft.com/office/powerpoint/2010/main" val="3976114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9C83-4533-6673-8A1A-CF6B08192201}"/>
              </a:ext>
            </a:extLst>
          </p:cNvPr>
          <p:cNvSpPr>
            <a:spLocks noGrp="1"/>
          </p:cNvSpPr>
          <p:nvPr>
            <p:ph type="title"/>
          </p:nvPr>
        </p:nvSpPr>
        <p:spPr>
          <a:xfrm>
            <a:off x="655982" y="404882"/>
            <a:ext cx="11035748" cy="1325563"/>
          </a:xfrm>
        </p:spPr>
        <p:txBody>
          <a:bodyPr/>
          <a:lstStyle/>
          <a:p>
            <a:pPr algn="ctr"/>
            <a:r>
              <a:rPr lang="en-US" b="1" dirty="0"/>
              <a:t>Influence of WECS on System Transient Response</a:t>
            </a:r>
            <a:endParaRPr lang="en-IN" dirty="0"/>
          </a:p>
        </p:txBody>
      </p:sp>
      <p:sp>
        <p:nvSpPr>
          <p:cNvPr id="3" name="Content Placeholder 2">
            <a:extLst>
              <a:ext uri="{FF2B5EF4-FFF2-40B4-BE49-F238E27FC236}">
                <a16:creationId xmlns:a16="http://schemas.microsoft.com/office/drawing/2014/main" id="{B1F0E5BB-F613-D34E-00F2-F094E35F8917}"/>
              </a:ext>
            </a:extLst>
          </p:cNvPr>
          <p:cNvSpPr>
            <a:spLocks noGrp="1"/>
          </p:cNvSpPr>
          <p:nvPr>
            <p:ph idx="1"/>
          </p:nvPr>
        </p:nvSpPr>
        <p:spPr/>
        <p:txBody>
          <a:bodyPr>
            <a:normAutofit/>
          </a:bodyPr>
          <a:lstStyle/>
          <a:p>
            <a:pPr algn="just"/>
            <a:r>
              <a:rPr lang="en-US" sz="2400" b="1" dirty="0"/>
              <a:t>Voltage fluctuations: </a:t>
            </a:r>
            <a:r>
              <a:rPr lang="en-US" sz="2400" dirty="0"/>
              <a:t>WECS can cause voltage fluctuations due to the intermittent nature of wind. These fluctuations can lead to transient instability in the system, especially if they are large in magnitude and frequency. </a:t>
            </a:r>
          </a:p>
          <a:p>
            <a:pPr algn="just"/>
            <a:r>
              <a:rPr lang="en-US" sz="2400" b="1" dirty="0"/>
              <a:t>Reactive power support:</a:t>
            </a:r>
            <a:r>
              <a:rPr lang="en-US" sz="2400" dirty="0"/>
              <a:t> WECS can provide additional sources of reactive power to the grid, which can improve the transient stability of the system. The power electronics used in WECS can be used to control the flow of reactive power into the grid, helping to maintain the voltage stability of the system</a:t>
            </a:r>
            <a:endParaRPr lang="en-IN" sz="2400" dirty="0"/>
          </a:p>
        </p:txBody>
      </p:sp>
    </p:spTree>
    <p:extLst>
      <p:ext uri="{BB962C8B-B14F-4D97-AF65-F5344CB8AC3E}">
        <p14:creationId xmlns:p14="http://schemas.microsoft.com/office/powerpoint/2010/main" val="4094247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3CFB-76D8-48A5-7D0F-188AF77FCE66}"/>
              </a:ext>
            </a:extLst>
          </p:cNvPr>
          <p:cNvSpPr>
            <a:spLocks noGrp="1"/>
          </p:cNvSpPr>
          <p:nvPr>
            <p:ph type="title"/>
          </p:nvPr>
        </p:nvSpPr>
        <p:spPr/>
        <p:txBody>
          <a:bodyPr/>
          <a:lstStyle/>
          <a:p>
            <a:pPr algn="ctr"/>
            <a:r>
              <a:rPr lang="en-US" b="1" dirty="0"/>
              <a:t>Influence of PV / WECS on System Transient Response</a:t>
            </a:r>
            <a:endParaRPr lang="en-IN" dirty="0"/>
          </a:p>
        </p:txBody>
      </p:sp>
      <p:sp>
        <p:nvSpPr>
          <p:cNvPr id="3" name="Content Placeholder 2">
            <a:extLst>
              <a:ext uri="{FF2B5EF4-FFF2-40B4-BE49-F238E27FC236}">
                <a16:creationId xmlns:a16="http://schemas.microsoft.com/office/drawing/2014/main" id="{7B026F32-0D1F-F581-C19D-355A42AD4925}"/>
              </a:ext>
            </a:extLst>
          </p:cNvPr>
          <p:cNvSpPr>
            <a:spLocks noGrp="1"/>
          </p:cNvSpPr>
          <p:nvPr>
            <p:ph idx="1"/>
          </p:nvPr>
        </p:nvSpPr>
        <p:spPr/>
        <p:txBody>
          <a:bodyPr>
            <a:normAutofit/>
          </a:bodyPr>
          <a:lstStyle/>
          <a:p>
            <a:pPr algn="just"/>
            <a:r>
              <a:rPr lang="en-US" sz="2400" b="1" dirty="0"/>
              <a:t>Frequency deviations: </a:t>
            </a:r>
            <a:r>
              <a:rPr lang="en-US" sz="2400" dirty="0"/>
              <a:t>WECS can cause frequency deviations in the power grid due to the variability of wind speed. These deviations can also lead to transient instability in the system, especially if they are large in magnitude and frequency. </a:t>
            </a:r>
          </a:p>
          <a:p>
            <a:pPr algn="just"/>
            <a:r>
              <a:rPr lang="en-US" sz="2400" b="1" dirty="0"/>
              <a:t>Damping of oscillations:</a:t>
            </a:r>
            <a:r>
              <a:rPr lang="en-US" sz="2400" dirty="0"/>
              <a:t> WECS can help to improve the damping of oscillations in the power grid. This is because the power electronics used in WECS can be used to actively control the output of the turbines, which can help to damp out any oscillations that occur in the system</a:t>
            </a:r>
            <a:endParaRPr lang="en-IN" sz="2400" dirty="0"/>
          </a:p>
        </p:txBody>
      </p:sp>
    </p:spTree>
    <p:extLst>
      <p:ext uri="{BB962C8B-B14F-4D97-AF65-F5344CB8AC3E}">
        <p14:creationId xmlns:p14="http://schemas.microsoft.com/office/powerpoint/2010/main" val="2124212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408</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Influence of PV on System Transient Response</vt:lpstr>
      <vt:lpstr>Influence of PV on System Transient Response</vt:lpstr>
      <vt:lpstr>Influence of WECS on System Transient Response</vt:lpstr>
      <vt:lpstr>Influence of PV / WECS on System Transient Response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2026-02-25T03:58:48Z</dcterms:created>
  <dcterms:modified xsi:type="dcterms:W3CDTF">2026-02-25T04:00:49Z</dcterms:modified>
</cp:coreProperties>
</file>