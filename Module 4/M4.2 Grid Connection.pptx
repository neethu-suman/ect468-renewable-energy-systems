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312" r:id="rId3"/>
    <p:sldId id="314" r:id="rId4"/>
    <p:sldId id="315" r:id="rId5"/>
    <p:sldId id="290" r:id="rId6"/>
    <p:sldId id="291" r:id="rId7"/>
    <p:sldId id="313" r:id="rId8"/>
    <p:sldId id="2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3A54-FE81-1B9B-4EA9-3A20E72D2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2F38B-1E7B-27D9-CD59-BAE93A2D2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E8A49-7F81-7C49-5944-158033D0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3FDDB-F4D7-E3A3-0363-FFF34ED0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3BA89-9D0A-3BFB-A105-15C1EF01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244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D8DC5-66FF-AA77-64B0-646CAFF2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63034-3E09-CB50-3185-ED0967C6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AEC6-7828-06FB-94E4-8C2E394B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EF2C6-DABD-D03E-C828-AF930650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772A7-F72F-5583-8E95-45F07ED6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0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FBB8-F208-F24F-2F0E-96B9AFD8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0AD1C-D78C-5B5B-F5C5-1BB7356B1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5D447-D581-1253-D4EE-5765538B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C8B33-F251-DAC3-CDC2-F02077ECA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7E115-5255-10DF-A721-43C6AAA7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28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8993-69EA-58C0-1722-F9099F0F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63FC7-0870-A1DB-EAAE-00628F53E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00929-3B01-658E-BBFF-714D4E938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C8057-BDB2-EDD9-158B-4892E2D2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50DED-7054-4CA3-1722-8F9C30A6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2D251-E308-03C8-FB98-CF0F91AC0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20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C2AE4-2936-30CB-965C-81CFEE813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1503F-AAE3-477B-72DC-3D9854AB4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1CA80-163A-4923-AD70-6AF936138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122A0-C1A3-91FB-69BC-EBBF95C1A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08381-EA82-555D-6CB6-9A5AECB7C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F310B-8DE5-5AE5-8415-A32307DC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AD7DC-FCFD-BFFA-D1AC-A45EE50C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52062-41A5-CF92-B69C-C625FEE2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840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E62F-53E7-B363-F295-49184A7F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F93BF-C667-1C48-196D-BB84E789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4D453-7E02-70FB-61DF-7238F35E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1DAFB-C55D-1B73-5FE3-28F5E831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28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F43E6-77AE-0FA7-F933-B8FDE51B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E7F5F-ADBA-E931-988C-A824271B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A88B2-9628-43F4-980B-FA67F52E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901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9AC1-59CC-EFB5-A9FA-CDD1F8BCD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A367B-FCF6-F1B3-5641-EDEE2F07C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9B791-913B-4362-2247-290A5E38C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DF15E-7D38-28D8-0920-D3547891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65FED-0501-8597-2DBB-903A9D75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665AD-C030-0975-437A-9FDAF72F3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32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67B2-22AA-B847-FD0C-ADFDFF78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68BB01-CDA1-D1CC-C227-531DBAF9D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7B27D-7283-87E7-CB65-64AEBD64E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DC456-FD56-BA19-A686-EE28AA36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11924-9CD2-EC81-37B6-AF27749DA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A736E-5891-B831-B9B9-3FD399DA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0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B08B-5739-A680-A913-CA8BEA549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7D827-2DC3-E2F8-5ABF-97C9F36C7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52B8C-A484-1E7C-DFEA-E577BCF8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2647E-4D9B-4F0F-AD4A-A6D21702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98764-DEEF-0B47-DC08-35D5D820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63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5D45D-AF85-07CB-BE74-EA6EFFF51C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274CE-5EAF-8BD2-4FD8-AE1F77637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73744-5182-681A-B501-FEB49076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38B59-421D-B5C6-DC96-F9CF03B4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3AEF7-961A-AC02-25AA-2278B4FE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53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0D4408-8EA7-610D-0B73-016ADF2A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77E0B-7C4B-B1C3-D4B3-504C6D965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939F2-1803-D63D-D524-7E9D6DBE7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F14A-71FC-4A30-8E69-C6614E5AACB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98C05-DDBD-5BE8-1365-AB3E50036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EDF02-E2CF-371D-D96B-F96B02AC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63AA3-1496-461F-B71F-0143E5D30B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99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7432-9268-CE7F-D1B6-7A3E8A27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Grid Connection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DCA8DD-9377-CFE0-8A00-1DA1FF236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8999"/>
            <a:ext cx="95263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9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71349-683D-573F-F87B-5C6938FD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8C07-ADB9-58F8-7162-36554458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Grid Connection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C312F-2383-2724-5E82-C3553DB4A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2400" dirty="0"/>
              <a:t>An electrical power grid is an interconnected network that delivers the generated power to the consumers. It is, sometimes, also called as an electrical power system. A power grid consists of generating stations (power plants), transmission system and distribution system. </a:t>
            </a:r>
          </a:p>
          <a:p>
            <a:r>
              <a:rPr lang="en-US" sz="2400" dirty="0"/>
              <a:t>Transmission of electrical power over longer distances is a lot much economical than the relative transmission of any other fuel. </a:t>
            </a:r>
          </a:p>
          <a:p>
            <a:r>
              <a:rPr lang="en-US" sz="2400" dirty="0"/>
              <a:t>A hydroelectric plant must be located according to an appropriate dam site or a wind power plant may be located off-shore to harvest additional energy from the wind. </a:t>
            </a:r>
          </a:p>
          <a:p>
            <a:r>
              <a:rPr lang="en-US" sz="2400" dirty="0"/>
              <a:t>Thus, a long distance transmission system is needed to transmit the generated electricity to the populated areas. A distribution system is needed to distribute the power to every consumer at appropriate voltages.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82775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8C31E-29DB-BFBB-E205-2A5ABB3C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449"/>
          </a:xfrm>
        </p:spPr>
        <p:txBody>
          <a:bodyPr/>
          <a:lstStyle/>
          <a:p>
            <a:pPr algn="ctr"/>
            <a:r>
              <a:rPr lang="en-IN" b="1" dirty="0"/>
              <a:t>Grid Connection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1EAC0-A171-ABCE-300F-BFA7F8E2D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8"/>
            <a:ext cx="10515600" cy="5210727"/>
          </a:xfrm>
        </p:spPr>
        <p:txBody>
          <a:bodyPr>
            <a:normAutofit/>
          </a:bodyPr>
          <a:lstStyle/>
          <a:p>
            <a:r>
              <a:rPr lang="en-US" sz="2400" dirty="0"/>
              <a:t>An electric power system is a network used to generate, transmit, and distribute electrical energy from power stations to consumers safely and efficiently. The main stages are </a:t>
            </a:r>
            <a:r>
              <a:rPr lang="en-US" sz="2400" b="1" dirty="0"/>
              <a:t>Generation, Transmission, and Distribution</a:t>
            </a:r>
            <a:r>
              <a:rPr lang="en-US" sz="2400" dirty="0"/>
              <a:t>.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A. Generation</a:t>
            </a:r>
          </a:p>
          <a:p>
            <a:pPr lvl="1"/>
            <a:r>
              <a:rPr lang="en-US" sz="2000" dirty="0"/>
              <a:t>Electricity is produced at the </a:t>
            </a:r>
            <a:r>
              <a:rPr lang="en-US" sz="2000" b="1" dirty="0"/>
              <a:t>power station</a:t>
            </a:r>
            <a:r>
              <a:rPr lang="en-US" sz="2000" dirty="0"/>
              <a:t> using sources like wind, or solar.</a:t>
            </a:r>
          </a:p>
          <a:p>
            <a:pPr lvl="1"/>
            <a:r>
              <a:rPr lang="en-US" sz="2000" dirty="0"/>
              <a:t>Generators produce power at medium voltage (typically 11–33 kV). The generators usually produce voltage in the range of </a:t>
            </a:r>
            <a:r>
              <a:rPr lang="en-US" sz="2000" b="1" dirty="0"/>
              <a:t>11 kV to 33 kV</a:t>
            </a:r>
            <a:r>
              <a:rPr lang="en-US" sz="2000" dirty="0"/>
              <a:t>. Since long-distance transmission at low voltage causes high losses, the generated voltage is stepped up using </a:t>
            </a:r>
            <a:r>
              <a:rPr lang="en-US" sz="2000" b="1" dirty="0"/>
              <a:t>power transformers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High voltage reduces current and minimizes </a:t>
            </a:r>
            <a:r>
              <a:rPr lang="en-US" sz="2000" b="1" dirty="0"/>
              <a:t>transmission losses</a:t>
            </a:r>
            <a:r>
              <a:rPr lang="en-US" sz="2000" dirty="0"/>
              <a:t> over long distances.</a:t>
            </a:r>
          </a:p>
          <a:p>
            <a:pPr marL="0" indent="0">
              <a:buNone/>
            </a:pPr>
            <a:r>
              <a:rPr lang="en-US" sz="2400" b="1" dirty="0"/>
              <a:t>B. Transmission</a:t>
            </a:r>
          </a:p>
          <a:p>
            <a:pPr lvl="1"/>
            <a:r>
              <a:rPr lang="en-US" sz="2000" dirty="0"/>
              <a:t>Power is carried over </a:t>
            </a:r>
            <a:r>
              <a:rPr lang="en-US" sz="2000" b="1" dirty="0"/>
              <a:t>high-voltage transmission lines</a:t>
            </a:r>
            <a:r>
              <a:rPr lang="en-US" sz="2000" dirty="0"/>
              <a:t> (e.g., 132 kV, 220 kV, 400 kV).</a:t>
            </a:r>
          </a:p>
          <a:p>
            <a:pPr lvl="1"/>
            <a:r>
              <a:rPr lang="en-US" sz="2000" dirty="0"/>
              <a:t>These lines move electricity efficiently across cities and regions.</a:t>
            </a:r>
          </a:p>
          <a:p>
            <a:pPr lvl="1"/>
            <a:r>
              <a:rPr lang="en-US" sz="2000" b="1" dirty="0"/>
              <a:t>Transmission Substation: </a:t>
            </a:r>
            <a:r>
              <a:rPr lang="en-US" sz="2000" dirty="0"/>
              <a:t>Voltage is </a:t>
            </a:r>
            <a:r>
              <a:rPr lang="en-US" sz="2000" b="1" dirty="0"/>
              <a:t>stepped down</a:t>
            </a:r>
            <a:r>
              <a:rPr lang="en-US" sz="2000" dirty="0"/>
              <a:t> to a lower level suitable for distribution.</a:t>
            </a:r>
          </a:p>
          <a:p>
            <a:pPr lvl="1"/>
            <a:r>
              <a:rPr lang="en-US" sz="2000" dirty="0"/>
              <a:t>Switching, protection, and control operations occur here.</a:t>
            </a:r>
          </a:p>
          <a:p>
            <a:pPr lvl="1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94945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E9E27-DFE0-7F5C-4ED2-A6411AC2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Grid Connection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B5575-B7A0-6985-B5CF-8D9ADB511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443"/>
            <a:ext cx="11188148" cy="4932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C. Commercial &amp; Industrial Consumers</a:t>
            </a:r>
          </a:p>
          <a:p>
            <a:pPr lvl="1"/>
            <a:r>
              <a:rPr lang="en-US" sz="2000" dirty="0"/>
              <a:t>Factories, offices, and large buildings receive power (often at higher voltage levels for heavy loads).</a:t>
            </a:r>
          </a:p>
          <a:p>
            <a:pPr marL="0" indent="0">
              <a:buNone/>
            </a:pPr>
            <a:r>
              <a:rPr lang="en-US" sz="2400" b="1" dirty="0"/>
              <a:t>D. Distribution</a:t>
            </a:r>
          </a:p>
          <a:p>
            <a:pPr lvl="1"/>
            <a:r>
              <a:rPr lang="en-US" sz="2000" dirty="0"/>
              <a:t>Power flows through </a:t>
            </a:r>
            <a:r>
              <a:rPr lang="en-US" sz="2000" b="1" dirty="0"/>
              <a:t>distribution lines</a:t>
            </a:r>
            <a:r>
              <a:rPr lang="en-US" sz="2000" dirty="0"/>
              <a:t> on poles or underground cables.</a:t>
            </a:r>
          </a:p>
          <a:p>
            <a:pPr lvl="1"/>
            <a:r>
              <a:rPr lang="en-US" sz="2000" dirty="0"/>
              <a:t>Voltage is reduced further (e.g., 11 kV → 415 V).</a:t>
            </a:r>
          </a:p>
          <a:p>
            <a:pPr lvl="1"/>
            <a:r>
              <a:rPr lang="en-US" sz="2000" b="1" dirty="0"/>
              <a:t>Distribution Substation: </a:t>
            </a:r>
            <a:r>
              <a:rPr lang="en-US" sz="2000" dirty="0"/>
              <a:t>Final voltage conversion happens here and supplies power safely to local areas.</a:t>
            </a:r>
          </a:p>
          <a:p>
            <a:pPr marL="0" indent="0">
              <a:buNone/>
            </a:pPr>
            <a:r>
              <a:rPr lang="en-US" sz="2400" b="1" dirty="0"/>
              <a:t>E. Distribution Automation Devices</a:t>
            </a:r>
          </a:p>
          <a:p>
            <a:pPr lvl="1"/>
            <a:r>
              <a:rPr lang="en-US" sz="2000" dirty="0"/>
              <a:t>Devices like </a:t>
            </a:r>
            <a:r>
              <a:rPr lang="en-US" sz="2000" b="1" dirty="0"/>
              <a:t>reclosers, breakers, and sensors</a:t>
            </a:r>
            <a:r>
              <a:rPr lang="en-US" sz="2000" dirty="0"/>
              <a:t> monitor and control power flow.</a:t>
            </a:r>
          </a:p>
          <a:p>
            <a:pPr lvl="1"/>
            <a:r>
              <a:rPr lang="en-US" sz="2000" dirty="0"/>
              <a:t>They detect faults and improve reliability.</a:t>
            </a:r>
          </a:p>
          <a:p>
            <a:pPr marL="0" indent="0">
              <a:buNone/>
            </a:pPr>
            <a:r>
              <a:rPr lang="en-US" sz="2400" b="1" dirty="0"/>
              <a:t>F. Residential Consumers</a:t>
            </a:r>
          </a:p>
          <a:p>
            <a:pPr lvl="1"/>
            <a:r>
              <a:rPr lang="en-US" sz="2000" dirty="0"/>
              <a:t>Homes receive </a:t>
            </a:r>
            <a:r>
              <a:rPr lang="en-US" sz="2000" b="1" dirty="0"/>
              <a:t>low-voltage supply</a:t>
            </a:r>
            <a:r>
              <a:rPr lang="en-US" sz="2000" dirty="0"/>
              <a:t> (typically 230 V in India).</a:t>
            </a:r>
          </a:p>
          <a:p>
            <a:pPr lvl="1"/>
            <a:r>
              <a:rPr lang="en-US" sz="2000" dirty="0"/>
              <a:t>Used for lighting, appliances, and domestic needs.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7849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801A-A7CD-8021-C855-2D7C6697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Grid Connection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F8B7BB-1B48-62DA-FE78-D1B2ED17F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4310"/>
            <a:ext cx="10917911" cy="432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8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1810-309C-45A4-E7E2-0A9D0DCD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Power Generation And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40943-E515-63BD-D7A7-A2D50F25F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19183" cy="4351338"/>
          </a:xfrm>
        </p:spPr>
        <p:txBody>
          <a:bodyPr>
            <a:normAutofit/>
          </a:bodyPr>
          <a:lstStyle/>
          <a:p>
            <a:r>
              <a:rPr lang="en-US" b="1" dirty="0"/>
              <a:t>Power Generation:</a:t>
            </a:r>
          </a:p>
          <a:p>
            <a:pPr lvl="1"/>
            <a:r>
              <a:rPr lang="en-US" dirty="0"/>
              <a:t>Electricity is generated in power plants which are often located far away from the populated areas. </a:t>
            </a:r>
          </a:p>
          <a:p>
            <a:pPr lvl="1"/>
            <a:r>
              <a:rPr lang="en-US" dirty="0"/>
              <a:t>There are various types of power generating stations such as thermal, nuclear, hydro, solar, wind etc. </a:t>
            </a:r>
          </a:p>
          <a:p>
            <a:pPr lvl="1"/>
            <a:r>
              <a:rPr lang="en-US" dirty="0"/>
              <a:t>A power plant may consist two or more 3-phase alternators which are operated in parallel. </a:t>
            </a:r>
          </a:p>
          <a:p>
            <a:pPr lvl="1"/>
            <a:r>
              <a:rPr lang="en-US" dirty="0"/>
              <a:t>Electricity is generated in power plants at voltages ranging from 11kV up to 25 kV. </a:t>
            </a:r>
          </a:p>
          <a:p>
            <a:pPr lvl="1"/>
            <a:r>
              <a:rPr lang="en-US" dirty="0"/>
              <a:t>Generation voltage can not be much higher due to technical limitations.</a:t>
            </a:r>
          </a:p>
        </p:txBody>
      </p:sp>
    </p:spTree>
    <p:extLst>
      <p:ext uri="{BB962C8B-B14F-4D97-AF65-F5344CB8AC3E}">
        <p14:creationId xmlns:p14="http://schemas.microsoft.com/office/powerpoint/2010/main" val="2560370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58D9-EEC3-7BA1-43CE-CE034F6F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101C-5C7C-0732-EA69-EEF80D917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Power Generation And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11079-EBF2-9AE6-275F-0346F5211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783897"/>
          </a:xfrm>
        </p:spPr>
        <p:txBody>
          <a:bodyPr>
            <a:normAutofit/>
          </a:bodyPr>
          <a:lstStyle/>
          <a:p>
            <a:r>
              <a:rPr lang="en-US" b="1" dirty="0"/>
              <a:t>Transmission: </a:t>
            </a:r>
          </a:p>
          <a:p>
            <a:pPr lvl="1"/>
            <a:r>
              <a:rPr lang="en-US" dirty="0"/>
              <a:t>For the transmission of power over longer distances, the generated voltages are stepped up to a much higher level. </a:t>
            </a:r>
          </a:p>
          <a:p>
            <a:pPr lvl="1"/>
            <a:r>
              <a:rPr lang="en-US" dirty="0"/>
              <a:t>A step-up transformer is used for this purpose, which increases the voltage level with the corresponding decrease in the current. </a:t>
            </a:r>
          </a:p>
          <a:p>
            <a:pPr lvl="1"/>
            <a:r>
              <a:rPr lang="en-US" dirty="0"/>
              <a:t>Stepping up the voltage is necessary to increase the transmission efficiency by reducing I</a:t>
            </a:r>
            <a:r>
              <a:rPr lang="en-US" baseline="30000" dirty="0"/>
              <a:t>2</a:t>
            </a:r>
            <a:r>
              <a:rPr lang="en-US" dirty="0"/>
              <a:t>R losses in the transmission lines. </a:t>
            </a:r>
          </a:p>
          <a:p>
            <a:pPr lvl="1"/>
            <a:r>
              <a:rPr lang="en-US" dirty="0"/>
              <a:t>Higher transmission voltage means lesser the current and, hence, lesser the I</a:t>
            </a:r>
            <a:r>
              <a:rPr lang="en-US" baseline="30000" dirty="0"/>
              <a:t>2</a:t>
            </a:r>
            <a:r>
              <a:rPr lang="en-US" dirty="0"/>
              <a:t>R loss. </a:t>
            </a:r>
          </a:p>
          <a:p>
            <a:pPr lvl="1"/>
            <a:r>
              <a:rPr lang="en-US" dirty="0"/>
              <a:t>Transmission voltages are generally 220kV or greater up to 765kV. </a:t>
            </a:r>
          </a:p>
          <a:p>
            <a:pPr lvl="1"/>
            <a:r>
              <a:rPr lang="en-US" dirty="0"/>
              <a:t> Transmission lines are often seen running over tall towers on the outskirts of a city.</a:t>
            </a:r>
          </a:p>
        </p:txBody>
      </p:sp>
    </p:spTree>
    <p:extLst>
      <p:ext uri="{BB962C8B-B14F-4D97-AF65-F5344CB8AC3E}">
        <p14:creationId xmlns:p14="http://schemas.microsoft.com/office/powerpoint/2010/main" val="6525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A578-0C3B-2511-B117-7269E2C2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Power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17A2-C86E-636A-F9EB-5B35B179C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Power from the transmission system is then stepped down to a considerably lower voltage (say 33 to 66kV) using a step-down transformer in a primary step-down substation. </a:t>
            </a:r>
          </a:p>
          <a:p>
            <a:r>
              <a:rPr lang="en-US" sz="2000" dirty="0"/>
              <a:t>The power is then carried to distribution substations or directly to very large industrial consumers. </a:t>
            </a:r>
          </a:p>
          <a:p>
            <a:r>
              <a:rPr lang="en-US" sz="2000" dirty="0"/>
              <a:t>At distribution substations, the power is further stepped down (say at 11kV). </a:t>
            </a:r>
          </a:p>
          <a:p>
            <a:r>
              <a:rPr lang="en-US" sz="2000" dirty="0"/>
              <a:t>Power distribution is carried out using overhead or underground distribution lines which are usually interconnected in a ring or mesh network types. </a:t>
            </a:r>
          </a:p>
          <a:p>
            <a:r>
              <a:rPr lang="en-US" sz="2000" dirty="0"/>
              <a:t>Distribution transformers are used to lower the voltage further to the utilization voltage (120 volts or 230 volts) and supply several consumers using the secondary distribution lines.</a:t>
            </a:r>
          </a:p>
          <a:p>
            <a:r>
              <a:rPr lang="en-US" sz="2000" dirty="0"/>
              <a:t>This is, however, a general overview of an electric power grid. </a:t>
            </a:r>
          </a:p>
          <a:p>
            <a:r>
              <a:rPr lang="en-US" sz="2000" dirty="0"/>
              <a:t>But practically, a power grid is much more complex. The voltage levels for transmission and distribution vary widely.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80314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Grid Connection</vt:lpstr>
      <vt:lpstr>Grid Connection</vt:lpstr>
      <vt:lpstr>Grid Connection</vt:lpstr>
      <vt:lpstr>Grid Connection</vt:lpstr>
      <vt:lpstr>Grid Connection</vt:lpstr>
      <vt:lpstr>Power Generation And Transmission</vt:lpstr>
      <vt:lpstr>Power Generation And Transmission</vt:lpstr>
      <vt:lpstr>Power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2026-02-17T05:16:09Z</dcterms:created>
  <dcterms:modified xsi:type="dcterms:W3CDTF">2026-02-17T05:16:29Z</dcterms:modified>
</cp:coreProperties>
</file>