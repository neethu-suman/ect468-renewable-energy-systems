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3" r:id="rId4"/>
    <p:sldId id="314" r:id="rId5"/>
    <p:sldId id="316" r:id="rId6"/>
    <p:sldId id="31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1354-DFDE-DF2B-87AD-980951154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DD2D3-0706-F7B5-BCD4-E2DF20DDE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4F30E-28A7-FDBC-664D-8D61E3C8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9A4A8-656B-6D31-1CE6-C8D776B5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14024-3B48-62B6-B5D5-8176F588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26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BE32-E43B-4BAB-4758-29D38A5D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0B7F4-A187-3B4C-B4A8-B2E00A607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86B57-23D0-D338-965D-A7157E1B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A4EFB-D9DB-9543-6364-B15FF979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5381-4127-A0EB-6FB5-89C0A520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42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F2563-ECCC-6B32-3FBF-893C80A32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E7B39-0238-C3E4-6E60-666FFA37F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F1DC3-3A7C-3F0E-BDA5-484187C7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CF1B3-9039-701D-7EA0-7440F875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B8C31-27B3-C3BE-B5D7-F5860CF8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08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CA86-CE9A-B4E2-5209-87AE9117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4E13-5E93-4385-4433-C2C88D3BF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27DCD-33CB-DAC9-792C-9A50DDD5A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7FFD2-009A-C1BD-9146-2BEFD4F46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30B08-A2D9-0806-3C85-A981BEB2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5E430-AE9E-BE6A-8929-99F77570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83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DE98-6ECC-5124-434A-DAA6F2AF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AEBD-B848-8739-ADE0-0D506E0D4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EF688-228F-C6CF-5BD4-918E92E81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AC6C8-0993-1556-B1BE-FEDEB0A9D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6AA07-01E4-A61A-647D-2961BB800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D0763-E644-4297-D65F-BA8E6A27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79DE2-8B74-CD9D-818A-F65308E0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45D18-BD33-CD4C-BCBF-6AA06E34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90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2FC8-D89E-FB39-8041-C5913C4A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4446F-71DE-BF37-0CEC-D49E74BB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92651-2167-5A74-828C-156AE735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9A709-316D-8F23-8D21-85ABC16D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97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95175-0082-8114-4EB6-41D9A393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9DCFF-578A-6483-8409-36E95B47B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30144-21C0-7580-1711-9AFB7E11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0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7B38-3710-5212-4C4B-C1F7CDB1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6409-59C1-61C6-C489-EC733B202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08F3B-BF23-6E49-3D83-6B70BA326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096C-4A94-D8EF-15E1-9C2C8F65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979D0-85F3-7FBD-A3BE-63315325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BB46E-EDC5-0E79-8783-0D83225A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2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992C-ACB5-FACE-13B1-4EF6823B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4A8AA-7674-231F-3CC1-083B8F763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B7965-98B3-FF1F-8276-6FEB0AF1F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C2991-B4B1-CAFD-B12C-DF109703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5F00C-B243-B7C5-A0F9-3DA14661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F9037-D2EF-EAF5-5495-4972D22C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13EA-8DC7-31D2-8D06-A4B3C302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87010-073B-C5C7-4975-05A0EF71C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55535-F1C8-DA2C-9B5D-FB950813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FF6F6-3592-797E-2996-775CD908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51C6-DE85-549C-0047-0ED5C49A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9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B60B6-FAC9-424E-662E-A9418AEB1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3F54D-FC99-66B9-3AE0-B7349950F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B3C05-54EA-090D-1A5B-2A328DE7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8084D-A14E-EF66-E0B3-B7B477AB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2394F-A401-BB01-0C48-086F2BF5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70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01B4C-AF8C-08BF-3137-C09131A1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B35-5679-9927-BB9A-07A4F7CE6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26918-26FC-7EB6-F098-232D84D7F8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7C8AD-4D1D-4BA9-A8FD-BCDB1B1B7EA9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291EB-00AF-A968-C05E-A03AF4447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75951-892B-A480-C965-8A13C334F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6A183-BD65-452E-A428-4EE49B0F0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665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5135-8813-DFC9-8D17-048C5E7AB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574" y="2006945"/>
            <a:ext cx="9144000" cy="2387600"/>
          </a:xfrm>
        </p:spPr>
        <p:txBody>
          <a:bodyPr/>
          <a:lstStyle/>
          <a:p>
            <a:r>
              <a:rPr lang="en-IN" b="1" dirty="0"/>
              <a:t>ECT 468 RENEWABLE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24806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58899C-E523-B0F3-3517-173D708F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/>
          </a:bodyPr>
          <a:lstStyle/>
          <a:p>
            <a:pPr algn="ctr"/>
            <a:r>
              <a:rPr lang="en-IN" sz="4400" b="1" i="0" u="none" strike="noStrike" baseline="0" dirty="0"/>
              <a:t>Module I </a:t>
            </a:r>
            <a:br>
              <a:rPr lang="en-IN" sz="4400" b="1" i="0" u="none" strike="noStrike" baseline="0" dirty="0"/>
            </a:br>
            <a:r>
              <a:rPr lang="en-US" sz="4400" b="1" i="0" u="none" strike="noStrike" baseline="0" dirty="0"/>
              <a:t>Introduction to Renewable Energy (RE)Sources</a:t>
            </a:r>
            <a:endParaRPr lang="en-IN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362EA6-47F0-F1DF-49FC-8EDD43EAA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009"/>
            <a:ext cx="10515600" cy="4218954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World energy scenario</a:t>
            </a:r>
          </a:p>
          <a:p>
            <a:pPr algn="l"/>
            <a:r>
              <a:rPr lang="en-US" sz="2400" b="0" i="0" u="none" strike="noStrike" baseline="0" dirty="0"/>
              <a:t>Overview of conventional energy sources, their limitation </a:t>
            </a:r>
          </a:p>
          <a:p>
            <a:pPr algn="l"/>
            <a:r>
              <a:rPr lang="en-US" sz="2400" b="0" i="0" u="none" strike="noStrike" baseline="0" dirty="0"/>
              <a:t>Need of renewable energy, potential &amp; development of renewable energy sources</a:t>
            </a:r>
          </a:p>
          <a:p>
            <a:pPr algn="l"/>
            <a:r>
              <a:rPr lang="en-US" sz="2400" b="0" i="0" u="none" strike="noStrike" baseline="0" dirty="0"/>
              <a:t>Renewable energy in India</a:t>
            </a:r>
          </a:p>
          <a:p>
            <a:pPr algn="l"/>
            <a:r>
              <a:rPr lang="en-US" sz="2400" b="0" i="0" u="none" strike="noStrike" baseline="0" dirty="0"/>
              <a:t>An overview of types of renewable energy systems - Wind power, hydropower (micro and mini), solar energy, biomass, Biofuel, geothermal heat energy, pros and cons,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8800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17AC-08B3-ECFB-6D15-69D7DF58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i="0" u="none" strike="noStrike" baseline="0" dirty="0">
                <a:latin typeface="+mn-lt"/>
              </a:rPr>
              <a:t>Module II</a:t>
            </a:r>
            <a:br>
              <a:rPr lang="en-IN" i="0" u="none" strike="noStrike" baseline="0" dirty="0">
                <a:latin typeface="+mn-lt"/>
              </a:rPr>
            </a:br>
            <a:r>
              <a:rPr lang="en-US" i="0" u="none" strike="noStrike" baseline="0" dirty="0">
                <a:latin typeface="+mn-lt"/>
              </a:rPr>
              <a:t>Solar Energy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5752-AACF-02CB-890D-8AE6F0C5C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389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Introduction to photovoltaic (PV) systems - Principle of PV conversion</a:t>
            </a:r>
          </a:p>
          <a:p>
            <a:pPr algn="l"/>
            <a:r>
              <a:rPr lang="en-IN" sz="2400" b="0" i="0" u="none" strike="noStrike" baseline="0" dirty="0"/>
              <a:t>Commercial solar cell</a:t>
            </a:r>
          </a:p>
          <a:p>
            <a:pPr algn="l"/>
            <a:r>
              <a:rPr lang="en-IN" sz="2400" b="0" i="0" u="none" strike="noStrike" baseline="0" dirty="0"/>
              <a:t>Thin film PV device fabrication - LPCVD, APCVD, PECVD, </a:t>
            </a:r>
            <a:r>
              <a:rPr lang="en-US" sz="2400" b="0" i="0" u="none" strike="noStrike" baseline="0" dirty="0"/>
              <a:t>Tandem Solar cell fabrication</a:t>
            </a:r>
          </a:p>
          <a:p>
            <a:pPr algn="l"/>
            <a:r>
              <a:rPr lang="en-US" sz="2400" b="0" i="0" u="none" strike="noStrike" baseline="0" dirty="0"/>
              <a:t>Solar power extraction using PV-Cells, I-V Characteristics</a:t>
            </a:r>
          </a:p>
          <a:p>
            <a:pPr algn="l"/>
            <a:r>
              <a:rPr lang="en-US" sz="2400" b="0" i="0" u="none" strike="noStrike" baseline="0" dirty="0"/>
              <a:t>PV-Inverters without D.C. to D.C. converters</a:t>
            </a:r>
          </a:p>
          <a:p>
            <a:pPr algn="l"/>
            <a:r>
              <a:rPr lang="en-US" sz="2400" dirty="0"/>
              <a:t>S</a:t>
            </a:r>
            <a:r>
              <a:rPr lang="en-US" sz="2400" b="0" i="0" u="none" strike="noStrike" baseline="0" dirty="0"/>
              <a:t>tandalone and grid-collected PV systems</a:t>
            </a:r>
          </a:p>
          <a:p>
            <a:pPr algn="l"/>
            <a:r>
              <a:rPr lang="en-US" sz="2400" b="0" i="0" u="none" strike="noStrike" baseline="0" dirty="0"/>
              <a:t>Grid interfacing-with isolation, without isolation, </a:t>
            </a:r>
          </a:p>
          <a:p>
            <a:pPr algn="l"/>
            <a:r>
              <a:rPr lang="en-US" sz="2400" b="0" i="0" u="none" strike="noStrike" baseline="0" dirty="0"/>
              <a:t>Maximum Power Point Tracking Methods(MPPT)</a:t>
            </a:r>
          </a:p>
          <a:p>
            <a:pPr algn="l"/>
            <a:r>
              <a:rPr lang="en-US" sz="2400" b="0" i="0" u="none" strike="noStrike" baseline="0" dirty="0"/>
              <a:t>PV-Inverters with D.C. to D.C. converters-on low-frequency side and high frequency side with isolation, without isolation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9648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A254-C517-B12D-9BAF-09040D78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III</a:t>
            </a:r>
            <a:br>
              <a:rPr lang="en-IN" b="1" dirty="0"/>
            </a:br>
            <a:r>
              <a:rPr lang="en-IN" b="1" dirty="0"/>
              <a:t>Wind Energy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9EF80-B870-ED2A-1E46-2D22D718C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Sources and potentials, Evaluation of Wind Intensity, Topography</a:t>
            </a:r>
          </a:p>
          <a:p>
            <a:r>
              <a:rPr lang="en-IN" sz="2400" dirty="0"/>
              <a:t>General Classification of Wind Turbines-Rotor Turbines, Multiple-Blade Turbines, Drag Turbines, Lifting Turbines</a:t>
            </a:r>
          </a:p>
          <a:p>
            <a:r>
              <a:rPr lang="en-IN" sz="2400" dirty="0"/>
              <a:t>Toroidal Rotor Amplifier Platform (TARP)–Wind amplified rotor platform (WARP)</a:t>
            </a:r>
          </a:p>
          <a:p>
            <a:r>
              <a:rPr lang="en-IN" sz="2400" dirty="0"/>
              <a:t>Generators and speed control used in wind power energy  </a:t>
            </a:r>
          </a:p>
          <a:p>
            <a:r>
              <a:rPr lang="en-IN" sz="2400" dirty="0"/>
              <a:t>SCIG and DFIG, Synchronous Generator-external magnetized, Synchronous Generator-permanent magnets</a:t>
            </a:r>
          </a:p>
          <a:p>
            <a:r>
              <a:rPr lang="en-US" sz="2400" dirty="0"/>
              <a:t>Speed control used in wind power energy, Fixed speed with capacitor bank, Rotor resistance control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9806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0C44-749E-2A39-7A56-9FB19B86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1" i="0" u="none" strike="noStrike" baseline="0" dirty="0"/>
              <a:t>Module IV</a:t>
            </a:r>
            <a:br>
              <a:rPr lang="en-IN" sz="4400" b="1" i="0" u="none" strike="noStrike" baseline="0" dirty="0"/>
            </a:br>
            <a:r>
              <a:rPr lang="en-US" sz="4400" b="1" i="0" u="none" strike="noStrike" baseline="0" dirty="0"/>
              <a:t>Electronic conversion systems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7F560-63F7-31DE-90AB-5E5C5BE6B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Electronic conversion systems application to renewable energy generation systems: Basic </a:t>
            </a:r>
            <a:r>
              <a:rPr lang="en-US" sz="2400" dirty="0"/>
              <a:t> </a:t>
            </a:r>
            <a:r>
              <a:rPr lang="en-US" sz="2400" b="0" i="0" u="none" strike="noStrike" baseline="0" dirty="0"/>
              <a:t>schemes and functional advantages</a:t>
            </a:r>
          </a:p>
          <a:p>
            <a:pPr algn="l"/>
            <a:r>
              <a:rPr lang="en-US" sz="2400" b="0" i="0" u="none" strike="noStrike" baseline="0" dirty="0"/>
              <a:t>Power control and management systems for grid integration, island detection systems, synchronizing with the grid</a:t>
            </a:r>
          </a:p>
          <a:p>
            <a:pPr algn="l"/>
            <a:r>
              <a:rPr lang="en-US" sz="2400" b="0" i="0" u="none" strike="noStrike" baseline="0" dirty="0"/>
              <a:t>Issues in integration of converter based sources</a:t>
            </a:r>
          </a:p>
          <a:p>
            <a:pPr algn="l"/>
            <a:r>
              <a:rPr lang="en-US" sz="2400" b="0" i="0" u="none" strike="noStrike" baseline="0" dirty="0"/>
              <a:t>Network voltage management</a:t>
            </a:r>
          </a:p>
          <a:p>
            <a:pPr algn="l"/>
            <a:r>
              <a:rPr lang="en-US" sz="2400" b="0" i="0" u="none" strike="noStrike" baseline="0" dirty="0"/>
              <a:t>Power quality management and Frequency management</a:t>
            </a:r>
          </a:p>
          <a:p>
            <a:pPr algn="l"/>
            <a:r>
              <a:rPr lang="en-US" sz="2400" b="0" i="0" u="none" strike="noStrike" baseline="0" dirty="0"/>
              <a:t>Influence of PV/WECS on system transient response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5187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A9A9-3F55-A3BA-C4A0-53F3099D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Module V</a:t>
            </a:r>
            <a:br>
              <a:rPr lang="en-US" b="1" dirty="0"/>
            </a:br>
            <a:r>
              <a:rPr lang="en-US" b="1" dirty="0"/>
              <a:t>Grid connectivity of RE systems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9E3E-2280-9F4E-C6E0-87F684915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/>
              <a:t>Introduction to grid connectivity of RE systems, smart grid and emerging technologies, operating principles and models of smart gird components, </a:t>
            </a:r>
          </a:p>
          <a:p>
            <a:pPr algn="l"/>
            <a:r>
              <a:rPr lang="en-US" sz="2400" b="0" i="0" u="none" strike="noStrike" baseline="0" dirty="0"/>
              <a:t>Key technologies for generation, networks, loads, and their control capabilities</a:t>
            </a:r>
          </a:p>
          <a:p>
            <a:pPr algn="l"/>
            <a:r>
              <a:rPr lang="en-US" sz="2400" b="0" i="0" u="none" strike="noStrike" baseline="0" dirty="0"/>
              <a:t>Evolution of electricity metering, key components of smart metering, </a:t>
            </a:r>
          </a:p>
          <a:p>
            <a:pPr algn="l"/>
            <a:r>
              <a:rPr lang="en-US" sz="2400" dirty="0"/>
              <a:t>O</a:t>
            </a:r>
            <a:r>
              <a:rPr lang="en-US" sz="2400" b="0" i="0" u="none" strike="noStrike" baseline="0" dirty="0"/>
              <a:t>verview of the hardware used for smart meters, and smart metering protocols. </a:t>
            </a:r>
          </a:p>
          <a:p>
            <a:pPr algn="l"/>
            <a:r>
              <a:rPr lang="en-US" sz="2400" b="0" i="0" u="none" strike="noStrike" baseline="0" dirty="0"/>
              <a:t>Structure and main components of a distribution management system,</a:t>
            </a:r>
          </a:p>
          <a:p>
            <a:pPr algn="l"/>
            <a:r>
              <a:rPr lang="en-US" sz="2400" b="0" i="0" u="none" strike="noStrike" baseline="0" dirty="0"/>
              <a:t>Supervisory control and data acquisition (SCADA)</a:t>
            </a:r>
          </a:p>
          <a:p>
            <a:pPr algn="l"/>
            <a:r>
              <a:rPr lang="en-US" sz="2400" b="0" i="0" u="none" strike="noStrike" baseline="0" dirty="0"/>
              <a:t>Distribution system modelling, </a:t>
            </a:r>
          </a:p>
          <a:p>
            <a:pPr algn="l"/>
            <a:r>
              <a:rPr lang="en-US" sz="2400" dirty="0"/>
              <a:t>N</a:t>
            </a:r>
            <a:r>
              <a:rPr lang="en-US" sz="2400" b="0" i="0" u="none" strike="noStrike" baseline="0" dirty="0"/>
              <a:t>ew trends for smart grids, topology analysis, and power flow analysis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5841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CE699A-2B8F-3773-28C1-B029446BF4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0526" y="1331270"/>
          <a:ext cx="10730948" cy="4195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8021">
                  <a:extLst>
                    <a:ext uri="{9D8B030D-6E8A-4147-A177-3AD203B41FA5}">
                      <a16:colId xmlns:a16="http://schemas.microsoft.com/office/drawing/2014/main" val="3963312690"/>
                    </a:ext>
                  </a:extLst>
                </a:gridCol>
                <a:gridCol w="9212927">
                  <a:extLst>
                    <a:ext uri="{9D8B030D-6E8A-4147-A177-3AD203B41FA5}">
                      <a16:colId xmlns:a16="http://schemas.microsoft.com/office/drawing/2014/main" val="2250659088"/>
                    </a:ext>
                  </a:extLst>
                </a:gridCol>
              </a:tblGrid>
              <a:tr h="546848">
                <a:tc>
                  <a:txBody>
                    <a:bodyPr/>
                    <a:lstStyle/>
                    <a:p>
                      <a:pPr marL="144145" marR="127000" algn="ctr">
                        <a:lnSpc>
                          <a:spcPct val="113000"/>
                        </a:lnSpc>
                      </a:pPr>
                      <a:r>
                        <a:rPr lang="en-US" sz="2400" dirty="0">
                          <a:effectLst/>
                        </a:rPr>
                        <a:t>CO No.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460500" marR="1125220" algn="ctr">
                        <a:lnSpc>
                          <a:spcPct val="113000"/>
                        </a:lnSpc>
                      </a:pPr>
                      <a:r>
                        <a:rPr lang="en-US" sz="2400" dirty="0">
                          <a:effectLst/>
                        </a:rPr>
                        <a:t>Course Outcome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0318939"/>
                  </a:ext>
                </a:extLst>
              </a:tr>
              <a:tr h="766894">
                <a:tc>
                  <a:txBody>
                    <a:bodyPr/>
                    <a:lstStyle/>
                    <a:p>
                      <a:pPr marL="139700" marR="127000" algn="ctr">
                        <a:lnSpc>
                          <a:spcPct val="111000"/>
                        </a:lnSpc>
                      </a:pPr>
                      <a:r>
                        <a:rPr lang="en-US" sz="2400" dirty="0">
                          <a:effectLst/>
                        </a:rPr>
                        <a:t>CO1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15000"/>
                        </a:lnSpc>
                      </a:pPr>
                      <a:r>
                        <a:rPr lang="en-US" sz="2400" dirty="0">
                          <a:effectLst/>
                        </a:rPr>
                        <a:t>Understand the need, importance and scope of various Non-Conventional sources of energy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0139915"/>
                  </a:ext>
                </a:extLst>
              </a:tr>
              <a:tr h="835693">
                <a:tc>
                  <a:txBody>
                    <a:bodyPr/>
                    <a:lstStyle/>
                    <a:p>
                      <a:pPr marL="139700" marR="127000" algn="ctr">
                        <a:lnSpc>
                          <a:spcPct val="111000"/>
                        </a:lnSpc>
                      </a:pPr>
                      <a:r>
                        <a:rPr lang="en-US" sz="2400" dirty="0">
                          <a:effectLst/>
                        </a:rPr>
                        <a:t>CO2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11000"/>
                        </a:lnSpc>
                      </a:pPr>
                      <a:r>
                        <a:rPr lang="en-US" sz="2400" dirty="0">
                          <a:effectLst/>
                        </a:rPr>
                        <a:t>Outline the concepts and technologies related to renewable energy systems using wind and Solar-PV</a:t>
                      </a:r>
                      <a:endParaRPr lang="en-IN" sz="24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6365621"/>
                  </a:ext>
                </a:extLst>
              </a:tr>
              <a:tr h="766894">
                <a:tc>
                  <a:txBody>
                    <a:bodyPr/>
                    <a:lstStyle/>
                    <a:p>
                      <a:pPr marL="139700" marR="127000" algn="ctr">
                        <a:lnSpc>
                          <a:spcPct val="111000"/>
                        </a:lnSpc>
                      </a:pPr>
                      <a:r>
                        <a:rPr lang="en-US" sz="2400">
                          <a:effectLst/>
                        </a:rPr>
                        <a:t>CO3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7470" marR="392430">
                        <a:lnSpc>
                          <a:spcPct val="115000"/>
                        </a:lnSpc>
                      </a:pPr>
                      <a:r>
                        <a:rPr lang="en-US" sz="2400">
                          <a:effectLst/>
                        </a:rPr>
                        <a:t>Understand the integration of smart grid with renewable energy systems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22033"/>
                  </a:ext>
                </a:extLst>
              </a:tr>
              <a:tr h="461317">
                <a:tc>
                  <a:txBody>
                    <a:bodyPr/>
                    <a:lstStyle/>
                    <a:p>
                      <a:pPr marL="139700" marR="127000" algn="ctr">
                        <a:lnSpc>
                          <a:spcPct val="111000"/>
                        </a:lnSpc>
                      </a:pPr>
                      <a:r>
                        <a:rPr lang="en-US" sz="2400">
                          <a:effectLst/>
                        </a:rPr>
                        <a:t>CO4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7470" marR="708660">
                        <a:lnSpc>
                          <a:spcPct val="115000"/>
                        </a:lnSpc>
                      </a:pPr>
                      <a:r>
                        <a:rPr lang="en-US" sz="2400">
                          <a:effectLst/>
                        </a:rPr>
                        <a:t>Explain the concept of distribution management system.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7613478"/>
                  </a:ext>
                </a:extLst>
              </a:tr>
              <a:tr h="722318">
                <a:tc>
                  <a:txBody>
                    <a:bodyPr/>
                    <a:lstStyle/>
                    <a:p>
                      <a:pPr marL="139700" marR="127000" algn="ctr">
                        <a:lnSpc>
                          <a:spcPct val="111000"/>
                        </a:lnSpc>
                      </a:pPr>
                      <a:r>
                        <a:rPr lang="en-US" sz="2400" dirty="0">
                          <a:effectLst/>
                        </a:rPr>
                        <a:t>CO5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7470" marR="708660">
                        <a:lnSpc>
                          <a:spcPct val="115000"/>
                        </a:lnSpc>
                      </a:pPr>
                      <a:r>
                        <a:rPr lang="en-US" sz="2400" dirty="0">
                          <a:effectLst/>
                        </a:rPr>
                        <a:t>Describe the fundamentals of Smart metering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762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626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ECT 468 RENEWABLE ENERGY SYSTEMS</vt:lpstr>
      <vt:lpstr>Module I  Introduction to Renewable Energy (RE)Sources</vt:lpstr>
      <vt:lpstr>Module II Solar Energy</vt:lpstr>
      <vt:lpstr>Module III Wind Energy</vt:lpstr>
      <vt:lpstr>Module IV Electronic conversion systems</vt:lpstr>
      <vt:lpstr>Module V Grid connectivity of RE systems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2026-03-20T16:23:33Z</dcterms:created>
  <dcterms:modified xsi:type="dcterms:W3CDTF">2026-03-20T16:24:16Z</dcterms:modified>
</cp:coreProperties>
</file>