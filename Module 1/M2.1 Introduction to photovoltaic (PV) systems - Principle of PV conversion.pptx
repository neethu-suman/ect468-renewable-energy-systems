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3" r:id="rId2"/>
    <p:sldId id="257" r:id="rId3"/>
    <p:sldId id="344" r:id="rId4"/>
    <p:sldId id="343" r:id="rId5"/>
    <p:sldId id="346" r:id="rId6"/>
    <p:sldId id="345" r:id="rId7"/>
    <p:sldId id="347" r:id="rId8"/>
    <p:sldId id="34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16E5A-4D5D-8FD5-19D5-624D3F2E7B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FC9B48-BEEC-DCA9-035E-10035D9020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E55195-0F10-51F7-A9FF-D9AD2B9D5844}"/>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BDDDE0FC-EFF3-A123-0BB9-67C90C574A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10FE38-A8DC-9687-77D5-9160341D715C}"/>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2497430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E8746-C81A-2F2D-88D1-20B49CCDF4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527F80-613A-F0AA-6516-21FD747625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5E43C3-FD26-F01B-1542-3391098D5882}"/>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CC129F12-68A3-1A96-9EE0-324628F6AD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0395F5-00F8-78CE-4619-EED1B22446C3}"/>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2514380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41171-1004-4B72-393F-6A57C2EEB4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70C5A3-6293-0581-A348-745440C4DB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9EA206-70EA-2FCB-9CC9-BE01FD9EFF1F}"/>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DFD639DF-DDDA-1F48-F71D-90C0A908B7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9FC125-C2D7-8112-317C-2FEF386BEA2D}"/>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1288981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D67BE-1A2D-5F89-4959-605D223E53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3C7690-88BB-C2A5-1823-C591F811EA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43DB21-0D1E-F2BB-E634-268D0D0CD2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6B46A8-8009-8B79-3A6F-C140E38CE01F}"/>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6" name="Footer Placeholder 5">
            <a:extLst>
              <a:ext uri="{FF2B5EF4-FFF2-40B4-BE49-F238E27FC236}">
                <a16:creationId xmlns:a16="http://schemas.microsoft.com/office/drawing/2014/main" id="{4DD1A96B-66F6-F380-F10D-333E2800A0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1E67FF-59C4-D9D8-4549-80D29C5CA030}"/>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923489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D2E51-289D-DBF1-3AF5-27369FA49D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1FE62F-6CA6-4C3F-98E7-8F366220A0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9049BD-6DC2-ECFE-D6C7-0F167B0901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61C24B-A46B-B07A-9A95-7595D8313D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2B2F3B-8C94-7C7A-9E07-1F4875A444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C49416-F70E-652C-CDB1-1E5B4EDFED99}"/>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8" name="Footer Placeholder 7">
            <a:extLst>
              <a:ext uri="{FF2B5EF4-FFF2-40B4-BE49-F238E27FC236}">
                <a16:creationId xmlns:a16="http://schemas.microsoft.com/office/drawing/2014/main" id="{AA852035-7EC7-010A-115E-8061C7FBDAA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ECCB4D-3C99-9678-B187-0A0CDF079098}"/>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36959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302D-952F-E318-3C6E-3147B68A15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543429-F98C-8B9A-4CCD-56CD889034CC}"/>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4" name="Footer Placeholder 3">
            <a:extLst>
              <a:ext uri="{FF2B5EF4-FFF2-40B4-BE49-F238E27FC236}">
                <a16:creationId xmlns:a16="http://schemas.microsoft.com/office/drawing/2014/main" id="{C7D43CBC-72DD-8639-CFF9-CF2D60F752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842445-B3BC-6444-84B2-E13CB47B7D7C}"/>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351168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8FDB9-A6F1-D530-4E8A-7F9D043F71A6}"/>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3" name="Footer Placeholder 2">
            <a:extLst>
              <a:ext uri="{FF2B5EF4-FFF2-40B4-BE49-F238E27FC236}">
                <a16:creationId xmlns:a16="http://schemas.microsoft.com/office/drawing/2014/main" id="{05B732DD-C34D-76B8-89E4-1A189250812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E3E2C6-36A8-3C57-F1D3-68E023C6833C}"/>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3726005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9B7B-9BC0-60A1-08A2-C0FC02FF7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EB1E0A-E378-8962-9BF8-244A8E0C9F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D20B6E-076F-EB6D-3A0E-5EE140ABB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BFA7AC-796D-4164-1B9C-EF542E459CFC}"/>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6" name="Footer Placeholder 5">
            <a:extLst>
              <a:ext uri="{FF2B5EF4-FFF2-40B4-BE49-F238E27FC236}">
                <a16:creationId xmlns:a16="http://schemas.microsoft.com/office/drawing/2014/main" id="{0FDBF380-F0E9-4865-43ED-47D8E4015B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FA7470-43A7-D9D1-9F36-479B5BCA267F}"/>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2922359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6F63-B80C-6747-3483-8843376A7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0737B2-5248-50A5-5AC5-3C6CF7B073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F6B11C-B378-9848-8096-7F19D1A04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0B1A8-EE27-41A6-C34D-55A96B3BD6AB}"/>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6" name="Footer Placeholder 5">
            <a:extLst>
              <a:ext uri="{FF2B5EF4-FFF2-40B4-BE49-F238E27FC236}">
                <a16:creationId xmlns:a16="http://schemas.microsoft.com/office/drawing/2014/main" id="{A7C4F6BA-2BF1-3D42-250F-2344751890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C48023-B1EA-8285-7C0C-17A041AF69D1}"/>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1572011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3CE1-5945-C9B0-73A5-DD2941F09D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87A648-FFF4-155B-0F89-4B56A87662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9180BC-2DD3-797D-A68F-49783BE8CF4A}"/>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C4B258AF-875C-DADF-F9F4-150AC70C6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6CF5D-E0A3-054F-9681-6CBD829CE8CF}"/>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34266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5B225-1203-1940-5D02-4B5B697E81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810210-E082-41D4-79C0-525F9A89B5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F25848-16DD-5524-AA71-A701F0C3EC72}"/>
              </a:ext>
            </a:extLst>
          </p:cNvPr>
          <p:cNvSpPr>
            <a:spLocks noGrp="1"/>
          </p:cNvSpPr>
          <p:nvPr>
            <p:ph type="dt" sz="half" idx="10"/>
          </p:nvPr>
        </p:nvSpPr>
        <p:spPr/>
        <p:txBody>
          <a:body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6EA80A78-5947-3F30-200B-C21EAB057D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D2AD06-7E44-B2C9-10FD-B85A14289446}"/>
              </a:ext>
            </a:extLst>
          </p:cNvPr>
          <p:cNvSpPr>
            <a:spLocks noGrp="1"/>
          </p:cNvSpPr>
          <p:nvPr>
            <p:ph type="sldNum" sz="quarter" idx="12"/>
          </p:nvPr>
        </p:nvSpPr>
        <p:spPr/>
        <p:txBody>
          <a:bodyPr/>
          <a:lstStyle/>
          <a:p>
            <a:fld id="{5360DF30-C960-4C75-8768-F437435AF8D0}" type="slidenum">
              <a:rPr lang="en-IN" smtClean="0"/>
              <a:t>‹#›</a:t>
            </a:fld>
            <a:endParaRPr lang="en-IN"/>
          </a:p>
        </p:txBody>
      </p:sp>
    </p:spTree>
    <p:extLst>
      <p:ext uri="{BB962C8B-B14F-4D97-AF65-F5344CB8AC3E}">
        <p14:creationId xmlns:p14="http://schemas.microsoft.com/office/powerpoint/2010/main" val="1701361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DE479C-7891-459E-551A-00BA03D7F1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6ADF16-C4C4-9049-136D-D7D082ED59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10C5B9-CD40-5BCC-503D-4C43289136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2B362-342B-4FAF-B2BD-B040ACFA4649}" type="datetimeFigureOut">
              <a:rPr lang="en-IN" smtClean="0"/>
              <a:t>06-12-2025</a:t>
            </a:fld>
            <a:endParaRPr lang="en-IN"/>
          </a:p>
        </p:txBody>
      </p:sp>
      <p:sp>
        <p:nvSpPr>
          <p:cNvPr id="5" name="Footer Placeholder 4">
            <a:extLst>
              <a:ext uri="{FF2B5EF4-FFF2-40B4-BE49-F238E27FC236}">
                <a16:creationId xmlns:a16="http://schemas.microsoft.com/office/drawing/2014/main" id="{80333483-435F-A9D7-4114-36A5B2372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F01F7F-62C3-697C-2AAE-52508AD549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0DF30-C960-4C75-8768-F437435AF8D0}" type="slidenum">
              <a:rPr lang="en-IN" smtClean="0"/>
              <a:t>‹#›</a:t>
            </a:fld>
            <a:endParaRPr lang="en-IN"/>
          </a:p>
        </p:txBody>
      </p:sp>
    </p:spTree>
    <p:extLst>
      <p:ext uri="{BB962C8B-B14F-4D97-AF65-F5344CB8AC3E}">
        <p14:creationId xmlns:p14="http://schemas.microsoft.com/office/powerpoint/2010/main" val="3888766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217AC-08B3-ECFB-6D15-69D7DF5818D1}"/>
              </a:ext>
            </a:extLst>
          </p:cNvPr>
          <p:cNvSpPr>
            <a:spLocks noGrp="1"/>
          </p:cNvSpPr>
          <p:nvPr>
            <p:ph type="title"/>
          </p:nvPr>
        </p:nvSpPr>
        <p:spPr>
          <a:xfrm>
            <a:off x="1976776" y="397565"/>
            <a:ext cx="7729728" cy="1188720"/>
          </a:xfrm>
        </p:spPr>
        <p:txBody>
          <a:bodyPr>
            <a:normAutofit/>
          </a:bodyPr>
          <a:lstStyle/>
          <a:p>
            <a:pPr algn="ctr"/>
            <a:r>
              <a:rPr lang="en-IN" i="0" u="none" strike="noStrike" baseline="0" dirty="0">
                <a:latin typeface="+mn-lt"/>
              </a:rPr>
              <a:t>Module II - </a:t>
            </a:r>
            <a:r>
              <a:rPr lang="en-US" i="0" u="none" strike="noStrike" baseline="0" dirty="0">
                <a:latin typeface="+mn-lt"/>
              </a:rPr>
              <a:t>Solar Energy</a:t>
            </a:r>
            <a:endParaRPr lang="en-IN" dirty="0">
              <a:latin typeface="+mn-lt"/>
            </a:endParaRPr>
          </a:p>
        </p:txBody>
      </p:sp>
      <p:sp>
        <p:nvSpPr>
          <p:cNvPr id="3" name="Content Placeholder 2">
            <a:extLst>
              <a:ext uri="{FF2B5EF4-FFF2-40B4-BE49-F238E27FC236}">
                <a16:creationId xmlns:a16="http://schemas.microsoft.com/office/drawing/2014/main" id="{C57A5752-AACF-02CB-890D-8AE6F0C5CCF4}"/>
              </a:ext>
            </a:extLst>
          </p:cNvPr>
          <p:cNvSpPr>
            <a:spLocks noGrp="1"/>
          </p:cNvSpPr>
          <p:nvPr>
            <p:ph idx="1"/>
          </p:nvPr>
        </p:nvSpPr>
        <p:spPr>
          <a:xfrm>
            <a:off x="838200" y="1825624"/>
            <a:ext cx="10515600" cy="4783897"/>
          </a:xfrm>
        </p:spPr>
        <p:txBody>
          <a:bodyPr>
            <a:normAutofit/>
          </a:bodyPr>
          <a:lstStyle/>
          <a:p>
            <a:pPr algn="l"/>
            <a:r>
              <a:rPr lang="en-US" sz="2400" b="0" i="0" u="none" strike="noStrike" baseline="0" dirty="0"/>
              <a:t>Introduction to photovoltaic (PV) systems - Principle of PV conversion</a:t>
            </a:r>
          </a:p>
          <a:p>
            <a:pPr algn="l"/>
            <a:r>
              <a:rPr lang="en-IN" sz="2400" b="0" i="0" u="none" strike="noStrike" baseline="0" dirty="0"/>
              <a:t>Commercial solar cell</a:t>
            </a:r>
          </a:p>
          <a:p>
            <a:pPr algn="l"/>
            <a:r>
              <a:rPr lang="en-IN" sz="2400" b="0" i="0" u="none" strike="noStrike" baseline="0" dirty="0"/>
              <a:t>Thin film PV device fabrication - LPCVD, APCVD, PECVD, </a:t>
            </a:r>
            <a:r>
              <a:rPr lang="en-US" sz="2400" b="0" i="0" u="none" strike="noStrike" baseline="0" dirty="0"/>
              <a:t>Tandem Solar cell fabrication</a:t>
            </a:r>
          </a:p>
          <a:p>
            <a:pPr algn="l"/>
            <a:r>
              <a:rPr lang="en-US" sz="2400" b="0" i="0" u="none" strike="noStrike" baseline="0" dirty="0"/>
              <a:t>Solar power extraction using PV-Cells, I-V Characteristics</a:t>
            </a:r>
          </a:p>
          <a:p>
            <a:pPr algn="l"/>
            <a:r>
              <a:rPr lang="en-US" sz="2400" b="0" i="0" u="none" strike="noStrike" baseline="0" dirty="0"/>
              <a:t>PV-Inverters without D.C. to D.C. converters</a:t>
            </a:r>
          </a:p>
          <a:p>
            <a:pPr algn="l"/>
            <a:r>
              <a:rPr lang="en-US" sz="2400" dirty="0"/>
              <a:t>S</a:t>
            </a:r>
            <a:r>
              <a:rPr lang="en-US" sz="2400" b="0" i="0" u="none" strike="noStrike" baseline="0" dirty="0"/>
              <a:t>tandalone and grid-collected PV systems</a:t>
            </a:r>
          </a:p>
          <a:p>
            <a:pPr algn="l"/>
            <a:r>
              <a:rPr lang="en-US" sz="2400" b="0" i="0" u="none" strike="noStrike" baseline="0" dirty="0"/>
              <a:t>Grid interfacing-with isolation, without isolation, </a:t>
            </a:r>
          </a:p>
          <a:p>
            <a:pPr algn="l"/>
            <a:r>
              <a:rPr lang="en-US" sz="2400" b="0" i="0" u="none" strike="noStrike" baseline="0" dirty="0"/>
              <a:t>Maximum Power Point Tracking Methods(MPPT)</a:t>
            </a:r>
          </a:p>
          <a:p>
            <a:pPr algn="l"/>
            <a:r>
              <a:rPr lang="en-US" sz="2400" b="0" i="0" u="none" strike="noStrike" baseline="0" dirty="0"/>
              <a:t>PV-Inverters with D.C. to D.C. converters-on low-frequency side and high frequency side with isolation, without isolation</a:t>
            </a:r>
            <a:endParaRPr lang="en-IN" sz="2400" dirty="0"/>
          </a:p>
        </p:txBody>
      </p:sp>
    </p:spTree>
    <p:extLst>
      <p:ext uri="{BB962C8B-B14F-4D97-AF65-F5344CB8AC3E}">
        <p14:creationId xmlns:p14="http://schemas.microsoft.com/office/powerpoint/2010/main" val="696484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FF1-D2DE-CA2D-F993-CE5A38B79D25}"/>
              </a:ext>
            </a:extLst>
          </p:cNvPr>
          <p:cNvSpPr>
            <a:spLocks noGrp="1"/>
          </p:cNvSpPr>
          <p:nvPr>
            <p:ph type="title"/>
          </p:nvPr>
        </p:nvSpPr>
        <p:spPr>
          <a:xfrm>
            <a:off x="427383" y="685801"/>
            <a:ext cx="11370365" cy="785190"/>
          </a:xfrm>
        </p:spPr>
        <p:txBody>
          <a:bodyPr>
            <a:noAutofit/>
          </a:bodyPr>
          <a:lstStyle/>
          <a:p>
            <a:r>
              <a:rPr lang="en-US" sz="4800" dirty="0"/>
              <a:t>Introduction to photovoltaic (PV) systems</a:t>
            </a:r>
            <a:endParaRPr lang="en-IN" sz="4800" dirty="0"/>
          </a:p>
        </p:txBody>
      </p:sp>
      <p:sp>
        <p:nvSpPr>
          <p:cNvPr id="12" name="AutoShape 10" descr="Installing a Solar Power System: A Guide to Key Components">
            <a:extLst>
              <a:ext uri="{FF2B5EF4-FFF2-40B4-BE49-F238E27FC236}">
                <a16:creationId xmlns:a16="http://schemas.microsoft.com/office/drawing/2014/main" id="{396ABED7-E76F-E455-F928-4426102865A1}"/>
              </a:ext>
            </a:extLst>
          </p:cNvPr>
          <p:cNvSpPr>
            <a:spLocks noGrp="1" noChangeAspect="1" noChangeArrowheads="1"/>
          </p:cNvSpPr>
          <p:nvPr>
            <p:ph idx="1"/>
          </p:nvPr>
        </p:nvSpPr>
        <p:spPr bwMode="auto">
          <a:xfrm>
            <a:off x="526773" y="1470991"/>
            <a:ext cx="11121887" cy="47059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r>
              <a:rPr lang="en-US" sz="2400" dirty="0"/>
              <a:t>A photovoltaic (PV) system converts sunlight directly into electrical energy using solar cells and associated power‑conditioning components. </a:t>
            </a:r>
            <a:endParaRPr lang="en-IN" sz="2400" dirty="0"/>
          </a:p>
        </p:txBody>
      </p:sp>
      <p:pic>
        <p:nvPicPr>
          <p:cNvPr id="2050" name="Picture 2" descr="Components required for grid connected rooftop solar system. Know where to place those componenets.">
            <a:extLst>
              <a:ext uri="{FF2B5EF4-FFF2-40B4-BE49-F238E27FC236}">
                <a16:creationId xmlns:a16="http://schemas.microsoft.com/office/drawing/2014/main" id="{30CA0346-C61B-CB34-A001-4A0B12052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477" y="2256181"/>
            <a:ext cx="8444950" cy="402454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C68BB79-4D53-ECD6-9D52-898953C2A38B}"/>
              </a:ext>
            </a:extLst>
          </p:cNvPr>
          <p:cNvSpPr txBox="1"/>
          <p:nvPr/>
        </p:nvSpPr>
        <p:spPr>
          <a:xfrm>
            <a:off x="2166731" y="6280727"/>
            <a:ext cx="7931426" cy="461665"/>
          </a:xfrm>
          <a:prstGeom prst="rect">
            <a:avLst/>
          </a:prstGeom>
          <a:noFill/>
        </p:spPr>
        <p:txBody>
          <a:bodyPr wrap="square">
            <a:spAutoFit/>
          </a:bodyPr>
          <a:lstStyle/>
          <a:p>
            <a:r>
              <a:rPr lang="en-US" sz="2400" dirty="0"/>
              <a:t>Grid-Connected Solar Photovoltaic System Block Diagram</a:t>
            </a:r>
            <a:endParaRPr lang="en-IN" sz="2400" dirty="0"/>
          </a:p>
        </p:txBody>
      </p:sp>
      <p:sp>
        <p:nvSpPr>
          <p:cNvPr id="3" name="TextBox 2">
            <a:extLst>
              <a:ext uri="{FF2B5EF4-FFF2-40B4-BE49-F238E27FC236}">
                <a16:creationId xmlns:a16="http://schemas.microsoft.com/office/drawing/2014/main" id="{8C449F01-8498-ADB5-B54F-D5748D4D9FF7}"/>
              </a:ext>
            </a:extLst>
          </p:cNvPr>
          <p:cNvSpPr txBox="1"/>
          <p:nvPr/>
        </p:nvSpPr>
        <p:spPr>
          <a:xfrm>
            <a:off x="6291470" y="5778611"/>
            <a:ext cx="655982" cy="307777"/>
          </a:xfrm>
          <a:prstGeom prst="rect">
            <a:avLst/>
          </a:prstGeom>
          <a:solidFill>
            <a:schemeClr val="bg1"/>
          </a:solidFill>
        </p:spPr>
        <p:txBody>
          <a:bodyPr wrap="square" rtlCol="0">
            <a:spAutoFit/>
          </a:bodyPr>
          <a:lstStyle/>
          <a:p>
            <a:r>
              <a:rPr lang="en-IN" sz="1400" dirty="0">
                <a:solidFill>
                  <a:srgbClr val="FFC000"/>
                </a:solidFill>
              </a:rPr>
              <a:t>DC/AC</a:t>
            </a:r>
          </a:p>
        </p:txBody>
      </p:sp>
    </p:spTree>
    <p:extLst>
      <p:ext uri="{BB962C8B-B14F-4D97-AF65-F5344CB8AC3E}">
        <p14:creationId xmlns:p14="http://schemas.microsoft.com/office/powerpoint/2010/main" val="3081511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B01B-48E8-7F94-7CD7-105C5481E991}"/>
              </a:ext>
            </a:extLst>
          </p:cNvPr>
          <p:cNvSpPr>
            <a:spLocks noGrp="1"/>
          </p:cNvSpPr>
          <p:nvPr>
            <p:ph type="title"/>
          </p:nvPr>
        </p:nvSpPr>
        <p:spPr/>
        <p:txBody>
          <a:bodyPr/>
          <a:lstStyle/>
          <a:p>
            <a:r>
              <a:rPr lang="en-US" dirty="0"/>
              <a:t>Grid-Connected Solar Photovoltaic System Block Diagram</a:t>
            </a:r>
            <a:endParaRPr lang="en-IN" dirty="0"/>
          </a:p>
        </p:txBody>
      </p:sp>
      <p:sp>
        <p:nvSpPr>
          <p:cNvPr id="3" name="Content Placeholder 2">
            <a:extLst>
              <a:ext uri="{FF2B5EF4-FFF2-40B4-BE49-F238E27FC236}">
                <a16:creationId xmlns:a16="http://schemas.microsoft.com/office/drawing/2014/main" id="{B8CCD7E1-1109-31BF-E151-3B5413753E21}"/>
              </a:ext>
            </a:extLst>
          </p:cNvPr>
          <p:cNvSpPr>
            <a:spLocks noGrp="1"/>
          </p:cNvSpPr>
          <p:nvPr>
            <p:ph idx="1"/>
          </p:nvPr>
        </p:nvSpPr>
        <p:spPr>
          <a:xfrm>
            <a:off x="838199" y="1825624"/>
            <a:ext cx="10810461" cy="4823653"/>
          </a:xfrm>
        </p:spPr>
        <p:txBody>
          <a:bodyPr>
            <a:normAutofit/>
          </a:bodyPr>
          <a:lstStyle/>
          <a:p>
            <a:r>
              <a:rPr lang="en-US" sz="2400" dirty="0"/>
              <a:t>Grid-interactive solar PV systems generally consist of six individual components: </a:t>
            </a:r>
            <a:r>
              <a:rPr lang="en-US" sz="2400" b="1" dirty="0"/>
              <a:t>the solar PV array, a charge controller, a battery bank, an inverter, a utility meter, and an electric grid. </a:t>
            </a:r>
          </a:p>
          <a:p>
            <a:r>
              <a:rPr lang="en-US" sz="2400" dirty="0"/>
              <a:t>However, a charge controller and battery bank are optional. </a:t>
            </a:r>
          </a:p>
          <a:p>
            <a:r>
              <a:rPr lang="en-US" sz="2400" dirty="0"/>
              <a:t>Even though these two components help you store and, as such, make better use of your generated solar energy, they also increase the total price of the installation.</a:t>
            </a:r>
          </a:p>
          <a:p>
            <a:pPr marL="457200" indent="-457200">
              <a:buFont typeface="+mj-lt"/>
              <a:buAutoNum type="arabicPeriod"/>
            </a:pPr>
            <a:r>
              <a:rPr lang="en-US" sz="2400" dirty="0"/>
              <a:t>A </a:t>
            </a:r>
            <a:r>
              <a:rPr lang="en-US" sz="2400" b="1" dirty="0"/>
              <a:t>solar PV array </a:t>
            </a:r>
            <a:r>
              <a:rPr lang="en-US" sz="2400" dirty="0"/>
              <a:t>consists of several solar PV panels that are connected. The solar PV array generates DC electricity from sunlight.</a:t>
            </a:r>
          </a:p>
          <a:p>
            <a:pPr lvl="1"/>
            <a:r>
              <a:rPr lang="en-US" sz="2000" dirty="0"/>
              <a:t>Photovoltaic systems must be installed on stable mounting structures that can support the array and withstand weather conditions like wind, rain, and corrosion.</a:t>
            </a:r>
          </a:p>
          <a:p>
            <a:pPr lvl="1"/>
            <a:r>
              <a:rPr lang="en-US" sz="2000" dirty="0"/>
              <a:t>Most mounting systems are made of </a:t>
            </a:r>
            <a:r>
              <a:rPr lang="en-US" sz="2000" dirty="0" err="1"/>
              <a:t>aluminium</a:t>
            </a:r>
            <a:r>
              <a:rPr lang="en-US" sz="2000" dirty="0"/>
              <a:t> with stainless steel hardware and are designed to accept a variety of solar modules on different roof types.</a:t>
            </a:r>
          </a:p>
        </p:txBody>
      </p:sp>
    </p:spTree>
    <p:extLst>
      <p:ext uri="{BB962C8B-B14F-4D97-AF65-F5344CB8AC3E}">
        <p14:creationId xmlns:p14="http://schemas.microsoft.com/office/powerpoint/2010/main" val="2795743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15526-D983-C012-98FE-335FEFE1B344}"/>
              </a:ext>
            </a:extLst>
          </p:cNvPr>
          <p:cNvSpPr>
            <a:spLocks noGrp="1"/>
          </p:cNvSpPr>
          <p:nvPr>
            <p:ph idx="1"/>
          </p:nvPr>
        </p:nvSpPr>
        <p:spPr>
          <a:xfrm>
            <a:off x="725557" y="695738"/>
            <a:ext cx="11171581" cy="5794513"/>
          </a:xfrm>
        </p:spPr>
        <p:txBody>
          <a:bodyPr>
            <a:normAutofit fontScale="92500"/>
          </a:bodyPr>
          <a:lstStyle/>
          <a:p>
            <a:pPr marL="457200" indent="-457200">
              <a:buFont typeface="+mj-lt"/>
              <a:buAutoNum type="arabicPeriod" startAt="2"/>
            </a:pPr>
            <a:r>
              <a:rPr lang="en-US" sz="2400" b="1" dirty="0"/>
              <a:t>Charge controllers </a:t>
            </a:r>
            <a:r>
              <a:rPr lang="en-US" sz="2400" dirty="0"/>
              <a:t>regulate the DC electricity from the solar panels to prevent the batteries from overcharging. </a:t>
            </a:r>
          </a:p>
          <a:p>
            <a:pPr lvl="1"/>
            <a:r>
              <a:rPr lang="en-US" sz="2000" dirty="0"/>
              <a:t>Charge controllers can be divided into two types: </a:t>
            </a:r>
            <a:r>
              <a:rPr lang="en-US" sz="2000" b="1" dirty="0"/>
              <a:t>Pulse Width Modulation (PWM) </a:t>
            </a:r>
            <a:r>
              <a:rPr lang="en-US" sz="2000" dirty="0"/>
              <a:t>and </a:t>
            </a:r>
            <a:r>
              <a:rPr lang="en-US" sz="2000" b="1" dirty="0"/>
              <a:t>Maximum Power Point Tracking (MPPT)</a:t>
            </a:r>
            <a:r>
              <a:rPr lang="en-US" sz="2000" dirty="0"/>
              <a:t>. </a:t>
            </a:r>
          </a:p>
          <a:p>
            <a:pPr lvl="1"/>
            <a:r>
              <a:rPr lang="en-US" sz="2000" dirty="0"/>
              <a:t>The PWM is a standard type and is suitable for smaller photovoltaic systems and battery banks. </a:t>
            </a:r>
          </a:p>
          <a:p>
            <a:pPr lvl="1"/>
            <a:r>
              <a:rPr lang="en-US" sz="2000" dirty="0"/>
              <a:t>MPPT charge controllers are more suitable for larger systems. You only need a charge controller if you have a battery bank.  </a:t>
            </a:r>
          </a:p>
          <a:p>
            <a:pPr marL="457200" indent="-457200">
              <a:buFont typeface="+mj-lt"/>
              <a:buAutoNum type="arabicPeriod" startAt="3"/>
            </a:pPr>
            <a:r>
              <a:rPr lang="en-US" sz="2400" dirty="0"/>
              <a:t>A </a:t>
            </a:r>
            <a:r>
              <a:rPr lang="en-US" sz="2400" b="1" dirty="0"/>
              <a:t>battery bank </a:t>
            </a:r>
            <a:r>
              <a:rPr lang="en-US" sz="2400" dirty="0"/>
              <a:t>helps you </a:t>
            </a:r>
            <a:r>
              <a:rPr lang="en-US" sz="2400" dirty="0" err="1"/>
              <a:t>maximise</a:t>
            </a:r>
            <a:r>
              <a:rPr lang="en-US" sz="2400" dirty="0"/>
              <a:t> your self-consumption of solar energy and it also provides you with a reliable back-up solution in case of grid outages. </a:t>
            </a:r>
          </a:p>
          <a:p>
            <a:pPr lvl="1"/>
            <a:r>
              <a:rPr lang="en-US" sz="2000" dirty="0"/>
              <a:t>It stores the energy that is being produced by the PV array and is not consumed immediately. </a:t>
            </a:r>
          </a:p>
          <a:p>
            <a:pPr marL="457200" indent="-457200">
              <a:buFont typeface="+mj-lt"/>
              <a:buAutoNum type="arabicPeriod" startAt="4"/>
            </a:pPr>
            <a:r>
              <a:rPr lang="en-US" dirty="0"/>
              <a:t>A </a:t>
            </a:r>
            <a:r>
              <a:rPr lang="en-US" b="1" dirty="0"/>
              <a:t>solar inverter </a:t>
            </a:r>
            <a:r>
              <a:rPr lang="en-US" dirty="0"/>
              <a:t>is one of the most important elements of the solar electric power system and it is advised to get a good quality inverter. </a:t>
            </a:r>
          </a:p>
          <a:p>
            <a:pPr lvl="1"/>
            <a:r>
              <a:rPr lang="en-US" dirty="0"/>
              <a:t>It converts the variable direct current (DC) output of a solar PV panel into an alternating current (AC). </a:t>
            </a:r>
          </a:p>
          <a:p>
            <a:pPr lvl="1"/>
            <a:r>
              <a:rPr lang="en-US" dirty="0"/>
              <a:t>This AC electricity can be fed into your home to operate your household appliances. </a:t>
            </a:r>
          </a:p>
          <a:p>
            <a:pPr lvl="1"/>
            <a:r>
              <a:rPr lang="en-US" dirty="0"/>
              <a:t>Depending on how your system is set-up the electricity that is not used in your home is either fed into the grid via electrical power lines or stored in batteries for later use</a:t>
            </a:r>
            <a:endParaRPr lang="en-US" sz="2400" dirty="0"/>
          </a:p>
          <a:p>
            <a:pPr marL="457200" indent="-457200">
              <a:buFont typeface="+mj-lt"/>
              <a:buAutoNum type="arabicPeriod" startAt="4"/>
            </a:pPr>
            <a:endParaRPr lang="en-US" sz="2400" dirty="0"/>
          </a:p>
        </p:txBody>
      </p:sp>
    </p:spTree>
    <p:extLst>
      <p:ext uri="{BB962C8B-B14F-4D97-AF65-F5344CB8AC3E}">
        <p14:creationId xmlns:p14="http://schemas.microsoft.com/office/powerpoint/2010/main" val="54652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16A89-5260-A57E-1EB1-82A8AE369BE1}"/>
              </a:ext>
            </a:extLst>
          </p:cNvPr>
          <p:cNvSpPr>
            <a:spLocks noGrp="1"/>
          </p:cNvSpPr>
          <p:nvPr>
            <p:ph idx="1"/>
          </p:nvPr>
        </p:nvSpPr>
        <p:spPr>
          <a:xfrm>
            <a:off x="838200" y="715616"/>
            <a:ext cx="10515600" cy="5983358"/>
          </a:xfrm>
        </p:spPr>
        <p:txBody>
          <a:bodyPr>
            <a:normAutofit/>
          </a:bodyPr>
          <a:lstStyle/>
          <a:p>
            <a:pPr marL="514350" indent="-514350">
              <a:buFont typeface="+mj-lt"/>
              <a:buAutoNum type="arabicPeriod" startAt="5"/>
            </a:pPr>
            <a:r>
              <a:rPr lang="en-US" sz="2400" b="1" dirty="0"/>
              <a:t>Bi-directional energy meter</a:t>
            </a:r>
          </a:p>
          <a:p>
            <a:pPr lvl="1"/>
            <a:r>
              <a:rPr lang="en-US" sz="2000" dirty="0"/>
              <a:t>The solar energy that you have generated from the solar PV system and that is not stored or self-consumed will be fed back into the public electricity grid. </a:t>
            </a:r>
          </a:p>
          <a:p>
            <a:pPr lvl="1"/>
            <a:r>
              <a:rPr lang="en-US" sz="2000" dirty="0"/>
              <a:t>Bi-directional meters keep track of (</a:t>
            </a:r>
            <a:r>
              <a:rPr lang="en-US" sz="2000" dirty="0" err="1"/>
              <a:t>i</a:t>
            </a:r>
            <a:r>
              <a:rPr lang="en-US" sz="2000" dirty="0"/>
              <a:t>) the electricity drawn from the public grid and (ii) the surplus solar energy that is exported to the public grid.</a:t>
            </a:r>
          </a:p>
          <a:p>
            <a:pPr marL="514350" indent="-514350">
              <a:buFont typeface="+mj-lt"/>
              <a:buAutoNum type="arabicPeriod" startAt="6"/>
            </a:pPr>
            <a:r>
              <a:rPr lang="en-US" sz="2400" b="1" dirty="0"/>
              <a:t>Electric grid</a:t>
            </a:r>
          </a:p>
          <a:p>
            <a:pPr lvl="1"/>
            <a:r>
              <a:rPr lang="en-US" sz="2000" dirty="0"/>
              <a:t>Although solar PV is making off-grid electricity sourcing possible, most homeowners, and organization opt for a combination of solar PV- and grid-based electricity sourcing. </a:t>
            </a:r>
          </a:p>
          <a:p>
            <a:pPr lvl="1"/>
            <a:r>
              <a:rPr lang="en-US" sz="2000" dirty="0"/>
              <a:t>If your building is connected to the public grid, the extra power that is generated from your solar PV system, once your battery bank is full, will be sent to the grid. </a:t>
            </a:r>
          </a:p>
          <a:p>
            <a:pPr lvl="1"/>
            <a:r>
              <a:rPr lang="en-US" sz="2000" dirty="0"/>
              <a:t>This also means that during periods (night-time or cloudy days etc.) when the solar PV system doesn’t cover your energy needs, you will be able to supply your home with electricity from the grid. </a:t>
            </a:r>
          </a:p>
          <a:p>
            <a:pPr lvl="1"/>
            <a:r>
              <a:rPr lang="en-US" sz="2000" dirty="0"/>
              <a:t>Depending on which state you are in the exported solar energy will attract monetary compensation either through a net metering, net feed-in or gross feed-in accounting mechanism.</a:t>
            </a:r>
          </a:p>
        </p:txBody>
      </p:sp>
    </p:spTree>
    <p:extLst>
      <p:ext uri="{BB962C8B-B14F-4D97-AF65-F5344CB8AC3E}">
        <p14:creationId xmlns:p14="http://schemas.microsoft.com/office/powerpoint/2010/main" val="3609534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03388-8825-CDBF-6A6D-0629F83B9540}"/>
              </a:ext>
            </a:extLst>
          </p:cNvPr>
          <p:cNvSpPr>
            <a:spLocks noGrp="1"/>
          </p:cNvSpPr>
          <p:nvPr>
            <p:ph type="title"/>
          </p:nvPr>
        </p:nvSpPr>
        <p:spPr/>
        <p:txBody>
          <a:bodyPr/>
          <a:lstStyle/>
          <a:p>
            <a:r>
              <a:rPr lang="en-US" dirty="0"/>
              <a:t>Benefits of a solar PV system</a:t>
            </a:r>
          </a:p>
        </p:txBody>
      </p:sp>
      <p:sp>
        <p:nvSpPr>
          <p:cNvPr id="3" name="Content Placeholder 2">
            <a:extLst>
              <a:ext uri="{FF2B5EF4-FFF2-40B4-BE49-F238E27FC236}">
                <a16:creationId xmlns:a16="http://schemas.microsoft.com/office/drawing/2014/main" id="{793EC2A2-DC3D-59E6-BB6F-D5D3CB024D0D}"/>
              </a:ext>
            </a:extLst>
          </p:cNvPr>
          <p:cNvSpPr>
            <a:spLocks noGrp="1"/>
          </p:cNvSpPr>
          <p:nvPr>
            <p:ph idx="1"/>
          </p:nvPr>
        </p:nvSpPr>
        <p:spPr/>
        <p:txBody>
          <a:bodyPr>
            <a:normAutofit/>
          </a:bodyPr>
          <a:lstStyle/>
          <a:p>
            <a:pPr marL="514350" indent="-514350">
              <a:buFont typeface="+mj-lt"/>
              <a:buAutoNum type="arabicPeriod"/>
            </a:pPr>
            <a:r>
              <a:rPr lang="en-US" dirty="0"/>
              <a:t>Once properly installed, the system requires minimal maintenance.</a:t>
            </a:r>
          </a:p>
          <a:p>
            <a:pPr marL="514350" indent="-514350">
              <a:buFont typeface="+mj-lt"/>
              <a:buAutoNum type="arabicPeriod"/>
            </a:pPr>
            <a:r>
              <a:rPr lang="en-US" dirty="0"/>
              <a:t>It provides you with clean energy and the operation does not create any noise or pollution.</a:t>
            </a:r>
          </a:p>
          <a:p>
            <a:pPr marL="514350" indent="-514350">
              <a:buFont typeface="+mj-lt"/>
              <a:buAutoNum type="arabicPeriod"/>
            </a:pPr>
            <a:r>
              <a:rPr lang="en-US" dirty="0"/>
              <a:t>A solar PV system is modular; it is easy to expand or, even, in some cases, transport it.</a:t>
            </a:r>
          </a:p>
          <a:p>
            <a:pPr marL="514350" indent="-514350">
              <a:buFont typeface="+mj-lt"/>
              <a:buAutoNum type="arabicPeriod"/>
            </a:pPr>
            <a:r>
              <a:rPr lang="en-US" dirty="0"/>
              <a:t>It will reduce your electricity bill, as running the system is free.</a:t>
            </a:r>
          </a:p>
          <a:p>
            <a:pPr marL="514350" indent="-514350">
              <a:buFont typeface="+mj-lt"/>
              <a:buAutoNum type="arabicPeriod"/>
            </a:pPr>
            <a:r>
              <a:rPr lang="en-US" dirty="0"/>
              <a:t>The system is expected to have a lifetime of 20 to 25 years.</a:t>
            </a:r>
          </a:p>
          <a:p>
            <a:pPr marL="514350" indent="-514350">
              <a:buFont typeface="+mj-lt"/>
              <a:buAutoNum type="arabicPeriod"/>
            </a:pPr>
            <a:endParaRPr lang="en-IN" dirty="0"/>
          </a:p>
        </p:txBody>
      </p:sp>
    </p:spTree>
    <p:extLst>
      <p:ext uri="{BB962C8B-B14F-4D97-AF65-F5344CB8AC3E}">
        <p14:creationId xmlns:p14="http://schemas.microsoft.com/office/powerpoint/2010/main" val="3106964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57EBA-106C-ED38-5576-18568C17BF2D}"/>
              </a:ext>
            </a:extLst>
          </p:cNvPr>
          <p:cNvSpPr>
            <a:spLocks noGrp="1"/>
          </p:cNvSpPr>
          <p:nvPr>
            <p:ph type="title"/>
          </p:nvPr>
        </p:nvSpPr>
        <p:spPr/>
        <p:txBody>
          <a:bodyPr/>
          <a:lstStyle/>
          <a:p>
            <a:r>
              <a:rPr lang="en-US" dirty="0"/>
              <a:t>Principle of PV conversion</a:t>
            </a:r>
            <a:endParaRPr lang="en-IN" dirty="0"/>
          </a:p>
        </p:txBody>
      </p:sp>
      <p:sp>
        <p:nvSpPr>
          <p:cNvPr id="3" name="Content Placeholder 2">
            <a:extLst>
              <a:ext uri="{FF2B5EF4-FFF2-40B4-BE49-F238E27FC236}">
                <a16:creationId xmlns:a16="http://schemas.microsoft.com/office/drawing/2014/main" id="{55D23C83-E1FF-35A9-9D4E-B1DA0DE9BB5C}"/>
              </a:ext>
            </a:extLst>
          </p:cNvPr>
          <p:cNvSpPr>
            <a:spLocks noGrp="1"/>
          </p:cNvSpPr>
          <p:nvPr>
            <p:ph idx="1"/>
          </p:nvPr>
        </p:nvSpPr>
        <p:spPr>
          <a:xfrm>
            <a:off x="838199" y="1620078"/>
            <a:ext cx="10760765" cy="4872797"/>
          </a:xfrm>
        </p:spPr>
        <p:txBody>
          <a:bodyPr>
            <a:normAutofit fontScale="92500" lnSpcReduction="20000"/>
          </a:bodyPr>
          <a:lstStyle/>
          <a:p>
            <a:r>
              <a:rPr lang="en-US" dirty="0"/>
              <a:t>The principle of PV conversion is the </a:t>
            </a:r>
            <a:r>
              <a:rPr lang="en-US" b="1" dirty="0"/>
              <a:t>photovoltaic effect</a:t>
            </a:r>
            <a:r>
              <a:rPr lang="en-US" dirty="0"/>
              <a:t>, where a semiconductor p–n junction converts light energy directly into electrical energy.​</a:t>
            </a:r>
          </a:p>
          <a:p>
            <a:r>
              <a:rPr lang="en-US" b="1" dirty="0"/>
              <a:t>Basic physical idea</a:t>
            </a:r>
          </a:p>
          <a:p>
            <a:pPr lvl="1"/>
            <a:r>
              <a:rPr lang="en-US" dirty="0"/>
              <a:t>A PV cell is made of semiconductor material (commonly silicon), forming a p–n junction with an internal electric field at the junction.​</a:t>
            </a:r>
          </a:p>
          <a:p>
            <a:pPr lvl="1"/>
            <a:r>
              <a:rPr lang="en-US" dirty="0"/>
              <a:t>When photons with energy greater than the bandgap strike the semiconductor, they can be absorbed and create electron–hole pairs in the material.​</a:t>
            </a:r>
          </a:p>
          <a:p>
            <a:r>
              <a:rPr lang="en-US" b="1" dirty="0"/>
              <a:t>Charge separation and current</a:t>
            </a:r>
          </a:p>
          <a:p>
            <a:pPr lvl="1"/>
            <a:r>
              <a:rPr lang="en-US" dirty="0"/>
              <a:t>The built‑in electric field at the p–n junction drives electrons toward the n‑side and holes toward the p‑side, separating the photo‑generated carriers before they recombine.​</a:t>
            </a:r>
          </a:p>
          <a:p>
            <a:pPr lvl="1"/>
            <a:r>
              <a:rPr lang="en-US" dirty="0"/>
              <a:t>This separation produces a potential difference (open‑circuit voltage) between the two sides; when an external circuit is connected, electrons flow through the circuit, giving a photocurrent whose magnitude depends on irradiance, cell area, and material properties.</a:t>
            </a:r>
          </a:p>
          <a:p>
            <a:endParaRPr lang="en-IN" dirty="0"/>
          </a:p>
        </p:txBody>
      </p:sp>
    </p:spTree>
    <p:extLst>
      <p:ext uri="{BB962C8B-B14F-4D97-AF65-F5344CB8AC3E}">
        <p14:creationId xmlns:p14="http://schemas.microsoft.com/office/powerpoint/2010/main" val="2297135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2B21-2C78-0591-7B82-4DF669BEDB21}"/>
              </a:ext>
            </a:extLst>
          </p:cNvPr>
          <p:cNvSpPr>
            <a:spLocks noGrp="1"/>
          </p:cNvSpPr>
          <p:nvPr>
            <p:ph type="title"/>
          </p:nvPr>
        </p:nvSpPr>
        <p:spPr/>
        <p:txBody>
          <a:bodyPr/>
          <a:lstStyle/>
          <a:p>
            <a:r>
              <a:rPr lang="en-US" dirty="0"/>
              <a:t>Principle of PV conversion</a:t>
            </a:r>
            <a:endParaRPr lang="en-IN" dirty="0"/>
          </a:p>
        </p:txBody>
      </p:sp>
      <p:pic>
        <p:nvPicPr>
          <p:cNvPr id="3074" name="Picture 2" descr="Solar cells and power, Part 1 – basic operation - Power ...">
            <a:extLst>
              <a:ext uri="{FF2B5EF4-FFF2-40B4-BE49-F238E27FC236}">
                <a16:creationId xmlns:a16="http://schemas.microsoft.com/office/drawing/2014/main" id="{4D0C329D-19DF-BA11-AB24-3015AE4E70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86037" y="2086769"/>
            <a:ext cx="7019925"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5430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979</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Module II - Solar Energy</vt:lpstr>
      <vt:lpstr>Introduction to photovoltaic (PV) systems</vt:lpstr>
      <vt:lpstr>Grid-Connected Solar Photovoltaic System Block Diagram</vt:lpstr>
      <vt:lpstr>PowerPoint Presentation</vt:lpstr>
      <vt:lpstr>PowerPoint Presentation</vt:lpstr>
      <vt:lpstr>Benefits of a solar PV system</vt:lpstr>
      <vt:lpstr>Principle of PV conversion</vt:lpstr>
      <vt:lpstr>Principle of PV conversion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2025-12-06T14:02:31Z</dcterms:created>
  <dcterms:modified xsi:type="dcterms:W3CDTF">2025-12-06T14:03:58Z</dcterms:modified>
</cp:coreProperties>
</file>