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319" r:id="rId3"/>
    <p:sldId id="32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94331-BCF8-3E9B-1699-F42872749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7AEBD-6379-6AA1-0C98-5461E134C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F9746-513B-C8BA-5336-624A34EA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996E7-83D3-218E-D716-9E687DBA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98D8A-92F4-9790-FF9B-0F12928E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29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2BCC-6C67-FBF9-99ED-1956365E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22123-D3AE-DB92-D3B8-C7CCCC339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96114-524D-5919-AF97-9D7B96E9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5939D-F2D7-293A-F977-0EA044D6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F48F8-A92E-176F-582E-FC78DD38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0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6089-D97E-9ED8-88AB-B90E667D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48CD2-D42E-8A19-690C-D0823522F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FDA49-5CF6-6A21-3E8F-DA6EA5710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CC780-57F9-3A15-1F6C-4D1E6783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D5EA9-1AFC-921B-135E-F63F936A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7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018C-A419-CED5-5230-5FB245F36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9A5D-521C-197D-4163-97F76FAA2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F0DE9-2A58-5C35-F6AB-F804F7FAC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345DD-701E-FD12-4395-6D5FDCC80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069D2-D01C-D06C-808A-C76515E1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122D3-8529-A464-3482-6BC55B7C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248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2EA28-46AC-E90D-623F-9ACCF85B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17D21-8027-C6FE-3814-C55675A99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02D04-01FF-2F5E-0CBB-B3CA72AA8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F6C13-635F-6682-399A-92C5B8F1E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84019-EB14-6C1E-1077-C2551ED5D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7BAF66-2702-48DA-2962-D9587B91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FF007-E453-59CF-C57F-A036FD74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5DCF5C-6E41-9277-FD67-C86CB3A7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534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289AD-39F4-21CB-D7FF-7D4392BD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8AE31-003D-E4A1-2F93-5B57CB5F1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6DAAB-09FB-AC2B-EAC2-BC2755E4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48794-3DB2-796F-4AF4-BB624741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741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382444-A8EF-E5E5-5749-9BBF62BDE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1C0FD5-B7F7-94D4-2E1F-8D8823AB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8464A-64F1-C9E9-DA73-C8ACDEAB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792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5F21-61BA-DD94-8D9D-E92C4364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863DD-5B70-A89A-CDCE-0C4A15E83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EDC73-10D7-24F7-22F7-475B6C5B4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14406-EAB3-D9FA-DAB6-A6A34561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AE574-07C4-9EBA-62DB-C33B041C1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8D802-8237-A8ED-6864-95741249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27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97AA6-B5BA-F3B1-DF13-E65B4D1F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DA159A-D017-0474-1200-2DCAD7C3C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5E91A-5648-4E6C-6EE7-741D23335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E6773-C743-978E-2485-E02B254C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639E6-B049-E80E-8C0A-3FF7746A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3A641-B91B-910F-ABA4-5CB7734B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262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09926-1459-ACCB-4E60-9C885F5AF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713F0-CBA9-0374-FB14-B730FC9EB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0A818-3D89-35E0-6E99-E1BA78CC1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EF4CF-B988-D05A-91C5-51FF9881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638A7-51FD-BFE6-1155-FD8F9164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165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D855A-1732-981A-0F43-E37D07665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EC243-4B5F-C97D-3918-CDEAE539F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BBE05-82E0-3683-C088-B7B31DE8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63D71-1362-5FF5-49EA-D013427A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0C3B6-D9F7-F1DB-4D38-BE76DC50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62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A2DC9-4E14-B2F8-AB41-D8168DE6E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F4096-9C67-A4C7-D2B5-88490E081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F95E9-4BC5-91ED-7C53-B119B9DA1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B1CE5-4AAF-47C0-B9AE-26DBE11BDF2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4D959-8AD4-6B6A-5F91-1C4F513DB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329DF-A93F-7972-27C7-29DA79F35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1B05D-BA3B-47CB-A4B9-13F5CBD3A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33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5B71-1D7B-3519-9989-CEB1512A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Classification of Energy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55690-582C-CC27-FCBB-D9460BDE9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48"/>
            <a:ext cx="10515600" cy="4982127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b="1" dirty="0"/>
              <a:t>Based on the usability of Energy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b="1" dirty="0"/>
              <a:t>Primary resources</a:t>
            </a:r>
          </a:p>
          <a:p>
            <a:pPr lvl="2"/>
            <a:r>
              <a:rPr lang="en-US" dirty="0"/>
              <a:t>These resources are available in nature prior to undergoing any human made conversion or transformations.</a:t>
            </a:r>
          </a:p>
          <a:p>
            <a:pPr lvl="2"/>
            <a:r>
              <a:rPr lang="en-US" dirty="0"/>
              <a:t>Eg :- coal, crude oil, sunlight, wind, running rivers, vegetation, etc.</a:t>
            </a:r>
          </a:p>
          <a:p>
            <a:pPr lvl="2"/>
            <a:r>
              <a:rPr lang="en-US" dirty="0"/>
              <a:t>These are located, explored, extracted, processed and converted to a form as required by the consumer.</a:t>
            </a:r>
          </a:p>
          <a:p>
            <a:pPr lvl="2"/>
            <a:r>
              <a:rPr lang="en-US" dirty="0"/>
              <a:t>Some energy is required in making the resource available to the user in usable form.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b="1" dirty="0"/>
              <a:t>Intermediate resources</a:t>
            </a:r>
          </a:p>
          <a:p>
            <a:pPr lvl="2"/>
            <a:r>
              <a:rPr lang="en-US" dirty="0"/>
              <a:t>These are obtained from primary energy by one or more steps of transformation. </a:t>
            </a:r>
          </a:p>
          <a:p>
            <a:pPr lvl="2"/>
            <a:r>
              <a:rPr lang="en-US" dirty="0"/>
              <a:t>Eg:- electricity and hydrogen</a:t>
            </a:r>
          </a:p>
          <a:p>
            <a:pPr marL="971550" lvl="1" indent="-514350">
              <a:buFont typeface="+mj-lt"/>
              <a:buAutoNum type="alphaLcPeriod" startAt="3"/>
            </a:pPr>
            <a:r>
              <a:rPr lang="en-US" b="1" dirty="0"/>
              <a:t>Secondary resources</a:t>
            </a:r>
          </a:p>
          <a:p>
            <a:pPr lvl="2"/>
            <a:r>
              <a:rPr lang="en-US" dirty="0"/>
              <a:t>The form of energy which is finally supplied to a consumer for utilization. </a:t>
            </a:r>
          </a:p>
          <a:p>
            <a:pPr lvl="2"/>
            <a:r>
              <a:rPr lang="en-US" dirty="0"/>
              <a:t>Eg:- electrical energy, thermal energy, chemical energy etc.</a:t>
            </a:r>
          </a:p>
          <a:p>
            <a:pPr lvl="2"/>
            <a:endParaRPr lang="en-US" dirty="0"/>
          </a:p>
          <a:p>
            <a:endParaRPr lang="en-US" dirty="0"/>
          </a:p>
          <a:p>
            <a:pPr marL="514350" indent="-514350">
              <a:buAutoNum type="arabicPeriod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17517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0715F-F9A9-A251-C76A-547EC10BE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76A9E-30CF-0FA2-939F-0235D55A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Classification of Energy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7ED9-3027-530B-01FB-7CEA37AE4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</a:t>
            </a:r>
            <a:r>
              <a:rPr lang="en-US" sz="2900" b="1" dirty="0"/>
              <a:t>. </a:t>
            </a:r>
            <a:r>
              <a:rPr lang="en-US" sz="2400" b="1" dirty="0"/>
              <a:t>Based on Traditional use</a:t>
            </a:r>
            <a:r>
              <a:rPr lang="en-US" b="1" dirty="0"/>
              <a:t>.</a:t>
            </a:r>
          </a:p>
          <a:p>
            <a:pPr marL="914400" lvl="1" indent="-457200">
              <a:buAutoNum type="alphaLcPeriod"/>
            </a:pPr>
            <a:r>
              <a:rPr lang="en-US" b="1" dirty="0"/>
              <a:t>Conventional energy resources </a:t>
            </a:r>
          </a:p>
          <a:p>
            <a:pPr lvl="2"/>
            <a:r>
              <a:rPr lang="en-US" dirty="0"/>
              <a:t>Energy resources which are being traditionally used for many decades are called conventional energy resources.   </a:t>
            </a:r>
          </a:p>
          <a:p>
            <a:pPr lvl="2"/>
            <a:r>
              <a:rPr lang="en-US" dirty="0" err="1"/>
              <a:t>Eg</a:t>
            </a:r>
            <a:r>
              <a:rPr lang="en-US" dirty="0"/>
              <a:t>:-fossil fuel, nuclear and hydro resources.</a:t>
            </a:r>
          </a:p>
          <a:p>
            <a:pPr marL="457200" lvl="1" indent="0">
              <a:buNone/>
            </a:pPr>
            <a:r>
              <a:rPr lang="en-US" dirty="0"/>
              <a:t>b. </a:t>
            </a:r>
            <a:r>
              <a:rPr lang="en-US" b="1" dirty="0"/>
              <a:t>Non-Conventional energy resources </a:t>
            </a:r>
          </a:p>
          <a:p>
            <a:pPr lvl="2"/>
            <a:r>
              <a:rPr lang="en-US" dirty="0"/>
              <a:t>Energy resources which are considered for large scale use after the oil crisis of 1973. </a:t>
            </a:r>
          </a:p>
          <a:p>
            <a:pPr lvl="2"/>
            <a:r>
              <a:rPr lang="en-US" dirty="0" err="1"/>
              <a:t>Eg</a:t>
            </a:r>
            <a:r>
              <a:rPr lang="en-US" dirty="0"/>
              <a:t>:-solar, wind, biomass etc.</a:t>
            </a:r>
            <a:endParaRPr lang="en-US" b="1" dirty="0"/>
          </a:p>
          <a:p>
            <a:pPr marL="514350" indent="-514350">
              <a:buAutoNum type="arabicPeriod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89590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44F9-A543-4FDD-0A8A-7C0A733B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Classification of Energy Resources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16BCF-70A2-7B9C-014F-B0917B163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5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Based on Long term availability</a:t>
            </a:r>
          </a:p>
          <a:p>
            <a:pPr marL="914400" lvl="1" indent="-457200" algn="just">
              <a:buAutoNum type="alphaLcPeriod"/>
            </a:pPr>
            <a:r>
              <a:rPr lang="en-US" b="1" dirty="0"/>
              <a:t>Non-renewable</a:t>
            </a:r>
          </a:p>
          <a:p>
            <a:pPr lvl="2" algn="just"/>
            <a:r>
              <a:rPr lang="en-US" dirty="0"/>
              <a:t>Resources which are finite and do not get replenished after their consumption </a:t>
            </a:r>
          </a:p>
          <a:p>
            <a:pPr lvl="2" algn="just"/>
            <a:r>
              <a:rPr lang="en-US" dirty="0" err="1"/>
              <a:t>Eg</a:t>
            </a:r>
            <a:r>
              <a:rPr lang="en-US" dirty="0"/>
              <a:t> :- fossil fuels, uranium etc.</a:t>
            </a:r>
          </a:p>
          <a:p>
            <a:pPr marL="457200" lvl="1" indent="0" algn="just">
              <a:buNone/>
            </a:pPr>
            <a:r>
              <a:rPr lang="en-US" b="1" dirty="0"/>
              <a:t>b. Renewable Resources </a:t>
            </a:r>
          </a:p>
          <a:p>
            <a:pPr lvl="2" algn="just"/>
            <a:r>
              <a:rPr lang="en-US" dirty="0"/>
              <a:t>Resources which are renewed by nature and their supply is not affected by the rate of their consumption. </a:t>
            </a:r>
          </a:p>
          <a:p>
            <a:pPr lvl="2" algn="just"/>
            <a:r>
              <a:rPr lang="en-US" dirty="0" err="1"/>
              <a:t>Eg</a:t>
            </a:r>
            <a:r>
              <a:rPr lang="en-US" dirty="0"/>
              <a:t>:- solar, wind, biomass, ocean, geothermal, hydro etc. </a:t>
            </a:r>
          </a:p>
          <a:p>
            <a:pPr marL="0" indent="0" algn="just">
              <a:buNone/>
            </a:pPr>
            <a:r>
              <a:rPr lang="en-US" sz="2400" b="1" dirty="0"/>
              <a:t>4. Based on Origin</a:t>
            </a:r>
          </a:p>
          <a:p>
            <a:pPr lvl="1" algn="just"/>
            <a:r>
              <a:rPr lang="en-US" dirty="0"/>
              <a:t>Mechanical Energy ,Potential Energy, Kinetic Energy, Thermal Energy, Magnetic Energy , Radiation Energy , Nuclear Energy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409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Classification of Energy Resources</vt:lpstr>
      <vt:lpstr>Classification of Energy Resources</vt:lpstr>
      <vt:lpstr>Classification of Energy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2026-03-20T16:30:30Z</dcterms:created>
  <dcterms:modified xsi:type="dcterms:W3CDTF">2026-03-20T16:31:01Z</dcterms:modified>
</cp:coreProperties>
</file>