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59" r:id="rId3"/>
    <p:sldId id="336" r:id="rId4"/>
    <p:sldId id="337" r:id="rId5"/>
    <p:sldId id="338" r:id="rId6"/>
    <p:sldId id="341" r:id="rId7"/>
    <p:sldId id="340" r:id="rId8"/>
    <p:sldId id="33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5E7E-2BB5-5FEC-D01E-2F4C5C321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BABDB-25C5-0ED8-F313-1208953BF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FD59B-2931-50C6-1D12-11394849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8F610-13F6-C51B-93F8-38357CC5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2A29-27FB-EEB6-ACF3-15442604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D593-06D2-53B5-C057-AC00C8E8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528AC-BACC-AACA-4CFB-B12F8DE6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3A68E-943A-92B0-4AA2-8C25F78C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E422A-8DD8-CEBD-8160-229164D8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82089-0CD6-65FF-17AF-9061C00E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0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3A93-F1A1-5E0D-534D-CAB86329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06142-9D2A-26D3-E23D-3282B5A36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C4502-A174-2B1D-801A-77E15F76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64CD-EC8C-C1B4-6D3D-7EADA6AE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09A7D-771E-19D0-D1E6-4CBF9AB5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4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27D4-1A2F-8D28-6F05-2F358425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F89B1-8614-C8E8-2F93-995D0814B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39FA8-7F2B-3334-5532-FEFBA858F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E1A77-3F64-8179-AC1A-09846904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4544B-D0DE-F070-BBB0-99135611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AEBF-FACE-1C14-76F5-072FD86B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72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1625-2CEE-1797-4F0E-8DC76B8B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68510-A2D5-E6BE-5B17-51FE1E0B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14473-19E5-8670-395C-D31AD8E94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5315C-F99D-B67E-2D14-BDBA39C8F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053A-1E54-EB35-DCA4-C17E1025C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071E7-B6DB-1E70-0AB8-DB863208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2685A-EEA2-F3C8-705A-FF0CE585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BD81D-4255-89C9-FEB4-5AB4B304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9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9A32-34A7-5659-A735-D38B21D8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6BC3D-3028-DE6F-485C-CC56B82F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58AE-A327-70F2-4F9C-97DC7FBD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D7DB5-EF35-45BA-35C5-5F7EA5C4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74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D8125-21C0-DE1B-8496-20161C59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E72D1-BAE2-69D5-F5F4-3C32D2BC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84BC-5B05-7143-882E-61AA885A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4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8128-5017-2062-BD1D-B3972FFA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BA5B-69BC-436B-A587-3A1D0B927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79CEE-090B-707B-99B0-5F5FBC9C9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6ED37-1AC7-8BAA-820C-1E28A291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3A93C-DAA8-5B47-61B8-2FDF1427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5C53E-1990-917A-57ED-5BEC85FF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74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613C-F47F-995D-6712-3F909308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01ACA-8597-84DA-B55A-47A280394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66460-7109-7997-FC0E-9E52A375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8789-823F-5BBD-0FE7-2A642752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9EFD7-1F1F-D40E-77D8-B62C0A86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2BFEA-813D-FFA4-9C52-140BFAC5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8005-C9D7-7424-C926-34EDA030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7D1BE-8E45-D1F1-B400-338A9BCFF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00381-8A13-5680-ABF3-B7F3C6AD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E835-EC82-F9A6-586F-7934A0BF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C849F-7FC4-CDA7-8B6C-FA211618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87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434F7-DB7D-7345-BE82-07E030ED3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0E019-F75A-A20A-76C7-2098E8F15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CECB9-47CA-DD35-B9C0-8C0F0699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23BF-AD57-3E9F-8CDF-43EBEC34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AE396-E611-FB37-A09A-7C40C383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1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F70BF-334A-32FD-1E87-DBFDC216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7729-C05D-A090-5C4F-4CB9E2C4A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D96D1-8AC0-97C8-3999-DA9A8AF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FECC-9793-4FAB-9DB6-CFD2BD58F01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7807-0561-833E-E2E4-E04A57873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6EE06-39C6-D712-CD31-EE442E25E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9C328-E0A7-4FDD-97E6-48C810C6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2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F15B4-DBEC-E243-3C68-025BFE25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4A12-438C-347E-DE91-D8762D8C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Development of renewable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368A4C-9E13-87F7-6BEB-6C8BB2B71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664" y="1428058"/>
            <a:ext cx="9788413" cy="4833593"/>
          </a:xfrm>
        </p:spPr>
      </p:pic>
    </p:spTree>
    <p:extLst>
      <p:ext uri="{BB962C8B-B14F-4D97-AF65-F5344CB8AC3E}">
        <p14:creationId xmlns:p14="http://schemas.microsoft.com/office/powerpoint/2010/main" val="82447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F943-7E02-E77F-A641-B1653CA8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F899-EE0D-F90E-8474-1CE6902D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Development of renewable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AC591-FCA7-00D2-AC50-5D6356C80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491" y="1517512"/>
            <a:ext cx="9972857" cy="4833592"/>
          </a:xfrm>
        </p:spPr>
      </p:pic>
    </p:spTree>
    <p:extLst>
      <p:ext uri="{BB962C8B-B14F-4D97-AF65-F5344CB8AC3E}">
        <p14:creationId xmlns:p14="http://schemas.microsoft.com/office/powerpoint/2010/main" val="109580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B041-F509-B4B6-5A36-A6AA8B58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</a:rPr>
              <a:t>Leading States in Renewable Energy Capacity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3E1F54-E5A4-B22F-7878-5874BD3FF0A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530" y="1352721"/>
            <a:ext cx="4281530" cy="482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A5C4E-7470-DA85-BB73-00C3C0E6E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9060" y="1500808"/>
            <a:ext cx="6837044" cy="5198165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Several states in India have emerged as leaders in renewable energy capacity, contributing significantly to the nation's progress.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Rajasthan tops the list with an impressive 29.98 GW of installed renewable energy capacity, benefiting from its vast land and abundant sunlight.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Following closely is Gujarat, which boasts a capacity of 29.52 GW, driven by its strong focus on solar and wind energy projects.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Tamil Nadu ranks third with 23.70 GW, leveraging its </a:t>
            </a:r>
            <a:r>
              <a:rPr lang="en-US" sz="2000" b="0" i="0" dirty="0" err="1">
                <a:solidFill>
                  <a:srgbClr val="333333"/>
                </a:solidFill>
                <a:effectLst/>
              </a:rPr>
              <a:t>favourable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 wind patterns to generate substantial energy.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Karnataka rounds out the top four with a capacity of 22.37 GW, supported by a mix of solar and wind initiatives. 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Together, these states play a crucial role in advancing India’s renewable energy goals and establishing a more sustainable energy future.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0615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C70F-215A-2327-3975-65FC9F71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492C-C9D7-D9A3-E1FF-049F8DA8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Renewable energy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B4C1-494F-3B72-1A54-87B7F63FB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32174" cy="4351338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The Government of India has implemented a range of measures and initiatives aimed at promoting and accelerating renewable energy capacity across the nation, with an ambitious target of achieving 500 GW of installed electric capacity from non-fossil sources by 2030. 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Key programs include the National Green Hydrogen Mission, PM-KUSUM, PM Surya </a:t>
            </a:r>
            <a:r>
              <a:rPr lang="en-US" sz="2000" b="0" i="0" dirty="0" err="1">
                <a:solidFill>
                  <a:srgbClr val="333333"/>
                </a:solidFill>
                <a:effectLst/>
              </a:rPr>
              <a:t>Ghar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, and PLI schemes for solar PV modules.</a:t>
            </a:r>
            <a:endParaRPr lang="en-IN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DBC4F5-9784-92B1-696A-AC7AE516DFC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074" y="1825625"/>
            <a:ext cx="33118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E60F48-C70E-5929-5B09-6937F8895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474" y="1978025"/>
            <a:ext cx="33118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80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80AF-9EDE-C6B1-A69A-A74FA0D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465-AD5B-F3B4-1A71-31E1896F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Renewable energy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7BE4-4AD0-8ADF-D24D-117062DFA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just">
              <a:lnSpc>
                <a:spcPts val="1650"/>
              </a:lnSpc>
              <a:spcAft>
                <a:spcPts val="750"/>
              </a:spcAft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These efforts reflect the government's commitment to fostering a sustainable energy future while addressing the challenges posed by climate change and energy security. Here are some other ongoing key initiatives:</a:t>
            </a:r>
          </a:p>
          <a:p>
            <a:pPr marL="457200" indent="-457200" algn="just">
              <a:spcAft>
                <a:spcPts val="7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Notification of a trajectory for renewable energy power bids of 50 GW per annum by Renewable Energy Implementation Agencies (REIAs) from FY 2023-24 to FY 2027-28.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Foreign Direct Investment permitted up to 100 percent under the automatic route to attract investments.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Waiver of Inter-State Transmission System charges for solar and wind power projects commissioned by June 30, 2025; green hydrogen projects until December 2030; and offshore wind projects until December 2032.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Announced Renewable Purchase Obligation trajectory until 2029-30, including separate RPO for Decentralized Renewable Energy.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A Project Development Cell has been established to attract and facilitate investments in the renewable sector.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/>
            </a:pPr>
            <a:endParaRPr lang="en-US" sz="20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11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80AF-9EDE-C6B1-A69A-A74FA0D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465-AD5B-F3B4-1A71-31E1896F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Renewable energy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7BE4-4AD0-8ADF-D24D-117062DFA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Standard Bidding Guidelines issued for tariff-based competitive bidding for procurement of power from grid-connected solar, wind, and wind-solar projects.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Ultra Mega Renewable Energy Parks are being set up to provide land and transmission for large-scale renewable energy projects.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Cabinet approval for a Viability Gap Funding scheme for offshore wind energy projects, facilitating the installation and commissioning of 1 GW of offshore wind energy capacity along the coasts of Gujarat and Tamil Nadu.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Issued Electricity (Rights of Consumers) Rules, 2020, for net-metering up to 500 kilowatts or the electrical sanctioned load, whichever is lower.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The “National Repowering and Life Extension Policy for Wind Power Projects, 2023” has been released.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“Strategy for Establishment of Offshore Wind Energy Projects” outlines a bidding trajectory of 37 GW by 2030.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endParaRPr lang="en-US" sz="20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endParaRPr lang="en-US" sz="2000" b="0" i="0" dirty="0">
              <a:solidFill>
                <a:srgbClr val="333333"/>
              </a:solidFill>
              <a:effectLst/>
            </a:endParaRP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5"/>
            </a:pPr>
            <a:endParaRPr lang="en-US" sz="20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253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80AF-9EDE-C6B1-A69A-A74FA0D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465-AD5B-F3B4-1A71-31E1896F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Renewable energy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7BE4-4AD0-8ADF-D24D-117062DFA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Offshore Wind Energy Lease Rules, 2023, notified to regulate the grant of leases for offshore wind energy development.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Procedure for Uniform Renewable Energy Tariff (URET) has been established.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Standard &amp; Labelling (S&amp;L) programs for Solar Photovoltaic modules and grid-connected solar inverters have been launched.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A transmission plan has been prepared to augment transmission infrastructure until 2030.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The Electricity (Late Payment Surcharge and Related Matters) Rules have been notified.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Green Energy Open Access Rules 2022 have been issued to promote renewable energy.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Launched the Green Term Ahead Market (GTAM) to facilitate the sale of renewable energy power through exchanges.</a:t>
            </a:r>
          </a:p>
          <a:p>
            <a:pPr marL="457200" indent="-457200" algn="just">
              <a:lnSpc>
                <a:spcPts val="1650"/>
              </a:lnSpc>
              <a:spcAft>
                <a:spcPts val="750"/>
              </a:spcAft>
              <a:buFont typeface="+mj-lt"/>
              <a:buAutoNum type="arabicPeriod" startAt="11"/>
            </a:pPr>
            <a:r>
              <a:rPr lang="en-US" sz="2000" b="0" i="0" dirty="0">
                <a:solidFill>
                  <a:srgbClr val="333333"/>
                </a:solidFill>
                <a:effectLst/>
              </a:rPr>
              <a:t>Orders issued to ensure that power is dispatched against Letters of Credit or advance payment for timely payments to renewable energy generators.</a:t>
            </a:r>
          </a:p>
          <a:p>
            <a:pPr marL="457200" indent="-457200">
              <a:buFont typeface="+mj-lt"/>
              <a:buAutoNum type="arabicPeriod" startAt="11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0846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7B33-580E-B530-4777-C07F4642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31CB-08FD-7BA4-F8E8-679846B3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Renewable energy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31C3-30D9-82D7-EE83-74F563325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With ambitious targets set for the future, including a goal of 500 GW from non-fossil sources by 2030, India is well-positioned to emerge as a global leader in renewable energy, contributing to environmental sustainability and energy security. 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</a:rPr>
              <a:t>These ongoing efforts reflect a holistic approach to building a greener economy, ensuring that India not only meets its energy needs but also addresses the pressing challenges of climate change and resource conservation.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612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Helvetica Neue</vt:lpstr>
      <vt:lpstr>Times New Roman</vt:lpstr>
      <vt:lpstr>Office Theme</vt:lpstr>
      <vt:lpstr>Development of renewable energy sources</vt:lpstr>
      <vt:lpstr>Development of renewable energy sources</vt:lpstr>
      <vt:lpstr>Leading States in Renewable Energy Capacity</vt:lpstr>
      <vt:lpstr>Renewable energy in India</vt:lpstr>
      <vt:lpstr>Renewable energy in India</vt:lpstr>
      <vt:lpstr>Renewable energy in India</vt:lpstr>
      <vt:lpstr>Renewable energy in India</vt:lpstr>
      <vt:lpstr>Renewable energy in India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2026-03-20T16:32:06Z</dcterms:created>
  <dcterms:modified xsi:type="dcterms:W3CDTF">2026-03-20T16:32:34Z</dcterms:modified>
</cp:coreProperties>
</file>