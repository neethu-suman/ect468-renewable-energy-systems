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1" r:id="rId2"/>
    <p:sldId id="340" r:id="rId3"/>
    <p:sldId id="342" r:id="rId4"/>
    <p:sldId id="355" r:id="rId5"/>
    <p:sldId id="354" r:id="rId6"/>
    <p:sldId id="345" r:id="rId7"/>
    <p:sldId id="273" r:id="rId8"/>
    <p:sldId id="356" r:id="rId9"/>
    <p:sldId id="357" r:id="rId10"/>
    <p:sldId id="358" r:id="rId11"/>
    <p:sldId id="343" r:id="rId12"/>
    <p:sldId id="359" r:id="rId13"/>
    <p:sldId id="360" r:id="rId14"/>
    <p:sldId id="361" r:id="rId15"/>
    <p:sldId id="362" r:id="rId16"/>
    <p:sldId id="363" r:id="rId17"/>
    <p:sldId id="364" r:id="rId18"/>
    <p:sldId id="275" r:id="rId19"/>
    <p:sldId id="3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2446-E3A2-54BF-99C4-A52BCFA85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CCEA75-6995-6D04-19D0-AD28BCA4B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A99EC1-CC5B-7E37-C591-96FFEDFC66FF}"/>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397CE72D-6600-37CE-1D01-1E973E7D68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E91401-2263-6026-7750-04C3EE752366}"/>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3715920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F951C-9B5B-21BF-D9C5-0F92B22AC0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EE2AB1-7A04-92D3-FD25-EED4DFC963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40C63A-C06A-95B7-6AA3-217F30F43EF4}"/>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15FD716F-D912-5B4C-5116-54A0971CBE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5B714D-9BEB-946C-11B1-45F0774C69F1}"/>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332863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BB914-391A-7465-0DE6-2F52FFE108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C095A9-CEA3-1CCF-11F6-78C0ED6181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7CB490-4B5D-BB56-67AB-3C20A404F89B}"/>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E99B8623-6C14-C144-95B8-026326CB82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CD2830-778A-280A-9530-B991666213B2}"/>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3655556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8510-D42F-1E3B-EE47-4A764D3F49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1F76A9-8942-5B17-4D5F-467EF51F9F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065999-5333-607C-78F0-F34922B654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66C812-E8EE-801E-2B46-7E999EE0CE9F}"/>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6" name="Footer Placeholder 5">
            <a:extLst>
              <a:ext uri="{FF2B5EF4-FFF2-40B4-BE49-F238E27FC236}">
                <a16:creationId xmlns:a16="http://schemas.microsoft.com/office/drawing/2014/main" id="{E88BE0B2-F1B8-1C5D-4449-F2426A13BD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076CA4-72CC-B871-1DEA-A46AF9456741}"/>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3080841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06F1-5659-463F-6A1C-7D5C12B329A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81A27A-EDE8-90EE-9674-B49BD79E6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04F4B-1623-4AAB-CA3A-AF06BA5B41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7F7C0C-4223-17FF-EDC5-65080BF3A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AF5926-1775-4DB8-8519-AA92E13ADE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290CD3-CAEC-20E8-ED13-A6C20FB80D09}"/>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8" name="Footer Placeholder 7">
            <a:extLst>
              <a:ext uri="{FF2B5EF4-FFF2-40B4-BE49-F238E27FC236}">
                <a16:creationId xmlns:a16="http://schemas.microsoft.com/office/drawing/2014/main" id="{5CC38347-21D4-0712-343F-7653FF84D0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9CDE32-04C7-1C16-995D-7AE38D054835}"/>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2502527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AA82C-F5D8-A720-6E48-3BE8D51C8E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06F661-DAF7-8CDA-5A3B-4C61AB5F8EB6}"/>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4" name="Footer Placeholder 3">
            <a:extLst>
              <a:ext uri="{FF2B5EF4-FFF2-40B4-BE49-F238E27FC236}">
                <a16:creationId xmlns:a16="http://schemas.microsoft.com/office/drawing/2014/main" id="{37852E77-1396-D497-C056-3622772CAD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C0AB18-3280-8960-0712-7E38FD802D4F}"/>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1511435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7063E-DB16-F850-FBE6-0DCC5536D0A7}"/>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3" name="Footer Placeholder 2">
            <a:extLst>
              <a:ext uri="{FF2B5EF4-FFF2-40B4-BE49-F238E27FC236}">
                <a16:creationId xmlns:a16="http://schemas.microsoft.com/office/drawing/2014/main" id="{901A560F-3335-2FBA-30B1-5CBF5B1EE9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8EEF7B-9BD3-0EC1-5CBA-03A0A59F921C}"/>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163190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181D-B0CD-5B1F-0B2B-AD2E0D36C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EB343D-8C6D-0063-8A41-AF41FA7AC4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29B362-BA71-4B74-3A8B-375F34A4AD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7840C8-9243-F00A-AC76-0BEA74462AB4}"/>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6" name="Footer Placeholder 5">
            <a:extLst>
              <a:ext uri="{FF2B5EF4-FFF2-40B4-BE49-F238E27FC236}">
                <a16:creationId xmlns:a16="http://schemas.microsoft.com/office/drawing/2014/main" id="{03448DEB-1177-910C-5385-BC5ADCA555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32C0A9-8A09-61E2-3C48-C5AFC1954D35}"/>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120554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B839-51FA-F380-1717-CE7F9A42EE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54FD47-6949-E27A-1BC3-B00D177B54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10ED90-1CA1-5E81-0E88-CAE5FDF02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B80A1C-17B1-910C-0D55-A9115A5C7B19}"/>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6" name="Footer Placeholder 5">
            <a:extLst>
              <a:ext uri="{FF2B5EF4-FFF2-40B4-BE49-F238E27FC236}">
                <a16:creationId xmlns:a16="http://schemas.microsoft.com/office/drawing/2014/main" id="{7E583EAE-47E5-2A29-C19F-D11150E126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72CA80-B8B1-4DCC-CD11-D0FD1D87C0D2}"/>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24289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5FE4-E5E1-6533-E7A7-C499E04ABB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AD88DF-8F12-C7C3-0CB7-28B59FD30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8EF4B3-B250-6190-F9A5-9B4D6AC73D6C}"/>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89A36007-FCA3-AC87-C11F-4676D432D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021120-32E2-8865-C2A8-CBA70BADD7FD}"/>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96519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04D53-0513-5B76-B051-5663C03653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EBA23E-422A-7B27-5550-935F72C9E4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957626-27E0-89F9-2F28-BD92C47FA788}"/>
              </a:ext>
            </a:extLst>
          </p:cNvPr>
          <p:cNvSpPr>
            <a:spLocks noGrp="1"/>
          </p:cNvSpPr>
          <p:nvPr>
            <p:ph type="dt" sz="half" idx="10"/>
          </p:nvPr>
        </p:nvSpPr>
        <p:spPr/>
        <p:txBody>
          <a:body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0CDA0683-8718-3BAF-EFE6-992758327E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6631AD-3CB2-FC01-746A-F437B103C179}"/>
              </a:ext>
            </a:extLst>
          </p:cNvPr>
          <p:cNvSpPr>
            <a:spLocks noGrp="1"/>
          </p:cNvSpPr>
          <p:nvPr>
            <p:ph type="sldNum" sz="quarter" idx="12"/>
          </p:nvPr>
        </p:nvSpPr>
        <p:spPr/>
        <p:txBody>
          <a:bodyPr/>
          <a:lstStyle/>
          <a:p>
            <a:fld id="{F32CDAAF-27CB-4DA4-9FC1-45F7EB444249}" type="slidenum">
              <a:rPr lang="en-IN" smtClean="0"/>
              <a:t>‹#›</a:t>
            </a:fld>
            <a:endParaRPr lang="en-IN"/>
          </a:p>
        </p:txBody>
      </p:sp>
    </p:spTree>
    <p:extLst>
      <p:ext uri="{BB962C8B-B14F-4D97-AF65-F5344CB8AC3E}">
        <p14:creationId xmlns:p14="http://schemas.microsoft.com/office/powerpoint/2010/main" val="1938474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BB0567-D47A-44DE-FF25-4E9ED4E7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27E84F-D9BD-BCA8-3BC0-6AAFF4B0B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EC7CB-2778-A99F-B1FF-4B6DC9E62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376995-09A4-453C-87D4-48B192BC3646}" type="datetimeFigureOut">
              <a:rPr lang="en-IN" smtClean="0"/>
              <a:t>14-01-2026</a:t>
            </a:fld>
            <a:endParaRPr lang="en-IN"/>
          </a:p>
        </p:txBody>
      </p:sp>
      <p:sp>
        <p:nvSpPr>
          <p:cNvPr id="5" name="Footer Placeholder 4">
            <a:extLst>
              <a:ext uri="{FF2B5EF4-FFF2-40B4-BE49-F238E27FC236}">
                <a16:creationId xmlns:a16="http://schemas.microsoft.com/office/drawing/2014/main" id="{B108225C-5B14-AFDD-D5D7-0608F7262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2101BB-B06B-6F1E-599C-8299A8ECE9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CDAAF-27CB-4DA4-9FC1-45F7EB444249}" type="slidenum">
              <a:rPr lang="en-IN" smtClean="0"/>
              <a:t>‹#›</a:t>
            </a:fld>
            <a:endParaRPr lang="en-IN"/>
          </a:p>
        </p:txBody>
      </p:sp>
    </p:spTree>
    <p:extLst>
      <p:ext uri="{BB962C8B-B14F-4D97-AF65-F5344CB8AC3E}">
        <p14:creationId xmlns:p14="http://schemas.microsoft.com/office/powerpoint/2010/main" val="3502993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1D693-5844-37F2-9674-90FCB873CB18}"/>
              </a:ext>
            </a:extLst>
          </p:cNvPr>
          <p:cNvSpPr>
            <a:spLocks noGrp="1"/>
          </p:cNvSpPr>
          <p:nvPr>
            <p:ph type="title"/>
          </p:nvPr>
        </p:nvSpPr>
        <p:spPr/>
        <p:txBody>
          <a:bodyPr/>
          <a:lstStyle/>
          <a:p>
            <a:r>
              <a:rPr lang="en-IN" b="1" dirty="0"/>
              <a:t>Classification</a:t>
            </a:r>
            <a:r>
              <a:rPr lang="en-IN" b="1" spc="-87" dirty="0"/>
              <a:t> </a:t>
            </a:r>
            <a:r>
              <a:rPr lang="en-IN" b="1" dirty="0"/>
              <a:t>of</a:t>
            </a:r>
            <a:r>
              <a:rPr lang="en-IN" b="1" spc="-87" dirty="0"/>
              <a:t> </a:t>
            </a:r>
            <a:r>
              <a:rPr lang="en-IN" b="1" dirty="0"/>
              <a:t>Wind</a:t>
            </a:r>
            <a:r>
              <a:rPr lang="en-IN" b="1" spc="-67" dirty="0"/>
              <a:t> </a:t>
            </a:r>
            <a:r>
              <a:rPr lang="en-IN" b="1" spc="-13" dirty="0"/>
              <a:t>Turbines</a:t>
            </a:r>
            <a:endParaRPr lang="en-IN" dirty="0"/>
          </a:p>
        </p:txBody>
      </p:sp>
      <p:sp>
        <p:nvSpPr>
          <p:cNvPr id="3" name="Content Placeholder 2">
            <a:extLst>
              <a:ext uri="{FF2B5EF4-FFF2-40B4-BE49-F238E27FC236}">
                <a16:creationId xmlns:a16="http://schemas.microsoft.com/office/drawing/2014/main" id="{96CEE1AE-3830-0C47-28DE-708A4DE34677}"/>
              </a:ext>
            </a:extLst>
          </p:cNvPr>
          <p:cNvSpPr>
            <a:spLocks noGrp="1"/>
          </p:cNvSpPr>
          <p:nvPr>
            <p:ph idx="1"/>
          </p:nvPr>
        </p:nvSpPr>
        <p:spPr>
          <a:xfrm>
            <a:off x="838200" y="1530626"/>
            <a:ext cx="10515600" cy="4646337"/>
          </a:xfrm>
        </p:spPr>
        <p:txBody>
          <a:bodyPr>
            <a:noAutofit/>
          </a:bodyPr>
          <a:lstStyle/>
          <a:p>
            <a:pPr marL="457200" indent="-440256">
              <a:lnSpc>
                <a:spcPct val="150000"/>
              </a:lnSpc>
              <a:spcBef>
                <a:spcPts val="0"/>
              </a:spcBef>
              <a:tabLst>
                <a:tab pos="457189" algn="l"/>
              </a:tabLst>
            </a:pPr>
            <a:r>
              <a:rPr lang="en-US" sz="2000" b="1" dirty="0">
                <a:cs typeface="Times New Roman"/>
              </a:rPr>
              <a:t>Based on the number of Rotor blades </a:t>
            </a:r>
          </a:p>
          <a:p>
            <a:pPr marL="893763" lvl="1" indent="-446088">
              <a:lnSpc>
                <a:spcPct val="150000"/>
              </a:lnSpc>
              <a:spcBef>
                <a:spcPts val="0"/>
              </a:spcBef>
              <a:tabLst>
                <a:tab pos="457189" algn="l"/>
              </a:tabLst>
            </a:pPr>
            <a:r>
              <a:rPr lang="en-IN" sz="2000" b="1" dirty="0">
                <a:cs typeface="Times New Roman"/>
              </a:rPr>
              <a:t>Single Blade </a:t>
            </a:r>
          </a:p>
          <a:p>
            <a:pPr marL="893763" lvl="1" indent="-446088">
              <a:lnSpc>
                <a:spcPct val="150000"/>
              </a:lnSpc>
              <a:spcBef>
                <a:spcPts val="0"/>
              </a:spcBef>
              <a:tabLst>
                <a:tab pos="457189" algn="l"/>
              </a:tabLst>
            </a:pPr>
            <a:r>
              <a:rPr lang="en-IN" sz="2000" b="1" dirty="0">
                <a:cs typeface="Times New Roman"/>
              </a:rPr>
              <a:t>Multi blade </a:t>
            </a:r>
          </a:p>
          <a:p>
            <a:pPr marL="457200" indent="-440256">
              <a:lnSpc>
                <a:spcPct val="150000"/>
              </a:lnSpc>
              <a:spcBef>
                <a:spcPts val="0"/>
              </a:spcBef>
              <a:tabLst>
                <a:tab pos="457189" algn="l"/>
              </a:tabLst>
            </a:pPr>
            <a:r>
              <a:rPr lang="en-US" sz="2000" b="1" dirty="0">
                <a:cs typeface="Times New Roman"/>
              </a:rPr>
              <a:t>Based on the Axis of rotation </a:t>
            </a:r>
          </a:p>
          <a:p>
            <a:pPr marL="914389" lvl="1" indent="-440256">
              <a:lnSpc>
                <a:spcPct val="150000"/>
              </a:lnSpc>
              <a:spcBef>
                <a:spcPts val="0"/>
              </a:spcBef>
              <a:tabLst>
                <a:tab pos="457189" algn="l"/>
              </a:tabLst>
            </a:pPr>
            <a:r>
              <a:rPr lang="en-US" sz="2000" b="1" dirty="0">
                <a:cs typeface="Times New Roman"/>
              </a:rPr>
              <a:t>Horizontal</a:t>
            </a:r>
            <a:r>
              <a:rPr lang="en-US" sz="2000" b="1" spc="7" dirty="0">
                <a:cs typeface="Times New Roman"/>
              </a:rPr>
              <a:t> </a:t>
            </a:r>
            <a:r>
              <a:rPr lang="en-US" sz="2000" b="1" dirty="0">
                <a:cs typeface="Times New Roman"/>
              </a:rPr>
              <a:t>Axis</a:t>
            </a:r>
            <a:r>
              <a:rPr lang="en-US" sz="2000" b="1" spc="-53" dirty="0">
                <a:cs typeface="Times New Roman"/>
              </a:rPr>
              <a:t> </a:t>
            </a:r>
            <a:r>
              <a:rPr lang="en-US" sz="2000" b="1" dirty="0">
                <a:cs typeface="Times New Roman"/>
              </a:rPr>
              <a:t>Wind</a:t>
            </a:r>
            <a:r>
              <a:rPr lang="en-US" sz="2000" b="1" spc="-33" dirty="0">
                <a:cs typeface="Times New Roman"/>
              </a:rPr>
              <a:t> </a:t>
            </a:r>
            <a:r>
              <a:rPr lang="en-US" sz="2000" b="1" dirty="0">
                <a:cs typeface="Times New Roman"/>
              </a:rPr>
              <a:t>Turbine</a:t>
            </a:r>
            <a:r>
              <a:rPr lang="en-US" sz="2000" b="1" spc="-40" dirty="0">
                <a:cs typeface="Times New Roman"/>
              </a:rPr>
              <a:t> </a:t>
            </a:r>
            <a:r>
              <a:rPr lang="en-US" sz="2000" b="1" dirty="0">
                <a:cs typeface="Times New Roman"/>
              </a:rPr>
              <a:t>(HAWT)</a:t>
            </a:r>
            <a:r>
              <a:rPr lang="en-US" sz="2000" b="1" spc="-27" dirty="0">
                <a:cs typeface="Times New Roman"/>
              </a:rPr>
              <a:t> </a:t>
            </a:r>
          </a:p>
          <a:p>
            <a:pPr marL="1371589" lvl="2" indent="-440256">
              <a:lnSpc>
                <a:spcPct val="150000"/>
              </a:lnSpc>
              <a:spcBef>
                <a:spcPts val="0"/>
              </a:spcBef>
              <a:tabLst>
                <a:tab pos="457189" algn="l"/>
              </a:tabLst>
            </a:pPr>
            <a:r>
              <a:rPr lang="en-US" spc="-27" dirty="0">
                <a:cs typeface="Times New Roman"/>
              </a:rPr>
              <a:t>A</a:t>
            </a:r>
            <a:r>
              <a:rPr lang="en-US" dirty="0">
                <a:cs typeface="Times New Roman"/>
              </a:rPr>
              <a:t>xis</a:t>
            </a:r>
            <a:r>
              <a:rPr lang="en-US" spc="-40" dirty="0">
                <a:cs typeface="Times New Roman"/>
              </a:rPr>
              <a:t> </a:t>
            </a:r>
            <a:r>
              <a:rPr lang="en-US" dirty="0">
                <a:cs typeface="Times New Roman"/>
              </a:rPr>
              <a:t>of</a:t>
            </a:r>
            <a:r>
              <a:rPr lang="en-US" spc="-40" dirty="0">
                <a:cs typeface="Times New Roman"/>
              </a:rPr>
              <a:t> </a:t>
            </a:r>
            <a:r>
              <a:rPr lang="en-US" dirty="0">
                <a:cs typeface="Times New Roman"/>
              </a:rPr>
              <a:t>rotation</a:t>
            </a:r>
            <a:r>
              <a:rPr lang="en-US" spc="-20" dirty="0">
                <a:cs typeface="Times New Roman"/>
              </a:rPr>
              <a:t> </a:t>
            </a:r>
            <a:r>
              <a:rPr lang="en-US" dirty="0">
                <a:cs typeface="Times New Roman"/>
              </a:rPr>
              <a:t>is</a:t>
            </a:r>
            <a:r>
              <a:rPr lang="en-US" spc="-33" dirty="0">
                <a:cs typeface="Times New Roman"/>
              </a:rPr>
              <a:t> </a:t>
            </a:r>
            <a:r>
              <a:rPr lang="en-US" dirty="0">
                <a:cs typeface="Times New Roman"/>
              </a:rPr>
              <a:t>parallel</a:t>
            </a:r>
            <a:r>
              <a:rPr lang="en-US" spc="-7" dirty="0">
                <a:cs typeface="Times New Roman"/>
              </a:rPr>
              <a:t> </a:t>
            </a:r>
            <a:r>
              <a:rPr lang="en-US" dirty="0">
                <a:cs typeface="Times New Roman"/>
              </a:rPr>
              <a:t>to</a:t>
            </a:r>
            <a:r>
              <a:rPr lang="en-US" spc="-47" dirty="0">
                <a:cs typeface="Times New Roman"/>
              </a:rPr>
              <a:t> </a:t>
            </a:r>
            <a:r>
              <a:rPr lang="en-US" dirty="0">
                <a:cs typeface="Times New Roman"/>
              </a:rPr>
              <a:t>the</a:t>
            </a:r>
            <a:r>
              <a:rPr lang="en-US" spc="-40" dirty="0">
                <a:cs typeface="Times New Roman"/>
              </a:rPr>
              <a:t> </a:t>
            </a:r>
            <a:r>
              <a:rPr lang="en-US" dirty="0">
                <a:cs typeface="Times New Roman"/>
              </a:rPr>
              <a:t>air</a:t>
            </a:r>
            <a:r>
              <a:rPr lang="en-US" spc="-27" dirty="0">
                <a:cs typeface="Times New Roman"/>
              </a:rPr>
              <a:t> </a:t>
            </a:r>
            <a:r>
              <a:rPr lang="en-US" dirty="0">
                <a:cs typeface="Times New Roman"/>
              </a:rPr>
              <a:t>stream</a:t>
            </a:r>
            <a:r>
              <a:rPr lang="en-US" spc="-7" dirty="0">
                <a:cs typeface="Times New Roman"/>
              </a:rPr>
              <a:t> </a:t>
            </a:r>
            <a:r>
              <a:rPr lang="en-US" spc="-13" dirty="0">
                <a:cs typeface="Times New Roman"/>
              </a:rPr>
              <a:t>(i.e. horizontal)</a:t>
            </a:r>
          </a:p>
          <a:p>
            <a:pPr marL="1371589" lvl="2" indent="-440256">
              <a:lnSpc>
                <a:spcPct val="150000"/>
              </a:lnSpc>
              <a:spcBef>
                <a:spcPts val="0"/>
              </a:spcBef>
              <a:tabLst>
                <a:tab pos="457189" algn="l"/>
              </a:tabLst>
            </a:pPr>
            <a:r>
              <a:rPr lang="en-US" dirty="0">
                <a:cs typeface="Times New Roman"/>
              </a:rPr>
              <a:t>Eg:</a:t>
            </a:r>
            <a:r>
              <a:rPr lang="en-US" spc="-20" dirty="0">
                <a:cs typeface="Times New Roman"/>
              </a:rPr>
              <a:t> </a:t>
            </a:r>
            <a:r>
              <a:rPr lang="en-US" dirty="0">
                <a:cs typeface="Times New Roman"/>
              </a:rPr>
              <a:t>Blade</a:t>
            </a:r>
            <a:r>
              <a:rPr lang="en-US" spc="-27" dirty="0">
                <a:cs typeface="Times New Roman"/>
              </a:rPr>
              <a:t> </a:t>
            </a:r>
            <a:r>
              <a:rPr lang="en-US" dirty="0">
                <a:cs typeface="Times New Roman"/>
              </a:rPr>
              <a:t>type</a:t>
            </a:r>
            <a:r>
              <a:rPr lang="en-US" spc="-27" dirty="0">
                <a:cs typeface="Times New Roman"/>
              </a:rPr>
              <a:t> </a:t>
            </a:r>
            <a:r>
              <a:rPr lang="en-US" dirty="0">
                <a:cs typeface="Times New Roman"/>
              </a:rPr>
              <a:t>with</a:t>
            </a:r>
            <a:r>
              <a:rPr lang="en-US" spc="-20" dirty="0">
                <a:cs typeface="Times New Roman"/>
              </a:rPr>
              <a:t> </a:t>
            </a:r>
            <a:r>
              <a:rPr lang="en-US" dirty="0">
                <a:cs typeface="Times New Roman"/>
              </a:rPr>
              <a:t>one,</a:t>
            </a:r>
            <a:r>
              <a:rPr lang="en-US" spc="-40" dirty="0">
                <a:cs typeface="Times New Roman"/>
              </a:rPr>
              <a:t> </a:t>
            </a:r>
            <a:r>
              <a:rPr lang="en-US" dirty="0">
                <a:cs typeface="Times New Roman"/>
              </a:rPr>
              <a:t>two,</a:t>
            </a:r>
            <a:r>
              <a:rPr lang="en-US" spc="-33" dirty="0">
                <a:cs typeface="Times New Roman"/>
              </a:rPr>
              <a:t> </a:t>
            </a:r>
            <a:r>
              <a:rPr lang="en-US" dirty="0">
                <a:cs typeface="Times New Roman"/>
              </a:rPr>
              <a:t>or</a:t>
            </a:r>
            <a:r>
              <a:rPr lang="en-US" spc="-33" dirty="0">
                <a:cs typeface="Times New Roman"/>
              </a:rPr>
              <a:t> </a:t>
            </a:r>
            <a:r>
              <a:rPr lang="en-US" dirty="0">
                <a:cs typeface="Times New Roman"/>
              </a:rPr>
              <a:t>three</a:t>
            </a:r>
            <a:r>
              <a:rPr lang="en-US" spc="-13" dirty="0">
                <a:cs typeface="Times New Roman"/>
              </a:rPr>
              <a:t> </a:t>
            </a:r>
            <a:r>
              <a:rPr lang="en-US" dirty="0">
                <a:cs typeface="Times New Roman"/>
              </a:rPr>
              <a:t>blades,</a:t>
            </a:r>
            <a:r>
              <a:rPr lang="en-US" spc="-27" dirty="0">
                <a:cs typeface="Times New Roman"/>
              </a:rPr>
              <a:t> </a:t>
            </a:r>
            <a:r>
              <a:rPr lang="en-US" spc="-13" dirty="0">
                <a:cs typeface="Times New Roman"/>
              </a:rPr>
              <a:t>Multiple-blade,</a:t>
            </a:r>
            <a:endParaRPr lang="en-US" dirty="0">
              <a:cs typeface="Times New Roman"/>
            </a:endParaRPr>
          </a:p>
          <a:p>
            <a:pPr marL="914389" marR="6773" lvl="1" indent="-441102">
              <a:lnSpc>
                <a:spcPct val="150000"/>
              </a:lnSpc>
              <a:spcBef>
                <a:spcPts val="0"/>
              </a:spcBef>
              <a:tabLst>
                <a:tab pos="457189" algn="l"/>
              </a:tabLst>
            </a:pPr>
            <a:r>
              <a:rPr lang="en-US" sz="2000" b="1" dirty="0">
                <a:cs typeface="Times New Roman"/>
              </a:rPr>
              <a:t>Vertical</a:t>
            </a:r>
            <a:r>
              <a:rPr lang="en-US" sz="2000" b="1" spc="-13" dirty="0">
                <a:cs typeface="Times New Roman"/>
              </a:rPr>
              <a:t> </a:t>
            </a:r>
            <a:r>
              <a:rPr lang="en-US" sz="2000" b="1" dirty="0">
                <a:cs typeface="Times New Roman"/>
              </a:rPr>
              <a:t>Axis</a:t>
            </a:r>
            <a:r>
              <a:rPr lang="en-US" sz="2000" b="1" spc="-53" dirty="0">
                <a:cs typeface="Times New Roman"/>
              </a:rPr>
              <a:t> </a:t>
            </a:r>
            <a:r>
              <a:rPr lang="en-US" sz="2000" b="1" dirty="0">
                <a:cs typeface="Times New Roman"/>
              </a:rPr>
              <a:t>Wind</a:t>
            </a:r>
            <a:r>
              <a:rPr lang="en-US" sz="2000" b="1" spc="-40" dirty="0">
                <a:cs typeface="Times New Roman"/>
              </a:rPr>
              <a:t> </a:t>
            </a:r>
            <a:r>
              <a:rPr lang="en-US" sz="2000" b="1" dirty="0">
                <a:cs typeface="Times New Roman"/>
              </a:rPr>
              <a:t>Turbine</a:t>
            </a:r>
            <a:r>
              <a:rPr lang="en-US" sz="2000" b="1" spc="-40" dirty="0">
                <a:cs typeface="Times New Roman"/>
              </a:rPr>
              <a:t> </a:t>
            </a:r>
            <a:r>
              <a:rPr lang="en-US" sz="2000" b="1" dirty="0">
                <a:cs typeface="Times New Roman"/>
              </a:rPr>
              <a:t>(VAWT)</a:t>
            </a:r>
            <a:r>
              <a:rPr lang="en-US" sz="2000" b="1" spc="-27" dirty="0">
                <a:cs typeface="Times New Roman"/>
              </a:rPr>
              <a:t> </a:t>
            </a:r>
          </a:p>
          <a:p>
            <a:pPr marL="1371589" marR="6773" lvl="2" indent="-441102">
              <a:lnSpc>
                <a:spcPct val="150000"/>
              </a:lnSpc>
              <a:spcBef>
                <a:spcPts val="0"/>
              </a:spcBef>
              <a:tabLst>
                <a:tab pos="457189" algn="l"/>
              </a:tabLst>
            </a:pPr>
            <a:r>
              <a:rPr lang="en-US" spc="-27" dirty="0">
                <a:cs typeface="Times New Roman"/>
              </a:rPr>
              <a:t>A</a:t>
            </a:r>
            <a:r>
              <a:rPr lang="en-US" dirty="0">
                <a:cs typeface="Times New Roman"/>
              </a:rPr>
              <a:t>xis</a:t>
            </a:r>
            <a:r>
              <a:rPr lang="en-US" spc="-33" dirty="0">
                <a:cs typeface="Times New Roman"/>
              </a:rPr>
              <a:t> </a:t>
            </a:r>
            <a:r>
              <a:rPr lang="en-US" dirty="0">
                <a:cs typeface="Times New Roman"/>
              </a:rPr>
              <a:t>of</a:t>
            </a:r>
            <a:r>
              <a:rPr lang="en-US" spc="-47" dirty="0">
                <a:cs typeface="Times New Roman"/>
              </a:rPr>
              <a:t> </a:t>
            </a:r>
            <a:r>
              <a:rPr lang="en-US" dirty="0">
                <a:cs typeface="Times New Roman"/>
              </a:rPr>
              <a:t>rotation</a:t>
            </a:r>
            <a:r>
              <a:rPr lang="en-US" spc="-20" dirty="0">
                <a:cs typeface="Times New Roman"/>
              </a:rPr>
              <a:t> </a:t>
            </a:r>
            <a:r>
              <a:rPr lang="en-US" dirty="0">
                <a:cs typeface="Times New Roman"/>
              </a:rPr>
              <a:t>is</a:t>
            </a:r>
            <a:r>
              <a:rPr lang="en-US" spc="-33" dirty="0">
                <a:cs typeface="Times New Roman"/>
              </a:rPr>
              <a:t> </a:t>
            </a:r>
            <a:r>
              <a:rPr lang="en-US" dirty="0">
                <a:cs typeface="Times New Roman"/>
              </a:rPr>
              <a:t>perpendicular</a:t>
            </a:r>
            <a:r>
              <a:rPr lang="en-US" spc="-27" dirty="0">
                <a:cs typeface="Times New Roman"/>
              </a:rPr>
              <a:t> </a:t>
            </a:r>
            <a:r>
              <a:rPr lang="en-US" dirty="0">
                <a:cs typeface="Times New Roman"/>
              </a:rPr>
              <a:t>to</a:t>
            </a:r>
            <a:r>
              <a:rPr lang="en-US" spc="-33" dirty="0">
                <a:cs typeface="Times New Roman"/>
              </a:rPr>
              <a:t> </a:t>
            </a:r>
            <a:r>
              <a:rPr lang="en-US" dirty="0">
                <a:cs typeface="Times New Roman"/>
              </a:rPr>
              <a:t>the</a:t>
            </a:r>
            <a:r>
              <a:rPr lang="en-US" spc="-40" dirty="0">
                <a:cs typeface="Times New Roman"/>
              </a:rPr>
              <a:t> </a:t>
            </a:r>
            <a:r>
              <a:rPr lang="en-US" dirty="0">
                <a:cs typeface="Times New Roman"/>
              </a:rPr>
              <a:t>air</a:t>
            </a:r>
            <a:r>
              <a:rPr lang="en-US" spc="-33" dirty="0">
                <a:cs typeface="Times New Roman"/>
              </a:rPr>
              <a:t> </a:t>
            </a:r>
            <a:r>
              <a:rPr lang="en-US" dirty="0">
                <a:cs typeface="Times New Roman"/>
              </a:rPr>
              <a:t>stream</a:t>
            </a:r>
            <a:r>
              <a:rPr lang="en-US" spc="-20" dirty="0">
                <a:cs typeface="Times New Roman"/>
              </a:rPr>
              <a:t> </a:t>
            </a:r>
            <a:r>
              <a:rPr lang="en-US" spc="-13" dirty="0">
                <a:cs typeface="Times New Roman"/>
              </a:rPr>
              <a:t>(i.e. vertical)</a:t>
            </a:r>
          </a:p>
          <a:p>
            <a:pPr marL="1371589" marR="6773" lvl="2" indent="-441102">
              <a:lnSpc>
                <a:spcPct val="150000"/>
              </a:lnSpc>
              <a:spcBef>
                <a:spcPts val="0"/>
              </a:spcBef>
              <a:tabLst>
                <a:tab pos="457189" algn="l"/>
              </a:tabLst>
            </a:pPr>
            <a:r>
              <a:rPr lang="nn-NO" dirty="0">
                <a:cs typeface="Times New Roman"/>
              </a:rPr>
              <a:t>Eg:</a:t>
            </a:r>
            <a:r>
              <a:rPr lang="nn-NO" spc="-33" dirty="0">
                <a:cs typeface="Times New Roman"/>
              </a:rPr>
              <a:t> </a:t>
            </a:r>
            <a:r>
              <a:rPr lang="nn-NO" dirty="0">
                <a:cs typeface="Times New Roman"/>
              </a:rPr>
              <a:t>Drag</a:t>
            </a:r>
            <a:r>
              <a:rPr lang="nn-NO" spc="-33" dirty="0">
                <a:cs typeface="Times New Roman"/>
              </a:rPr>
              <a:t> </a:t>
            </a:r>
            <a:r>
              <a:rPr lang="nn-NO" dirty="0">
                <a:cs typeface="Times New Roman"/>
              </a:rPr>
              <a:t>and</a:t>
            </a:r>
            <a:r>
              <a:rPr lang="nn-NO" spc="-40" dirty="0">
                <a:cs typeface="Times New Roman"/>
              </a:rPr>
              <a:t> </a:t>
            </a:r>
            <a:r>
              <a:rPr lang="nn-NO" dirty="0">
                <a:cs typeface="Times New Roman"/>
              </a:rPr>
              <a:t>Lift</a:t>
            </a:r>
            <a:r>
              <a:rPr lang="nn-NO" spc="-33" dirty="0">
                <a:cs typeface="Times New Roman"/>
              </a:rPr>
              <a:t> </a:t>
            </a:r>
            <a:r>
              <a:rPr lang="nn-NO" spc="-13" dirty="0">
                <a:cs typeface="Times New Roman"/>
              </a:rPr>
              <a:t>turbine</a:t>
            </a:r>
            <a:endParaRPr lang="nn-NO" dirty="0">
              <a:cs typeface="Times New Roman"/>
            </a:endParaRPr>
          </a:p>
        </p:txBody>
      </p:sp>
    </p:spTree>
    <p:extLst>
      <p:ext uri="{BB962C8B-B14F-4D97-AF65-F5344CB8AC3E}">
        <p14:creationId xmlns:p14="http://schemas.microsoft.com/office/powerpoint/2010/main" val="1213082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1559A-84AA-B566-16D2-4536422A72B2}"/>
              </a:ext>
            </a:extLst>
          </p:cNvPr>
          <p:cNvSpPr>
            <a:spLocks noGrp="1"/>
          </p:cNvSpPr>
          <p:nvPr>
            <p:ph type="title"/>
          </p:nvPr>
        </p:nvSpPr>
        <p:spPr/>
        <p:txBody>
          <a:bodyPr/>
          <a:lstStyle/>
          <a:p>
            <a:r>
              <a:rPr lang="en-IN" b="1" dirty="0"/>
              <a:t>Classification</a:t>
            </a:r>
            <a:r>
              <a:rPr lang="en-IN" b="1" spc="-87" dirty="0"/>
              <a:t> </a:t>
            </a:r>
            <a:r>
              <a:rPr lang="en-IN" b="1" dirty="0"/>
              <a:t>of</a:t>
            </a:r>
            <a:r>
              <a:rPr lang="en-IN" b="1" spc="-87" dirty="0"/>
              <a:t> </a:t>
            </a:r>
            <a:r>
              <a:rPr lang="en-IN" b="1" dirty="0"/>
              <a:t>Wind</a:t>
            </a:r>
            <a:r>
              <a:rPr lang="en-IN" b="1" spc="-67" dirty="0"/>
              <a:t> </a:t>
            </a:r>
            <a:r>
              <a:rPr lang="en-IN" b="1" spc="-13" dirty="0"/>
              <a:t>Turbines</a:t>
            </a:r>
            <a:endParaRPr lang="en-IN" b="1" dirty="0"/>
          </a:p>
        </p:txBody>
      </p:sp>
      <p:pic>
        <p:nvPicPr>
          <p:cNvPr id="6" name="object 6"/>
          <p:cNvPicPr>
            <a:picLocks noGrp="1"/>
          </p:cNvPicPr>
          <p:nvPr>
            <p:ph idx="1"/>
          </p:nvPr>
        </p:nvPicPr>
        <p:blipFill>
          <a:blip r:embed="rId2" cstate="print"/>
          <a:stretch>
            <a:fillRect/>
          </a:stretch>
        </p:blipFill>
        <p:spPr>
          <a:xfrm>
            <a:off x="1385474" y="1450666"/>
            <a:ext cx="8971100" cy="4105308"/>
          </a:xfrm>
          <a:prstGeom prst="rect">
            <a:avLst/>
          </a:prstGeom>
        </p:spPr>
      </p:pic>
      <p:sp>
        <p:nvSpPr>
          <p:cNvPr id="8" name="TextBox 7">
            <a:extLst>
              <a:ext uri="{FF2B5EF4-FFF2-40B4-BE49-F238E27FC236}">
                <a16:creationId xmlns:a16="http://schemas.microsoft.com/office/drawing/2014/main" id="{07B5AC52-ACB2-2456-CA15-63927E45D790}"/>
              </a:ext>
            </a:extLst>
          </p:cNvPr>
          <p:cNvSpPr txBox="1"/>
          <p:nvPr/>
        </p:nvSpPr>
        <p:spPr>
          <a:xfrm>
            <a:off x="838200" y="5661878"/>
            <a:ext cx="10889973" cy="461665"/>
          </a:xfrm>
          <a:prstGeom prst="rect">
            <a:avLst/>
          </a:prstGeom>
          <a:noFill/>
        </p:spPr>
        <p:txBody>
          <a:bodyPr wrap="square">
            <a:spAutoFit/>
          </a:bodyPr>
          <a:lstStyle/>
          <a:p>
            <a:pPr marL="16933">
              <a:spcBef>
                <a:spcPts val="133"/>
              </a:spcBef>
            </a:pPr>
            <a:r>
              <a:rPr lang="en-US" sz="2400" b="1" dirty="0">
                <a:latin typeface="Times New Roman"/>
                <a:cs typeface="Times New Roman"/>
              </a:rPr>
              <a:t>Horizontal</a:t>
            </a:r>
            <a:r>
              <a:rPr lang="en-US" sz="2400" b="1" spc="7" dirty="0">
                <a:latin typeface="Times New Roman"/>
                <a:cs typeface="Times New Roman"/>
              </a:rPr>
              <a:t> </a:t>
            </a:r>
            <a:r>
              <a:rPr lang="en-US" sz="2400" b="1" dirty="0">
                <a:latin typeface="Times New Roman"/>
                <a:cs typeface="Times New Roman"/>
              </a:rPr>
              <a:t>Axis</a:t>
            </a:r>
            <a:r>
              <a:rPr lang="en-US" sz="2400" b="1" spc="-53" dirty="0">
                <a:latin typeface="Times New Roman"/>
                <a:cs typeface="Times New Roman"/>
              </a:rPr>
              <a:t> </a:t>
            </a:r>
            <a:r>
              <a:rPr lang="en-US" sz="2400" b="1" dirty="0">
                <a:latin typeface="Times New Roman"/>
                <a:cs typeface="Times New Roman"/>
              </a:rPr>
              <a:t>Wind</a:t>
            </a:r>
            <a:r>
              <a:rPr lang="en-US" sz="2400" b="1" spc="-33" dirty="0">
                <a:latin typeface="Times New Roman"/>
                <a:cs typeface="Times New Roman"/>
              </a:rPr>
              <a:t> </a:t>
            </a:r>
            <a:r>
              <a:rPr lang="en-US" sz="2400" b="1" dirty="0">
                <a:latin typeface="Times New Roman"/>
                <a:cs typeface="Times New Roman"/>
              </a:rPr>
              <a:t>Turbine</a:t>
            </a:r>
            <a:r>
              <a:rPr lang="en-US" sz="2400" b="1" spc="-40" dirty="0">
                <a:latin typeface="Times New Roman"/>
                <a:cs typeface="Times New Roman"/>
              </a:rPr>
              <a:t> </a:t>
            </a:r>
            <a:r>
              <a:rPr lang="en-US" sz="2400" b="1" dirty="0">
                <a:latin typeface="Times New Roman"/>
                <a:cs typeface="Times New Roman"/>
              </a:rPr>
              <a:t>(HAWT)           Vertical</a:t>
            </a:r>
            <a:r>
              <a:rPr lang="en-US" sz="2400" b="1" spc="-13" dirty="0">
                <a:latin typeface="Times New Roman"/>
                <a:cs typeface="Times New Roman"/>
              </a:rPr>
              <a:t> </a:t>
            </a:r>
            <a:r>
              <a:rPr lang="en-US" sz="2400" b="1" dirty="0">
                <a:latin typeface="Times New Roman"/>
                <a:cs typeface="Times New Roman"/>
              </a:rPr>
              <a:t>Axis</a:t>
            </a:r>
            <a:r>
              <a:rPr lang="en-US" sz="2400" b="1" spc="-53" dirty="0">
                <a:latin typeface="Times New Roman"/>
                <a:cs typeface="Times New Roman"/>
              </a:rPr>
              <a:t> </a:t>
            </a:r>
            <a:r>
              <a:rPr lang="en-US" sz="2400" b="1" dirty="0">
                <a:latin typeface="Times New Roman"/>
                <a:cs typeface="Times New Roman"/>
              </a:rPr>
              <a:t>Wind</a:t>
            </a:r>
            <a:r>
              <a:rPr lang="en-US" sz="2400" b="1" spc="-40" dirty="0">
                <a:latin typeface="Times New Roman"/>
                <a:cs typeface="Times New Roman"/>
              </a:rPr>
              <a:t> </a:t>
            </a:r>
            <a:r>
              <a:rPr lang="en-US" sz="2400" b="1" dirty="0">
                <a:latin typeface="Times New Roman"/>
                <a:cs typeface="Times New Roman"/>
              </a:rPr>
              <a:t>Turbine</a:t>
            </a:r>
            <a:r>
              <a:rPr lang="en-US" sz="2400" b="1" spc="-40" dirty="0">
                <a:latin typeface="Times New Roman"/>
                <a:cs typeface="Times New Roman"/>
              </a:rPr>
              <a:t> </a:t>
            </a:r>
            <a:r>
              <a:rPr lang="en-US" sz="2400" b="1" dirty="0">
                <a:latin typeface="Times New Roman"/>
                <a:cs typeface="Times New Roman"/>
              </a:rPr>
              <a:t>(VAWT)</a:t>
            </a:r>
            <a:r>
              <a:rPr lang="en-US" sz="2400" b="1" spc="-27" dirty="0">
                <a:latin typeface="Times New Roman"/>
                <a:cs typeface="Times New Roman"/>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01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EA5DC-D253-BED4-5366-2DD21373DE7A}"/>
              </a:ext>
            </a:extLst>
          </p:cNvPr>
          <p:cNvSpPr>
            <a:spLocks noGrp="1"/>
          </p:cNvSpPr>
          <p:nvPr>
            <p:ph type="title"/>
          </p:nvPr>
        </p:nvSpPr>
        <p:spPr/>
        <p:txBody>
          <a:bodyPr/>
          <a:lstStyle/>
          <a:p>
            <a:r>
              <a:rPr lang="en-US" b="1" dirty="0">
                <a:cs typeface="Times New Roman"/>
              </a:rPr>
              <a:t>Horizontal</a:t>
            </a:r>
            <a:r>
              <a:rPr lang="en-US" b="1" spc="7" dirty="0">
                <a:cs typeface="Times New Roman"/>
              </a:rPr>
              <a:t> </a:t>
            </a:r>
            <a:r>
              <a:rPr lang="en-US" b="1" dirty="0">
                <a:cs typeface="Times New Roman"/>
              </a:rPr>
              <a:t>Axis</a:t>
            </a:r>
            <a:r>
              <a:rPr lang="en-US" b="1" spc="-53" dirty="0">
                <a:cs typeface="Times New Roman"/>
              </a:rPr>
              <a:t> </a:t>
            </a:r>
            <a:r>
              <a:rPr lang="en-US" b="1" dirty="0">
                <a:cs typeface="Times New Roman"/>
              </a:rPr>
              <a:t>Wind</a:t>
            </a:r>
            <a:r>
              <a:rPr lang="en-US" b="1" spc="-33" dirty="0">
                <a:cs typeface="Times New Roman"/>
              </a:rPr>
              <a:t> </a:t>
            </a:r>
            <a:r>
              <a:rPr lang="en-US" b="1" dirty="0">
                <a:cs typeface="Times New Roman"/>
              </a:rPr>
              <a:t>Turbine</a:t>
            </a:r>
            <a:r>
              <a:rPr lang="en-US" b="1" spc="-40" dirty="0">
                <a:cs typeface="Times New Roman"/>
              </a:rPr>
              <a:t> </a:t>
            </a:r>
            <a:r>
              <a:rPr lang="en-US" b="1" dirty="0">
                <a:cs typeface="Times New Roman"/>
              </a:rPr>
              <a:t>(HAWT)</a:t>
            </a:r>
            <a:r>
              <a:rPr lang="en-US" b="1" spc="-27" dirty="0">
                <a:cs typeface="Times New Roman"/>
              </a:rPr>
              <a:t> </a:t>
            </a:r>
            <a:endParaRPr lang="en-IN" dirty="0"/>
          </a:p>
        </p:txBody>
      </p:sp>
      <p:sp>
        <p:nvSpPr>
          <p:cNvPr id="3" name="Content Placeholder 2">
            <a:extLst>
              <a:ext uri="{FF2B5EF4-FFF2-40B4-BE49-F238E27FC236}">
                <a16:creationId xmlns:a16="http://schemas.microsoft.com/office/drawing/2014/main" id="{6206467E-F594-2D83-F1AF-3FBC32E6ABDA}"/>
              </a:ext>
            </a:extLst>
          </p:cNvPr>
          <p:cNvSpPr>
            <a:spLocks noGrp="1"/>
          </p:cNvSpPr>
          <p:nvPr>
            <p:ph idx="1"/>
          </p:nvPr>
        </p:nvSpPr>
        <p:spPr>
          <a:xfrm>
            <a:off x="838200" y="1825625"/>
            <a:ext cx="10515600" cy="4744140"/>
          </a:xfrm>
        </p:spPr>
        <p:txBody>
          <a:bodyPr>
            <a:normAutofit/>
          </a:bodyPr>
          <a:lstStyle/>
          <a:p>
            <a:r>
              <a:rPr lang="en-US" sz="2400" dirty="0"/>
              <a:t>Horizontal-axis wind turbines (HAWT) have the main rotor shaft and electrical generator at the top of a tower, and must be pointed into the wind. </a:t>
            </a:r>
          </a:p>
          <a:p>
            <a:r>
              <a:rPr lang="en-US" sz="2400" dirty="0"/>
              <a:t>Most have a gearbox, which turns the slow rotation of the blades into a quicker rotation that is more suitable to drive an electrical generator. Since a tower produces turbulence behind it, the turbine is usually pointed upwind of the tower. </a:t>
            </a:r>
          </a:p>
          <a:p>
            <a:r>
              <a:rPr lang="en-US" sz="2400" dirty="0"/>
              <a:t>Turbine blades are made stiff to prevent the blades from being pushed into the tower by high winds. Additionally, the blades are placed a considerable distance in front of the tower and are sometimes tilted up a small amount. </a:t>
            </a:r>
          </a:p>
          <a:p>
            <a:r>
              <a:rPr lang="en-US" sz="2400" dirty="0"/>
              <a:t>The horizontal axis wind turbines are available in two types like the following. </a:t>
            </a:r>
          </a:p>
          <a:p>
            <a:pPr lvl="1"/>
            <a:r>
              <a:rPr lang="en-IN" sz="2000" dirty="0"/>
              <a:t>Upwind Turbine </a:t>
            </a:r>
          </a:p>
          <a:p>
            <a:pPr lvl="1"/>
            <a:r>
              <a:rPr lang="en-IN" sz="2000" dirty="0"/>
              <a:t>Downwind Turbine </a:t>
            </a:r>
          </a:p>
        </p:txBody>
      </p:sp>
    </p:spTree>
    <p:extLst>
      <p:ext uri="{BB962C8B-B14F-4D97-AF65-F5344CB8AC3E}">
        <p14:creationId xmlns:p14="http://schemas.microsoft.com/office/powerpoint/2010/main" val="580556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1DC6A-BEBF-CD41-1A09-BF34EFFE7F57}"/>
              </a:ext>
            </a:extLst>
          </p:cNvPr>
          <p:cNvSpPr>
            <a:spLocks noGrp="1"/>
          </p:cNvSpPr>
          <p:nvPr>
            <p:ph type="title"/>
          </p:nvPr>
        </p:nvSpPr>
        <p:spPr/>
        <p:txBody>
          <a:bodyPr/>
          <a:lstStyle/>
          <a:p>
            <a:r>
              <a:rPr lang="en-US" b="1" dirty="0">
                <a:cs typeface="Times New Roman"/>
              </a:rPr>
              <a:t>Horizontal</a:t>
            </a:r>
            <a:r>
              <a:rPr lang="en-US" b="1" spc="7" dirty="0">
                <a:cs typeface="Times New Roman"/>
              </a:rPr>
              <a:t> </a:t>
            </a:r>
            <a:r>
              <a:rPr lang="en-US" b="1" dirty="0">
                <a:cs typeface="Times New Roman"/>
              </a:rPr>
              <a:t>Axis</a:t>
            </a:r>
            <a:r>
              <a:rPr lang="en-US" b="1" spc="-53" dirty="0">
                <a:cs typeface="Times New Roman"/>
              </a:rPr>
              <a:t> </a:t>
            </a:r>
            <a:r>
              <a:rPr lang="en-US" b="1" dirty="0">
                <a:cs typeface="Times New Roman"/>
              </a:rPr>
              <a:t>Wind</a:t>
            </a:r>
            <a:r>
              <a:rPr lang="en-US" b="1" spc="-33" dirty="0">
                <a:cs typeface="Times New Roman"/>
              </a:rPr>
              <a:t> </a:t>
            </a:r>
            <a:r>
              <a:rPr lang="en-US" b="1" dirty="0">
                <a:cs typeface="Times New Roman"/>
              </a:rPr>
              <a:t>Turbine</a:t>
            </a:r>
            <a:r>
              <a:rPr lang="en-US" b="1" spc="-40" dirty="0">
                <a:cs typeface="Times New Roman"/>
              </a:rPr>
              <a:t> </a:t>
            </a:r>
            <a:r>
              <a:rPr lang="en-US" b="1" dirty="0">
                <a:cs typeface="Times New Roman"/>
              </a:rPr>
              <a:t>(HAWT)</a:t>
            </a:r>
            <a:r>
              <a:rPr lang="en-US" b="1" spc="-27" dirty="0">
                <a:cs typeface="Times New Roman"/>
              </a:rPr>
              <a:t> </a:t>
            </a:r>
            <a:endParaRPr lang="en-IN" dirty="0"/>
          </a:p>
        </p:txBody>
      </p:sp>
      <p:sp>
        <p:nvSpPr>
          <p:cNvPr id="8" name="Content Placeholder 7">
            <a:extLst>
              <a:ext uri="{FF2B5EF4-FFF2-40B4-BE49-F238E27FC236}">
                <a16:creationId xmlns:a16="http://schemas.microsoft.com/office/drawing/2014/main" id="{A70B6407-02A1-C958-E3F8-3E6E90C588FB}"/>
              </a:ext>
            </a:extLst>
          </p:cNvPr>
          <p:cNvSpPr>
            <a:spLocks noGrp="1"/>
          </p:cNvSpPr>
          <p:nvPr>
            <p:ph sz="half" idx="1"/>
          </p:nvPr>
        </p:nvSpPr>
        <p:spPr/>
        <p:txBody>
          <a:bodyPr>
            <a:normAutofit/>
          </a:bodyPr>
          <a:lstStyle/>
          <a:p>
            <a:pPr marL="539749" indent="-457200">
              <a:lnSpc>
                <a:spcPct val="100000"/>
              </a:lnSpc>
              <a:spcBef>
                <a:spcPts val="390"/>
              </a:spcBef>
              <a:tabLst>
                <a:tab pos="413384" algn="l"/>
              </a:tabLst>
            </a:pPr>
            <a:r>
              <a:rPr lang="en-US" sz="2000" dirty="0">
                <a:latin typeface="Times New Roman"/>
                <a:cs typeface="Times New Roman"/>
              </a:rPr>
              <a:t>Nacelle</a:t>
            </a:r>
            <a:r>
              <a:rPr lang="en-US" sz="2000" spc="-5" dirty="0">
                <a:latin typeface="Times New Roman"/>
                <a:cs typeface="Times New Roman"/>
              </a:rPr>
              <a:t> </a:t>
            </a:r>
            <a:r>
              <a:rPr lang="en-US" sz="2000" dirty="0">
                <a:latin typeface="Times New Roman"/>
                <a:cs typeface="Times New Roman"/>
              </a:rPr>
              <a:t>is</a:t>
            </a:r>
            <a:r>
              <a:rPr lang="en-US" sz="2000" spc="-20" dirty="0">
                <a:latin typeface="Times New Roman"/>
                <a:cs typeface="Times New Roman"/>
              </a:rPr>
              <a:t> </a:t>
            </a:r>
            <a:r>
              <a:rPr lang="en-US" sz="2000" dirty="0">
                <a:latin typeface="Times New Roman"/>
                <a:cs typeface="Times New Roman"/>
              </a:rPr>
              <a:t>placed</a:t>
            </a:r>
            <a:r>
              <a:rPr lang="en-US" sz="2000" spc="-15" dirty="0">
                <a:latin typeface="Times New Roman"/>
                <a:cs typeface="Times New Roman"/>
              </a:rPr>
              <a:t> </a:t>
            </a:r>
            <a:r>
              <a:rPr lang="en-US" sz="2000" dirty="0">
                <a:latin typeface="Times New Roman"/>
                <a:cs typeface="Times New Roman"/>
              </a:rPr>
              <a:t>at</a:t>
            </a:r>
            <a:r>
              <a:rPr lang="en-US" sz="2000" spc="-25"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dirty="0">
                <a:latin typeface="Times New Roman"/>
                <a:cs typeface="Times New Roman"/>
              </a:rPr>
              <a:t>top</a:t>
            </a:r>
            <a:r>
              <a:rPr lang="en-US" sz="2000" spc="-20" dirty="0">
                <a:latin typeface="Times New Roman"/>
                <a:cs typeface="Times New Roman"/>
              </a:rPr>
              <a:t> </a:t>
            </a:r>
            <a:r>
              <a:rPr lang="en-US" sz="2000" dirty="0">
                <a:latin typeface="Times New Roman"/>
                <a:cs typeface="Times New Roman"/>
              </a:rPr>
              <a:t>of</a:t>
            </a:r>
            <a:r>
              <a:rPr lang="en-US" sz="2000" spc="-20"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spc="-10" dirty="0">
                <a:latin typeface="Times New Roman"/>
                <a:cs typeface="Times New Roman"/>
              </a:rPr>
              <a:t>tower</a:t>
            </a:r>
            <a:endParaRPr lang="en-US" sz="2000" dirty="0">
              <a:latin typeface="Times New Roman"/>
              <a:cs typeface="Times New Roman"/>
            </a:endParaRPr>
          </a:p>
          <a:p>
            <a:pPr marL="539749" indent="-457200">
              <a:lnSpc>
                <a:spcPct val="100000"/>
              </a:lnSpc>
              <a:spcBef>
                <a:spcPts val="290"/>
              </a:spcBef>
              <a:tabLst>
                <a:tab pos="413384" algn="l"/>
              </a:tabLst>
            </a:pPr>
            <a:r>
              <a:rPr lang="en-US" sz="2000" dirty="0">
                <a:latin typeface="Times New Roman"/>
                <a:cs typeface="Times New Roman"/>
              </a:rPr>
              <a:t>Lift</a:t>
            </a:r>
            <a:r>
              <a:rPr lang="en-US" sz="2000" spc="-30" dirty="0">
                <a:latin typeface="Times New Roman"/>
                <a:cs typeface="Times New Roman"/>
              </a:rPr>
              <a:t> </a:t>
            </a:r>
            <a:r>
              <a:rPr lang="en-US" sz="2000" dirty="0">
                <a:latin typeface="Times New Roman"/>
                <a:cs typeface="Times New Roman"/>
              </a:rPr>
              <a:t>is</a:t>
            </a:r>
            <a:r>
              <a:rPr lang="en-US" sz="2000" spc="-20" dirty="0">
                <a:latin typeface="Times New Roman"/>
                <a:cs typeface="Times New Roman"/>
              </a:rPr>
              <a:t> </a:t>
            </a:r>
            <a:r>
              <a:rPr lang="en-US" sz="2000" dirty="0">
                <a:latin typeface="Times New Roman"/>
                <a:cs typeface="Times New Roman"/>
              </a:rPr>
              <a:t>the</a:t>
            </a:r>
            <a:r>
              <a:rPr lang="en-US" sz="2000" spc="-25" dirty="0">
                <a:latin typeface="Times New Roman"/>
                <a:cs typeface="Times New Roman"/>
              </a:rPr>
              <a:t> </a:t>
            </a:r>
            <a:r>
              <a:rPr lang="en-US" sz="2000" dirty="0">
                <a:latin typeface="Times New Roman"/>
                <a:cs typeface="Times New Roman"/>
              </a:rPr>
              <a:t>main</a:t>
            </a:r>
            <a:r>
              <a:rPr lang="en-US" sz="2000" spc="10" dirty="0">
                <a:latin typeface="Times New Roman"/>
                <a:cs typeface="Times New Roman"/>
              </a:rPr>
              <a:t> </a:t>
            </a:r>
            <a:r>
              <a:rPr lang="en-US" sz="2000" spc="-20" dirty="0">
                <a:latin typeface="Times New Roman"/>
                <a:cs typeface="Times New Roman"/>
              </a:rPr>
              <a:t>force</a:t>
            </a:r>
            <a:endParaRPr lang="en-US" sz="2000" dirty="0">
              <a:latin typeface="Times New Roman"/>
              <a:cs typeface="Times New Roman"/>
            </a:endParaRPr>
          </a:p>
          <a:p>
            <a:pPr marL="539749" indent="-457200">
              <a:lnSpc>
                <a:spcPct val="100000"/>
              </a:lnSpc>
              <a:spcBef>
                <a:spcPts val="290"/>
              </a:spcBef>
              <a:tabLst>
                <a:tab pos="413384" algn="l"/>
              </a:tabLst>
            </a:pPr>
            <a:r>
              <a:rPr lang="en-US" sz="2000" dirty="0">
                <a:latin typeface="Times New Roman"/>
                <a:cs typeface="Times New Roman"/>
              </a:rPr>
              <a:t>Yaw</a:t>
            </a:r>
            <a:r>
              <a:rPr lang="en-US" sz="2000" spc="-40" dirty="0">
                <a:latin typeface="Times New Roman"/>
                <a:cs typeface="Times New Roman"/>
              </a:rPr>
              <a:t> </a:t>
            </a:r>
            <a:r>
              <a:rPr lang="en-US" sz="2000" dirty="0">
                <a:latin typeface="Times New Roman"/>
                <a:cs typeface="Times New Roman"/>
              </a:rPr>
              <a:t>mechanism</a:t>
            </a:r>
            <a:r>
              <a:rPr lang="en-US" sz="2000" spc="10" dirty="0">
                <a:latin typeface="Times New Roman"/>
                <a:cs typeface="Times New Roman"/>
              </a:rPr>
              <a:t> </a:t>
            </a:r>
            <a:r>
              <a:rPr lang="en-US" sz="2000" dirty="0">
                <a:latin typeface="Times New Roman"/>
                <a:cs typeface="Times New Roman"/>
              </a:rPr>
              <a:t>is</a:t>
            </a:r>
            <a:r>
              <a:rPr lang="en-US" sz="2000" spc="-25" dirty="0">
                <a:latin typeface="Times New Roman"/>
                <a:cs typeface="Times New Roman"/>
              </a:rPr>
              <a:t> </a:t>
            </a:r>
            <a:r>
              <a:rPr lang="en-US" sz="2000" spc="-10" dirty="0">
                <a:latin typeface="Times New Roman"/>
                <a:cs typeface="Times New Roman"/>
              </a:rPr>
              <a:t>required</a:t>
            </a:r>
            <a:endParaRPr lang="en-US" sz="2000" dirty="0">
              <a:latin typeface="Times New Roman"/>
              <a:cs typeface="Times New Roman"/>
            </a:endParaRPr>
          </a:p>
          <a:p>
            <a:pPr marL="539750" indent="-457200">
              <a:lnSpc>
                <a:spcPct val="100000"/>
              </a:lnSpc>
              <a:spcBef>
                <a:spcPts val="290"/>
              </a:spcBef>
              <a:tabLst>
                <a:tab pos="463550" algn="l"/>
              </a:tabLst>
            </a:pPr>
            <a:r>
              <a:rPr lang="en-US" sz="2000" dirty="0">
                <a:latin typeface="Times New Roman"/>
                <a:cs typeface="Times New Roman"/>
              </a:rPr>
              <a:t>95%</a:t>
            </a:r>
            <a:r>
              <a:rPr lang="en-US" sz="2000" spc="-45" dirty="0">
                <a:latin typeface="Times New Roman"/>
                <a:cs typeface="Times New Roman"/>
              </a:rPr>
              <a:t> </a:t>
            </a:r>
            <a:r>
              <a:rPr lang="en-US" sz="2000" dirty="0">
                <a:latin typeface="Times New Roman"/>
                <a:cs typeface="Times New Roman"/>
              </a:rPr>
              <a:t>of</a:t>
            </a:r>
            <a:r>
              <a:rPr lang="en-US" sz="2000" spc="-25" dirty="0">
                <a:latin typeface="Times New Roman"/>
                <a:cs typeface="Times New Roman"/>
              </a:rPr>
              <a:t> </a:t>
            </a:r>
            <a:r>
              <a:rPr lang="en-US" sz="2000" dirty="0">
                <a:latin typeface="Times New Roman"/>
                <a:cs typeface="Times New Roman"/>
              </a:rPr>
              <a:t>the</a:t>
            </a:r>
            <a:r>
              <a:rPr lang="en-US" sz="2000" spc="-25" dirty="0">
                <a:latin typeface="Times New Roman"/>
                <a:cs typeface="Times New Roman"/>
              </a:rPr>
              <a:t> </a:t>
            </a:r>
            <a:r>
              <a:rPr lang="en-US" sz="2000" dirty="0">
                <a:latin typeface="Times New Roman"/>
                <a:cs typeface="Times New Roman"/>
              </a:rPr>
              <a:t>existing</a:t>
            </a:r>
            <a:r>
              <a:rPr lang="en-US" sz="2000" spc="-20" dirty="0">
                <a:latin typeface="Times New Roman"/>
                <a:cs typeface="Times New Roman"/>
              </a:rPr>
              <a:t> </a:t>
            </a:r>
            <a:r>
              <a:rPr lang="en-US" sz="2000" dirty="0">
                <a:latin typeface="Times New Roman"/>
                <a:cs typeface="Times New Roman"/>
              </a:rPr>
              <a:t>turbines</a:t>
            </a:r>
            <a:r>
              <a:rPr lang="en-US" sz="2000" spc="-10" dirty="0">
                <a:latin typeface="Times New Roman"/>
                <a:cs typeface="Times New Roman"/>
              </a:rPr>
              <a:t> </a:t>
            </a:r>
            <a:r>
              <a:rPr lang="en-US" sz="2000" dirty="0">
                <a:latin typeface="Times New Roman"/>
                <a:cs typeface="Times New Roman"/>
              </a:rPr>
              <a:t>are</a:t>
            </a:r>
            <a:r>
              <a:rPr lang="en-US" sz="2000" spc="-20" dirty="0">
                <a:latin typeface="Times New Roman"/>
                <a:cs typeface="Times New Roman"/>
              </a:rPr>
              <a:t> </a:t>
            </a:r>
            <a:r>
              <a:rPr lang="en-US" sz="2000" spc="-10" dirty="0">
                <a:latin typeface="Times New Roman"/>
                <a:cs typeface="Times New Roman"/>
              </a:rPr>
              <a:t>HAWTs</a:t>
            </a:r>
            <a:endParaRPr lang="en-US" sz="2000" dirty="0">
              <a:latin typeface="Times New Roman"/>
              <a:cs typeface="Times New Roman"/>
            </a:endParaRPr>
          </a:p>
          <a:p>
            <a:pPr marL="539749" indent="-457200">
              <a:lnSpc>
                <a:spcPct val="100000"/>
              </a:lnSpc>
              <a:spcBef>
                <a:spcPts val="290"/>
              </a:spcBef>
              <a:tabLst>
                <a:tab pos="413384" algn="l"/>
              </a:tabLst>
            </a:pPr>
            <a:r>
              <a:rPr lang="en-US" sz="2000" dirty="0">
                <a:latin typeface="Times New Roman"/>
                <a:cs typeface="Times New Roman"/>
              </a:rPr>
              <a:t>High</a:t>
            </a:r>
            <a:r>
              <a:rPr lang="en-US" sz="2000" spc="-35" dirty="0">
                <a:latin typeface="Times New Roman"/>
                <a:cs typeface="Times New Roman"/>
              </a:rPr>
              <a:t> </a:t>
            </a:r>
            <a:r>
              <a:rPr lang="en-US" sz="2000" spc="-10" dirty="0">
                <a:latin typeface="Times New Roman"/>
                <a:cs typeface="Times New Roman"/>
              </a:rPr>
              <a:t>efficiency</a:t>
            </a:r>
            <a:endParaRPr lang="en-US" sz="2000" dirty="0">
              <a:latin typeface="Times New Roman"/>
              <a:cs typeface="Times New Roman"/>
            </a:endParaRPr>
          </a:p>
        </p:txBody>
      </p:sp>
      <p:pic>
        <p:nvPicPr>
          <p:cNvPr id="9" name="Content Placeholder 4">
            <a:extLst>
              <a:ext uri="{FF2B5EF4-FFF2-40B4-BE49-F238E27FC236}">
                <a16:creationId xmlns:a16="http://schemas.microsoft.com/office/drawing/2014/main" id="{A5DAA036-5B3B-1108-CD54-210469377019}"/>
              </a:ext>
            </a:extLst>
          </p:cNvPr>
          <p:cNvPicPr>
            <a:picLocks noGrp="1" noChangeAspect="1"/>
          </p:cNvPicPr>
          <p:nvPr>
            <p:ph sz="half" idx="2"/>
          </p:nvPr>
        </p:nvPicPr>
        <p:blipFill>
          <a:blip r:embed="rId2"/>
          <a:stretch>
            <a:fillRect/>
          </a:stretch>
        </p:blipFill>
        <p:spPr>
          <a:xfrm>
            <a:off x="6562112" y="1575158"/>
            <a:ext cx="4791688" cy="4601805"/>
          </a:xfrm>
          <a:prstGeom prst="rect">
            <a:avLst/>
          </a:prstGeom>
        </p:spPr>
      </p:pic>
    </p:spTree>
    <p:extLst>
      <p:ext uri="{BB962C8B-B14F-4D97-AF65-F5344CB8AC3E}">
        <p14:creationId xmlns:p14="http://schemas.microsoft.com/office/powerpoint/2010/main" val="2570105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71FE-5C88-F96C-742D-5950B8790B3C}"/>
              </a:ext>
            </a:extLst>
          </p:cNvPr>
          <p:cNvSpPr>
            <a:spLocks noGrp="1"/>
          </p:cNvSpPr>
          <p:nvPr>
            <p:ph type="title"/>
          </p:nvPr>
        </p:nvSpPr>
        <p:spPr/>
        <p:txBody>
          <a:bodyPr/>
          <a:lstStyle/>
          <a:p>
            <a:r>
              <a:rPr lang="en-US" b="1" dirty="0">
                <a:cs typeface="Times New Roman"/>
              </a:rPr>
              <a:t>Horizontal</a:t>
            </a:r>
            <a:r>
              <a:rPr lang="en-US" b="1" spc="7" dirty="0">
                <a:cs typeface="Times New Roman"/>
              </a:rPr>
              <a:t> </a:t>
            </a:r>
            <a:r>
              <a:rPr lang="en-US" b="1" dirty="0">
                <a:cs typeface="Times New Roman"/>
              </a:rPr>
              <a:t>Axis</a:t>
            </a:r>
            <a:r>
              <a:rPr lang="en-US" b="1" spc="-53" dirty="0">
                <a:cs typeface="Times New Roman"/>
              </a:rPr>
              <a:t> </a:t>
            </a:r>
            <a:r>
              <a:rPr lang="en-US" b="1" dirty="0">
                <a:cs typeface="Times New Roman"/>
              </a:rPr>
              <a:t>Wind</a:t>
            </a:r>
            <a:r>
              <a:rPr lang="en-US" b="1" spc="-33" dirty="0">
                <a:cs typeface="Times New Roman"/>
              </a:rPr>
              <a:t> </a:t>
            </a:r>
            <a:r>
              <a:rPr lang="en-US" b="1" dirty="0">
                <a:cs typeface="Times New Roman"/>
              </a:rPr>
              <a:t>Turbine</a:t>
            </a:r>
            <a:r>
              <a:rPr lang="en-US" b="1" spc="-40" dirty="0">
                <a:cs typeface="Times New Roman"/>
              </a:rPr>
              <a:t> </a:t>
            </a:r>
            <a:r>
              <a:rPr lang="en-US" b="1" dirty="0">
                <a:cs typeface="Times New Roman"/>
              </a:rPr>
              <a:t>(HAWT)</a:t>
            </a:r>
            <a:r>
              <a:rPr lang="en-US" b="1" spc="-27" dirty="0">
                <a:cs typeface="Times New Roman"/>
              </a:rPr>
              <a:t> </a:t>
            </a:r>
            <a:endParaRPr lang="en-IN" dirty="0"/>
          </a:p>
        </p:txBody>
      </p:sp>
      <p:sp>
        <p:nvSpPr>
          <p:cNvPr id="3" name="Content Placeholder 2">
            <a:extLst>
              <a:ext uri="{FF2B5EF4-FFF2-40B4-BE49-F238E27FC236}">
                <a16:creationId xmlns:a16="http://schemas.microsoft.com/office/drawing/2014/main" id="{1136FD0D-1392-FFA4-6924-78556B9C030F}"/>
              </a:ext>
            </a:extLst>
          </p:cNvPr>
          <p:cNvSpPr>
            <a:spLocks noGrp="1"/>
          </p:cNvSpPr>
          <p:nvPr>
            <p:ph idx="1"/>
          </p:nvPr>
        </p:nvSpPr>
        <p:spPr/>
        <p:txBody>
          <a:bodyPr>
            <a:normAutofit/>
          </a:bodyPr>
          <a:lstStyle/>
          <a:p>
            <a:r>
              <a:rPr lang="en-US" dirty="0"/>
              <a:t>Three horizontal-axis wind turbine rotor configurations: </a:t>
            </a:r>
          </a:p>
          <a:p>
            <a:pPr lvl="1"/>
            <a:r>
              <a:rPr lang="en-US" dirty="0"/>
              <a:t>Single-blade with counterweight</a:t>
            </a:r>
          </a:p>
          <a:p>
            <a:pPr lvl="1"/>
            <a:r>
              <a:rPr lang="en-US" dirty="0"/>
              <a:t>Two-blade, and </a:t>
            </a:r>
          </a:p>
          <a:p>
            <a:pPr lvl="1"/>
            <a:r>
              <a:rPr lang="en-US" dirty="0"/>
              <a:t>Three-blade rotors</a:t>
            </a:r>
          </a:p>
          <a:p>
            <a:pPr lvl="1"/>
            <a:r>
              <a:rPr lang="en-US" dirty="0">
                <a:latin typeface="Times New Roman"/>
                <a:cs typeface="Times New Roman"/>
              </a:rPr>
              <a:t>Multiple-Blade</a:t>
            </a:r>
            <a:r>
              <a:rPr lang="en-US" spc="60" dirty="0">
                <a:latin typeface="Times New Roman"/>
                <a:cs typeface="Times New Roman"/>
              </a:rPr>
              <a:t> </a:t>
            </a:r>
            <a:r>
              <a:rPr lang="en-US" spc="-13" dirty="0">
                <a:latin typeface="Times New Roman"/>
                <a:cs typeface="Times New Roman"/>
              </a:rPr>
              <a:t>Turbines</a:t>
            </a:r>
            <a:endParaRPr lang="en-US" dirty="0">
              <a:latin typeface="Times New Roman"/>
              <a:cs typeface="Times New Roman"/>
            </a:endParaRPr>
          </a:p>
        </p:txBody>
      </p:sp>
      <p:pic>
        <p:nvPicPr>
          <p:cNvPr id="4" name="object 4"/>
          <p:cNvPicPr>
            <a:picLocks/>
          </p:cNvPicPr>
          <p:nvPr/>
        </p:nvPicPr>
        <p:blipFill>
          <a:blip r:embed="rId2" cstate="print"/>
          <a:stretch>
            <a:fillRect/>
          </a:stretch>
        </p:blipFill>
        <p:spPr>
          <a:xfrm>
            <a:off x="4857746" y="2843630"/>
            <a:ext cx="6820732" cy="3649245"/>
          </a:xfrm>
          <a:prstGeom prst="rect">
            <a:avLst/>
          </a:prstGeom>
        </p:spPr>
      </p:pic>
    </p:spTree>
    <p:extLst>
      <p:ext uri="{BB962C8B-B14F-4D97-AF65-F5344CB8AC3E}">
        <p14:creationId xmlns:p14="http://schemas.microsoft.com/office/powerpoint/2010/main" val="2519152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E3A91-E9B6-B308-20F1-BB4EB637BC67}"/>
              </a:ext>
            </a:extLst>
          </p:cNvPr>
          <p:cNvSpPr>
            <a:spLocks noGrp="1"/>
          </p:cNvSpPr>
          <p:nvPr>
            <p:ph type="title"/>
          </p:nvPr>
        </p:nvSpPr>
        <p:spPr/>
        <p:txBody>
          <a:bodyPr/>
          <a:lstStyle/>
          <a:p>
            <a:r>
              <a:rPr lang="en-US" b="1" dirty="0">
                <a:cs typeface="Times New Roman"/>
              </a:rPr>
              <a:t>HAWT - Types</a:t>
            </a:r>
            <a:endParaRPr lang="en-IN" b="1" dirty="0"/>
          </a:p>
        </p:txBody>
      </p:sp>
      <p:sp>
        <p:nvSpPr>
          <p:cNvPr id="5" name="Content Placeholder 4">
            <a:extLst>
              <a:ext uri="{FF2B5EF4-FFF2-40B4-BE49-F238E27FC236}">
                <a16:creationId xmlns:a16="http://schemas.microsoft.com/office/drawing/2014/main" id="{9E55D077-CFC8-D28E-745C-5178545D3973}"/>
              </a:ext>
            </a:extLst>
          </p:cNvPr>
          <p:cNvSpPr>
            <a:spLocks noGrp="1"/>
          </p:cNvSpPr>
          <p:nvPr>
            <p:ph idx="1"/>
          </p:nvPr>
        </p:nvSpPr>
        <p:spPr>
          <a:xfrm>
            <a:off x="838200" y="1570382"/>
            <a:ext cx="10515600" cy="5059017"/>
          </a:xfrm>
        </p:spPr>
        <p:txBody>
          <a:bodyPr>
            <a:normAutofit/>
          </a:bodyPr>
          <a:lstStyle/>
          <a:p>
            <a:r>
              <a:rPr lang="en-US" sz="2400" b="1" dirty="0"/>
              <a:t>Single-blade rotor</a:t>
            </a:r>
          </a:p>
          <a:p>
            <a:pPr lvl="1"/>
            <a:r>
              <a:rPr lang="en-US" sz="2000" dirty="0"/>
              <a:t>A rotor with one long blade and a counterbalance weight on the opposite side to keep the rotor dynamically balanced during rotation.​</a:t>
            </a:r>
          </a:p>
          <a:p>
            <a:pPr lvl="1"/>
            <a:r>
              <a:rPr lang="en-US" sz="2000" dirty="0"/>
              <a:t>Such designs reduce material cost but are uncommon because they suffer from higher vibration and fatigue loads, and the counterweight adds mechanical complexity.​</a:t>
            </a:r>
          </a:p>
          <a:p>
            <a:r>
              <a:rPr lang="en-US" sz="2400" b="1" dirty="0"/>
              <a:t>Two-blade rotor</a:t>
            </a:r>
          </a:p>
          <a:p>
            <a:pPr lvl="1"/>
            <a:r>
              <a:rPr lang="en-US" sz="2000" dirty="0"/>
              <a:t>A rotor with two blades placed opposite each other around the hub.​</a:t>
            </a:r>
          </a:p>
          <a:p>
            <a:pPr lvl="1"/>
            <a:r>
              <a:rPr lang="en-US" sz="2000" dirty="0"/>
              <a:t>Two-bladed turbines are lighter and can rotate faster, but they experience larger cyclic loads and can be noisier and less smooth in operation than three-blade designs.​</a:t>
            </a:r>
          </a:p>
          <a:p>
            <a:r>
              <a:rPr lang="en-US" sz="2400" b="1" dirty="0"/>
              <a:t>Three-blade rotor</a:t>
            </a:r>
          </a:p>
          <a:p>
            <a:pPr lvl="1"/>
            <a:r>
              <a:rPr lang="en-US" sz="2000" dirty="0"/>
              <a:t>The standard modern configuration with three evenly spaced blades around the hub.​</a:t>
            </a:r>
          </a:p>
          <a:p>
            <a:pPr lvl="1"/>
            <a:r>
              <a:rPr lang="en-US" sz="2000" dirty="0"/>
              <a:t>Three blades provide a good balance of aerodynamic efficiency, structural stability, and low noise, which is why most commercial wind turbines use this arrangement.</a:t>
            </a:r>
            <a:br>
              <a:rPr lang="en-US" sz="2000" dirty="0"/>
            </a:br>
            <a:endParaRPr lang="en-IN" sz="2000" dirty="0"/>
          </a:p>
        </p:txBody>
      </p:sp>
    </p:spTree>
    <p:extLst>
      <p:ext uri="{BB962C8B-B14F-4D97-AF65-F5344CB8AC3E}">
        <p14:creationId xmlns:p14="http://schemas.microsoft.com/office/powerpoint/2010/main" val="3088788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0673" y="1103230"/>
            <a:ext cx="10302979" cy="3028971"/>
          </a:xfrm>
          <a:prstGeom prst="rect">
            <a:avLst/>
          </a:prstGeom>
        </p:spPr>
        <p:txBody>
          <a:bodyPr vert="horz" wrap="square" lIns="0" tIns="106680" rIns="0" bIns="0" rtlCol="0">
            <a:spAutoFit/>
          </a:bodyPr>
          <a:lstStyle/>
          <a:p>
            <a:pPr marL="16933">
              <a:spcBef>
                <a:spcPts val="840"/>
              </a:spcBef>
            </a:pPr>
            <a:r>
              <a:rPr sz="2333" b="1" dirty="0">
                <a:latin typeface="Times New Roman"/>
                <a:cs typeface="Times New Roman"/>
              </a:rPr>
              <a:t>Multiple-Blade</a:t>
            </a:r>
            <a:r>
              <a:rPr sz="2333" b="1" spc="60" dirty="0">
                <a:latin typeface="Times New Roman"/>
                <a:cs typeface="Times New Roman"/>
              </a:rPr>
              <a:t> </a:t>
            </a:r>
            <a:r>
              <a:rPr sz="2333" b="1" spc="-13" dirty="0">
                <a:latin typeface="Times New Roman"/>
                <a:cs typeface="Times New Roman"/>
              </a:rPr>
              <a:t>Turbines</a:t>
            </a:r>
            <a:endParaRPr sz="2333" dirty="0">
              <a:latin typeface="Times New Roman"/>
              <a:cs typeface="Times New Roman"/>
            </a:endParaRPr>
          </a:p>
          <a:p>
            <a:pPr marL="625475" indent="-455613">
              <a:spcBef>
                <a:spcPts val="687"/>
              </a:spcBef>
              <a:buChar char="●"/>
              <a:tabLst>
                <a:tab pos="625671" algn="l"/>
              </a:tabLst>
            </a:pPr>
            <a:r>
              <a:rPr sz="2400" dirty="0">
                <a:latin typeface="Times New Roman"/>
                <a:cs typeface="Times New Roman"/>
              </a:rPr>
              <a:t>They</a:t>
            </a:r>
            <a:r>
              <a:rPr sz="2400" spc="-33"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spc="-13" dirty="0">
                <a:latin typeface="Times New Roman"/>
                <a:cs typeface="Times New Roman"/>
              </a:rPr>
              <a:t>low-</a:t>
            </a:r>
            <a:r>
              <a:rPr sz="2400" dirty="0">
                <a:latin typeface="Times New Roman"/>
                <a:cs typeface="Times New Roman"/>
              </a:rPr>
              <a:t>speed</a:t>
            </a:r>
            <a:r>
              <a:rPr sz="2400" spc="-27" dirty="0">
                <a:latin typeface="Times New Roman"/>
                <a:cs typeface="Times New Roman"/>
              </a:rPr>
              <a:t> </a:t>
            </a:r>
            <a:r>
              <a:rPr sz="2400" spc="-13" dirty="0">
                <a:latin typeface="Times New Roman"/>
                <a:cs typeface="Times New Roman"/>
              </a:rPr>
              <a:t>rotors</a:t>
            </a:r>
            <a:endParaRPr sz="2400" dirty="0">
              <a:latin typeface="Times New Roman"/>
              <a:cs typeface="Times New Roman"/>
            </a:endParaRPr>
          </a:p>
          <a:p>
            <a:pPr marL="625475" indent="-455613">
              <a:spcBef>
                <a:spcPts val="433"/>
              </a:spcBef>
              <a:buChar char="●"/>
              <a:tabLst>
                <a:tab pos="625671" algn="l"/>
              </a:tabLst>
            </a:pPr>
            <a:r>
              <a:rPr lang="en-IN" sz="2400" dirty="0">
                <a:latin typeface="Times New Roman"/>
                <a:cs typeface="Times New Roman"/>
              </a:rPr>
              <a:t>Most </a:t>
            </a:r>
            <a:r>
              <a:rPr sz="2400" dirty="0">
                <a:latin typeface="Times New Roman"/>
                <a:cs typeface="Times New Roman"/>
              </a:rPr>
              <a:t>suited</a:t>
            </a:r>
            <a:r>
              <a:rPr sz="2400" spc="-33" dirty="0">
                <a:latin typeface="Times New Roman"/>
                <a:cs typeface="Times New Roman"/>
              </a:rPr>
              <a:t> </a:t>
            </a:r>
            <a:r>
              <a:rPr sz="2400" dirty="0">
                <a:latin typeface="Times New Roman"/>
                <a:cs typeface="Times New Roman"/>
              </a:rPr>
              <a:t>for</a:t>
            </a:r>
            <a:r>
              <a:rPr sz="2400" spc="-53" dirty="0">
                <a:latin typeface="Times New Roman"/>
                <a:cs typeface="Times New Roman"/>
              </a:rPr>
              <a:t> </a:t>
            </a:r>
            <a:r>
              <a:rPr sz="2400" dirty="0">
                <a:latin typeface="Times New Roman"/>
                <a:cs typeface="Times New Roman"/>
              </a:rPr>
              <a:t>water</a:t>
            </a:r>
            <a:r>
              <a:rPr sz="2400" spc="-33" dirty="0">
                <a:latin typeface="Times New Roman"/>
                <a:cs typeface="Times New Roman"/>
              </a:rPr>
              <a:t> </a:t>
            </a:r>
            <a:r>
              <a:rPr sz="2400" dirty="0">
                <a:latin typeface="Times New Roman"/>
                <a:cs typeface="Times New Roman"/>
              </a:rPr>
              <a:t>lifting</a:t>
            </a:r>
            <a:r>
              <a:rPr sz="2400" spc="-33" dirty="0">
                <a:latin typeface="Times New Roman"/>
                <a:cs typeface="Times New Roman"/>
              </a:rPr>
              <a:t> </a:t>
            </a:r>
            <a:r>
              <a:rPr sz="2400" dirty="0">
                <a:latin typeface="Times New Roman"/>
                <a:cs typeface="Times New Roman"/>
              </a:rPr>
              <a:t>applications,</a:t>
            </a:r>
            <a:r>
              <a:rPr sz="2400" spc="-73" dirty="0">
                <a:latin typeface="Times New Roman"/>
                <a:cs typeface="Times New Roman"/>
              </a:rPr>
              <a:t> </a:t>
            </a:r>
            <a:r>
              <a:rPr sz="2400" dirty="0">
                <a:latin typeface="Times New Roman"/>
                <a:cs typeface="Times New Roman"/>
              </a:rPr>
              <a:t>which</a:t>
            </a:r>
            <a:r>
              <a:rPr sz="2400" spc="-40" dirty="0">
                <a:latin typeface="Times New Roman"/>
                <a:cs typeface="Times New Roman"/>
              </a:rPr>
              <a:t> </a:t>
            </a:r>
            <a:r>
              <a:rPr sz="2400" dirty="0">
                <a:latin typeface="Times New Roman"/>
                <a:cs typeface="Times New Roman"/>
              </a:rPr>
              <a:t>require</a:t>
            </a:r>
            <a:r>
              <a:rPr sz="2400" spc="-53" dirty="0">
                <a:latin typeface="Times New Roman"/>
                <a:cs typeface="Times New Roman"/>
              </a:rPr>
              <a:t> </a:t>
            </a:r>
            <a:r>
              <a:rPr sz="2400" dirty="0">
                <a:latin typeface="Times New Roman"/>
                <a:cs typeface="Times New Roman"/>
              </a:rPr>
              <a:t>high</a:t>
            </a:r>
            <a:r>
              <a:rPr sz="2400" spc="-33" dirty="0">
                <a:latin typeface="Times New Roman"/>
                <a:cs typeface="Times New Roman"/>
              </a:rPr>
              <a:t> </a:t>
            </a:r>
            <a:r>
              <a:rPr sz="2400" dirty="0">
                <a:latin typeface="Times New Roman"/>
                <a:cs typeface="Times New Roman"/>
              </a:rPr>
              <a:t>starting</a:t>
            </a:r>
            <a:r>
              <a:rPr sz="2400" spc="-47" dirty="0">
                <a:latin typeface="Times New Roman"/>
                <a:cs typeface="Times New Roman"/>
              </a:rPr>
              <a:t> </a:t>
            </a:r>
            <a:r>
              <a:rPr sz="2400" spc="-13" dirty="0">
                <a:latin typeface="Times New Roman"/>
                <a:cs typeface="Times New Roman"/>
              </a:rPr>
              <a:t>torque.</a:t>
            </a:r>
            <a:endParaRPr sz="2400" dirty="0">
              <a:latin typeface="Times New Roman"/>
              <a:cs typeface="Times New Roman"/>
            </a:endParaRPr>
          </a:p>
          <a:p>
            <a:pPr marL="625475" indent="-455613">
              <a:spcBef>
                <a:spcPts val="427"/>
              </a:spcBef>
              <a:buChar char="●"/>
              <a:tabLst>
                <a:tab pos="625671" algn="l"/>
              </a:tabLst>
            </a:pPr>
            <a:r>
              <a:rPr sz="2400" dirty="0">
                <a:latin typeface="Times New Roman"/>
                <a:cs typeface="Times New Roman"/>
              </a:rPr>
              <a:t>They</a:t>
            </a:r>
            <a:r>
              <a:rPr sz="2400" spc="-53" dirty="0">
                <a:latin typeface="Times New Roman"/>
                <a:cs typeface="Times New Roman"/>
              </a:rPr>
              <a:t> </a:t>
            </a:r>
            <a:r>
              <a:rPr sz="2400" dirty="0">
                <a:latin typeface="Times New Roman"/>
                <a:cs typeface="Times New Roman"/>
              </a:rPr>
              <a:t>can</a:t>
            </a:r>
            <a:r>
              <a:rPr sz="2400" spc="-47" dirty="0">
                <a:latin typeface="Times New Roman"/>
                <a:cs typeface="Times New Roman"/>
              </a:rPr>
              <a:t> </a:t>
            </a:r>
            <a:r>
              <a:rPr sz="2400" dirty="0">
                <a:latin typeface="Times New Roman"/>
                <a:cs typeface="Times New Roman"/>
              </a:rPr>
              <a:t>capture</a:t>
            </a:r>
            <a:r>
              <a:rPr sz="2400" spc="-60" dirty="0">
                <a:latin typeface="Times New Roman"/>
                <a:cs typeface="Times New Roman"/>
              </a:rPr>
              <a:t> </a:t>
            </a:r>
            <a:r>
              <a:rPr sz="2400" dirty="0">
                <a:latin typeface="Times New Roman"/>
                <a:cs typeface="Times New Roman"/>
              </a:rPr>
              <a:t>power</a:t>
            </a:r>
            <a:r>
              <a:rPr sz="2400" spc="-33" dirty="0">
                <a:latin typeface="Times New Roman"/>
                <a:cs typeface="Times New Roman"/>
              </a:rPr>
              <a:t> </a:t>
            </a:r>
            <a:r>
              <a:rPr sz="2400" dirty="0">
                <a:latin typeface="Times New Roman"/>
                <a:cs typeface="Times New Roman"/>
              </a:rPr>
              <a:t>even</a:t>
            </a:r>
            <a:r>
              <a:rPr sz="2400" spc="-40" dirty="0">
                <a:latin typeface="Times New Roman"/>
                <a:cs typeface="Times New Roman"/>
              </a:rPr>
              <a:t> </a:t>
            </a:r>
            <a:r>
              <a:rPr sz="2400" dirty="0">
                <a:latin typeface="Times New Roman"/>
                <a:cs typeface="Times New Roman"/>
              </a:rPr>
              <a:t>from</a:t>
            </a:r>
            <a:r>
              <a:rPr sz="2400" spc="-40" dirty="0">
                <a:latin typeface="Times New Roman"/>
                <a:cs typeface="Times New Roman"/>
              </a:rPr>
              <a:t> </a:t>
            </a:r>
            <a:r>
              <a:rPr sz="2400" dirty="0">
                <a:latin typeface="Times New Roman"/>
                <a:cs typeface="Times New Roman"/>
              </a:rPr>
              <a:t>very</a:t>
            </a:r>
            <a:r>
              <a:rPr sz="2400" spc="-40" dirty="0">
                <a:latin typeface="Times New Roman"/>
                <a:cs typeface="Times New Roman"/>
              </a:rPr>
              <a:t> </a:t>
            </a:r>
            <a:r>
              <a:rPr sz="2400" dirty="0">
                <a:latin typeface="Times New Roman"/>
                <a:cs typeface="Times New Roman"/>
              </a:rPr>
              <a:t>slow</a:t>
            </a:r>
            <a:r>
              <a:rPr sz="2400" spc="-53" dirty="0">
                <a:latin typeface="Times New Roman"/>
                <a:cs typeface="Times New Roman"/>
              </a:rPr>
              <a:t> </a:t>
            </a:r>
            <a:r>
              <a:rPr sz="2400" spc="-13" dirty="0">
                <a:latin typeface="Times New Roman"/>
                <a:cs typeface="Times New Roman"/>
              </a:rPr>
              <a:t>winds.</a:t>
            </a:r>
            <a:endParaRPr sz="2400" dirty="0">
              <a:latin typeface="Times New Roman"/>
              <a:cs typeface="Times New Roman"/>
            </a:endParaRPr>
          </a:p>
          <a:p>
            <a:pPr marL="625475" indent="-455613">
              <a:spcBef>
                <a:spcPts val="433"/>
              </a:spcBef>
              <a:buChar char="●"/>
              <a:tabLst>
                <a:tab pos="701022" algn="l"/>
              </a:tabLst>
            </a:pPr>
            <a:r>
              <a:rPr sz="2400" dirty="0">
                <a:latin typeface="Times New Roman"/>
                <a:cs typeface="Times New Roman"/>
              </a:rPr>
              <a:t>Such</a:t>
            </a:r>
            <a:r>
              <a:rPr sz="2400" spc="-13" dirty="0">
                <a:latin typeface="Times New Roman"/>
                <a:cs typeface="Times New Roman"/>
              </a:rPr>
              <a:t> </a:t>
            </a:r>
            <a:r>
              <a:rPr sz="2400" dirty="0">
                <a:latin typeface="Times New Roman"/>
                <a:cs typeface="Times New Roman"/>
              </a:rPr>
              <a:t>a</a:t>
            </a:r>
            <a:r>
              <a:rPr sz="2400" spc="-7" dirty="0">
                <a:latin typeface="Times New Roman"/>
                <a:cs typeface="Times New Roman"/>
              </a:rPr>
              <a:t> </a:t>
            </a:r>
            <a:r>
              <a:rPr sz="2400" dirty="0">
                <a:latin typeface="Times New Roman"/>
                <a:cs typeface="Times New Roman"/>
              </a:rPr>
              <a:t>turbine</a:t>
            </a:r>
            <a:r>
              <a:rPr sz="2400" spc="-7" dirty="0">
                <a:latin typeface="Times New Roman"/>
                <a:cs typeface="Times New Roman"/>
              </a:rPr>
              <a:t> </a:t>
            </a:r>
            <a:r>
              <a:rPr sz="2400" dirty="0">
                <a:latin typeface="Times New Roman"/>
                <a:cs typeface="Times New Roman"/>
              </a:rPr>
              <a:t>is</a:t>
            </a:r>
            <a:r>
              <a:rPr sz="2400" spc="-27" dirty="0">
                <a:latin typeface="Times New Roman"/>
                <a:cs typeface="Times New Roman"/>
              </a:rPr>
              <a:t> </a:t>
            </a:r>
            <a:r>
              <a:rPr sz="2400" dirty="0">
                <a:latin typeface="Times New Roman"/>
                <a:cs typeface="Times New Roman"/>
              </a:rPr>
              <a:t>usually</a:t>
            </a:r>
            <a:r>
              <a:rPr sz="2400" spc="-20" dirty="0">
                <a:latin typeface="Times New Roman"/>
                <a:cs typeface="Times New Roman"/>
              </a:rPr>
              <a:t> </a:t>
            </a:r>
            <a:r>
              <a:rPr sz="2400" dirty="0">
                <a:latin typeface="Times New Roman"/>
                <a:cs typeface="Times New Roman"/>
              </a:rPr>
              <a:t>mounted on</a:t>
            </a:r>
            <a:r>
              <a:rPr sz="2400" spc="-20" dirty="0">
                <a:latin typeface="Times New Roman"/>
                <a:cs typeface="Times New Roman"/>
              </a:rPr>
              <a:t> </a:t>
            </a:r>
            <a:r>
              <a:rPr sz="2400" dirty="0">
                <a:latin typeface="Times New Roman"/>
                <a:cs typeface="Times New Roman"/>
              </a:rPr>
              <a:t>a</a:t>
            </a:r>
            <a:r>
              <a:rPr sz="2400" spc="-7" dirty="0">
                <a:latin typeface="Times New Roman"/>
                <a:cs typeface="Times New Roman"/>
              </a:rPr>
              <a:t> </a:t>
            </a:r>
            <a:r>
              <a:rPr sz="2400" dirty="0">
                <a:latin typeface="Times New Roman"/>
                <a:cs typeface="Times New Roman"/>
              </a:rPr>
              <a:t>horizontal</a:t>
            </a:r>
            <a:r>
              <a:rPr sz="2400" spc="-20" dirty="0">
                <a:latin typeface="Times New Roman"/>
                <a:cs typeface="Times New Roman"/>
              </a:rPr>
              <a:t> </a:t>
            </a:r>
            <a:r>
              <a:rPr sz="2400" spc="-13" dirty="0">
                <a:latin typeface="Times New Roman"/>
                <a:cs typeface="Times New Roman"/>
              </a:rPr>
              <a:t>shaft</a:t>
            </a:r>
            <a:endParaRPr sz="2400" dirty="0">
              <a:latin typeface="Times New Roman"/>
              <a:cs typeface="Times New Roman"/>
            </a:endParaRPr>
          </a:p>
          <a:p>
            <a:pPr marL="625475" indent="-455613">
              <a:spcBef>
                <a:spcPts val="440"/>
              </a:spcBef>
              <a:buChar char="●"/>
              <a:tabLst>
                <a:tab pos="625671" algn="l"/>
              </a:tabLst>
            </a:pPr>
            <a:r>
              <a:rPr sz="2400" dirty="0">
                <a:latin typeface="Times New Roman"/>
                <a:cs typeface="Times New Roman"/>
              </a:rPr>
              <a:t>They</a:t>
            </a:r>
            <a:r>
              <a:rPr sz="2400" spc="-60" dirty="0">
                <a:latin typeface="Times New Roman"/>
                <a:cs typeface="Times New Roman"/>
              </a:rPr>
              <a:t> </a:t>
            </a:r>
            <a:r>
              <a:rPr sz="2400" dirty="0">
                <a:latin typeface="Times New Roman"/>
                <a:cs typeface="Times New Roman"/>
              </a:rPr>
              <a:t>have</a:t>
            </a:r>
            <a:r>
              <a:rPr sz="2400" spc="-40" dirty="0">
                <a:latin typeface="Times New Roman"/>
                <a:cs typeface="Times New Roman"/>
              </a:rPr>
              <a:t> </a:t>
            </a:r>
            <a:r>
              <a:rPr sz="2400" dirty="0">
                <a:latin typeface="Times New Roman"/>
                <a:cs typeface="Times New Roman"/>
              </a:rPr>
              <a:t>lower</a:t>
            </a:r>
            <a:r>
              <a:rPr sz="2400" spc="-53" dirty="0">
                <a:latin typeface="Times New Roman"/>
                <a:cs typeface="Times New Roman"/>
              </a:rPr>
              <a:t> </a:t>
            </a:r>
            <a:r>
              <a:rPr sz="2400" dirty="0">
                <a:latin typeface="Times New Roman"/>
                <a:cs typeface="Times New Roman"/>
              </a:rPr>
              <a:t>efficiency</a:t>
            </a:r>
            <a:r>
              <a:rPr sz="2400" spc="-80" dirty="0">
                <a:latin typeface="Times New Roman"/>
                <a:cs typeface="Times New Roman"/>
              </a:rPr>
              <a:t> </a:t>
            </a:r>
            <a:r>
              <a:rPr sz="2400" dirty="0">
                <a:latin typeface="Times New Roman"/>
                <a:cs typeface="Times New Roman"/>
              </a:rPr>
              <a:t>than</a:t>
            </a:r>
            <a:r>
              <a:rPr sz="2400" spc="-53" dirty="0">
                <a:latin typeface="Times New Roman"/>
                <a:cs typeface="Times New Roman"/>
              </a:rPr>
              <a:t> </a:t>
            </a:r>
            <a:r>
              <a:rPr sz="2400" dirty="0">
                <a:latin typeface="Times New Roman"/>
                <a:cs typeface="Times New Roman"/>
              </a:rPr>
              <a:t>that</a:t>
            </a:r>
            <a:r>
              <a:rPr sz="2400" spc="-47" dirty="0">
                <a:latin typeface="Times New Roman"/>
                <a:cs typeface="Times New Roman"/>
              </a:rPr>
              <a:t> </a:t>
            </a:r>
            <a:r>
              <a:rPr sz="2400" dirty="0">
                <a:latin typeface="Times New Roman"/>
                <a:cs typeface="Times New Roman"/>
              </a:rPr>
              <a:t>of</a:t>
            </a:r>
            <a:r>
              <a:rPr sz="2400" spc="-53" dirty="0">
                <a:latin typeface="Times New Roman"/>
                <a:cs typeface="Times New Roman"/>
              </a:rPr>
              <a:t> </a:t>
            </a:r>
            <a:r>
              <a:rPr sz="2400" dirty="0">
                <a:latin typeface="Times New Roman"/>
                <a:cs typeface="Times New Roman"/>
              </a:rPr>
              <a:t>blade</a:t>
            </a:r>
            <a:r>
              <a:rPr sz="2400" spc="-47" dirty="0">
                <a:latin typeface="Times New Roman"/>
                <a:cs typeface="Times New Roman"/>
              </a:rPr>
              <a:t> </a:t>
            </a:r>
            <a:r>
              <a:rPr sz="2400" dirty="0">
                <a:latin typeface="Times New Roman"/>
                <a:cs typeface="Times New Roman"/>
              </a:rPr>
              <a:t>(rotor)</a:t>
            </a:r>
            <a:r>
              <a:rPr sz="2400" spc="-40" dirty="0">
                <a:latin typeface="Times New Roman"/>
                <a:cs typeface="Times New Roman"/>
              </a:rPr>
              <a:t> </a:t>
            </a:r>
            <a:r>
              <a:rPr sz="2400" spc="-13" dirty="0">
                <a:latin typeface="Times New Roman"/>
                <a:cs typeface="Times New Roman"/>
              </a:rPr>
              <a:t>turbines</a:t>
            </a:r>
            <a:endParaRPr sz="2400" dirty="0">
              <a:latin typeface="Times New Roman"/>
              <a:cs typeface="Times New Roman"/>
            </a:endParaRPr>
          </a:p>
          <a:p>
            <a:pPr marL="625475" indent="-455613">
              <a:spcBef>
                <a:spcPts val="427"/>
              </a:spcBef>
              <a:buChar char="●"/>
              <a:tabLst>
                <a:tab pos="625671" algn="l"/>
              </a:tabLst>
            </a:pPr>
            <a:r>
              <a:rPr sz="2400" dirty="0">
                <a:latin typeface="Times New Roman"/>
                <a:cs typeface="Times New Roman"/>
              </a:rPr>
              <a:t>They</a:t>
            </a:r>
            <a:r>
              <a:rPr sz="2400" spc="-53" dirty="0">
                <a:latin typeface="Times New Roman"/>
                <a:cs typeface="Times New Roman"/>
              </a:rPr>
              <a:t> </a:t>
            </a:r>
            <a:r>
              <a:rPr sz="2400" dirty="0">
                <a:latin typeface="Times New Roman"/>
                <a:cs typeface="Times New Roman"/>
              </a:rPr>
              <a:t>demand</a:t>
            </a:r>
            <a:r>
              <a:rPr sz="2400" spc="-40" dirty="0">
                <a:latin typeface="Times New Roman"/>
                <a:cs typeface="Times New Roman"/>
              </a:rPr>
              <a:t> </a:t>
            </a:r>
            <a:r>
              <a:rPr sz="2400" dirty="0">
                <a:latin typeface="Times New Roman"/>
                <a:cs typeface="Times New Roman"/>
              </a:rPr>
              <a:t>very</a:t>
            </a:r>
            <a:r>
              <a:rPr sz="2400" spc="-27" dirty="0">
                <a:latin typeface="Times New Roman"/>
                <a:cs typeface="Times New Roman"/>
              </a:rPr>
              <a:t> </a:t>
            </a:r>
            <a:r>
              <a:rPr sz="2400" dirty="0">
                <a:latin typeface="Times New Roman"/>
                <a:cs typeface="Times New Roman"/>
              </a:rPr>
              <a:t>high</a:t>
            </a:r>
            <a:r>
              <a:rPr sz="2400" spc="-40" dirty="0">
                <a:latin typeface="Times New Roman"/>
                <a:cs typeface="Times New Roman"/>
              </a:rPr>
              <a:t> </a:t>
            </a:r>
            <a:r>
              <a:rPr sz="2400" spc="-13" dirty="0">
                <a:latin typeface="Times New Roman"/>
                <a:cs typeface="Times New Roman"/>
              </a:rPr>
              <a:t>towers</a:t>
            </a:r>
            <a:endParaRPr sz="2400" dirty="0">
              <a:latin typeface="Times New Roman"/>
              <a:cs typeface="Times New Roman"/>
            </a:endParaRPr>
          </a:p>
        </p:txBody>
      </p:sp>
      <p:pic>
        <p:nvPicPr>
          <p:cNvPr id="3" name="object 3"/>
          <p:cNvPicPr/>
          <p:nvPr/>
        </p:nvPicPr>
        <p:blipFill>
          <a:blip r:embed="rId2" cstate="print"/>
          <a:stretch>
            <a:fillRect/>
          </a:stretch>
        </p:blipFill>
        <p:spPr>
          <a:xfrm>
            <a:off x="5670472" y="3618371"/>
            <a:ext cx="5888736" cy="2826512"/>
          </a:xfrm>
          <a:prstGeom prst="rect">
            <a:avLst/>
          </a:prstGeom>
        </p:spPr>
      </p:pic>
      <p:sp>
        <p:nvSpPr>
          <p:cNvPr id="6" name="Title 1">
            <a:extLst>
              <a:ext uri="{FF2B5EF4-FFF2-40B4-BE49-F238E27FC236}">
                <a16:creationId xmlns:a16="http://schemas.microsoft.com/office/drawing/2014/main" id="{A4E123AB-CC80-D4C2-9FE0-82F980101E67}"/>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cs typeface="Times New Roman"/>
              </a:rPr>
              <a:t>HAWT - Types</a:t>
            </a:r>
            <a:endParaRPr lang="en-IN"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CCDA-AE5D-961A-66F5-BFE70884FCB1}"/>
              </a:ext>
            </a:extLst>
          </p:cNvPr>
          <p:cNvSpPr>
            <a:spLocks noGrp="1"/>
          </p:cNvSpPr>
          <p:nvPr>
            <p:ph type="title"/>
          </p:nvPr>
        </p:nvSpPr>
        <p:spPr/>
        <p:txBody>
          <a:bodyPr/>
          <a:lstStyle/>
          <a:p>
            <a:r>
              <a:rPr lang="en-IN" b="1" dirty="0"/>
              <a:t>HAWT advantages </a:t>
            </a:r>
            <a:endParaRPr lang="en-IN" dirty="0"/>
          </a:p>
        </p:txBody>
      </p:sp>
      <p:sp>
        <p:nvSpPr>
          <p:cNvPr id="3" name="Content Placeholder 2">
            <a:extLst>
              <a:ext uri="{FF2B5EF4-FFF2-40B4-BE49-F238E27FC236}">
                <a16:creationId xmlns:a16="http://schemas.microsoft.com/office/drawing/2014/main" id="{5839C16C-451D-59C1-2480-D5D27EA79495}"/>
              </a:ext>
            </a:extLst>
          </p:cNvPr>
          <p:cNvSpPr>
            <a:spLocks noGrp="1"/>
          </p:cNvSpPr>
          <p:nvPr>
            <p:ph idx="1"/>
          </p:nvPr>
        </p:nvSpPr>
        <p:spPr>
          <a:xfrm>
            <a:off x="838200" y="1620078"/>
            <a:ext cx="10515600" cy="4872797"/>
          </a:xfrm>
        </p:spPr>
        <p:txBody>
          <a:bodyPr>
            <a:normAutofit/>
          </a:bodyPr>
          <a:lstStyle/>
          <a:p>
            <a:r>
              <a:rPr lang="en-US" sz="2400" b="1" dirty="0"/>
              <a:t>Variable blade pitch</a:t>
            </a:r>
            <a:r>
              <a:rPr lang="en-US" sz="2400" dirty="0"/>
              <a:t>, which gives the turbine blades the optimum angle of attack. Allowing the angle of attack to be remotely adjusted gives greater control, so the turbine  collects the maximum amount of wind energy for the time of day and season. </a:t>
            </a:r>
          </a:p>
          <a:p>
            <a:r>
              <a:rPr lang="en-US" sz="2400" dirty="0"/>
              <a:t>The </a:t>
            </a:r>
            <a:r>
              <a:rPr lang="en-US" sz="2400" b="1" dirty="0"/>
              <a:t>tall tower base allows access to stronger wind in sites with wind shear</a:t>
            </a:r>
            <a:r>
              <a:rPr lang="en-US" sz="2400" dirty="0"/>
              <a:t>. In some wind  shear sites, every ten meters up, the wind speed can increase by 20% and the power </a:t>
            </a:r>
            <a:r>
              <a:rPr lang="en-IN" sz="2400" dirty="0"/>
              <a:t>output by 34%. </a:t>
            </a:r>
          </a:p>
          <a:p>
            <a:r>
              <a:rPr lang="en-US" sz="2400" b="1" dirty="0"/>
              <a:t>High efficiency</a:t>
            </a:r>
            <a:r>
              <a:rPr lang="en-US" sz="2400" dirty="0"/>
              <a:t>, since the blades always move perpendicularly to the wind, receiving power through the whole rotation. In contrast, all vertical axis wind turbines, and most proposed airborne wind turbine designs, involve various types of reciprocating actions, requiring airfoil surfaces to backtrack against the wind for part of the cycle. Backtracking against the wind leads to inherently lower efficiency.</a:t>
            </a:r>
            <a:endParaRPr lang="en-IN" sz="2400" dirty="0"/>
          </a:p>
        </p:txBody>
      </p:sp>
    </p:spTree>
    <p:extLst>
      <p:ext uri="{BB962C8B-B14F-4D97-AF65-F5344CB8AC3E}">
        <p14:creationId xmlns:p14="http://schemas.microsoft.com/office/powerpoint/2010/main" val="3017974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22BFC-7051-F476-2793-096A5268952F}"/>
              </a:ext>
            </a:extLst>
          </p:cNvPr>
          <p:cNvSpPr>
            <a:spLocks noGrp="1"/>
          </p:cNvSpPr>
          <p:nvPr>
            <p:ph type="title"/>
          </p:nvPr>
        </p:nvSpPr>
        <p:spPr/>
        <p:txBody>
          <a:bodyPr/>
          <a:lstStyle/>
          <a:p>
            <a:r>
              <a:rPr lang="en-IN" b="1" dirty="0"/>
              <a:t>HAWT disadvantages </a:t>
            </a:r>
            <a:endParaRPr lang="en-IN" dirty="0"/>
          </a:p>
        </p:txBody>
      </p:sp>
      <p:sp>
        <p:nvSpPr>
          <p:cNvPr id="3" name="Content Placeholder 2">
            <a:extLst>
              <a:ext uri="{FF2B5EF4-FFF2-40B4-BE49-F238E27FC236}">
                <a16:creationId xmlns:a16="http://schemas.microsoft.com/office/drawing/2014/main" id="{962854DD-3B65-0C8E-9A49-7C896389D3F9}"/>
              </a:ext>
            </a:extLst>
          </p:cNvPr>
          <p:cNvSpPr>
            <a:spLocks noGrp="1"/>
          </p:cNvSpPr>
          <p:nvPr>
            <p:ph idx="1"/>
          </p:nvPr>
        </p:nvSpPr>
        <p:spPr>
          <a:xfrm>
            <a:off x="838199" y="1690688"/>
            <a:ext cx="10810461" cy="4802187"/>
          </a:xfrm>
        </p:spPr>
        <p:txBody>
          <a:bodyPr>
            <a:normAutofit fontScale="85000" lnSpcReduction="20000"/>
          </a:bodyPr>
          <a:lstStyle/>
          <a:p>
            <a:r>
              <a:rPr lang="en-US" dirty="0"/>
              <a:t>The </a:t>
            </a:r>
            <a:r>
              <a:rPr lang="en-US" b="1" dirty="0"/>
              <a:t>tall towers and blades up to 90 meters long are difficult to transport</a:t>
            </a:r>
            <a:r>
              <a:rPr lang="en-US" dirty="0"/>
              <a:t>. Transportation can now cost 20% of equipment costs. </a:t>
            </a:r>
          </a:p>
          <a:p>
            <a:r>
              <a:rPr lang="en-US" b="1" dirty="0"/>
              <a:t>Tall HAWTs are difficult to install</a:t>
            </a:r>
            <a:r>
              <a:rPr lang="en-US" dirty="0"/>
              <a:t>, needing very tall and expensive cranes and skilled </a:t>
            </a:r>
            <a:r>
              <a:rPr lang="en-IN" dirty="0"/>
              <a:t>operators. </a:t>
            </a:r>
          </a:p>
          <a:p>
            <a:r>
              <a:rPr lang="en-US" b="1" dirty="0"/>
              <a:t>Massive tower construction</a:t>
            </a:r>
            <a:r>
              <a:rPr lang="en-US" dirty="0"/>
              <a:t> is required to support the heavy blades, gearbox, and </a:t>
            </a:r>
            <a:r>
              <a:rPr lang="en-IN" dirty="0"/>
              <a:t>generator. </a:t>
            </a:r>
          </a:p>
          <a:p>
            <a:r>
              <a:rPr lang="en-US" b="1" dirty="0"/>
              <a:t>Reflections from tall HAWTs </a:t>
            </a:r>
            <a:r>
              <a:rPr lang="en-US" dirty="0"/>
              <a:t>may affect side lobes of radar installations creating signal clutter, although filtering can suppress it. </a:t>
            </a:r>
          </a:p>
          <a:p>
            <a:r>
              <a:rPr lang="en-US" b="1" dirty="0"/>
              <a:t>Downwind variants suffer from fatigue and structural failure </a:t>
            </a:r>
            <a:r>
              <a:rPr lang="en-US" dirty="0"/>
              <a:t>caused by turbulence when a blade passes through the tower's wind shadow (for this reason, the majority of HAWTs use an upwind design, with the rotor facing the wind in front of the tower). </a:t>
            </a:r>
          </a:p>
          <a:p>
            <a:r>
              <a:rPr lang="en-US" b="1" dirty="0"/>
              <a:t>HAWTs require an additional yaw control mechanism to turn the blades toward the wind</a:t>
            </a:r>
            <a:r>
              <a:rPr lang="en-US" dirty="0"/>
              <a:t>. </a:t>
            </a:r>
            <a:endParaRPr lang="en-IN" dirty="0"/>
          </a:p>
        </p:txBody>
      </p:sp>
    </p:spTree>
    <p:extLst>
      <p:ext uri="{BB962C8B-B14F-4D97-AF65-F5344CB8AC3E}">
        <p14:creationId xmlns:p14="http://schemas.microsoft.com/office/powerpoint/2010/main" val="235962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8388-BD98-3E52-0151-D67EEC41D878}"/>
              </a:ext>
            </a:extLst>
          </p:cNvPr>
          <p:cNvSpPr>
            <a:spLocks noGrp="1"/>
          </p:cNvSpPr>
          <p:nvPr>
            <p:ph type="title"/>
          </p:nvPr>
        </p:nvSpPr>
        <p:spPr/>
        <p:txBody>
          <a:bodyPr/>
          <a:lstStyle/>
          <a:p>
            <a:r>
              <a:rPr lang="en-US" b="1" dirty="0"/>
              <a:t>Applications of horizontal axis wind turbines</a:t>
            </a:r>
            <a:endParaRPr lang="en-IN" dirty="0"/>
          </a:p>
        </p:txBody>
      </p:sp>
      <p:sp>
        <p:nvSpPr>
          <p:cNvPr id="3" name="Content Placeholder 2">
            <a:extLst>
              <a:ext uri="{FF2B5EF4-FFF2-40B4-BE49-F238E27FC236}">
                <a16:creationId xmlns:a16="http://schemas.microsoft.com/office/drawing/2014/main" id="{8A856289-6808-E927-2A30-B584518DF7B5}"/>
              </a:ext>
            </a:extLst>
          </p:cNvPr>
          <p:cNvSpPr>
            <a:spLocks noGrp="1"/>
          </p:cNvSpPr>
          <p:nvPr>
            <p:ph idx="1"/>
          </p:nvPr>
        </p:nvSpPr>
        <p:spPr/>
        <p:txBody>
          <a:bodyPr>
            <a:normAutofit/>
          </a:bodyPr>
          <a:lstStyle/>
          <a:p>
            <a:r>
              <a:rPr lang="en-US" sz="2400" dirty="0"/>
              <a:t>These are the most frequently used wind turbines for commercial and industrial purposes due to their large power output and high efficiency. </a:t>
            </a:r>
          </a:p>
          <a:p>
            <a:r>
              <a:rPr lang="en-US" sz="2400" dirty="0"/>
              <a:t>These are mostly used in wind farms </a:t>
            </a:r>
          </a:p>
          <a:p>
            <a:r>
              <a:rPr lang="en-US" sz="2400" dirty="0"/>
              <a:t>Horizontal axis wind turbines achieve better power output &amp; higher energy efficiency, so used in large-scale wind power plants &amp; also for electricity generation. </a:t>
            </a:r>
          </a:p>
          <a:p>
            <a:r>
              <a:rPr lang="en-US" sz="2400" dirty="0"/>
              <a:t>In industrial plants, large-scale wind farms, or national projects, these wind turbines are most frequently seen. So, they are the perfect solution for the production of mass electricity. </a:t>
            </a:r>
          </a:p>
          <a:p>
            <a:endParaRPr lang="en-IN" sz="2400" dirty="0"/>
          </a:p>
        </p:txBody>
      </p:sp>
    </p:spTree>
    <p:extLst>
      <p:ext uri="{BB962C8B-B14F-4D97-AF65-F5344CB8AC3E}">
        <p14:creationId xmlns:p14="http://schemas.microsoft.com/office/powerpoint/2010/main" val="3382186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945C-F738-61EF-1132-57287D41C6F2}"/>
              </a:ext>
            </a:extLst>
          </p:cNvPr>
          <p:cNvSpPr>
            <a:spLocks noGrp="1"/>
          </p:cNvSpPr>
          <p:nvPr>
            <p:ph type="title"/>
          </p:nvPr>
        </p:nvSpPr>
        <p:spPr/>
        <p:txBody>
          <a:bodyPr/>
          <a:lstStyle/>
          <a:p>
            <a:r>
              <a:rPr lang="en-US" b="1" dirty="0">
                <a:cs typeface="Times New Roman"/>
              </a:rPr>
              <a:t>Vertical</a:t>
            </a:r>
            <a:r>
              <a:rPr lang="en-US" b="1" spc="-13" dirty="0">
                <a:cs typeface="Times New Roman"/>
              </a:rPr>
              <a:t> </a:t>
            </a:r>
            <a:r>
              <a:rPr lang="en-US" b="1" dirty="0">
                <a:cs typeface="Times New Roman"/>
              </a:rPr>
              <a:t>Axis</a:t>
            </a:r>
            <a:r>
              <a:rPr lang="en-US" b="1" spc="-53" dirty="0">
                <a:cs typeface="Times New Roman"/>
              </a:rPr>
              <a:t> </a:t>
            </a:r>
            <a:r>
              <a:rPr lang="en-US" b="1" dirty="0">
                <a:cs typeface="Times New Roman"/>
              </a:rPr>
              <a:t>Wind</a:t>
            </a:r>
            <a:r>
              <a:rPr lang="en-US" b="1" spc="-40" dirty="0">
                <a:cs typeface="Times New Roman"/>
              </a:rPr>
              <a:t> </a:t>
            </a:r>
            <a:r>
              <a:rPr lang="en-US" b="1" dirty="0">
                <a:cs typeface="Times New Roman"/>
              </a:rPr>
              <a:t>Turbine</a:t>
            </a:r>
            <a:r>
              <a:rPr lang="en-US" b="1" spc="-40" dirty="0">
                <a:cs typeface="Times New Roman"/>
              </a:rPr>
              <a:t> </a:t>
            </a:r>
            <a:r>
              <a:rPr lang="en-US" b="1" dirty="0">
                <a:cs typeface="Times New Roman"/>
              </a:rPr>
              <a:t>(VAWT)</a:t>
            </a:r>
            <a:r>
              <a:rPr lang="en-US" b="1" spc="-27" dirty="0">
                <a:cs typeface="Times New Roman"/>
              </a:rPr>
              <a:t> </a:t>
            </a:r>
            <a:endParaRPr lang="en-IN" dirty="0"/>
          </a:p>
        </p:txBody>
      </p:sp>
      <p:sp>
        <p:nvSpPr>
          <p:cNvPr id="3" name="Content Placeholder 2">
            <a:extLst>
              <a:ext uri="{FF2B5EF4-FFF2-40B4-BE49-F238E27FC236}">
                <a16:creationId xmlns:a16="http://schemas.microsoft.com/office/drawing/2014/main" id="{C44436F8-FEA2-27E7-12CE-F39DB095E551}"/>
              </a:ext>
            </a:extLst>
          </p:cNvPr>
          <p:cNvSpPr>
            <a:spLocks noGrp="1"/>
          </p:cNvSpPr>
          <p:nvPr>
            <p:ph idx="1"/>
          </p:nvPr>
        </p:nvSpPr>
        <p:spPr>
          <a:xfrm>
            <a:off x="838200" y="1600200"/>
            <a:ext cx="10730948" cy="5068957"/>
          </a:xfrm>
        </p:spPr>
        <p:txBody>
          <a:bodyPr>
            <a:normAutofit/>
          </a:bodyPr>
          <a:lstStyle/>
          <a:p>
            <a:pPr marL="536575" indent="-357188">
              <a:spcBef>
                <a:spcPts val="387"/>
              </a:spcBef>
              <a:tabLst>
                <a:tab pos="551165" algn="l"/>
              </a:tabLst>
            </a:pPr>
            <a:r>
              <a:rPr lang="en-US" sz="2000" dirty="0"/>
              <a:t>Drag may be created when the blade rotates into the wind. </a:t>
            </a:r>
            <a:endParaRPr lang="en-US" sz="2000" dirty="0">
              <a:cs typeface="Times New Roman"/>
            </a:endParaRPr>
          </a:p>
          <a:p>
            <a:pPr marL="536575" indent="-357188">
              <a:spcBef>
                <a:spcPts val="387"/>
              </a:spcBef>
              <a:tabLst>
                <a:tab pos="551165" algn="l"/>
              </a:tabLst>
            </a:pPr>
            <a:r>
              <a:rPr lang="en-US" sz="2000" dirty="0">
                <a:cs typeface="Times New Roman"/>
              </a:rPr>
              <a:t>Yaw</a:t>
            </a:r>
            <a:r>
              <a:rPr lang="en-US" sz="2000" spc="-53" dirty="0">
                <a:cs typeface="Times New Roman"/>
              </a:rPr>
              <a:t> </a:t>
            </a:r>
            <a:r>
              <a:rPr lang="en-US" sz="2000" dirty="0">
                <a:cs typeface="Times New Roman"/>
              </a:rPr>
              <a:t>mechanism</a:t>
            </a:r>
            <a:r>
              <a:rPr lang="en-US" sz="2000" spc="13" dirty="0">
                <a:cs typeface="Times New Roman"/>
              </a:rPr>
              <a:t> </a:t>
            </a:r>
            <a:r>
              <a:rPr lang="en-US" sz="2000" dirty="0">
                <a:cs typeface="Times New Roman"/>
              </a:rPr>
              <a:t>is</a:t>
            </a:r>
            <a:r>
              <a:rPr lang="en-US" sz="2000" spc="-27" dirty="0">
                <a:cs typeface="Times New Roman"/>
              </a:rPr>
              <a:t> </a:t>
            </a:r>
            <a:r>
              <a:rPr lang="en-US" sz="2000" dirty="0">
                <a:cs typeface="Times New Roman"/>
              </a:rPr>
              <a:t>not</a:t>
            </a:r>
            <a:r>
              <a:rPr lang="en-US" sz="2000" spc="-47" dirty="0">
                <a:cs typeface="Times New Roman"/>
              </a:rPr>
              <a:t> </a:t>
            </a:r>
            <a:r>
              <a:rPr lang="en-US" sz="2000" spc="-13" dirty="0">
                <a:cs typeface="Times New Roman"/>
              </a:rPr>
              <a:t>required</a:t>
            </a:r>
            <a:endParaRPr lang="en-US" sz="2000" dirty="0">
              <a:cs typeface="Times New Roman"/>
            </a:endParaRPr>
          </a:p>
          <a:p>
            <a:pPr marL="536575" indent="-357188">
              <a:spcBef>
                <a:spcPts val="380"/>
              </a:spcBef>
              <a:tabLst>
                <a:tab pos="551165" algn="l"/>
              </a:tabLst>
            </a:pPr>
            <a:r>
              <a:rPr lang="en-US" sz="2000" dirty="0">
                <a:cs typeface="Times New Roman"/>
              </a:rPr>
              <a:t>Lower</a:t>
            </a:r>
            <a:r>
              <a:rPr lang="en-US" sz="2000" spc="-67" dirty="0">
                <a:cs typeface="Times New Roman"/>
              </a:rPr>
              <a:t> </a:t>
            </a:r>
            <a:r>
              <a:rPr lang="en-US" sz="2000" dirty="0">
                <a:cs typeface="Times New Roman"/>
              </a:rPr>
              <a:t>starting</a:t>
            </a:r>
            <a:r>
              <a:rPr lang="en-US" sz="2000" spc="-13" dirty="0">
                <a:cs typeface="Times New Roman"/>
              </a:rPr>
              <a:t> torque</a:t>
            </a:r>
            <a:endParaRPr lang="en-US" sz="2000" dirty="0">
              <a:cs typeface="Times New Roman"/>
            </a:endParaRPr>
          </a:p>
          <a:p>
            <a:pPr marL="536575" indent="-357188">
              <a:spcBef>
                <a:spcPts val="387"/>
              </a:spcBef>
              <a:tabLst>
                <a:tab pos="551165" algn="l"/>
              </a:tabLst>
            </a:pPr>
            <a:r>
              <a:rPr lang="en-US" sz="2000" dirty="0">
                <a:cs typeface="Times New Roman"/>
              </a:rPr>
              <a:t>Difficulty</a:t>
            </a:r>
            <a:r>
              <a:rPr lang="en-US" sz="2000" spc="-53" dirty="0">
                <a:cs typeface="Times New Roman"/>
              </a:rPr>
              <a:t> </a:t>
            </a:r>
            <a:r>
              <a:rPr lang="en-US" sz="2000" dirty="0">
                <a:cs typeface="Times New Roman"/>
              </a:rPr>
              <a:t>in</a:t>
            </a:r>
            <a:r>
              <a:rPr lang="en-US" sz="2000" spc="-47" dirty="0">
                <a:cs typeface="Times New Roman"/>
              </a:rPr>
              <a:t> </a:t>
            </a:r>
            <a:r>
              <a:rPr lang="en-US" sz="2000" dirty="0">
                <a:cs typeface="Times New Roman"/>
              </a:rPr>
              <a:t>mounting</a:t>
            </a:r>
            <a:r>
              <a:rPr lang="en-US" sz="2000" spc="-20" dirty="0">
                <a:cs typeface="Times New Roman"/>
              </a:rPr>
              <a:t> </a:t>
            </a:r>
            <a:r>
              <a:rPr lang="en-US" sz="2000" dirty="0">
                <a:cs typeface="Times New Roman"/>
              </a:rPr>
              <a:t>the</a:t>
            </a:r>
            <a:r>
              <a:rPr lang="en-US" sz="2000" spc="-53" dirty="0">
                <a:cs typeface="Times New Roman"/>
              </a:rPr>
              <a:t> </a:t>
            </a:r>
            <a:r>
              <a:rPr lang="en-US" sz="2000" spc="-13" dirty="0">
                <a:cs typeface="Times New Roman"/>
              </a:rPr>
              <a:t>turbine</a:t>
            </a:r>
            <a:endParaRPr lang="en-US" sz="2000" dirty="0">
              <a:cs typeface="Times New Roman"/>
            </a:endParaRPr>
          </a:p>
          <a:p>
            <a:pPr marL="536575" indent="-357188"/>
            <a:r>
              <a:rPr lang="en-US" sz="2000" b="1" dirty="0"/>
              <a:t>Vertical-axis wind turbines </a:t>
            </a:r>
            <a:r>
              <a:rPr lang="en-US" sz="2000" dirty="0"/>
              <a:t>(or VAWTs) have the main rotor shaft arranged vertically. Key advantages of this arrangement are that the turbine does not need to be pointed into the wind to be effective. This is an advantage on sites where the wind direction is highly variable. </a:t>
            </a:r>
          </a:p>
          <a:p>
            <a:pPr marL="536575" indent="-357188"/>
            <a:r>
              <a:rPr lang="en-US" sz="2000" dirty="0"/>
              <a:t>VAWTs can utilize winds from varying directions. </a:t>
            </a:r>
          </a:p>
          <a:p>
            <a:pPr marL="536575" indent="-357188"/>
            <a:r>
              <a:rPr lang="en-US" sz="2000" b="1" dirty="0">
                <a:cs typeface="Times New Roman"/>
              </a:rPr>
              <a:t>Nacelle</a:t>
            </a:r>
            <a:r>
              <a:rPr lang="en-US" sz="2000" b="1" spc="-7" dirty="0">
                <a:cs typeface="Times New Roman"/>
              </a:rPr>
              <a:t> </a:t>
            </a:r>
            <a:r>
              <a:rPr lang="en-US" sz="2000" b="1" dirty="0">
                <a:cs typeface="Times New Roman"/>
              </a:rPr>
              <a:t>is</a:t>
            </a:r>
            <a:r>
              <a:rPr lang="en-US" sz="2000" b="1" spc="-33" dirty="0">
                <a:cs typeface="Times New Roman"/>
              </a:rPr>
              <a:t> </a:t>
            </a:r>
            <a:r>
              <a:rPr lang="en-US" sz="2000" b="1" dirty="0">
                <a:cs typeface="Times New Roman"/>
              </a:rPr>
              <a:t>placed</a:t>
            </a:r>
            <a:r>
              <a:rPr lang="en-US" sz="2000" b="1" spc="-33" dirty="0">
                <a:cs typeface="Times New Roman"/>
              </a:rPr>
              <a:t> </a:t>
            </a:r>
            <a:r>
              <a:rPr lang="en-US" sz="2000" b="1" dirty="0">
                <a:cs typeface="Times New Roman"/>
              </a:rPr>
              <a:t>at</a:t>
            </a:r>
            <a:r>
              <a:rPr lang="en-US" sz="2000" b="1" spc="-33" dirty="0">
                <a:cs typeface="Times New Roman"/>
              </a:rPr>
              <a:t> </a:t>
            </a:r>
            <a:r>
              <a:rPr lang="en-US" sz="2000" b="1" dirty="0">
                <a:cs typeface="Times New Roman"/>
              </a:rPr>
              <a:t>the</a:t>
            </a:r>
            <a:r>
              <a:rPr lang="en-US" sz="2000" b="1" spc="-33" dirty="0">
                <a:cs typeface="Times New Roman"/>
              </a:rPr>
              <a:t> </a:t>
            </a:r>
            <a:r>
              <a:rPr lang="en-US" sz="2000" b="1" spc="-13" dirty="0">
                <a:cs typeface="Times New Roman"/>
              </a:rPr>
              <a:t>bottom.</a:t>
            </a:r>
            <a:r>
              <a:rPr lang="en-US" sz="2000" spc="-13" dirty="0">
                <a:cs typeface="Times New Roman"/>
              </a:rPr>
              <a:t> </a:t>
            </a:r>
            <a:r>
              <a:rPr lang="en-US" sz="2000" dirty="0"/>
              <a:t>With a vertical axis, the generator and gearbox can be placed near the ground, so the tower doesn't need to support it, and it is more accessible for maintenance. </a:t>
            </a:r>
          </a:p>
          <a:p>
            <a:pPr marL="536575" indent="-357188"/>
            <a:r>
              <a:rPr lang="en-US" sz="2000" b="1" dirty="0">
                <a:cs typeface="Times New Roman"/>
              </a:rPr>
              <a:t>Unwanted</a:t>
            </a:r>
            <a:r>
              <a:rPr lang="en-US" sz="2000" b="1" spc="-53" dirty="0">
                <a:cs typeface="Times New Roman"/>
              </a:rPr>
              <a:t> </a:t>
            </a:r>
            <a:r>
              <a:rPr lang="en-US" sz="2000" b="1" dirty="0">
                <a:cs typeface="Times New Roman"/>
              </a:rPr>
              <a:t>fluctuations</a:t>
            </a:r>
            <a:r>
              <a:rPr lang="en-US" sz="2000" b="1" spc="-33" dirty="0">
                <a:cs typeface="Times New Roman"/>
              </a:rPr>
              <a:t> </a:t>
            </a:r>
            <a:r>
              <a:rPr lang="en-US" sz="2000" b="1" dirty="0">
                <a:cs typeface="Times New Roman"/>
              </a:rPr>
              <a:t>in</a:t>
            </a:r>
            <a:r>
              <a:rPr lang="en-US" sz="2000" b="1" spc="-53" dirty="0">
                <a:cs typeface="Times New Roman"/>
              </a:rPr>
              <a:t> </a:t>
            </a:r>
            <a:r>
              <a:rPr lang="en-US" sz="2000" b="1" dirty="0">
                <a:cs typeface="Times New Roman"/>
              </a:rPr>
              <a:t>the</a:t>
            </a:r>
            <a:r>
              <a:rPr lang="en-US" sz="2000" b="1" spc="-47" dirty="0">
                <a:cs typeface="Times New Roman"/>
              </a:rPr>
              <a:t> </a:t>
            </a:r>
            <a:r>
              <a:rPr lang="en-US" sz="2000" b="1" dirty="0">
                <a:cs typeface="Times New Roman"/>
              </a:rPr>
              <a:t>power</a:t>
            </a:r>
            <a:r>
              <a:rPr lang="en-US" sz="2000" b="1" spc="-53" dirty="0">
                <a:cs typeface="Times New Roman"/>
              </a:rPr>
              <a:t> </a:t>
            </a:r>
            <a:r>
              <a:rPr lang="en-US" sz="2000" b="1" spc="-13" dirty="0">
                <a:cs typeface="Times New Roman"/>
              </a:rPr>
              <a:t>output. </a:t>
            </a:r>
            <a:r>
              <a:rPr lang="en-US" sz="2000" dirty="0"/>
              <a:t>Drawbacks are that some designs produce pulsating torque. </a:t>
            </a:r>
            <a:endParaRPr lang="en-IN" sz="2000" dirty="0"/>
          </a:p>
        </p:txBody>
      </p:sp>
    </p:spTree>
    <p:extLst>
      <p:ext uri="{BB962C8B-B14F-4D97-AF65-F5344CB8AC3E}">
        <p14:creationId xmlns:p14="http://schemas.microsoft.com/office/powerpoint/2010/main" val="362657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7FB92-8F14-9530-A61F-FE67A4AB2146}"/>
              </a:ext>
            </a:extLst>
          </p:cNvPr>
          <p:cNvSpPr>
            <a:spLocks noGrp="1"/>
          </p:cNvSpPr>
          <p:nvPr>
            <p:ph type="title"/>
          </p:nvPr>
        </p:nvSpPr>
        <p:spPr/>
        <p:txBody>
          <a:bodyPr/>
          <a:lstStyle/>
          <a:p>
            <a:r>
              <a:rPr lang="en-IN" b="1" dirty="0"/>
              <a:t>VAWT advantages</a:t>
            </a:r>
            <a:endParaRPr lang="en-IN" dirty="0"/>
          </a:p>
        </p:txBody>
      </p:sp>
      <p:sp>
        <p:nvSpPr>
          <p:cNvPr id="3" name="Content Placeholder 2">
            <a:extLst>
              <a:ext uri="{FF2B5EF4-FFF2-40B4-BE49-F238E27FC236}">
                <a16:creationId xmlns:a16="http://schemas.microsoft.com/office/drawing/2014/main" id="{28BFE66F-49B7-22AA-B2A3-7C04EA995915}"/>
              </a:ext>
            </a:extLst>
          </p:cNvPr>
          <p:cNvSpPr>
            <a:spLocks noGrp="1"/>
          </p:cNvSpPr>
          <p:nvPr>
            <p:ph idx="1"/>
          </p:nvPr>
        </p:nvSpPr>
        <p:spPr/>
        <p:txBody>
          <a:bodyPr>
            <a:normAutofit/>
          </a:bodyPr>
          <a:lstStyle/>
          <a:p>
            <a:r>
              <a:rPr lang="en-US" sz="2400" dirty="0"/>
              <a:t>A massive tower structure is less frequently used, as VAWTs are more frequently mounted with the lower bearing mounted near the ground. </a:t>
            </a:r>
          </a:p>
          <a:p>
            <a:r>
              <a:rPr lang="en-US" sz="2400" dirty="0"/>
              <a:t>Designs without yaw mechanisms are possible with fixed pitch rotor designs. </a:t>
            </a:r>
          </a:p>
          <a:p>
            <a:r>
              <a:rPr lang="en-US" sz="2400" dirty="0"/>
              <a:t>A VAWT can be located nearer the ground, making it easier to maintain the moving parts. </a:t>
            </a:r>
            <a:endParaRPr lang="en-IN" sz="2400" dirty="0"/>
          </a:p>
          <a:p>
            <a:r>
              <a:rPr lang="en-US" sz="2400" dirty="0"/>
              <a:t>VAWTs have lower wind startup speeds than HAWTs. Typically, they start creating electricity at 6 M.P.H. (10 km/h). </a:t>
            </a:r>
          </a:p>
          <a:p>
            <a:r>
              <a:rPr lang="en-US" sz="2400" dirty="0"/>
              <a:t>VAWTs may have a lower noise signature.</a:t>
            </a:r>
            <a:endParaRPr lang="en-IN" sz="2400" dirty="0"/>
          </a:p>
        </p:txBody>
      </p:sp>
    </p:spTree>
    <p:extLst>
      <p:ext uri="{BB962C8B-B14F-4D97-AF65-F5344CB8AC3E}">
        <p14:creationId xmlns:p14="http://schemas.microsoft.com/office/powerpoint/2010/main" val="4085227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F286-B877-3461-AADB-CE2BED255C87}"/>
              </a:ext>
            </a:extLst>
          </p:cNvPr>
          <p:cNvSpPr>
            <a:spLocks noGrp="1"/>
          </p:cNvSpPr>
          <p:nvPr>
            <p:ph type="title"/>
          </p:nvPr>
        </p:nvSpPr>
        <p:spPr/>
        <p:txBody>
          <a:bodyPr/>
          <a:lstStyle/>
          <a:p>
            <a:r>
              <a:rPr lang="en-IN" b="1" dirty="0"/>
              <a:t>VAWT disadvantages</a:t>
            </a:r>
            <a:endParaRPr lang="en-IN" dirty="0"/>
          </a:p>
        </p:txBody>
      </p:sp>
      <p:sp>
        <p:nvSpPr>
          <p:cNvPr id="3" name="Content Placeholder 2">
            <a:extLst>
              <a:ext uri="{FF2B5EF4-FFF2-40B4-BE49-F238E27FC236}">
                <a16:creationId xmlns:a16="http://schemas.microsoft.com/office/drawing/2014/main" id="{B94586A9-C1A6-E65E-786C-AA9FFD43F532}"/>
              </a:ext>
            </a:extLst>
          </p:cNvPr>
          <p:cNvSpPr>
            <a:spLocks noGrp="1"/>
          </p:cNvSpPr>
          <p:nvPr>
            <p:ph idx="1"/>
          </p:nvPr>
        </p:nvSpPr>
        <p:spPr>
          <a:xfrm>
            <a:off x="838200" y="1690688"/>
            <a:ext cx="10515600" cy="4802187"/>
          </a:xfrm>
        </p:spPr>
        <p:txBody>
          <a:bodyPr>
            <a:normAutofit/>
          </a:bodyPr>
          <a:lstStyle/>
          <a:p>
            <a:r>
              <a:rPr lang="en-US" sz="2400" dirty="0"/>
              <a:t>Most VAWTs produce energy at only 50% of the efficiency of HAWTs in large part because of the additional drag that they have as their blades rotate into the wind. </a:t>
            </a:r>
          </a:p>
          <a:p>
            <a:r>
              <a:rPr lang="en-US" sz="2400" dirty="0"/>
              <a:t>While VAWTs' parts are located on the ground, they are also located under the weight of the structure above it, which can make changing out parts nearly impossible without dismantling the structure if not designed properly. </a:t>
            </a:r>
          </a:p>
          <a:p>
            <a:r>
              <a:rPr lang="en-US" sz="2400" dirty="0"/>
              <a:t>Having rotors located close to the ground where wind speeds are lower due to wind shear, VAWTs may not produce as much energy at a given site as a HAWT with the same </a:t>
            </a:r>
            <a:r>
              <a:rPr lang="en-IN" sz="2400" dirty="0"/>
              <a:t>footprint or height. </a:t>
            </a:r>
          </a:p>
          <a:p>
            <a:r>
              <a:rPr lang="en-US" sz="2400" dirty="0"/>
              <a:t>Because VAWTs are not commonly deployed due mainly to the serious disadvantages mentioned above, they appear novel to those not familiar with the wind industry. This has often made them the subject of wild claims and investment scams over the last 50 years.</a:t>
            </a:r>
            <a:endParaRPr lang="en-IN" sz="2400" dirty="0"/>
          </a:p>
        </p:txBody>
      </p:sp>
    </p:spTree>
    <p:extLst>
      <p:ext uri="{BB962C8B-B14F-4D97-AF65-F5344CB8AC3E}">
        <p14:creationId xmlns:p14="http://schemas.microsoft.com/office/powerpoint/2010/main" val="1221849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918C-70B5-CD83-A0B7-96094056E6CA}"/>
              </a:ext>
            </a:extLst>
          </p:cNvPr>
          <p:cNvSpPr>
            <a:spLocks noGrp="1"/>
          </p:cNvSpPr>
          <p:nvPr>
            <p:ph type="title"/>
          </p:nvPr>
        </p:nvSpPr>
        <p:spPr/>
        <p:txBody>
          <a:bodyPr/>
          <a:lstStyle/>
          <a:p>
            <a:r>
              <a:rPr lang="en-IN" b="1" dirty="0"/>
              <a:t>VAWT Applications</a:t>
            </a:r>
            <a:endParaRPr lang="en-IN" dirty="0"/>
          </a:p>
        </p:txBody>
      </p:sp>
      <p:sp>
        <p:nvSpPr>
          <p:cNvPr id="3" name="Content Placeholder 2">
            <a:extLst>
              <a:ext uri="{FF2B5EF4-FFF2-40B4-BE49-F238E27FC236}">
                <a16:creationId xmlns:a16="http://schemas.microsoft.com/office/drawing/2014/main" id="{94383BF7-BBE0-53D9-598A-8AACC567C5AA}"/>
              </a:ext>
            </a:extLst>
          </p:cNvPr>
          <p:cNvSpPr>
            <a:spLocks noGrp="1"/>
          </p:cNvSpPr>
          <p:nvPr>
            <p:ph idx="1"/>
          </p:nvPr>
        </p:nvSpPr>
        <p:spPr/>
        <p:txBody>
          <a:bodyPr/>
          <a:lstStyle/>
          <a:p>
            <a:r>
              <a:rPr lang="en-US" dirty="0"/>
              <a:t>Used in small wind projects </a:t>
            </a:r>
          </a:p>
          <a:p>
            <a:r>
              <a:rPr lang="en-IN" dirty="0"/>
              <a:t>Used in residential applications </a:t>
            </a:r>
          </a:p>
          <a:p>
            <a:r>
              <a:rPr lang="en-US" dirty="0"/>
              <a:t>These turbines are used to generate power even in not stable weather conditions like gusty wind &amp; turbulence. </a:t>
            </a:r>
          </a:p>
          <a:p>
            <a:endParaRPr lang="en-IN" dirty="0"/>
          </a:p>
        </p:txBody>
      </p:sp>
    </p:spTree>
    <p:extLst>
      <p:ext uri="{BB962C8B-B14F-4D97-AF65-F5344CB8AC3E}">
        <p14:creationId xmlns:p14="http://schemas.microsoft.com/office/powerpoint/2010/main" val="512935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F336-162A-B955-B6EE-4D13BC4127B0}"/>
              </a:ext>
            </a:extLst>
          </p:cNvPr>
          <p:cNvSpPr>
            <a:spLocks noGrp="1"/>
          </p:cNvSpPr>
          <p:nvPr>
            <p:ph type="title"/>
          </p:nvPr>
        </p:nvSpPr>
        <p:spPr/>
        <p:txBody>
          <a:bodyPr>
            <a:normAutofit/>
          </a:bodyPr>
          <a:lstStyle/>
          <a:p>
            <a:r>
              <a:rPr lang="en-US" sz="4000" b="1" dirty="0"/>
              <a:t>Based on the type of active force that makes the turbines turn</a:t>
            </a:r>
            <a:endParaRPr lang="en-IN" sz="4000" dirty="0"/>
          </a:p>
        </p:txBody>
      </p:sp>
      <p:sp>
        <p:nvSpPr>
          <p:cNvPr id="3" name="Content Placeholder 2">
            <a:extLst>
              <a:ext uri="{FF2B5EF4-FFF2-40B4-BE49-F238E27FC236}">
                <a16:creationId xmlns:a16="http://schemas.microsoft.com/office/drawing/2014/main" id="{46C06836-E7C5-AB73-1CEA-42A327125B82}"/>
              </a:ext>
            </a:extLst>
          </p:cNvPr>
          <p:cNvSpPr>
            <a:spLocks noGrp="1"/>
          </p:cNvSpPr>
          <p:nvPr>
            <p:ph idx="1"/>
          </p:nvPr>
        </p:nvSpPr>
        <p:spPr/>
        <p:txBody>
          <a:bodyPr>
            <a:normAutofit/>
          </a:bodyPr>
          <a:lstStyle/>
          <a:p>
            <a:r>
              <a:rPr lang="en-US" dirty="0"/>
              <a:t>When air flows around an object, two forces act on the object, drag and lift . </a:t>
            </a:r>
          </a:p>
          <a:p>
            <a:pPr lvl="1"/>
            <a:r>
              <a:rPr lang="en-US" dirty="0"/>
              <a:t>Lift : perpendicular to the air flow</a:t>
            </a:r>
          </a:p>
          <a:p>
            <a:pPr lvl="1"/>
            <a:r>
              <a:rPr lang="en-US" dirty="0"/>
              <a:t>Drag : along the direction of air flow </a:t>
            </a:r>
          </a:p>
          <a:p>
            <a:r>
              <a:rPr lang="en-US" dirty="0"/>
              <a:t>Turbines that work based on either of these forces are lift turbines and drag turbines. </a:t>
            </a:r>
          </a:p>
          <a:p>
            <a:endParaRPr lang="en-IN" sz="2400" dirty="0"/>
          </a:p>
        </p:txBody>
      </p:sp>
      <p:pic>
        <p:nvPicPr>
          <p:cNvPr id="4" name="object 4"/>
          <p:cNvPicPr/>
          <p:nvPr/>
        </p:nvPicPr>
        <p:blipFill>
          <a:blip r:embed="rId2" cstate="print"/>
          <a:stretch>
            <a:fillRect/>
          </a:stretch>
        </p:blipFill>
        <p:spPr>
          <a:xfrm>
            <a:off x="7413886" y="3970531"/>
            <a:ext cx="3645407" cy="2887469"/>
          </a:xfrm>
          <a:prstGeom prst="rect">
            <a:avLst/>
          </a:prstGeom>
        </p:spPr>
      </p:pic>
    </p:spTree>
    <p:extLst>
      <p:ext uri="{BB962C8B-B14F-4D97-AF65-F5344CB8AC3E}">
        <p14:creationId xmlns:p14="http://schemas.microsoft.com/office/powerpoint/2010/main" val="2072845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6189-6B6A-7733-C470-33B01C64DDE4}"/>
              </a:ext>
            </a:extLst>
          </p:cNvPr>
          <p:cNvSpPr>
            <a:spLocks noGrp="1"/>
          </p:cNvSpPr>
          <p:nvPr>
            <p:ph type="title"/>
          </p:nvPr>
        </p:nvSpPr>
        <p:spPr/>
        <p:txBody>
          <a:bodyPr/>
          <a:lstStyle/>
          <a:p>
            <a:r>
              <a:rPr lang="en-IN" dirty="0"/>
              <a:t>Lift</a:t>
            </a:r>
            <a:r>
              <a:rPr lang="en-IN" spc="-47" dirty="0"/>
              <a:t> </a:t>
            </a:r>
            <a:r>
              <a:rPr lang="en-IN" spc="-13" dirty="0"/>
              <a:t>Turbines</a:t>
            </a:r>
            <a:endParaRPr lang="en-IN" dirty="0"/>
          </a:p>
        </p:txBody>
      </p:sp>
      <p:sp>
        <p:nvSpPr>
          <p:cNvPr id="3" name="Content Placeholder 2">
            <a:extLst>
              <a:ext uri="{FF2B5EF4-FFF2-40B4-BE49-F238E27FC236}">
                <a16:creationId xmlns:a16="http://schemas.microsoft.com/office/drawing/2014/main" id="{3ED9833B-56B0-5299-31E5-C023C10547F5}"/>
              </a:ext>
            </a:extLst>
          </p:cNvPr>
          <p:cNvSpPr>
            <a:spLocks noGrp="1"/>
          </p:cNvSpPr>
          <p:nvPr>
            <p:ph idx="1"/>
          </p:nvPr>
        </p:nvSpPr>
        <p:spPr/>
        <p:txBody>
          <a:bodyPr>
            <a:normAutofit/>
          </a:bodyPr>
          <a:lstStyle/>
          <a:p>
            <a:pPr marL="455495" indent="-438562">
              <a:spcBef>
                <a:spcPts val="907"/>
              </a:spcBef>
              <a:buChar char="●"/>
              <a:tabLst>
                <a:tab pos="455495" algn="l"/>
              </a:tabLst>
            </a:pPr>
            <a:r>
              <a:rPr lang="en-US" sz="2400" dirty="0">
                <a:latin typeface="Times New Roman"/>
                <a:cs typeface="Times New Roman"/>
              </a:rPr>
              <a:t>The</a:t>
            </a:r>
            <a:r>
              <a:rPr lang="en-US" sz="2400" spc="27" dirty="0">
                <a:latin typeface="Times New Roman"/>
                <a:cs typeface="Times New Roman"/>
              </a:rPr>
              <a:t> </a:t>
            </a:r>
            <a:r>
              <a:rPr lang="en-US" sz="2400" dirty="0">
                <a:latin typeface="Times New Roman"/>
                <a:cs typeface="Times New Roman"/>
              </a:rPr>
              <a:t>lift</a:t>
            </a:r>
            <a:r>
              <a:rPr lang="en-US" sz="2400" spc="33" dirty="0">
                <a:latin typeface="Times New Roman"/>
                <a:cs typeface="Times New Roman"/>
              </a:rPr>
              <a:t> </a:t>
            </a:r>
            <a:r>
              <a:rPr lang="en-US" sz="2400" dirty="0">
                <a:latin typeface="Times New Roman"/>
                <a:cs typeface="Times New Roman"/>
              </a:rPr>
              <a:t>blade</a:t>
            </a:r>
            <a:r>
              <a:rPr lang="en-US" sz="2400" spc="47" dirty="0">
                <a:latin typeface="Times New Roman"/>
                <a:cs typeface="Times New Roman"/>
              </a:rPr>
              <a:t> </a:t>
            </a:r>
            <a:r>
              <a:rPr lang="en-US" sz="2400" dirty="0">
                <a:latin typeface="Times New Roman"/>
                <a:cs typeface="Times New Roman"/>
              </a:rPr>
              <a:t>design</a:t>
            </a:r>
            <a:r>
              <a:rPr lang="en-US" sz="2400" spc="60" dirty="0">
                <a:latin typeface="Times New Roman"/>
                <a:cs typeface="Times New Roman"/>
              </a:rPr>
              <a:t> </a:t>
            </a:r>
            <a:r>
              <a:rPr lang="en-US" sz="2400" dirty="0">
                <a:latin typeface="Times New Roman"/>
                <a:cs typeface="Times New Roman"/>
              </a:rPr>
              <a:t>make</a:t>
            </a:r>
            <a:r>
              <a:rPr lang="en-US" sz="2400" spc="33" dirty="0">
                <a:latin typeface="Times New Roman"/>
                <a:cs typeface="Times New Roman"/>
              </a:rPr>
              <a:t> </a:t>
            </a:r>
            <a:r>
              <a:rPr lang="en-US" sz="2400" dirty="0">
                <a:latin typeface="Times New Roman"/>
                <a:cs typeface="Times New Roman"/>
              </a:rPr>
              <a:t>use</a:t>
            </a:r>
            <a:r>
              <a:rPr lang="en-US" sz="2400" spc="47" dirty="0">
                <a:latin typeface="Times New Roman"/>
                <a:cs typeface="Times New Roman"/>
              </a:rPr>
              <a:t> </a:t>
            </a:r>
            <a:r>
              <a:rPr lang="en-US" sz="2400" dirty="0">
                <a:latin typeface="Times New Roman"/>
                <a:cs typeface="Times New Roman"/>
              </a:rPr>
              <a:t>of</a:t>
            </a:r>
            <a:r>
              <a:rPr lang="en-US" sz="2400" spc="607" dirty="0">
                <a:latin typeface="Times New Roman"/>
                <a:cs typeface="Times New Roman"/>
              </a:rPr>
              <a:t> </a:t>
            </a:r>
            <a:r>
              <a:rPr lang="en-US" sz="2400" dirty="0">
                <a:latin typeface="Times New Roman"/>
                <a:cs typeface="Times New Roman"/>
              </a:rPr>
              <a:t>the</a:t>
            </a:r>
            <a:r>
              <a:rPr lang="en-US" sz="2400" spc="33" dirty="0">
                <a:latin typeface="Times New Roman"/>
                <a:cs typeface="Times New Roman"/>
              </a:rPr>
              <a:t> </a:t>
            </a:r>
            <a:r>
              <a:rPr lang="en-US" sz="2400" dirty="0">
                <a:latin typeface="Times New Roman"/>
                <a:cs typeface="Times New Roman"/>
              </a:rPr>
              <a:t>same</a:t>
            </a:r>
            <a:r>
              <a:rPr lang="en-US" sz="2400" spc="47" dirty="0">
                <a:latin typeface="Times New Roman"/>
                <a:cs typeface="Times New Roman"/>
              </a:rPr>
              <a:t> </a:t>
            </a:r>
            <a:r>
              <a:rPr lang="en-US" sz="2400" dirty="0">
                <a:latin typeface="Times New Roman"/>
                <a:cs typeface="Times New Roman"/>
              </a:rPr>
              <a:t>principle</a:t>
            </a:r>
            <a:r>
              <a:rPr lang="en-US" sz="2400" spc="33" dirty="0">
                <a:latin typeface="Times New Roman"/>
                <a:cs typeface="Times New Roman"/>
              </a:rPr>
              <a:t> </a:t>
            </a:r>
            <a:r>
              <a:rPr lang="en-US" sz="2400" dirty="0">
                <a:latin typeface="Times New Roman"/>
                <a:cs typeface="Times New Roman"/>
              </a:rPr>
              <a:t>that</a:t>
            </a:r>
            <a:r>
              <a:rPr lang="en-US" sz="2400" spc="33" dirty="0">
                <a:latin typeface="Times New Roman"/>
                <a:cs typeface="Times New Roman"/>
              </a:rPr>
              <a:t> </a:t>
            </a:r>
            <a:r>
              <a:rPr lang="en-US" sz="2400" dirty="0">
                <a:latin typeface="Times New Roman"/>
                <a:cs typeface="Times New Roman"/>
              </a:rPr>
              <a:t>enables</a:t>
            </a:r>
            <a:r>
              <a:rPr lang="en-US" sz="2400" spc="40" dirty="0">
                <a:latin typeface="Times New Roman"/>
                <a:cs typeface="Times New Roman"/>
              </a:rPr>
              <a:t> </a:t>
            </a:r>
            <a:r>
              <a:rPr lang="en-US" sz="2400" dirty="0">
                <a:latin typeface="Times New Roman"/>
                <a:cs typeface="Times New Roman"/>
              </a:rPr>
              <a:t>aeroplanes,</a:t>
            </a:r>
            <a:r>
              <a:rPr lang="en-US" sz="2400" spc="40" dirty="0">
                <a:latin typeface="Times New Roman"/>
                <a:cs typeface="Times New Roman"/>
              </a:rPr>
              <a:t> </a:t>
            </a:r>
            <a:r>
              <a:rPr lang="en-US" sz="2400" dirty="0">
                <a:latin typeface="Times New Roman"/>
                <a:cs typeface="Times New Roman"/>
              </a:rPr>
              <a:t>kites</a:t>
            </a:r>
            <a:r>
              <a:rPr lang="en-US" sz="2400" spc="53" dirty="0">
                <a:latin typeface="Times New Roman"/>
                <a:cs typeface="Times New Roman"/>
              </a:rPr>
              <a:t> </a:t>
            </a:r>
            <a:r>
              <a:rPr lang="en-US" sz="2400" dirty="0">
                <a:latin typeface="Times New Roman"/>
                <a:cs typeface="Times New Roman"/>
              </a:rPr>
              <a:t>and</a:t>
            </a:r>
            <a:r>
              <a:rPr lang="en-US" sz="2400" spc="47" dirty="0">
                <a:latin typeface="Times New Roman"/>
                <a:cs typeface="Times New Roman"/>
              </a:rPr>
              <a:t> </a:t>
            </a:r>
            <a:r>
              <a:rPr lang="en-US" sz="2400" dirty="0">
                <a:latin typeface="Times New Roman"/>
                <a:cs typeface="Times New Roman"/>
              </a:rPr>
              <a:t>birds</a:t>
            </a:r>
            <a:r>
              <a:rPr lang="en-US" sz="2400" spc="33" dirty="0">
                <a:latin typeface="Times New Roman"/>
                <a:cs typeface="Times New Roman"/>
              </a:rPr>
              <a:t> </a:t>
            </a:r>
            <a:r>
              <a:rPr lang="en-US" sz="2400" spc="-33" dirty="0">
                <a:latin typeface="Times New Roman"/>
                <a:cs typeface="Times New Roman"/>
              </a:rPr>
              <a:t>to </a:t>
            </a:r>
            <a:r>
              <a:rPr lang="en-US" sz="2400" spc="-27" dirty="0">
                <a:latin typeface="Times New Roman"/>
                <a:cs typeface="Times New Roman"/>
              </a:rPr>
              <a:t>fly.</a:t>
            </a:r>
            <a:endParaRPr lang="en-US" sz="2400" dirty="0">
              <a:latin typeface="Times New Roman"/>
              <a:cs typeface="Times New Roman"/>
            </a:endParaRPr>
          </a:p>
          <a:p>
            <a:pPr marL="455495" indent="-438562">
              <a:spcBef>
                <a:spcPts val="767"/>
              </a:spcBef>
              <a:buChar char="●"/>
              <a:tabLst>
                <a:tab pos="455495" algn="l"/>
              </a:tabLst>
            </a:pPr>
            <a:r>
              <a:rPr lang="en-US" sz="2400" dirty="0">
                <a:latin typeface="Times New Roman"/>
                <a:cs typeface="Times New Roman"/>
              </a:rPr>
              <a:t>When</a:t>
            </a:r>
            <a:r>
              <a:rPr lang="en-US" sz="2400" spc="247" dirty="0">
                <a:latin typeface="Times New Roman"/>
                <a:cs typeface="Times New Roman"/>
              </a:rPr>
              <a:t> </a:t>
            </a:r>
            <a:r>
              <a:rPr lang="en-US" sz="2400" dirty="0">
                <a:latin typeface="Times New Roman"/>
                <a:cs typeface="Times New Roman"/>
              </a:rPr>
              <a:t>air</a:t>
            </a:r>
            <a:r>
              <a:rPr lang="en-US" sz="2400" spc="240" dirty="0">
                <a:latin typeface="Times New Roman"/>
                <a:cs typeface="Times New Roman"/>
              </a:rPr>
              <a:t> </a:t>
            </a:r>
            <a:r>
              <a:rPr lang="en-US" sz="2400" dirty="0">
                <a:latin typeface="Times New Roman"/>
                <a:cs typeface="Times New Roman"/>
              </a:rPr>
              <a:t>flows</a:t>
            </a:r>
            <a:r>
              <a:rPr lang="en-US" sz="2400" spc="253" dirty="0">
                <a:latin typeface="Times New Roman"/>
                <a:cs typeface="Times New Roman"/>
              </a:rPr>
              <a:t> </a:t>
            </a:r>
            <a:r>
              <a:rPr lang="en-US" sz="2400" dirty="0">
                <a:latin typeface="Times New Roman"/>
                <a:cs typeface="Times New Roman"/>
              </a:rPr>
              <a:t>past</a:t>
            </a:r>
            <a:r>
              <a:rPr lang="en-US" sz="2400" spc="247" dirty="0">
                <a:latin typeface="Times New Roman"/>
                <a:cs typeface="Times New Roman"/>
              </a:rPr>
              <a:t> </a:t>
            </a:r>
            <a:r>
              <a:rPr lang="en-US" sz="2400" dirty="0">
                <a:latin typeface="Times New Roman"/>
                <a:cs typeface="Times New Roman"/>
              </a:rPr>
              <a:t>the</a:t>
            </a:r>
            <a:r>
              <a:rPr lang="en-US" sz="2400" spc="247" dirty="0">
                <a:latin typeface="Times New Roman"/>
                <a:cs typeface="Times New Roman"/>
              </a:rPr>
              <a:t> </a:t>
            </a:r>
            <a:r>
              <a:rPr lang="en-US" sz="2400" dirty="0">
                <a:latin typeface="Times New Roman"/>
                <a:cs typeface="Times New Roman"/>
              </a:rPr>
              <a:t>blade,</a:t>
            </a:r>
            <a:r>
              <a:rPr lang="en-US" sz="2400" spc="240" dirty="0">
                <a:latin typeface="Times New Roman"/>
                <a:cs typeface="Times New Roman"/>
              </a:rPr>
              <a:t> </a:t>
            </a:r>
            <a:r>
              <a:rPr lang="en-US" sz="2400" dirty="0">
                <a:latin typeface="Times New Roman"/>
                <a:cs typeface="Times New Roman"/>
              </a:rPr>
              <a:t>a</a:t>
            </a:r>
            <a:r>
              <a:rPr lang="en-US" sz="2400" spc="247" dirty="0">
                <a:latin typeface="Times New Roman"/>
                <a:cs typeface="Times New Roman"/>
              </a:rPr>
              <a:t> </a:t>
            </a:r>
            <a:r>
              <a:rPr lang="en-US" sz="2400" dirty="0">
                <a:latin typeface="Times New Roman"/>
                <a:cs typeface="Times New Roman"/>
              </a:rPr>
              <a:t>wind</a:t>
            </a:r>
            <a:r>
              <a:rPr lang="en-US" sz="2400" spc="240" dirty="0">
                <a:latin typeface="Times New Roman"/>
                <a:cs typeface="Times New Roman"/>
              </a:rPr>
              <a:t> </a:t>
            </a:r>
            <a:r>
              <a:rPr lang="en-US" sz="2400" dirty="0">
                <a:latin typeface="Times New Roman"/>
                <a:cs typeface="Times New Roman"/>
              </a:rPr>
              <a:t>speed</a:t>
            </a:r>
            <a:r>
              <a:rPr lang="en-US" sz="2400" spc="253" dirty="0">
                <a:latin typeface="Times New Roman"/>
                <a:cs typeface="Times New Roman"/>
              </a:rPr>
              <a:t> </a:t>
            </a:r>
            <a:r>
              <a:rPr lang="en-US" sz="2400" dirty="0">
                <a:latin typeface="Times New Roman"/>
                <a:cs typeface="Times New Roman"/>
              </a:rPr>
              <a:t>and</a:t>
            </a:r>
            <a:r>
              <a:rPr lang="en-US" sz="2400" spc="233" dirty="0">
                <a:latin typeface="Times New Roman"/>
                <a:cs typeface="Times New Roman"/>
              </a:rPr>
              <a:t> </a:t>
            </a:r>
            <a:r>
              <a:rPr lang="en-US" sz="2400" dirty="0">
                <a:latin typeface="Times New Roman"/>
                <a:cs typeface="Times New Roman"/>
              </a:rPr>
              <a:t>pressure</a:t>
            </a:r>
            <a:r>
              <a:rPr lang="en-US" sz="2400" spc="247" dirty="0">
                <a:latin typeface="Times New Roman"/>
                <a:cs typeface="Times New Roman"/>
              </a:rPr>
              <a:t> </a:t>
            </a:r>
            <a:r>
              <a:rPr lang="en-US" sz="2400" dirty="0">
                <a:latin typeface="Times New Roman"/>
                <a:cs typeface="Times New Roman"/>
              </a:rPr>
              <a:t>differential</a:t>
            </a:r>
            <a:r>
              <a:rPr lang="en-US" sz="2400" spc="240" dirty="0">
                <a:latin typeface="Times New Roman"/>
                <a:cs typeface="Times New Roman"/>
              </a:rPr>
              <a:t> </a:t>
            </a:r>
            <a:r>
              <a:rPr lang="en-US" sz="2400" dirty="0">
                <a:latin typeface="Times New Roman"/>
                <a:cs typeface="Times New Roman"/>
              </a:rPr>
              <a:t>is</a:t>
            </a:r>
            <a:r>
              <a:rPr lang="en-US" sz="2400" spc="227" dirty="0">
                <a:latin typeface="Times New Roman"/>
                <a:cs typeface="Times New Roman"/>
              </a:rPr>
              <a:t> </a:t>
            </a:r>
            <a:r>
              <a:rPr lang="en-US" sz="2400" dirty="0">
                <a:latin typeface="Times New Roman"/>
                <a:cs typeface="Times New Roman"/>
              </a:rPr>
              <a:t>created</a:t>
            </a:r>
            <a:r>
              <a:rPr lang="en-US" sz="2400" spc="247" dirty="0">
                <a:latin typeface="Times New Roman"/>
                <a:cs typeface="Times New Roman"/>
              </a:rPr>
              <a:t> </a:t>
            </a:r>
            <a:r>
              <a:rPr lang="en-US" sz="2400" dirty="0">
                <a:latin typeface="Times New Roman"/>
                <a:cs typeface="Times New Roman"/>
              </a:rPr>
              <a:t>between</a:t>
            </a:r>
            <a:r>
              <a:rPr lang="en-US" sz="2400" spc="253" dirty="0">
                <a:latin typeface="Times New Roman"/>
                <a:cs typeface="Times New Roman"/>
              </a:rPr>
              <a:t> </a:t>
            </a:r>
            <a:r>
              <a:rPr lang="en-US" sz="2400" spc="-33" dirty="0">
                <a:latin typeface="Times New Roman"/>
                <a:cs typeface="Times New Roman"/>
              </a:rPr>
              <a:t>the </a:t>
            </a:r>
            <a:r>
              <a:rPr lang="en-US" sz="2400" dirty="0">
                <a:latin typeface="Times New Roman"/>
                <a:cs typeface="Times New Roman"/>
              </a:rPr>
              <a:t>upper</a:t>
            </a:r>
            <a:r>
              <a:rPr lang="en-US" sz="2400" spc="-60" dirty="0">
                <a:latin typeface="Times New Roman"/>
                <a:cs typeface="Times New Roman"/>
              </a:rPr>
              <a:t> </a:t>
            </a:r>
            <a:r>
              <a:rPr lang="en-US" sz="2400" dirty="0">
                <a:latin typeface="Times New Roman"/>
                <a:cs typeface="Times New Roman"/>
              </a:rPr>
              <a:t>and</a:t>
            </a:r>
            <a:r>
              <a:rPr lang="en-US" sz="2400" spc="-27" dirty="0">
                <a:latin typeface="Times New Roman"/>
                <a:cs typeface="Times New Roman"/>
              </a:rPr>
              <a:t> </a:t>
            </a:r>
            <a:r>
              <a:rPr lang="en-US" sz="2400" dirty="0">
                <a:latin typeface="Times New Roman"/>
                <a:cs typeface="Times New Roman"/>
              </a:rPr>
              <a:t>lower</a:t>
            </a:r>
            <a:r>
              <a:rPr lang="en-US" sz="2400" spc="-40" dirty="0">
                <a:latin typeface="Times New Roman"/>
                <a:cs typeface="Times New Roman"/>
              </a:rPr>
              <a:t> </a:t>
            </a:r>
            <a:r>
              <a:rPr lang="en-US" sz="2400" dirty="0">
                <a:latin typeface="Times New Roman"/>
                <a:cs typeface="Times New Roman"/>
              </a:rPr>
              <a:t>blade</a:t>
            </a:r>
            <a:r>
              <a:rPr lang="en-US" sz="2400" spc="-33" dirty="0">
                <a:latin typeface="Times New Roman"/>
                <a:cs typeface="Times New Roman"/>
              </a:rPr>
              <a:t> </a:t>
            </a:r>
            <a:r>
              <a:rPr lang="en-US" sz="2400" spc="-13" dirty="0">
                <a:latin typeface="Times New Roman"/>
                <a:cs typeface="Times New Roman"/>
              </a:rPr>
              <a:t>surfaces.</a:t>
            </a:r>
            <a:endParaRPr lang="en-US" sz="2400" dirty="0">
              <a:latin typeface="Times New Roman"/>
              <a:cs typeface="Times New Roman"/>
            </a:endParaRPr>
          </a:p>
          <a:p>
            <a:pPr marL="455495" indent="-438562">
              <a:spcBef>
                <a:spcPts val="773"/>
              </a:spcBef>
              <a:buChar char="●"/>
              <a:tabLst>
                <a:tab pos="455495" algn="l"/>
              </a:tabLst>
            </a:pPr>
            <a:r>
              <a:rPr lang="en-US" sz="2400" dirty="0">
                <a:latin typeface="Times New Roman"/>
                <a:cs typeface="Times New Roman"/>
              </a:rPr>
              <a:t>The</a:t>
            </a:r>
            <a:r>
              <a:rPr lang="en-US" sz="2400" spc="-27" dirty="0">
                <a:latin typeface="Times New Roman"/>
                <a:cs typeface="Times New Roman"/>
              </a:rPr>
              <a:t> </a:t>
            </a:r>
            <a:r>
              <a:rPr lang="en-US" sz="2400" dirty="0">
                <a:latin typeface="Times New Roman"/>
                <a:cs typeface="Times New Roman"/>
              </a:rPr>
              <a:t>pressure</a:t>
            </a:r>
            <a:r>
              <a:rPr lang="en-US" sz="2400" spc="-13" dirty="0">
                <a:latin typeface="Times New Roman"/>
                <a:cs typeface="Times New Roman"/>
              </a:rPr>
              <a:t> </a:t>
            </a:r>
            <a:r>
              <a:rPr lang="en-US" sz="2400" dirty="0">
                <a:latin typeface="Times New Roman"/>
                <a:cs typeface="Times New Roman"/>
              </a:rPr>
              <a:t>at</a:t>
            </a:r>
            <a:r>
              <a:rPr lang="en-US" sz="2400" spc="-33" dirty="0">
                <a:latin typeface="Times New Roman"/>
                <a:cs typeface="Times New Roman"/>
              </a:rPr>
              <a:t> </a:t>
            </a:r>
            <a:r>
              <a:rPr lang="en-US" sz="2400" dirty="0">
                <a:latin typeface="Times New Roman"/>
                <a:cs typeface="Times New Roman"/>
              </a:rPr>
              <a:t>the</a:t>
            </a:r>
            <a:r>
              <a:rPr lang="en-US" sz="2400" spc="-33" dirty="0">
                <a:latin typeface="Times New Roman"/>
                <a:cs typeface="Times New Roman"/>
              </a:rPr>
              <a:t> </a:t>
            </a:r>
            <a:r>
              <a:rPr lang="en-US" sz="2400" dirty="0">
                <a:latin typeface="Times New Roman"/>
                <a:cs typeface="Times New Roman"/>
              </a:rPr>
              <a:t>lower</a:t>
            </a:r>
            <a:r>
              <a:rPr lang="en-US" sz="2400" spc="-33" dirty="0">
                <a:latin typeface="Times New Roman"/>
                <a:cs typeface="Times New Roman"/>
              </a:rPr>
              <a:t> </a:t>
            </a:r>
            <a:r>
              <a:rPr lang="en-US" sz="2400" dirty="0">
                <a:latin typeface="Times New Roman"/>
                <a:cs typeface="Times New Roman"/>
              </a:rPr>
              <a:t>surface</a:t>
            </a:r>
            <a:r>
              <a:rPr lang="en-US" sz="2400" spc="-13" dirty="0">
                <a:latin typeface="Times New Roman"/>
                <a:cs typeface="Times New Roman"/>
              </a:rPr>
              <a:t> </a:t>
            </a:r>
            <a:r>
              <a:rPr lang="en-US" sz="2400" dirty="0">
                <a:latin typeface="Times New Roman"/>
                <a:cs typeface="Times New Roman"/>
              </a:rPr>
              <a:t>is</a:t>
            </a:r>
            <a:r>
              <a:rPr lang="en-US" sz="2400" spc="-20" dirty="0">
                <a:latin typeface="Times New Roman"/>
                <a:cs typeface="Times New Roman"/>
              </a:rPr>
              <a:t> </a:t>
            </a:r>
            <a:r>
              <a:rPr lang="en-US" sz="2400" dirty="0">
                <a:latin typeface="Times New Roman"/>
                <a:cs typeface="Times New Roman"/>
              </a:rPr>
              <a:t>greater</a:t>
            </a:r>
            <a:r>
              <a:rPr lang="en-US" sz="2400" spc="-7" dirty="0">
                <a:latin typeface="Times New Roman"/>
                <a:cs typeface="Times New Roman"/>
              </a:rPr>
              <a:t> </a:t>
            </a:r>
            <a:r>
              <a:rPr lang="en-US" sz="2400" dirty="0">
                <a:latin typeface="Times New Roman"/>
                <a:cs typeface="Times New Roman"/>
              </a:rPr>
              <a:t>and</a:t>
            </a:r>
            <a:r>
              <a:rPr lang="en-US" sz="2400" spc="-40" dirty="0">
                <a:latin typeface="Times New Roman"/>
                <a:cs typeface="Times New Roman"/>
              </a:rPr>
              <a:t> </a:t>
            </a:r>
            <a:r>
              <a:rPr lang="en-US" sz="2400" dirty="0">
                <a:latin typeface="Times New Roman"/>
                <a:cs typeface="Times New Roman"/>
              </a:rPr>
              <a:t>thus</a:t>
            </a:r>
            <a:r>
              <a:rPr lang="en-US" sz="2400" spc="-27" dirty="0">
                <a:latin typeface="Times New Roman"/>
                <a:cs typeface="Times New Roman"/>
              </a:rPr>
              <a:t> </a:t>
            </a:r>
            <a:r>
              <a:rPr lang="en-US" sz="2400" dirty="0">
                <a:latin typeface="Times New Roman"/>
                <a:cs typeface="Times New Roman"/>
              </a:rPr>
              <a:t>acts</a:t>
            </a:r>
            <a:r>
              <a:rPr lang="en-US" sz="2400" spc="-27" dirty="0">
                <a:latin typeface="Times New Roman"/>
                <a:cs typeface="Times New Roman"/>
              </a:rPr>
              <a:t> </a:t>
            </a:r>
            <a:r>
              <a:rPr lang="en-US" sz="2400" dirty="0">
                <a:latin typeface="Times New Roman"/>
                <a:cs typeface="Times New Roman"/>
              </a:rPr>
              <a:t>to</a:t>
            </a:r>
            <a:r>
              <a:rPr lang="en-US" sz="2400" spc="-27" dirty="0">
                <a:latin typeface="Times New Roman"/>
                <a:cs typeface="Times New Roman"/>
              </a:rPr>
              <a:t> </a:t>
            </a:r>
            <a:r>
              <a:rPr lang="en-US" sz="2400" dirty="0">
                <a:latin typeface="Times New Roman"/>
                <a:cs typeface="Times New Roman"/>
              </a:rPr>
              <a:t>“lift”</a:t>
            </a:r>
            <a:r>
              <a:rPr lang="en-US" sz="2400" spc="-20" dirty="0">
                <a:latin typeface="Times New Roman"/>
                <a:cs typeface="Times New Roman"/>
              </a:rPr>
              <a:t> </a:t>
            </a:r>
            <a:r>
              <a:rPr lang="en-US" sz="2400" dirty="0">
                <a:latin typeface="Times New Roman"/>
                <a:cs typeface="Times New Roman"/>
              </a:rPr>
              <a:t>the</a:t>
            </a:r>
            <a:r>
              <a:rPr lang="en-US" sz="2400" spc="-33" dirty="0">
                <a:latin typeface="Times New Roman"/>
                <a:cs typeface="Times New Roman"/>
              </a:rPr>
              <a:t> </a:t>
            </a:r>
            <a:r>
              <a:rPr lang="en-US" sz="2400" spc="-13" dirty="0">
                <a:latin typeface="Times New Roman"/>
                <a:cs typeface="Times New Roman"/>
              </a:rPr>
              <a:t>blade.</a:t>
            </a:r>
            <a:endParaRPr lang="en-US" sz="2400" dirty="0">
              <a:latin typeface="Times New Roman"/>
              <a:cs typeface="Times New Roman"/>
            </a:endParaRPr>
          </a:p>
          <a:p>
            <a:pPr marL="455495" marR="3105496" indent="-439409">
              <a:lnSpc>
                <a:spcPct val="130000"/>
              </a:lnSpc>
              <a:buChar char="●"/>
              <a:tabLst>
                <a:tab pos="455495" algn="l"/>
              </a:tabLst>
            </a:pPr>
            <a:r>
              <a:rPr lang="en-US" sz="2400" dirty="0">
                <a:latin typeface="Times New Roman"/>
                <a:cs typeface="Times New Roman"/>
              </a:rPr>
              <a:t>When</a:t>
            </a:r>
            <a:r>
              <a:rPr lang="en-US" sz="2400" spc="-27" dirty="0">
                <a:latin typeface="Times New Roman"/>
                <a:cs typeface="Times New Roman"/>
              </a:rPr>
              <a:t> </a:t>
            </a:r>
            <a:r>
              <a:rPr lang="en-US" sz="2400" dirty="0">
                <a:latin typeface="Times New Roman"/>
                <a:cs typeface="Times New Roman"/>
              </a:rPr>
              <a:t>blades</a:t>
            </a:r>
            <a:r>
              <a:rPr lang="en-US" sz="2400" spc="-20" dirty="0">
                <a:latin typeface="Times New Roman"/>
                <a:cs typeface="Times New Roman"/>
              </a:rPr>
              <a:t> </a:t>
            </a:r>
            <a:r>
              <a:rPr lang="en-US" sz="2400" dirty="0">
                <a:latin typeface="Times New Roman"/>
                <a:cs typeface="Times New Roman"/>
              </a:rPr>
              <a:t>are</a:t>
            </a:r>
            <a:r>
              <a:rPr lang="en-US" sz="2400" spc="-20" dirty="0">
                <a:latin typeface="Times New Roman"/>
                <a:cs typeface="Times New Roman"/>
              </a:rPr>
              <a:t> </a:t>
            </a:r>
            <a:r>
              <a:rPr lang="en-US" sz="2400" dirty="0">
                <a:latin typeface="Times New Roman"/>
                <a:cs typeface="Times New Roman"/>
              </a:rPr>
              <a:t>attached</a:t>
            </a:r>
            <a:r>
              <a:rPr lang="en-US" sz="2400" spc="-7" dirty="0">
                <a:latin typeface="Times New Roman"/>
                <a:cs typeface="Times New Roman"/>
              </a:rPr>
              <a:t> </a:t>
            </a:r>
            <a:r>
              <a:rPr lang="en-US" sz="2400" dirty="0">
                <a:latin typeface="Times New Roman"/>
                <a:cs typeface="Times New Roman"/>
              </a:rPr>
              <a:t>to</a:t>
            </a:r>
            <a:r>
              <a:rPr lang="en-US" sz="2400" spc="-27" dirty="0">
                <a:latin typeface="Times New Roman"/>
                <a:cs typeface="Times New Roman"/>
              </a:rPr>
              <a:t> </a:t>
            </a:r>
            <a:r>
              <a:rPr lang="en-US" sz="2400" dirty="0">
                <a:latin typeface="Times New Roman"/>
                <a:cs typeface="Times New Roman"/>
              </a:rPr>
              <a:t>a</a:t>
            </a:r>
            <a:r>
              <a:rPr lang="en-US" sz="2400" spc="-40" dirty="0">
                <a:latin typeface="Times New Roman"/>
                <a:cs typeface="Times New Roman"/>
              </a:rPr>
              <a:t> </a:t>
            </a:r>
            <a:r>
              <a:rPr lang="en-US" sz="2400" dirty="0">
                <a:latin typeface="Times New Roman"/>
                <a:cs typeface="Times New Roman"/>
              </a:rPr>
              <a:t>central</a:t>
            </a:r>
            <a:r>
              <a:rPr lang="en-US" sz="2400" spc="-7" dirty="0">
                <a:latin typeface="Times New Roman"/>
                <a:cs typeface="Times New Roman"/>
              </a:rPr>
              <a:t> </a:t>
            </a:r>
            <a:r>
              <a:rPr lang="en-US" sz="2400" dirty="0">
                <a:latin typeface="Times New Roman"/>
                <a:cs typeface="Times New Roman"/>
              </a:rPr>
              <a:t>axis,</a:t>
            </a:r>
            <a:r>
              <a:rPr lang="en-US" sz="2400" spc="-13" dirty="0">
                <a:latin typeface="Times New Roman"/>
                <a:cs typeface="Times New Roman"/>
              </a:rPr>
              <a:t> </a:t>
            </a:r>
            <a:r>
              <a:rPr lang="en-US" sz="2400" dirty="0">
                <a:latin typeface="Times New Roman"/>
                <a:cs typeface="Times New Roman"/>
              </a:rPr>
              <a:t>like</a:t>
            </a:r>
            <a:r>
              <a:rPr lang="en-US" sz="2400" spc="-27" dirty="0">
                <a:latin typeface="Times New Roman"/>
                <a:cs typeface="Times New Roman"/>
              </a:rPr>
              <a:t> </a:t>
            </a:r>
            <a:r>
              <a:rPr lang="en-US" sz="2400" dirty="0">
                <a:latin typeface="Times New Roman"/>
                <a:cs typeface="Times New Roman"/>
              </a:rPr>
              <a:t>a</a:t>
            </a:r>
            <a:r>
              <a:rPr lang="en-US" sz="2400" spc="-33" dirty="0">
                <a:latin typeface="Times New Roman"/>
                <a:cs typeface="Times New Roman"/>
              </a:rPr>
              <a:t> </a:t>
            </a:r>
            <a:r>
              <a:rPr lang="en-US" sz="2400" dirty="0">
                <a:latin typeface="Times New Roman"/>
                <a:cs typeface="Times New Roman"/>
              </a:rPr>
              <a:t>wind</a:t>
            </a:r>
            <a:r>
              <a:rPr lang="en-US" sz="2400" spc="-33" dirty="0">
                <a:latin typeface="Times New Roman"/>
                <a:cs typeface="Times New Roman"/>
              </a:rPr>
              <a:t> </a:t>
            </a:r>
            <a:r>
              <a:rPr lang="en-US" sz="2400" dirty="0">
                <a:latin typeface="Times New Roman"/>
                <a:cs typeface="Times New Roman"/>
              </a:rPr>
              <a:t>turbine</a:t>
            </a:r>
            <a:r>
              <a:rPr lang="en-US" sz="2400" spc="-27" dirty="0">
                <a:latin typeface="Times New Roman"/>
                <a:cs typeface="Times New Roman"/>
              </a:rPr>
              <a:t> </a:t>
            </a:r>
            <a:r>
              <a:rPr lang="en-US" sz="2400" spc="-13" dirty="0">
                <a:latin typeface="Times New Roman"/>
                <a:cs typeface="Times New Roman"/>
              </a:rPr>
              <a:t>rotor, </a:t>
            </a:r>
            <a:r>
              <a:rPr lang="en-US" sz="2400" dirty="0">
                <a:latin typeface="Times New Roman"/>
                <a:cs typeface="Times New Roman"/>
              </a:rPr>
              <a:t>the</a:t>
            </a:r>
            <a:r>
              <a:rPr lang="en-US" sz="2400" spc="-40" dirty="0">
                <a:latin typeface="Times New Roman"/>
                <a:cs typeface="Times New Roman"/>
              </a:rPr>
              <a:t> </a:t>
            </a:r>
            <a:r>
              <a:rPr lang="en-US" sz="2400" dirty="0">
                <a:latin typeface="Times New Roman"/>
                <a:cs typeface="Times New Roman"/>
              </a:rPr>
              <a:t>lift</a:t>
            </a:r>
            <a:r>
              <a:rPr lang="en-US" sz="2400" spc="-33" dirty="0">
                <a:latin typeface="Times New Roman"/>
                <a:cs typeface="Times New Roman"/>
              </a:rPr>
              <a:t> </a:t>
            </a:r>
            <a:r>
              <a:rPr lang="en-US" sz="2400" dirty="0">
                <a:latin typeface="Times New Roman"/>
                <a:cs typeface="Times New Roman"/>
              </a:rPr>
              <a:t>is</a:t>
            </a:r>
            <a:r>
              <a:rPr lang="en-US" sz="2400" spc="-33" dirty="0">
                <a:latin typeface="Times New Roman"/>
                <a:cs typeface="Times New Roman"/>
              </a:rPr>
              <a:t> </a:t>
            </a:r>
            <a:r>
              <a:rPr lang="en-US" sz="2400" dirty="0">
                <a:latin typeface="Times New Roman"/>
                <a:cs typeface="Times New Roman"/>
              </a:rPr>
              <a:t>translated</a:t>
            </a:r>
            <a:r>
              <a:rPr lang="en-US" sz="2400" spc="27" dirty="0">
                <a:latin typeface="Times New Roman"/>
                <a:cs typeface="Times New Roman"/>
              </a:rPr>
              <a:t> </a:t>
            </a:r>
            <a:r>
              <a:rPr lang="en-US" sz="2400" dirty="0">
                <a:latin typeface="Times New Roman"/>
                <a:cs typeface="Times New Roman"/>
              </a:rPr>
              <a:t>into</a:t>
            </a:r>
            <a:r>
              <a:rPr lang="en-US" sz="2400" spc="-47" dirty="0">
                <a:latin typeface="Times New Roman"/>
                <a:cs typeface="Times New Roman"/>
              </a:rPr>
              <a:t> </a:t>
            </a:r>
            <a:r>
              <a:rPr lang="en-US" sz="2400" dirty="0">
                <a:latin typeface="Times New Roman"/>
                <a:cs typeface="Times New Roman"/>
              </a:rPr>
              <a:t>rotational  </a:t>
            </a:r>
            <a:r>
              <a:rPr lang="en-US" sz="2400" spc="-13" dirty="0">
                <a:latin typeface="Times New Roman"/>
                <a:cs typeface="Times New Roman"/>
              </a:rPr>
              <a:t>motion.</a:t>
            </a:r>
            <a:endParaRPr lang="en-US" sz="2400" dirty="0">
              <a:latin typeface="Times New Roman"/>
              <a:cs typeface="Times New Roman"/>
            </a:endParaRPr>
          </a:p>
          <a:p>
            <a:endParaRPr lang="en-IN" sz="2400" dirty="0"/>
          </a:p>
        </p:txBody>
      </p:sp>
      <p:pic>
        <p:nvPicPr>
          <p:cNvPr id="4" name="object 4"/>
          <p:cNvPicPr/>
          <p:nvPr/>
        </p:nvPicPr>
        <p:blipFill>
          <a:blip r:embed="rId2" cstate="print"/>
          <a:stretch>
            <a:fillRect/>
          </a:stretch>
        </p:blipFill>
        <p:spPr>
          <a:xfrm>
            <a:off x="9094304" y="3995530"/>
            <a:ext cx="2816471" cy="2862470"/>
          </a:xfrm>
          <a:prstGeom prst="rect">
            <a:avLst/>
          </a:prstGeom>
        </p:spPr>
      </p:pic>
    </p:spTree>
    <p:extLst>
      <p:ext uri="{BB962C8B-B14F-4D97-AF65-F5344CB8AC3E}">
        <p14:creationId xmlns:p14="http://schemas.microsoft.com/office/powerpoint/2010/main" val="3404681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7EB5-0814-CD58-EEB0-28AA310C3B3A}"/>
              </a:ext>
            </a:extLst>
          </p:cNvPr>
          <p:cNvSpPr>
            <a:spLocks noGrp="1"/>
          </p:cNvSpPr>
          <p:nvPr>
            <p:ph type="title"/>
          </p:nvPr>
        </p:nvSpPr>
        <p:spPr/>
        <p:txBody>
          <a:bodyPr/>
          <a:lstStyle/>
          <a:p>
            <a:r>
              <a:rPr lang="en-IN" dirty="0"/>
              <a:t>Lift</a:t>
            </a:r>
            <a:r>
              <a:rPr lang="en-IN" spc="-47" dirty="0"/>
              <a:t> </a:t>
            </a:r>
            <a:r>
              <a:rPr lang="en-IN" spc="-13" dirty="0"/>
              <a:t>Turbines</a:t>
            </a:r>
            <a:endParaRPr lang="en-IN" dirty="0"/>
          </a:p>
        </p:txBody>
      </p:sp>
      <p:sp>
        <p:nvSpPr>
          <p:cNvPr id="3" name="Content Placeholder 2">
            <a:extLst>
              <a:ext uri="{FF2B5EF4-FFF2-40B4-BE49-F238E27FC236}">
                <a16:creationId xmlns:a16="http://schemas.microsoft.com/office/drawing/2014/main" id="{B60FF4D1-04FC-952E-DA73-BF6F696CAA5B}"/>
              </a:ext>
            </a:extLst>
          </p:cNvPr>
          <p:cNvSpPr>
            <a:spLocks noGrp="1"/>
          </p:cNvSpPr>
          <p:nvPr>
            <p:ph idx="1"/>
          </p:nvPr>
        </p:nvSpPr>
        <p:spPr/>
        <p:txBody>
          <a:bodyPr>
            <a:normAutofit/>
          </a:bodyPr>
          <a:lstStyle/>
          <a:p>
            <a:pPr marL="455495" indent="-438562">
              <a:spcBef>
                <a:spcPts val="767"/>
              </a:spcBef>
              <a:buChar char="●"/>
              <a:tabLst>
                <a:tab pos="455495" algn="l"/>
              </a:tabLst>
            </a:pPr>
            <a:r>
              <a:rPr lang="en-US" sz="2400" spc="-13" dirty="0">
                <a:latin typeface="Times New Roman"/>
                <a:cs typeface="Times New Roman"/>
              </a:rPr>
              <a:t>Lift-</a:t>
            </a:r>
            <a:r>
              <a:rPr lang="en-US" sz="2400" dirty="0">
                <a:latin typeface="Times New Roman"/>
                <a:cs typeface="Times New Roman"/>
              </a:rPr>
              <a:t>powered</a:t>
            </a:r>
            <a:r>
              <a:rPr lang="en-US" sz="2400" spc="-7" dirty="0">
                <a:latin typeface="Times New Roman"/>
                <a:cs typeface="Times New Roman"/>
              </a:rPr>
              <a:t> </a:t>
            </a:r>
            <a:r>
              <a:rPr lang="en-US" sz="2400" dirty="0">
                <a:latin typeface="Times New Roman"/>
                <a:cs typeface="Times New Roman"/>
              </a:rPr>
              <a:t>wind</a:t>
            </a:r>
            <a:r>
              <a:rPr lang="en-US" sz="2400" spc="-60" dirty="0">
                <a:latin typeface="Times New Roman"/>
                <a:cs typeface="Times New Roman"/>
              </a:rPr>
              <a:t> </a:t>
            </a:r>
            <a:r>
              <a:rPr lang="en-US" sz="2400" dirty="0">
                <a:latin typeface="Times New Roman"/>
                <a:cs typeface="Times New Roman"/>
              </a:rPr>
              <a:t>turbines</a:t>
            </a:r>
            <a:r>
              <a:rPr lang="en-US" sz="2400" spc="-40" dirty="0">
                <a:latin typeface="Times New Roman"/>
                <a:cs typeface="Times New Roman"/>
              </a:rPr>
              <a:t> </a:t>
            </a:r>
            <a:r>
              <a:rPr lang="en-US" sz="2400" dirty="0">
                <a:latin typeface="Times New Roman"/>
                <a:cs typeface="Times New Roman"/>
              </a:rPr>
              <a:t>have</a:t>
            </a:r>
            <a:r>
              <a:rPr lang="en-US" sz="2400" spc="-40" dirty="0">
                <a:latin typeface="Times New Roman"/>
                <a:cs typeface="Times New Roman"/>
              </a:rPr>
              <a:t> </a:t>
            </a:r>
            <a:r>
              <a:rPr lang="en-US" sz="2400" dirty="0">
                <a:latin typeface="Times New Roman"/>
                <a:cs typeface="Times New Roman"/>
              </a:rPr>
              <a:t>much</a:t>
            </a:r>
            <a:r>
              <a:rPr lang="en-US" sz="2400" spc="-7" dirty="0">
                <a:latin typeface="Times New Roman"/>
                <a:cs typeface="Times New Roman"/>
              </a:rPr>
              <a:t> </a:t>
            </a:r>
            <a:r>
              <a:rPr lang="en-US" sz="2400" dirty="0">
                <a:latin typeface="Times New Roman"/>
                <a:cs typeface="Times New Roman"/>
              </a:rPr>
              <a:t>higher</a:t>
            </a:r>
            <a:r>
              <a:rPr lang="en-US" sz="2400" spc="-53" dirty="0">
                <a:latin typeface="Times New Roman"/>
                <a:cs typeface="Times New Roman"/>
              </a:rPr>
              <a:t> </a:t>
            </a:r>
            <a:r>
              <a:rPr lang="en-US" sz="2400" dirty="0">
                <a:latin typeface="Times New Roman"/>
                <a:cs typeface="Times New Roman"/>
              </a:rPr>
              <a:t>rotational</a:t>
            </a:r>
            <a:r>
              <a:rPr lang="en-US" sz="2400" spc="-13" dirty="0">
                <a:latin typeface="Times New Roman"/>
                <a:cs typeface="Times New Roman"/>
              </a:rPr>
              <a:t> </a:t>
            </a:r>
            <a:r>
              <a:rPr lang="en-US" sz="2400" dirty="0">
                <a:latin typeface="Times New Roman"/>
                <a:cs typeface="Times New Roman"/>
              </a:rPr>
              <a:t>speeds</a:t>
            </a:r>
            <a:r>
              <a:rPr lang="en-US" sz="2400" spc="-47" dirty="0">
                <a:latin typeface="Times New Roman"/>
                <a:cs typeface="Times New Roman"/>
              </a:rPr>
              <a:t> </a:t>
            </a:r>
            <a:r>
              <a:rPr lang="en-US" sz="2400" dirty="0">
                <a:latin typeface="Times New Roman"/>
                <a:cs typeface="Times New Roman"/>
              </a:rPr>
              <a:t>than</a:t>
            </a:r>
            <a:r>
              <a:rPr lang="en-US" sz="2400" spc="-33" dirty="0">
                <a:latin typeface="Times New Roman"/>
                <a:cs typeface="Times New Roman"/>
              </a:rPr>
              <a:t> </a:t>
            </a:r>
            <a:r>
              <a:rPr lang="en-US" sz="2400" dirty="0">
                <a:latin typeface="Times New Roman"/>
                <a:cs typeface="Times New Roman"/>
              </a:rPr>
              <a:t>drag</a:t>
            </a:r>
            <a:r>
              <a:rPr lang="en-US" sz="2400" spc="-47" dirty="0">
                <a:latin typeface="Times New Roman"/>
                <a:cs typeface="Times New Roman"/>
              </a:rPr>
              <a:t> </a:t>
            </a:r>
            <a:r>
              <a:rPr lang="en-US" sz="2400" spc="-13" dirty="0">
                <a:latin typeface="Times New Roman"/>
                <a:cs typeface="Times New Roman"/>
              </a:rPr>
              <a:t>types.</a:t>
            </a:r>
            <a:endParaRPr lang="en-US" sz="2400" dirty="0">
              <a:latin typeface="Times New Roman"/>
              <a:cs typeface="Times New Roman"/>
            </a:endParaRPr>
          </a:p>
          <a:p>
            <a:pPr marL="455495" indent="-438562">
              <a:spcBef>
                <a:spcPts val="773"/>
              </a:spcBef>
              <a:buChar char="●"/>
              <a:tabLst>
                <a:tab pos="455495" algn="l"/>
              </a:tabLst>
            </a:pPr>
            <a:r>
              <a:rPr lang="en-US" sz="2400" dirty="0">
                <a:latin typeface="Times New Roman"/>
                <a:cs typeface="Times New Roman"/>
              </a:rPr>
              <a:t>Suitable</a:t>
            </a:r>
            <a:r>
              <a:rPr lang="en-US" sz="2400" spc="-40" dirty="0">
                <a:latin typeface="Times New Roman"/>
                <a:cs typeface="Times New Roman"/>
              </a:rPr>
              <a:t> </a:t>
            </a:r>
            <a:r>
              <a:rPr lang="en-US" sz="2400" dirty="0">
                <a:latin typeface="Times New Roman"/>
                <a:cs typeface="Times New Roman"/>
              </a:rPr>
              <a:t>for</a:t>
            </a:r>
            <a:r>
              <a:rPr lang="en-US" sz="2400" spc="-67" dirty="0">
                <a:latin typeface="Times New Roman"/>
                <a:cs typeface="Times New Roman"/>
              </a:rPr>
              <a:t> </a:t>
            </a:r>
            <a:r>
              <a:rPr lang="en-US" sz="2400" dirty="0">
                <a:latin typeface="Times New Roman"/>
                <a:cs typeface="Times New Roman"/>
              </a:rPr>
              <a:t>generating</a:t>
            </a:r>
            <a:r>
              <a:rPr lang="en-US" sz="2400" spc="-27" dirty="0">
                <a:latin typeface="Times New Roman"/>
                <a:cs typeface="Times New Roman"/>
              </a:rPr>
              <a:t> </a:t>
            </a:r>
            <a:r>
              <a:rPr lang="en-US" sz="2400" spc="-13" dirty="0">
                <a:latin typeface="Times New Roman"/>
                <a:cs typeface="Times New Roman"/>
              </a:rPr>
              <a:t>electricity.</a:t>
            </a:r>
            <a:endParaRPr lang="en-US" sz="2400" dirty="0">
              <a:latin typeface="Times New Roman"/>
              <a:cs typeface="Times New Roman"/>
            </a:endParaRPr>
          </a:p>
          <a:p>
            <a:pPr marL="455495" indent="-438562">
              <a:spcBef>
                <a:spcPts val="767"/>
              </a:spcBef>
              <a:buChar char="●"/>
              <a:tabLst>
                <a:tab pos="455495" algn="l"/>
              </a:tabLst>
            </a:pPr>
            <a:r>
              <a:rPr lang="en-US" sz="2400" dirty="0">
                <a:latin typeface="Times New Roman"/>
                <a:cs typeface="Times New Roman"/>
              </a:rPr>
              <a:t>Lift</a:t>
            </a:r>
            <a:r>
              <a:rPr lang="en-US" sz="2400" spc="-40" dirty="0">
                <a:latin typeface="Times New Roman"/>
                <a:cs typeface="Times New Roman"/>
              </a:rPr>
              <a:t> </a:t>
            </a:r>
            <a:r>
              <a:rPr lang="en-US" sz="2400" dirty="0">
                <a:latin typeface="Times New Roman"/>
                <a:cs typeface="Times New Roman"/>
              </a:rPr>
              <a:t>devices</a:t>
            </a:r>
            <a:r>
              <a:rPr lang="en-US" sz="2400" spc="-13" dirty="0">
                <a:latin typeface="Times New Roman"/>
                <a:cs typeface="Times New Roman"/>
              </a:rPr>
              <a:t> </a:t>
            </a:r>
            <a:r>
              <a:rPr lang="en-US" sz="2400" dirty="0">
                <a:latin typeface="Times New Roman"/>
                <a:cs typeface="Times New Roman"/>
              </a:rPr>
              <a:t>are</a:t>
            </a:r>
            <a:r>
              <a:rPr lang="en-US" sz="2400" spc="-27" dirty="0">
                <a:latin typeface="Times New Roman"/>
                <a:cs typeface="Times New Roman"/>
              </a:rPr>
              <a:t> </a:t>
            </a:r>
            <a:r>
              <a:rPr lang="en-US" sz="2400" dirty="0">
                <a:latin typeface="Times New Roman"/>
                <a:cs typeface="Times New Roman"/>
              </a:rPr>
              <a:t>more efficient</a:t>
            </a:r>
            <a:r>
              <a:rPr lang="en-US" sz="2400" spc="-20" dirty="0">
                <a:latin typeface="Times New Roman"/>
                <a:cs typeface="Times New Roman"/>
              </a:rPr>
              <a:t> </a:t>
            </a:r>
            <a:r>
              <a:rPr lang="en-US" sz="2400" dirty="0">
                <a:latin typeface="Times New Roman"/>
                <a:cs typeface="Times New Roman"/>
              </a:rPr>
              <a:t>and</a:t>
            </a:r>
            <a:r>
              <a:rPr lang="en-US" sz="2400" spc="-47" dirty="0">
                <a:latin typeface="Times New Roman"/>
                <a:cs typeface="Times New Roman"/>
              </a:rPr>
              <a:t> </a:t>
            </a:r>
            <a:r>
              <a:rPr lang="en-US" sz="2400" dirty="0">
                <a:latin typeface="Times New Roman"/>
                <a:cs typeface="Times New Roman"/>
              </a:rPr>
              <a:t>turn</a:t>
            </a:r>
            <a:r>
              <a:rPr lang="en-US" sz="2400" spc="-33" dirty="0">
                <a:latin typeface="Times New Roman"/>
                <a:cs typeface="Times New Roman"/>
              </a:rPr>
              <a:t> </a:t>
            </a:r>
            <a:r>
              <a:rPr lang="en-US" sz="2400" dirty="0">
                <a:latin typeface="Times New Roman"/>
                <a:cs typeface="Times New Roman"/>
              </a:rPr>
              <a:t>faster</a:t>
            </a:r>
            <a:r>
              <a:rPr lang="en-US" sz="2400" spc="-20" dirty="0">
                <a:latin typeface="Times New Roman"/>
                <a:cs typeface="Times New Roman"/>
              </a:rPr>
              <a:t> </a:t>
            </a:r>
            <a:r>
              <a:rPr lang="en-US" sz="2400" dirty="0">
                <a:latin typeface="Times New Roman"/>
                <a:cs typeface="Times New Roman"/>
              </a:rPr>
              <a:t>than</a:t>
            </a:r>
            <a:r>
              <a:rPr lang="en-US" sz="2400" spc="-33" dirty="0">
                <a:latin typeface="Times New Roman"/>
                <a:cs typeface="Times New Roman"/>
              </a:rPr>
              <a:t> </a:t>
            </a:r>
            <a:r>
              <a:rPr lang="en-US" sz="2400" spc="-13" dirty="0">
                <a:latin typeface="Times New Roman"/>
                <a:cs typeface="Times New Roman"/>
              </a:rPr>
              <a:t>wind.</a:t>
            </a:r>
            <a:endParaRPr lang="en-US" sz="2400" dirty="0">
              <a:latin typeface="Times New Roman"/>
              <a:cs typeface="Times New Roman"/>
            </a:endParaRPr>
          </a:p>
          <a:p>
            <a:pPr marL="455495" indent="-438562">
              <a:spcBef>
                <a:spcPts val="767"/>
              </a:spcBef>
              <a:buChar char="●"/>
              <a:tabLst>
                <a:tab pos="455495" algn="l"/>
              </a:tabLst>
            </a:pPr>
            <a:r>
              <a:rPr lang="en-US" sz="2400" dirty="0">
                <a:latin typeface="Times New Roman"/>
                <a:cs typeface="Times New Roman"/>
              </a:rPr>
              <a:t>They</a:t>
            </a:r>
            <a:r>
              <a:rPr lang="en-US" sz="2400" spc="-53" dirty="0">
                <a:latin typeface="Times New Roman"/>
                <a:cs typeface="Times New Roman"/>
              </a:rPr>
              <a:t> </a:t>
            </a:r>
            <a:r>
              <a:rPr lang="en-US" sz="2400" dirty="0">
                <a:latin typeface="Times New Roman"/>
                <a:cs typeface="Times New Roman"/>
              </a:rPr>
              <a:t>are</a:t>
            </a:r>
            <a:r>
              <a:rPr lang="en-US" sz="2400" spc="-27" dirty="0">
                <a:latin typeface="Times New Roman"/>
                <a:cs typeface="Times New Roman"/>
              </a:rPr>
              <a:t> </a:t>
            </a:r>
            <a:r>
              <a:rPr lang="en-US" sz="2400" dirty="0">
                <a:latin typeface="Times New Roman"/>
                <a:cs typeface="Times New Roman"/>
              </a:rPr>
              <a:t>able</a:t>
            </a:r>
            <a:r>
              <a:rPr lang="en-US" sz="2400" spc="-33" dirty="0">
                <a:latin typeface="Times New Roman"/>
                <a:cs typeface="Times New Roman"/>
              </a:rPr>
              <a:t> </a:t>
            </a:r>
            <a:r>
              <a:rPr lang="en-US" sz="2400" dirty="0">
                <a:latin typeface="Times New Roman"/>
                <a:cs typeface="Times New Roman"/>
              </a:rPr>
              <a:t>to</a:t>
            </a:r>
            <a:r>
              <a:rPr lang="en-US" sz="2400" spc="-33" dirty="0">
                <a:latin typeface="Times New Roman"/>
                <a:cs typeface="Times New Roman"/>
              </a:rPr>
              <a:t> </a:t>
            </a:r>
            <a:r>
              <a:rPr lang="en-US" sz="2400" dirty="0">
                <a:latin typeface="Times New Roman"/>
                <a:cs typeface="Times New Roman"/>
              </a:rPr>
              <a:t>benefit</a:t>
            </a:r>
            <a:r>
              <a:rPr lang="en-US" sz="2400" spc="-33" dirty="0">
                <a:latin typeface="Times New Roman"/>
                <a:cs typeface="Times New Roman"/>
              </a:rPr>
              <a:t> </a:t>
            </a:r>
            <a:r>
              <a:rPr lang="en-US" sz="2400" dirty="0">
                <a:latin typeface="Times New Roman"/>
                <a:cs typeface="Times New Roman"/>
              </a:rPr>
              <a:t>from</a:t>
            </a:r>
            <a:r>
              <a:rPr lang="en-US" sz="2400" spc="-33" dirty="0">
                <a:latin typeface="Times New Roman"/>
                <a:cs typeface="Times New Roman"/>
              </a:rPr>
              <a:t> </a:t>
            </a:r>
            <a:r>
              <a:rPr lang="en-US" sz="2400" dirty="0">
                <a:latin typeface="Times New Roman"/>
                <a:cs typeface="Times New Roman"/>
              </a:rPr>
              <a:t>high</a:t>
            </a:r>
            <a:r>
              <a:rPr lang="en-US" sz="2400" spc="-40" dirty="0">
                <a:latin typeface="Times New Roman"/>
                <a:cs typeface="Times New Roman"/>
              </a:rPr>
              <a:t> </a:t>
            </a:r>
            <a:r>
              <a:rPr lang="en-US" sz="2400" dirty="0">
                <a:latin typeface="Times New Roman"/>
                <a:cs typeface="Times New Roman"/>
              </a:rPr>
              <a:t>power</a:t>
            </a:r>
            <a:r>
              <a:rPr lang="en-US" sz="2400" spc="-60" dirty="0">
                <a:latin typeface="Times New Roman"/>
                <a:cs typeface="Times New Roman"/>
              </a:rPr>
              <a:t> </a:t>
            </a:r>
            <a:r>
              <a:rPr lang="en-US" sz="2400" dirty="0">
                <a:latin typeface="Times New Roman"/>
                <a:cs typeface="Times New Roman"/>
              </a:rPr>
              <a:t>densities</a:t>
            </a:r>
            <a:r>
              <a:rPr lang="en-US" sz="2400" spc="-20" dirty="0">
                <a:latin typeface="Times New Roman"/>
                <a:cs typeface="Times New Roman"/>
              </a:rPr>
              <a:t> </a:t>
            </a:r>
            <a:r>
              <a:rPr lang="en-US" sz="2400" dirty="0">
                <a:latin typeface="Times New Roman"/>
                <a:cs typeface="Times New Roman"/>
              </a:rPr>
              <a:t>available in</a:t>
            </a:r>
            <a:r>
              <a:rPr lang="en-US" sz="2400" spc="-27" dirty="0">
                <a:latin typeface="Times New Roman"/>
                <a:cs typeface="Times New Roman"/>
              </a:rPr>
              <a:t> </a:t>
            </a:r>
            <a:r>
              <a:rPr lang="en-US" sz="2400" dirty="0">
                <a:latin typeface="Times New Roman"/>
                <a:cs typeface="Times New Roman"/>
              </a:rPr>
              <a:t>strong</a:t>
            </a:r>
            <a:r>
              <a:rPr lang="en-US" sz="2400" spc="-47" dirty="0">
                <a:latin typeface="Times New Roman"/>
                <a:cs typeface="Times New Roman"/>
              </a:rPr>
              <a:t> </a:t>
            </a:r>
            <a:r>
              <a:rPr lang="en-US" sz="2400" spc="-13" dirty="0">
                <a:latin typeface="Times New Roman"/>
                <a:cs typeface="Times New Roman"/>
              </a:rPr>
              <a:t>winds.</a:t>
            </a:r>
            <a:endParaRPr lang="en-US" sz="2400" dirty="0">
              <a:latin typeface="Times New Roman"/>
              <a:cs typeface="Times New Roman"/>
            </a:endParaRPr>
          </a:p>
          <a:p>
            <a:pPr marL="455495" indent="-438562">
              <a:spcBef>
                <a:spcPts val="773"/>
              </a:spcBef>
              <a:buChar char="●"/>
              <a:tabLst>
                <a:tab pos="455495" algn="l"/>
              </a:tabLst>
            </a:pPr>
            <a:r>
              <a:rPr lang="en-US" sz="2400" dirty="0">
                <a:latin typeface="Times New Roman"/>
                <a:cs typeface="Times New Roman"/>
              </a:rPr>
              <a:t>Eg:</a:t>
            </a:r>
            <a:r>
              <a:rPr lang="en-US" sz="2400" spc="-53" dirty="0">
                <a:latin typeface="Times New Roman"/>
                <a:cs typeface="Times New Roman"/>
              </a:rPr>
              <a:t> </a:t>
            </a:r>
            <a:r>
              <a:rPr lang="en-US" sz="2400" dirty="0" err="1">
                <a:latin typeface="Times New Roman"/>
                <a:cs typeface="Times New Roman"/>
              </a:rPr>
              <a:t>Darrieus</a:t>
            </a:r>
            <a:r>
              <a:rPr lang="en-US" sz="2400" spc="-33" dirty="0">
                <a:latin typeface="Times New Roman"/>
                <a:cs typeface="Times New Roman"/>
              </a:rPr>
              <a:t> </a:t>
            </a:r>
            <a:r>
              <a:rPr lang="en-US" sz="2400" spc="-13" dirty="0">
                <a:latin typeface="Times New Roman"/>
                <a:cs typeface="Times New Roman"/>
              </a:rPr>
              <a:t>turbine</a:t>
            </a:r>
            <a:endParaRPr lang="en-US" sz="2400" dirty="0">
              <a:latin typeface="Times New Roman"/>
              <a:cs typeface="Times New Roman"/>
            </a:endParaRPr>
          </a:p>
          <a:p>
            <a:endParaRPr lang="en-IN" sz="2400" dirty="0"/>
          </a:p>
        </p:txBody>
      </p:sp>
      <p:pic>
        <p:nvPicPr>
          <p:cNvPr id="4" name="object 4">
            <a:extLst>
              <a:ext uri="{FF2B5EF4-FFF2-40B4-BE49-F238E27FC236}">
                <a16:creationId xmlns:a16="http://schemas.microsoft.com/office/drawing/2014/main" id="{D932F63B-EB2F-F200-6ADD-91E76AF92D5D}"/>
              </a:ext>
            </a:extLst>
          </p:cNvPr>
          <p:cNvPicPr/>
          <p:nvPr/>
        </p:nvPicPr>
        <p:blipFill>
          <a:blip r:embed="rId2" cstate="print"/>
          <a:stretch>
            <a:fillRect/>
          </a:stretch>
        </p:blipFill>
        <p:spPr>
          <a:xfrm>
            <a:off x="9094304" y="3995530"/>
            <a:ext cx="2816471" cy="2862470"/>
          </a:xfrm>
          <a:prstGeom prst="rect">
            <a:avLst/>
          </a:prstGeom>
        </p:spPr>
      </p:pic>
    </p:spTree>
    <p:extLst>
      <p:ext uri="{BB962C8B-B14F-4D97-AF65-F5344CB8AC3E}">
        <p14:creationId xmlns:p14="http://schemas.microsoft.com/office/powerpoint/2010/main" val="80472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456D-2807-AF2B-DEBA-FC9DFC093E13}"/>
              </a:ext>
            </a:extLst>
          </p:cNvPr>
          <p:cNvSpPr>
            <a:spLocks noGrp="1"/>
          </p:cNvSpPr>
          <p:nvPr>
            <p:ph type="title"/>
          </p:nvPr>
        </p:nvSpPr>
        <p:spPr/>
        <p:txBody>
          <a:bodyPr/>
          <a:lstStyle/>
          <a:p>
            <a:r>
              <a:rPr lang="en-IN" dirty="0"/>
              <a:t>Drag</a:t>
            </a:r>
            <a:r>
              <a:rPr lang="en-IN" spc="-53" dirty="0"/>
              <a:t> </a:t>
            </a:r>
            <a:r>
              <a:rPr lang="en-IN" spc="-13" dirty="0"/>
              <a:t>Turbines</a:t>
            </a:r>
            <a:endParaRPr lang="en-IN" dirty="0"/>
          </a:p>
        </p:txBody>
      </p:sp>
      <p:pic>
        <p:nvPicPr>
          <p:cNvPr id="5" name="object 5"/>
          <p:cNvPicPr>
            <a:picLocks noGrp="1"/>
          </p:cNvPicPr>
          <p:nvPr>
            <p:ph idx="1"/>
          </p:nvPr>
        </p:nvPicPr>
        <p:blipFill>
          <a:blip r:embed="rId2" cstate="print"/>
          <a:stretch>
            <a:fillRect/>
          </a:stretch>
        </p:blipFill>
        <p:spPr>
          <a:xfrm>
            <a:off x="1405973" y="2404199"/>
            <a:ext cx="5086350" cy="3114675"/>
          </a:xfrm>
          <a:prstGeom prst="rect">
            <a:avLst/>
          </a:prstGeom>
        </p:spPr>
      </p:pic>
      <p:pic>
        <p:nvPicPr>
          <p:cNvPr id="4" name="object 4"/>
          <p:cNvPicPr/>
          <p:nvPr/>
        </p:nvPicPr>
        <p:blipFill>
          <a:blip r:embed="rId3" cstate="print"/>
          <a:stretch>
            <a:fillRect/>
          </a:stretch>
        </p:blipFill>
        <p:spPr>
          <a:xfrm>
            <a:off x="7849306" y="1238504"/>
            <a:ext cx="3262641" cy="5112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5B69-3DC5-F09C-231E-6E19FEF29733}"/>
              </a:ext>
            </a:extLst>
          </p:cNvPr>
          <p:cNvSpPr>
            <a:spLocks noGrp="1"/>
          </p:cNvSpPr>
          <p:nvPr>
            <p:ph type="title"/>
          </p:nvPr>
        </p:nvSpPr>
        <p:spPr/>
        <p:txBody>
          <a:bodyPr/>
          <a:lstStyle/>
          <a:p>
            <a:r>
              <a:rPr lang="en-IN" dirty="0"/>
              <a:t>Drag</a:t>
            </a:r>
            <a:r>
              <a:rPr lang="en-IN" spc="-53" dirty="0"/>
              <a:t> </a:t>
            </a:r>
            <a:r>
              <a:rPr lang="en-IN" spc="-13" dirty="0"/>
              <a:t>Turbines</a:t>
            </a:r>
            <a:endParaRPr lang="en-IN" dirty="0"/>
          </a:p>
        </p:txBody>
      </p:sp>
      <p:sp>
        <p:nvSpPr>
          <p:cNvPr id="3" name="Content Placeholder 2">
            <a:extLst>
              <a:ext uri="{FF2B5EF4-FFF2-40B4-BE49-F238E27FC236}">
                <a16:creationId xmlns:a16="http://schemas.microsoft.com/office/drawing/2014/main" id="{B48821D3-D586-AD8B-BC70-63495AF9D91F}"/>
              </a:ext>
            </a:extLst>
          </p:cNvPr>
          <p:cNvSpPr>
            <a:spLocks noGrp="1"/>
          </p:cNvSpPr>
          <p:nvPr>
            <p:ph idx="1"/>
          </p:nvPr>
        </p:nvSpPr>
        <p:spPr/>
        <p:txBody>
          <a:bodyPr>
            <a:normAutofit fontScale="92500" lnSpcReduction="20000"/>
          </a:bodyPr>
          <a:lstStyle/>
          <a:p>
            <a:pPr marL="474133" indent="-457200">
              <a:spcBef>
                <a:spcPts val="1413"/>
              </a:spcBef>
              <a:tabLst>
                <a:tab pos="457189" algn="l"/>
              </a:tabLst>
            </a:pPr>
            <a:r>
              <a:rPr lang="en-US" dirty="0">
                <a:latin typeface="Times New Roman"/>
                <a:cs typeface="Times New Roman"/>
              </a:rPr>
              <a:t>For</a:t>
            </a:r>
            <a:r>
              <a:rPr lang="en-US" spc="-33" dirty="0">
                <a:latin typeface="Times New Roman"/>
                <a:cs typeface="Times New Roman"/>
              </a:rPr>
              <a:t> </a:t>
            </a:r>
            <a:r>
              <a:rPr lang="en-US" dirty="0">
                <a:latin typeface="Times New Roman"/>
                <a:cs typeface="Times New Roman"/>
              </a:rPr>
              <a:t>the</a:t>
            </a:r>
            <a:r>
              <a:rPr lang="en-US" spc="-27" dirty="0">
                <a:latin typeface="Times New Roman"/>
                <a:cs typeface="Times New Roman"/>
              </a:rPr>
              <a:t> </a:t>
            </a:r>
            <a:r>
              <a:rPr lang="en-US" dirty="0">
                <a:latin typeface="Times New Roman"/>
                <a:cs typeface="Times New Roman"/>
              </a:rPr>
              <a:t>drag</a:t>
            </a:r>
            <a:r>
              <a:rPr lang="en-US" spc="-40" dirty="0">
                <a:latin typeface="Times New Roman"/>
                <a:cs typeface="Times New Roman"/>
              </a:rPr>
              <a:t> </a:t>
            </a:r>
            <a:r>
              <a:rPr lang="en-US" dirty="0">
                <a:latin typeface="Times New Roman"/>
                <a:cs typeface="Times New Roman"/>
              </a:rPr>
              <a:t>design,</a:t>
            </a:r>
            <a:r>
              <a:rPr lang="en-US" spc="-27" dirty="0">
                <a:latin typeface="Times New Roman"/>
                <a:cs typeface="Times New Roman"/>
              </a:rPr>
              <a:t> </a:t>
            </a:r>
            <a:r>
              <a:rPr lang="en-US" dirty="0">
                <a:latin typeface="Times New Roman"/>
                <a:cs typeface="Times New Roman"/>
              </a:rPr>
              <a:t>the</a:t>
            </a:r>
            <a:r>
              <a:rPr lang="en-US" spc="-33" dirty="0">
                <a:latin typeface="Times New Roman"/>
                <a:cs typeface="Times New Roman"/>
              </a:rPr>
              <a:t> </a:t>
            </a:r>
            <a:r>
              <a:rPr lang="en-US" dirty="0">
                <a:latin typeface="Times New Roman"/>
                <a:cs typeface="Times New Roman"/>
              </a:rPr>
              <a:t>wind</a:t>
            </a:r>
            <a:r>
              <a:rPr lang="en-US" spc="-33" dirty="0">
                <a:latin typeface="Times New Roman"/>
                <a:cs typeface="Times New Roman"/>
              </a:rPr>
              <a:t> </a:t>
            </a:r>
            <a:r>
              <a:rPr lang="en-US" dirty="0">
                <a:latin typeface="Times New Roman"/>
                <a:cs typeface="Times New Roman"/>
              </a:rPr>
              <a:t>literally</a:t>
            </a:r>
            <a:r>
              <a:rPr lang="en-US" spc="27" dirty="0">
                <a:latin typeface="Times New Roman"/>
                <a:cs typeface="Times New Roman"/>
              </a:rPr>
              <a:t> </a:t>
            </a:r>
            <a:r>
              <a:rPr lang="en-US" dirty="0">
                <a:latin typeface="Times New Roman"/>
                <a:cs typeface="Times New Roman"/>
              </a:rPr>
              <a:t>pushes</a:t>
            </a:r>
            <a:r>
              <a:rPr lang="en-US" spc="-40" dirty="0">
                <a:latin typeface="Times New Roman"/>
                <a:cs typeface="Times New Roman"/>
              </a:rPr>
              <a:t> </a:t>
            </a:r>
            <a:r>
              <a:rPr lang="en-US" dirty="0">
                <a:latin typeface="Times New Roman"/>
                <a:cs typeface="Times New Roman"/>
              </a:rPr>
              <a:t>the</a:t>
            </a:r>
            <a:r>
              <a:rPr lang="en-US" spc="-27" dirty="0">
                <a:latin typeface="Times New Roman"/>
                <a:cs typeface="Times New Roman"/>
              </a:rPr>
              <a:t> </a:t>
            </a:r>
            <a:r>
              <a:rPr lang="en-US" dirty="0">
                <a:latin typeface="Times New Roman"/>
                <a:cs typeface="Times New Roman"/>
              </a:rPr>
              <a:t>blades</a:t>
            </a:r>
            <a:r>
              <a:rPr lang="en-US" spc="-20" dirty="0">
                <a:latin typeface="Times New Roman"/>
                <a:cs typeface="Times New Roman"/>
              </a:rPr>
              <a:t> </a:t>
            </a:r>
            <a:r>
              <a:rPr lang="en-US" dirty="0">
                <a:latin typeface="Times New Roman"/>
                <a:cs typeface="Times New Roman"/>
              </a:rPr>
              <a:t>out</a:t>
            </a:r>
            <a:r>
              <a:rPr lang="en-US" spc="-47" dirty="0">
                <a:latin typeface="Times New Roman"/>
                <a:cs typeface="Times New Roman"/>
              </a:rPr>
              <a:t> </a:t>
            </a:r>
            <a:r>
              <a:rPr lang="en-US" dirty="0">
                <a:latin typeface="Times New Roman"/>
                <a:cs typeface="Times New Roman"/>
              </a:rPr>
              <a:t>of</a:t>
            </a:r>
            <a:r>
              <a:rPr lang="en-US" spc="-27" dirty="0">
                <a:latin typeface="Times New Roman"/>
                <a:cs typeface="Times New Roman"/>
              </a:rPr>
              <a:t> </a:t>
            </a:r>
            <a:r>
              <a:rPr lang="en-US" dirty="0">
                <a:latin typeface="Times New Roman"/>
                <a:cs typeface="Times New Roman"/>
              </a:rPr>
              <a:t>the</a:t>
            </a:r>
            <a:r>
              <a:rPr lang="en-US" spc="-33" dirty="0">
                <a:latin typeface="Times New Roman"/>
                <a:cs typeface="Times New Roman"/>
              </a:rPr>
              <a:t> </a:t>
            </a:r>
            <a:r>
              <a:rPr lang="en-US" spc="-27" dirty="0">
                <a:latin typeface="Times New Roman"/>
                <a:cs typeface="Times New Roman"/>
              </a:rPr>
              <a:t>way.</a:t>
            </a:r>
            <a:endParaRPr lang="en-US" dirty="0">
              <a:latin typeface="Times New Roman"/>
              <a:cs typeface="Times New Roman"/>
            </a:endParaRPr>
          </a:p>
          <a:p>
            <a:pPr marL="473287" marR="6773" indent="-457200">
              <a:lnSpc>
                <a:spcPct val="150000"/>
              </a:lnSpc>
              <a:spcBef>
                <a:spcPts val="7"/>
              </a:spcBef>
              <a:tabLst>
                <a:tab pos="457189" algn="l"/>
              </a:tabLst>
            </a:pPr>
            <a:r>
              <a:rPr lang="en-US" dirty="0">
                <a:latin typeface="Times New Roman"/>
                <a:cs typeface="Times New Roman"/>
              </a:rPr>
              <a:t>The</a:t>
            </a:r>
            <a:r>
              <a:rPr lang="en-US" spc="-40" dirty="0">
                <a:latin typeface="Times New Roman"/>
                <a:cs typeface="Times New Roman"/>
              </a:rPr>
              <a:t> </a:t>
            </a:r>
            <a:r>
              <a:rPr lang="en-US" dirty="0">
                <a:latin typeface="Times New Roman"/>
                <a:cs typeface="Times New Roman"/>
              </a:rPr>
              <a:t>torque</a:t>
            </a:r>
            <a:r>
              <a:rPr lang="en-US" spc="-33" dirty="0">
                <a:latin typeface="Times New Roman"/>
                <a:cs typeface="Times New Roman"/>
              </a:rPr>
              <a:t> </a:t>
            </a:r>
            <a:r>
              <a:rPr lang="en-US" dirty="0">
                <a:latin typeface="Times New Roman"/>
                <a:cs typeface="Times New Roman"/>
              </a:rPr>
              <a:t>of</a:t>
            </a:r>
            <a:r>
              <a:rPr lang="en-US" spc="-27" dirty="0">
                <a:latin typeface="Times New Roman"/>
                <a:cs typeface="Times New Roman"/>
              </a:rPr>
              <a:t> </a:t>
            </a:r>
            <a:r>
              <a:rPr lang="en-US" dirty="0">
                <a:latin typeface="Times New Roman"/>
                <a:cs typeface="Times New Roman"/>
              </a:rPr>
              <a:t>a</a:t>
            </a:r>
            <a:r>
              <a:rPr lang="en-US" spc="-33" dirty="0">
                <a:latin typeface="Times New Roman"/>
                <a:cs typeface="Times New Roman"/>
              </a:rPr>
              <a:t> </a:t>
            </a:r>
            <a:r>
              <a:rPr lang="en-US" dirty="0">
                <a:latin typeface="Times New Roman"/>
                <a:cs typeface="Times New Roman"/>
              </a:rPr>
              <a:t>drag</a:t>
            </a:r>
            <a:r>
              <a:rPr lang="en-US" spc="-27" dirty="0">
                <a:latin typeface="Times New Roman"/>
                <a:cs typeface="Times New Roman"/>
              </a:rPr>
              <a:t> </a:t>
            </a:r>
            <a:r>
              <a:rPr lang="en-US" dirty="0">
                <a:latin typeface="Times New Roman"/>
                <a:cs typeface="Times New Roman"/>
              </a:rPr>
              <a:t>turbine</a:t>
            </a:r>
            <a:r>
              <a:rPr lang="en-US" spc="-33" dirty="0">
                <a:latin typeface="Times New Roman"/>
                <a:cs typeface="Times New Roman"/>
              </a:rPr>
              <a:t> </a:t>
            </a:r>
            <a:r>
              <a:rPr lang="en-US" dirty="0">
                <a:latin typeface="Times New Roman"/>
                <a:cs typeface="Times New Roman"/>
              </a:rPr>
              <a:t>is</a:t>
            </a:r>
            <a:r>
              <a:rPr lang="en-US" spc="-33" dirty="0">
                <a:latin typeface="Times New Roman"/>
                <a:cs typeface="Times New Roman"/>
              </a:rPr>
              <a:t> </a:t>
            </a:r>
            <a:r>
              <a:rPr lang="en-US" dirty="0">
                <a:latin typeface="Times New Roman"/>
                <a:cs typeface="Times New Roman"/>
              </a:rPr>
              <a:t>due</a:t>
            </a:r>
            <a:r>
              <a:rPr lang="en-US" spc="-40" dirty="0">
                <a:latin typeface="Times New Roman"/>
                <a:cs typeface="Times New Roman"/>
              </a:rPr>
              <a:t> </a:t>
            </a:r>
            <a:r>
              <a:rPr lang="en-US" dirty="0">
                <a:latin typeface="Times New Roman"/>
                <a:cs typeface="Times New Roman"/>
              </a:rPr>
              <a:t>to</a:t>
            </a:r>
            <a:r>
              <a:rPr lang="en-US" spc="-33" dirty="0">
                <a:latin typeface="Times New Roman"/>
                <a:cs typeface="Times New Roman"/>
              </a:rPr>
              <a:t> </a:t>
            </a:r>
            <a:r>
              <a:rPr lang="en-US" dirty="0">
                <a:latin typeface="Times New Roman"/>
                <a:cs typeface="Times New Roman"/>
              </a:rPr>
              <a:t>the</a:t>
            </a:r>
            <a:r>
              <a:rPr lang="en-US" spc="-33" dirty="0">
                <a:latin typeface="Times New Roman"/>
                <a:cs typeface="Times New Roman"/>
              </a:rPr>
              <a:t> </a:t>
            </a:r>
            <a:r>
              <a:rPr lang="en-US" dirty="0">
                <a:latin typeface="Times New Roman"/>
                <a:cs typeface="Times New Roman"/>
              </a:rPr>
              <a:t>difference</a:t>
            </a:r>
            <a:r>
              <a:rPr lang="en-US" spc="-13" dirty="0">
                <a:latin typeface="Times New Roman"/>
                <a:cs typeface="Times New Roman"/>
              </a:rPr>
              <a:t> </a:t>
            </a:r>
            <a:r>
              <a:rPr lang="en-US" dirty="0">
                <a:latin typeface="Times New Roman"/>
                <a:cs typeface="Times New Roman"/>
              </a:rPr>
              <a:t>in</a:t>
            </a:r>
            <a:r>
              <a:rPr lang="en-US" spc="-20" dirty="0">
                <a:latin typeface="Times New Roman"/>
                <a:cs typeface="Times New Roman"/>
              </a:rPr>
              <a:t> </a:t>
            </a:r>
            <a:r>
              <a:rPr lang="en-US" dirty="0">
                <a:latin typeface="Times New Roman"/>
                <a:cs typeface="Times New Roman"/>
              </a:rPr>
              <a:t>pressure</a:t>
            </a:r>
            <a:r>
              <a:rPr lang="en-US" spc="-33" dirty="0">
                <a:latin typeface="Times New Roman"/>
                <a:cs typeface="Times New Roman"/>
              </a:rPr>
              <a:t> </a:t>
            </a:r>
            <a:r>
              <a:rPr lang="en-US" dirty="0">
                <a:latin typeface="Times New Roman"/>
                <a:cs typeface="Times New Roman"/>
              </a:rPr>
              <a:t>between</a:t>
            </a:r>
            <a:r>
              <a:rPr lang="en-US" spc="-13" dirty="0">
                <a:latin typeface="Times New Roman"/>
                <a:cs typeface="Times New Roman"/>
              </a:rPr>
              <a:t> </a:t>
            </a:r>
            <a:r>
              <a:rPr lang="en-US" dirty="0">
                <a:latin typeface="Times New Roman"/>
                <a:cs typeface="Times New Roman"/>
              </a:rPr>
              <a:t>the</a:t>
            </a:r>
            <a:r>
              <a:rPr lang="en-US" spc="-33" dirty="0">
                <a:latin typeface="Times New Roman"/>
                <a:cs typeface="Times New Roman"/>
              </a:rPr>
              <a:t> </a:t>
            </a:r>
            <a:r>
              <a:rPr lang="en-US" dirty="0">
                <a:latin typeface="Times New Roman"/>
                <a:cs typeface="Times New Roman"/>
              </a:rPr>
              <a:t>concave</a:t>
            </a:r>
            <a:r>
              <a:rPr lang="en-US" spc="-13" dirty="0">
                <a:latin typeface="Times New Roman"/>
                <a:cs typeface="Times New Roman"/>
              </a:rPr>
              <a:t> </a:t>
            </a:r>
            <a:r>
              <a:rPr lang="en-US" dirty="0">
                <a:latin typeface="Times New Roman"/>
                <a:cs typeface="Times New Roman"/>
              </a:rPr>
              <a:t>and</a:t>
            </a:r>
            <a:r>
              <a:rPr lang="en-US" spc="-27" dirty="0">
                <a:latin typeface="Times New Roman"/>
                <a:cs typeface="Times New Roman"/>
              </a:rPr>
              <a:t> </a:t>
            </a:r>
            <a:r>
              <a:rPr lang="en-US" spc="-13" dirty="0">
                <a:latin typeface="Times New Roman"/>
                <a:cs typeface="Times New Roman"/>
              </a:rPr>
              <a:t>convex </a:t>
            </a:r>
            <a:r>
              <a:rPr lang="en-US" dirty="0">
                <a:latin typeface="Times New Roman"/>
                <a:cs typeface="Times New Roman"/>
              </a:rPr>
              <a:t>surfaces</a:t>
            </a:r>
            <a:r>
              <a:rPr lang="en-US" spc="-27" dirty="0">
                <a:latin typeface="Times New Roman"/>
                <a:cs typeface="Times New Roman"/>
              </a:rPr>
              <a:t> </a:t>
            </a:r>
            <a:r>
              <a:rPr lang="en-US" dirty="0">
                <a:latin typeface="Times New Roman"/>
                <a:cs typeface="Times New Roman"/>
              </a:rPr>
              <a:t>of</a:t>
            </a:r>
            <a:r>
              <a:rPr lang="en-US" spc="-47" dirty="0">
                <a:latin typeface="Times New Roman"/>
                <a:cs typeface="Times New Roman"/>
              </a:rPr>
              <a:t> </a:t>
            </a:r>
            <a:r>
              <a:rPr lang="en-US" dirty="0">
                <a:latin typeface="Times New Roman"/>
                <a:cs typeface="Times New Roman"/>
              </a:rPr>
              <a:t>the</a:t>
            </a:r>
            <a:r>
              <a:rPr lang="en-US" spc="-33" dirty="0">
                <a:latin typeface="Times New Roman"/>
                <a:cs typeface="Times New Roman"/>
              </a:rPr>
              <a:t> </a:t>
            </a:r>
            <a:r>
              <a:rPr lang="en-US" dirty="0">
                <a:latin typeface="Times New Roman"/>
                <a:cs typeface="Times New Roman"/>
              </a:rPr>
              <a:t>blades</a:t>
            </a:r>
            <a:r>
              <a:rPr lang="en-US" spc="-33" dirty="0">
                <a:latin typeface="Times New Roman"/>
                <a:cs typeface="Times New Roman"/>
              </a:rPr>
              <a:t> </a:t>
            </a:r>
            <a:r>
              <a:rPr lang="en-US" dirty="0">
                <a:latin typeface="Times New Roman"/>
                <a:cs typeface="Times New Roman"/>
              </a:rPr>
              <a:t>and</a:t>
            </a:r>
            <a:r>
              <a:rPr lang="en-US" spc="-47" dirty="0">
                <a:latin typeface="Times New Roman"/>
                <a:cs typeface="Times New Roman"/>
              </a:rPr>
              <a:t> </a:t>
            </a:r>
            <a:r>
              <a:rPr lang="en-US" dirty="0">
                <a:latin typeface="Times New Roman"/>
                <a:cs typeface="Times New Roman"/>
              </a:rPr>
              <a:t>by</a:t>
            </a:r>
            <a:r>
              <a:rPr lang="en-US" spc="-53" dirty="0">
                <a:latin typeface="Times New Roman"/>
                <a:cs typeface="Times New Roman"/>
              </a:rPr>
              <a:t> </a:t>
            </a:r>
            <a:r>
              <a:rPr lang="en-US" dirty="0">
                <a:latin typeface="Times New Roman"/>
                <a:cs typeface="Times New Roman"/>
              </a:rPr>
              <a:t>the</a:t>
            </a:r>
            <a:r>
              <a:rPr lang="en-US" spc="-40" dirty="0">
                <a:latin typeface="Times New Roman"/>
                <a:cs typeface="Times New Roman"/>
              </a:rPr>
              <a:t> </a:t>
            </a:r>
            <a:r>
              <a:rPr lang="en-US" dirty="0">
                <a:latin typeface="Times New Roman"/>
                <a:cs typeface="Times New Roman"/>
              </a:rPr>
              <a:t>recirculation</a:t>
            </a:r>
            <a:r>
              <a:rPr lang="en-US" spc="33" dirty="0">
                <a:latin typeface="Times New Roman"/>
                <a:cs typeface="Times New Roman"/>
              </a:rPr>
              <a:t> </a:t>
            </a:r>
            <a:r>
              <a:rPr lang="en-US" dirty="0">
                <a:latin typeface="Times New Roman"/>
                <a:cs typeface="Times New Roman"/>
              </a:rPr>
              <a:t>of</a:t>
            </a:r>
            <a:r>
              <a:rPr lang="en-US" spc="-60" dirty="0">
                <a:latin typeface="Times New Roman"/>
                <a:cs typeface="Times New Roman"/>
              </a:rPr>
              <a:t> </a:t>
            </a:r>
            <a:r>
              <a:rPr lang="en-US" dirty="0">
                <a:latin typeface="Times New Roman"/>
                <a:cs typeface="Times New Roman"/>
              </a:rPr>
              <a:t>wind</a:t>
            </a:r>
            <a:r>
              <a:rPr lang="en-US" spc="-47" dirty="0">
                <a:latin typeface="Times New Roman"/>
                <a:cs typeface="Times New Roman"/>
              </a:rPr>
              <a:t> </a:t>
            </a:r>
            <a:r>
              <a:rPr lang="en-US" dirty="0">
                <a:latin typeface="Times New Roman"/>
                <a:cs typeface="Times New Roman"/>
              </a:rPr>
              <a:t>coming</a:t>
            </a:r>
            <a:r>
              <a:rPr lang="en-US" spc="20" dirty="0">
                <a:latin typeface="Times New Roman"/>
                <a:cs typeface="Times New Roman"/>
              </a:rPr>
              <a:t> </a:t>
            </a:r>
            <a:r>
              <a:rPr lang="en-US" dirty="0">
                <a:latin typeface="Times New Roman"/>
                <a:cs typeface="Times New Roman"/>
              </a:rPr>
              <a:t>from</a:t>
            </a:r>
            <a:r>
              <a:rPr lang="en-US" spc="-40" dirty="0">
                <a:latin typeface="Times New Roman"/>
                <a:cs typeface="Times New Roman"/>
              </a:rPr>
              <a:t> </a:t>
            </a:r>
            <a:r>
              <a:rPr lang="en-US" dirty="0">
                <a:latin typeface="Times New Roman"/>
                <a:cs typeface="Times New Roman"/>
              </a:rPr>
              <a:t>behind</a:t>
            </a:r>
            <a:r>
              <a:rPr lang="en-US" spc="-40" dirty="0">
                <a:latin typeface="Times New Roman"/>
                <a:cs typeface="Times New Roman"/>
              </a:rPr>
              <a:t> </a:t>
            </a:r>
            <a:r>
              <a:rPr lang="en-US" dirty="0">
                <a:latin typeface="Times New Roman"/>
                <a:cs typeface="Times New Roman"/>
              </a:rPr>
              <a:t>the</a:t>
            </a:r>
            <a:r>
              <a:rPr lang="en-US" spc="-40" dirty="0">
                <a:latin typeface="Times New Roman"/>
                <a:cs typeface="Times New Roman"/>
              </a:rPr>
              <a:t> </a:t>
            </a:r>
            <a:r>
              <a:rPr lang="en-US" dirty="0">
                <a:latin typeface="Times New Roman"/>
                <a:cs typeface="Times New Roman"/>
              </a:rPr>
              <a:t>convex</a:t>
            </a:r>
            <a:r>
              <a:rPr lang="en-US" spc="-40" dirty="0">
                <a:latin typeface="Times New Roman"/>
                <a:cs typeface="Times New Roman"/>
              </a:rPr>
              <a:t> </a:t>
            </a:r>
            <a:r>
              <a:rPr lang="en-US" spc="-13" dirty="0">
                <a:latin typeface="Times New Roman"/>
                <a:cs typeface="Times New Roman"/>
              </a:rPr>
              <a:t>surface</a:t>
            </a:r>
            <a:endParaRPr lang="en-US" dirty="0">
              <a:latin typeface="Times New Roman"/>
              <a:cs typeface="Times New Roman"/>
            </a:endParaRPr>
          </a:p>
          <a:p>
            <a:pPr marL="474133" indent="-457200">
              <a:spcBef>
                <a:spcPts val="1280"/>
              </a:spcBef>
              <a:tabLst>
                <a:tab pos="457189" algn="l"/>
              </a:tabLst>
            </a:pPr>
            <a:r>
              <a:rPr lang="en-US" dirty="0">
                <a:latin typeface="Times New Roman"/>
                <a:cs typeface="Times New Roman"/>
              </a:rPr>
              <a:t>Drag</a:t>
            </a:r>
            <a:r>
              <a:rPr lang="en-US" spc="-40" dirty="0">
                <a:latin typeface="Times New Roman"/>
                <a:cs typeface="Times New Roman"/>
              </a:rPr>
              <a:t> </a:t>
            </a:r>
            <a:r>
              <a:rPr lang="en-US" dirty="0">
                <a:latin typeface="Times New Roman"/>
                <a:cs typeface="Times New Roman"/>
              </a:rPr>
              <a:t>devices</a:t>
            </a:r>
            <a:r>
              <a:rPr lang="en-US" spc="-20" dirty="0">
                <a:latin typeface="Times New Roman"/>
                <a:cs typeface="Times New Roman"/>
              </a:rPr>
              <a:t> </a:t>
            </a:r>
            <a:r>
              <a:rPr lang="en-US" dirty="0">
                <a:latin typeface="Times New Roman"/>
                <a:cs typeface="Times New Roman"/>
              </a:rPr>
              <a:t>are</a:t>
            </a:r>
            <a:r>
              <a:rPr lang="en-US" spc="-27" dirty="0">
                <a:latin typeface="Times New Roman"/>
                <a:cs typeface="Times New Roman"/>
              </a:rPr>
              <a:t> </a:t>
            </a:r>
            <a:r>
              <a:rPr lang="en-US" dirty="0">
                <a:latin typeface="Times New Roman"/>
                <a:cs typeface="Times New Roman"/>
              </a:rPr>
              <a:t>less</a:t>
            </a:r>
            <a:r>
              <a:rPr lang="en-US" spc="-13" dirty="0">
                <a:latin typeface="Times New Roman"/>
                <a:cs typeface="Times New Roman"/>
              </a:rPr>
              <a:t> </a:t>
            </a:r>
            <a:r>
              <a:rPr lang="en-US" dirty="0">
                <a:latin typeface="Times New Roman"/>
                <a:cs typeface="Times New Roman"/>
              </a:rPr>
              <a:t>efficient</a:t>
            </a:r>
            <a:r>
              <a:rPr lang="en-US" spc="-7" dirty="0">
                <a:latin typeface="Times New Roman"/>
                <a:cs typeface="Times New Roman"/>
              </a:rPr>
              <a:t> </a:t>
            </a:r>
            <a:r>
              <a:rPr lang="en-US" dirty="0">
                <a:latin typeface="Times New Roman"/>
                <a:cs typeface="Times New Roman"/>
              </a:rPr>
              <a:t>and</a:t>
            </a:r>
            <a:r>
              <a:rPr lang="en-US" spc="-47" dirty="0">
                <a:latin typeface="Times New Roman"/>
                <a:cs typeface="Times New Roman"/>
              </a:rPr>
              <a:t> </a:t>
            </a:r>
            <a:r>
              <a:rPr lang="en-US" dirty="0">
                <a:latin typeface="Times New Roman"/>
                <a:cs typeface="Times New Roman"/>
              </a:rPr>
              <a:t>turn</a:t>
            </a:r>
            <a:r>
              <a:rPr lang="en-US" spc="-27" dirty="0">
                <a:latin typeface="Times New Roman"/>
                <a:cs typeface="Times New Roman"/>
              </a:rPr>
              <a:t> </a:t>
            </a:r>
            <a:r>
              <a:rPr lang="en-US" dirty="0">
                <a:latin typeface="Times New Roman"/>
                <a:cs typeface="Times New Roman"/>
              </a:rPr>
              <a:t>slower</a:t>
            </a:r>
            <a:r>
              <a:rPr lang="en-US" spc="-33" dirty="0">
                <a:latin typeface="Times New Roman"/>
                <a:cs typeface="Times New Roman"/>
              </a:rPr>
              <a:t> </a:t>
            </a:r>
            <a:r>
              <a:rPr lang="en-US" dirty="0">
                <a:latin typeface="Times New Roman"/>
                <a:cs typeface="Times New Roman"/>
              </a:rPr>
              <a:t>than</a:t>
            </a:r>
            <a:r>
              <a:rPr lang="en-US" spc="-27" dirty="0">
                <a:latin typeface="Times New Roman"/>
                <a:cs typeface="Times New Roman"/>
              </a:rPr>
              <a:t> </a:t>
            </a:r>
            <a:r>
              <a:rPr lang="en-US" spc="-13" dirty="0">
                <a:latin typeface="Times New Roman"/>
                <a:cs typeface="Times New Roman"/>
              </a:rPr>
              <a:t>wind.</a:t>
            </a:r>
            <a:endParaRPr lang="en-US" dirty="0">
              <a:latin typeface="Times New Roman"/>
              <a:cs typeface="Times New Roman"/>
            </a:endParaRPr>
          </a:p>
          <a:p>
            <a:pPr marL="474133" indent="-457200">
              <a:spcBef>
                <a:spcPts val="1280"/>
              </a:spcBef>
              <a:tabLst>
                <a:tab pos="457189" algn="l"/>
              </a:tabLst>
            </a:pPr>
            <a:r>
              <a:rPr lang="en-US" dirty="0">
                <a:latin typeface="Times New Roman"/>
                <a:cs typeface="Times New Roman"/>
              </a:rPr>
              <a:t>They</a:t>
            </a:r>
            <a:r>
              <a:rPr lang="en-US" spc="-67" dirty="0">
                <a:latin typeface="Times New Roman"/>
                <a:cs typeface="Times New Roman"/>
              </a:rPr>
              <a:t> </a:t>
            </a:r>
            <a:r>
              <a:rPr lang="en-US" dirty="0">
                <a:latin typeface="Times New Roman"/>
                <a:cs typeface="Times New Roman"/>
              </a:rPr>
              <a:t>produce</a:t>
            </a:r>
            <a:r>
              <a:rPr lang="en-US" spc="-33" dirty="0">
                <a:latin typeface="Times New Roman"/>
                <a:cs typeface="Times New Roman"/>
              </a:rPr>
              <a:t> </a:t>
            </a:r>
            <a:r>
              <a:rPr lang="en-US" dirty="0">
                <a:latin typeface="Times New Roman"/>
                <a:cs typeface="Times New Roman"/>
              </a:rPr>
              <a:t>high</a:t>
            </a:r>
            <a:r>
              <a:rPr lang="en-US" spc="-47" dirty="0">
                <a:latin typeface="Times New Roman"/>
                <a:cs typeface="Times New Roman"/>
              </a:rPr>
              <a:t> </a:t>
            </a:r>
            <a:r>
              <a:rPr lang="en-US" dirty="0">
                <a:latin typeface="Times New Roman"/>
                <a:cs typeface="Times New Roman"/>
              </a:rPr>
              <a:t>torque</a:t>
            </a:r>
            <a:r>
              <a:rPr lang="en-US" spc="-33" dirty="0">
                <a:latin typeface="Times New Roman"/>
                <a:cs typeface="Times New Roman"/>
              </a:rPr>
              <a:t> </a:t>
            </a:r>
            <a:r>
              <a:rPr lang="en-US" dirty="0">
                <a:latin typeface="Times New Roman"/>
                <a:cs typeface="Times New Roman"/>
              </a:rPr>
              <a:t>and</a:t>
            </a:r>
            <a:r>
              <a:rPr lang="en-US" spc="-53" dirty="0">
                <a:latin typeface="Times New Roman"/>
                <a:cs typeface="Times New Roman"/>
              </a:rPr>
              <a:t> </a:t>
            </a:r>
            <a:r>
              <a:rPr lang="en-US" dirty="0">
                <a:latin typeface="Times New Roman"/>
                <a:cs typeface="Times New Roman"/>
              </a:rPr>
              <a:t>thus</a:t>
            </a:r>
            <a:r>
              <a:rPr lang="en-US" spc="-47" dirty="0">
                <a:latin typeface="Times New Roman"/>
                <a:cs typeface="Times New Roman"/>
              </a:rPr>
              <a:t> </a:t>
            </a:r>
            <a:r>
              <a:rPr lang="en-US" dirty="0">
                <a:latin typeface="Times New Roman"/>
                <a:cs typeface="Times New Roman"/>
              </a:rPr>
              <a:t>are</a:t>
            </a:r>
            <a:r>
              <a:rPr lang="en-US" spc="-33" dirty="0">
                <a:latin typeface="Times New Roman"/>
                <a:cs typeface="Times New Roman"/>
              </a:rPr>
              <a:t> </a:t>
            </a:r>
            <a:r>
              <a:rPr lang="en-US" dirty="0">
                <a:latin typeface="Times New Roman"/>
                <a:cs typeface="Times New Roman"/>
              </a:rPr>
              <a:t>suitable</a:t>
            </a:r>
            <a:r>
              <a:rPr lang="en-US" spc="-20" dirty="0">
                <a:latin typeface="Times New Roman"/>
                <a:cs typeface="Times New Roman"/>
              </a:rPr>
              <a:t> </a:t>
            </a:r>
            <a:r>
              <a:rPr lang="en-US" dirty="0">
                <a:latin typeface="Times New Roman"/>
                <a:cs typeface="Times New Roman"/>
              </a:rPr>
              <a:t>for</a:t>
            </a:r>
            <a:r>
              <a:rPr lang="en-US" spc="-53" dirty="0">
                <a:latin typeface="Times New Roman"/>
                <a:cs typeface="Times New Roman"/>
              </a:rPr>
              <a:t> </a:t>
            </a:r>
            <a:r>
              <a:rPr lang="en-US" dirty="0">
                <a:latin typeface="Times New Roman"/>
                <a:cs typeface="Times New Roman"/>
              </a:rPr>
              <a:t>pumping </a:t>
            </a:r>
            <a:r>
              <a:rPr lang="en-US" spc="-13" dirty="0">
                <a:latin typeface="Times New Roman"/>
                <a:cs typeface="Times New Roman"/>
              </a:rPr>
              <a:t>applications.</a:t>
            </a:r>
            <a:endParaRPr lang="en-US" dirty="0">
              <a:latin typeface="Times New Roman"/>
              <a:cs typeface="Times New Roman"/>
            </a:endParaRPr>
          </a:p>
          <a:p>
            <a:pPr marL="474133" indent="-457200">
              <a:spcBef>
                <a:spcPts val="1280"/>
              </a:spcBef>
              <a:tabLst>
                <a:tab pos="457189" algn="l"/>
              </a:tabLst>
            </a:pPr>
            <a:r>
              <a:rPr lang="en-US" dirty="0">
                <a:latin typeface="Times New Roman"/>
                <a:cs typeface="Times New Roman"/>
              </a:rPr>
              <a:t>At</a:t>
            </a:r>
            <a:r>
              <a:rPr lang="en-US" spc="-47" dirty="0">
                <a:latin typeface="Times New Roman"/>
                <a:cs typeface="Times New Roman"/>
              </a:rPr>
              <a:t> </a:t>
            </a:r>
            <a:r>
              <a:rPr lang="en-US" dirty="0">
                <a:latin typeface="Times New Roman"/>
                <a:cs typeface="Times New Roman"/>
              </a:rPr>
              <a:t>high</a:t>
            </a:r>
            <a:r>
              <a:rPr lang="en-US" spc="-53" dirty="0">
                <a:latin typeface="Times New Roman"/>
                <a:cs typeface="Times New Roman"/>
              </a:rPr>
              <a:t> </a:t>
            </a:r>
            <a:r>
              <a:rPr lang="en-US" dirty="0">
                <a:latin typeface="Times New Roman"/>
                <a:cs typeface="Times New Roman"/>
              </a:rPr>
              <a:t>wind</a:t>
            </a:r>
            <a:r>
              <a:rPr lang="en-US" spc="-40" dirty="0">
                <a:latin typeface="Times New Roman"/>
                <a:cs typeface="Times New Roman"/>
              </a:rPr>
              <a:t> </a:t>
            </a:r>
            <a:r>
              <a:rPr lang="en-US" dirty="0">
                <a:latin typeface="Times New Roman"/>
                <a:cs typeface="Times New Roman"/>
              </a:rPr>
              <a:t>speeds</a:t>
            </a:r>
            <a:r>
              <a:rPr lang="en-US" spc="-33" dirty="0">
                <a:latin typeface="Times New Roman"/>
                <a:cs typeface="Times New Roman"/>
              </a:rPr>
              <a:t> </a:t>
            </a:r>
            <a:r>
              <a:rPr lang="en-US" dirty="0">
                <a:latin typeface="Times New Roman"/>
                <a:cs typeface="Times New Roman"/>
              </a:rPr>
              <a:t>they</a:t>
            </a:r>
            <a:r>
              <a:rPr lang="en-US" spc="-27" dirty="0">
                <a:latin typeface="Times New Roman"/>
                <a:cs typeface="Times New Roman"/>
              </a:rPr>
              <a:t> </a:t>
            </a:r>
            <a:r>
              <a:rPr lang="en-US" dirty="0">
                <a:latin typeface="Times New Roman"/>
                <a:cs typeface="Times New Roman"/>
              </a:rPr>
              <a:t>spill</a:t>
            </a:r>
            <a:r>
              <a:rPr lang="en-US" spc="-33" dirty="0">
                <a:latin typeface="Times New Roman"/>
                <a:cs typeface="Times New Roman"/>
              </a:rPr>
              <a:t> </a:t>
            </a:r>
            <a:r>
              <a:rPr lang="en-US" dirty="0">
                <a:latin typeface="Times New Roman"/>
                <a:cs typeface="Times New Roman"/>
              </a:rPr>
              <a:t>wind</a:t>
            </a:r>
            <a:r>
              <a:rPr lang="en-US" spc="-47" dirty="0">
                <a:latin typeface="Times New Roman"/>
                <a:cs typeface="Times New Roman"/>
              </a:rPr>
              <a:t> </a:t>
            </a:r>
            <a:r>
              <a:rPr lang="en-US" dirty="0">
                <a:latin typeface="Times New Roman"/>
                <a:cs typeface="Times New Roman"/>
              </a:rPr>
              <a:t>instead</a:t>
            </a:r>
            <a:r>
              <a:rPr lang="en-US" spc="-13" dirty="0">
                <a:latin typeface="Times New Roman"/>
                <a:cs typeface="Times New Roman"/>
              </a:rPr>
              <a:t> </a:t>
            </a:r>
            <a:r>
              <a:rPr lang="en-US" dirty="0">
                <a:latin typeface="Times New Roman"/>
                <a:cs typeface="Times New Roman"/>
              </a:rPr>
              <a:t>of</a:t>
            </a:r>
            <a:r>
              <a:rPr lang="en-US" spc="-47" dirty="0">
                <a:latin typeface="Times New Roman"/>
                <a:cs typeface="Times New Roman"/>
              </a:rPr>
              <a:t> </a:t>
            </a:r>
            <a:r>
              <a:rPr lang="en-US" dirty="0">
                <a:latin typeface="Times New Roman"/>
                <a:cs typeface="Times New Roman"/>
              </a:rPr>
              <a:t>producing</a:t>
            </a:r>
            <a:r>
              <a:rPr lang="en-US" spc="-40" dirty="0">
                <a:latin typeface="Times New Roman"/>
                <a:cs typeface="Times New Roman"/>
              </a:rPr>
              <a:t> </a:t>
            </a:r>
            <a:r>
              <a:rPr lang="en-US" dirty="0">
                <a:latin typeface="Times New Roman"/>
                <a:cs typeface="Times New Roman"/>
              </a:rPr>
              <a:t>more </a:t>
            </a:r>
            <a:r>
              <a:rPr lang="en-US" spc="-13" dirty="0">
                <a:latin typeface="Times New Roman"/>
                <a:cs typeface="Times New Roman"/>
              </a:rPr>
              <a:t>energy.</a:t>
            </a:r>
            <a:endParaRPr lang="en-US" dirty="0">
              <a:latin typeface="Times New Roman"/>
              <a:cs typeface="Times New Roman"/>
            </a:endParaRPr>
          </a:p>
          <a:p>
            <a:pPr marL="474133" indent="-457200">
              <a:spcBef>
                <a:spcPts val="1280"/>
              </a:spcBef>
              <a:tabLst>
                <a:tab pos="457189" algn="l"/>
              </a:tabLst>
            </a:pPr>
            <a:r>
              <a:rPr lang="en-US" dirty="0">
                <a:latin typeface="Times New Roman"/>
                <a:cs typeface="Times New Roman"/>
              </a:rPr>
              <a:t>Thus,</a:t>
            </a:r>
            <a:r>
              <a:rPr lang="en-US" spc="-47" dirty="0">
                <a:latin typeface="Times New Roman"/>
                <a:cs typeface="Times New Roman"/>
              </a:rPr>
              <a:t> </a:t>
            </a:r>
            <a:r>
              <a:rPr lang="en-US" dirty="0">
                <a:latin typeface="Times New Roman"/>
                <a:cs typeface="Times New Roman"/>
              </a:rPr>
              <a:t>they</a:t>
            </a:r>
            <a:r>
              <a:rPr lang="en-US" spc="-27" dirty="0">
                <a:latin typeface="Times New Roman"/>
                <a:cs typeface="Times New Roman"/>
              </a:rPr>
              <a:t> </a:t>
            </a:r>
            <a:r>
              <a:rPr lang="en-US" dirty="0">
                <a:latin typeface="Times New Roman"/>
                <a:cs typeface="Times New Roman"/>
              </a:rPr>
              <a:t>do</a:t>
            </a:r>
            <a:r>
              <a:rPr lang="en-US" spc="-47" dirty="0">
                <a:latin typeface="Times New Roman"/>
                <a:cs typeface="Times New Roman"/>
              </a:rPr>
              <a:t> </a:t>
            </a:r>
            <a:r>
              <a:rPr lang="en-US" dirty="0">
                <a:latin typeface="Times New Roman"/>
                <a:cs typeface="Times New Roman"/>
              </a:rPr>
              <a:t>not</a:t>
            </a:r>
            <a:r>
              <a:rPr lang="en-US" spc="-47" dirty="0">
                <a:latin typeface="Times New Roman"/>
                <a:cs typeface="Times New Roman"/>
              </a:rPr>
              <a:t> </a:t>
            </a:r>
            <a:r>
              <a:rPr lang="en-US" dirty="0">
                <a:latin typeface="Times New Roman"/>
                <a:cs typeface="Times New Roman"/>
              </a:rPr>
              <a:t>benefit</a:t>
            </a:r>
            <a:r>
              <a:rPr lang="en-US" spc="-13" dirty="0">
                <a:latin typeface="Times New Roman"/>
                <a:cs typeface="Times New Roman"/>
              </a:rPr>
              <a:t> </a:t>
            </a:r>
            <a:r>
              <a:rPr lang="en-US" dirty="0">
                <a:latin typeface="Times New Roman"/>
                <a:cs typeface="Times New Roman"/>
              </a:rPr>
              <a:t>from</a:t>
            </a:r>
            <a:r>
              <a:rPr lang="en-US" spc="-33" dirty="0">
                <a:latin typeface="Times New Roman"/>
                <a:cs typeface="Times New Roman"/>
              </a:rPr>
              <a:t> </a:t>
            </a:r>
            <a:r>
              <a:rPr lang="en-US" dirty="0">
                <a:latin typeface="Times New Roman"/>
                <a:cs typeface="Times New Roman"/>
              </a:rPr>
              <a:t>high</a:t>
            </a:r>
            <a:r>
              <a:rPr lang="en-US" spc="-33" dirty="0">
                <a:latin typeface="Times New Roman"/>
                <a:cs typeface="Times New Roman"/>
              </a:rPr>
              <a:t> </a:t>
            </a:r>
            <a:r>
              <a:rPr lang="en-US" dirty="0">
                <a:latin typeface="Times New Roman"/>
                <a:cs typeface="Times New Roman"/>
              </a:rPr>
              <a:t>energy</a:t>
            </a:r>
            <a:r>
              <a:rPr lang="en-US" spc="-33" dirty="0">
                <a:latin typeface="Times New Roman"/>
                <a:cs typeface="Times New Roman"/>
              </a:rPr>
              <a:t> </a:t>
            </a:r>
            <a:r>
              <a:rPr lang="en-US" dirty="0">
                <a:latin typeface="Times New Roman"/>
                <a:cs typeface="Times New Roman"/>
              </a:rPr>
              <a:t>density</a:t>
            </a:r>
            <a:r>
              <a:rPr lang="en-US" spc="-13" dirty="0">
                <a:latin typeface="Times New Roman"/>
                <a:cs typeface="Times New Roman"/>
              </a:rPr>
              <a:t> </a:t>
            </a:r>
            <a:r>
              <a:rPr lang="en-US" dirty="0">
                <a:latin typeface="Times New Roman"/>
                <a:cs typeface="Times New Roman"/>
              </a:rPr>
              <a:t>available in</a:t>
            </a:r>
            <a:r>
              <a:rPr lang="en-US" spc="-40" dirty="0">
                <a:latin typeface="Times New Roman"/>
                <a:cs typeface="Times New Roman"/>
              </a:rPr>
              <a:t> </a:t>
            </a:r>
            <a:r>
              <a:rPr lang="en-US" spc="-13" dirty="0">
                <a:latin typeface="Times New Roman"/>
                <a:cs typeface="Times New Roman"/>
              </a:rPr>
              <a:t>wind.</a:t>
            </a:r>
            <a:endParaRPr lang="en-US" dirty="0">
              <a:latin typeface="Times New Roman"/>
              <a:cs typeface="Times New Roman"/>
            </a:endParaRPr>
          </a:p>
          <a:p>
            <a:pPr marL="474133" indent="-457200">
              <a:spcBef>
                <a:spcPts val="1287"/>
              </a:spcBef>
              <a:tabLst>
                <a:tab pos="457189" algn="l"/>
              </a:tabLst>
            </a:pPr>
            <a:r>
              <a:rPr lang="en-US" dirty="0" err="1">
                <a:latin typeface="Times New Roman"/>
                <a:cs typeface="Times New Roman"/>
              </a:rPr>
              <a:t>Eg:savonius</a:t>
            </a:r>
            <a:r>
              <a:rPr lang="en-US" spc="-100" dirty="0">
                <a:latin typeface="Times New Roman"/>
                <a:cs typeface="Times New Roman"/>
              </a:rPr>
              <a:t> </a:t>
            </a:r>
            <a:r>
              <a:rPr lang="en-US" spc="-13" dirty="0">
                <a:latin typeface="Times New Roman"/>
                <a:cs typeface="Times New Roman"/>
              </a:rPr>
              <a:t>turbine</a:t>
            </a:r>
            <a:endParaRPr lang="en-US" dirty="0">
              <a:latin typeface="Times New Roman"/>
              <a:cs typeface="Times New Roman"/>
            </a:endParaRPr>
          </a:p>
        </p:txBody>
      </p:sp>
    </p:spTree>
    <p:extLst>
      <p:ext uri="{BB962C8B-B14F-4D97-AF65-F5344CB8AC3E}">
        <p14:creationId xmlns:p14="http://schemas.microsoft.com/office/powerpoint/2010/main" val="2713849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1636</Words>
  <Application>Microsoft Office PowerPoint</Application>
  <PresentationFormat>Widescreen</PresentationFormat>
  <Paragraphs>115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Classification of Wind Turbines</vt:lpstr>
      <vt:lpstr>Classification of Wind Turbines</vt:lpstr>
      <vt:lpstr>Horizontal Axis Wind Turbine (HAWT) </vt:lpstr>
      <vt:lpstr>Horizontal Axis Wind Turbine (HAWT) </vt:lpstr>
      <vt:lpstr>Horizontal Axis Wind Turbine (HAWT) </vt:lpstr>
      <vt:lpstr>HAWT - Types</vt:lpstr>
      <vt:lpstr>PowerPoint Presentation</vt:lpstr>
      <vt:lpstr>HAWT advantages </vt:lpstr>
      <vt:lpstr>HAWT disadvantages </vt:lpstr>
      <vt:lpstr>Applications of horizontal axis wind turbines</vt:lpstr>
      <vt:lpstr>Vertical Axis Wind Turbine (VAWT) </vt:lpstr>
      <vt:lpstr>VAWT advantages</vt:lpstr>
      <vt:lpstr>VAWT disadvantages</vt:lpstr>
      <vt:lpstr>VAWT Applications</vt:lpstr>
      <vt:lpstr>Based on the type of active force that makes the turbines turn</vt:lpstr>
      <vt:lpstr>Lift Turbines</vt:lpstr>
      <vt:lpstr>Lift Turbines</vt:lpstr>
      <vt:lpstr>Drag Turbines</vt:lpstr>
      <vt:lpstr>Drag Turbines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2</cp:revision>
  <dcterms:created xsi:type="dcterms:W3CDTF">2026-01-07T04:09:11Z</dcterms:created>
  <dcterms:modified xsi:type="dcterms:W3CDTF">2026-01-14T03:48:24Z</dcterms:modified>
</cp:coreProperties>
</file>