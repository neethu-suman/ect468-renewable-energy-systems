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349" r:id="rId3"/>
    <p:sldId id="350" r:id="rId4"/>
    <p:sldId id="283" r:id="rId5"/>
    <p:sldId id="374" r:id="rId6"/>
    <p:sldId id="286" r:id="rId7"/>
    <p:sldId id="2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6127-E701-5417-7564-AA823ED7A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B076C-6814-87C9-1956-A420A7B92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F83C7-BE4D-2B24-6266-D24B7D37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7F1E5-1450-E42E-E93B-8824B60E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FB5F9-9C72-5CF3-C1EC-D1DE2234A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55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52A2-41AF-9174-20B7-C87206A0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CED4C-352B-29E3-019F-28D1F75C2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23206-5071-ED4E-BF28-B5177CFD2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B84C0-EFF0-7A71-0D83-88FC4FB2B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18F92-736B-330C-5650-264D08699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9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49C01-CBA2-CC70-34E0-59BA184D8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14819-FECB-EF13-DC4C-1BCC62737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A232C-C640-B97E-1DEC-7D4CE6D2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B8BDF-EB0F-20AC-E167-46EE6492E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59B6B-A67E-0466-2DD7-50A3ADDF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143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ED761-D469-9222-1FBB-FAF6D4B7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63E8-AA32-CCD2-646A-07615DCFFE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3DFF3-5DFD-B3D0-A251-4F6A19813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868CE-CC39-4769-728F-85B5F44F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06AFE-5892-85C4-BC66-F5B100448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503B8-09BA-BEF3-F129-05C776AE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948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0EC0-8C38-2A05-C58D-78F0A7879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F635B-110B-41B0-97C8-CE0F5D5FA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8EE36-70A5-F9B0-6A87-24642EBC3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34AAF-0D57-01A3-6E74-C9EF1747B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979034-A01D-130B-5526-4240ABFB8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7E088-FF5C-B79A-CAA7-DEE3BE1D4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994790-857E-0E55-8651-DB9FB1771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48DBA-F6BD-F7E8-2F62-8CC52402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93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610AE-3F87-BB6D-03F6-1E7C1FC7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3693D-0352-A5CF-F22E-348D0836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2CEF3-DD60-7187-D93C-68E9E240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BAC09-490B-E60E-8070-AAD32AC70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87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D5A0C2-512B-99C6-54E1-6692CC72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2FE6B-AC89-9DDE-3512-C9EDE531A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DB7AA-3F0E-7519-2A44-BDBAC1ED5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558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1219E-CD6D-B694-BC28-6A4EE5FC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ACC3B-FEF0-1C33-5FE3-6E650D5DF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9380F-BF8F-6065-92C9-AD11D3A07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376E1-F8AD-D972-5001-273B14867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7501A-A5FA-580D-8B0C-ADE98212F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10A7B-CE0B-1B7A-E771-2E641B49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607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AB703-9231-2EA8-B109-4D3B09A15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32016-02FE-45E9-C731-CA355DD3E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23BE5-0391-E3F6-919F-E4F494EB7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9781A-A58B-87D2-9662-AB6CE9BC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9F2F8-F4A3-5F94-3665-23FF3332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46792-9BE6-FDCD-C6A6-1674E492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776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268C-9B37-FE40-F5CC-F7DCB5BD9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0C6B-3AF4-D88C-B995-AA952D82F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E39A7-5C53-25C0-7833-2973D037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D6F11-29E8-5658-A399-0F673B7AB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2C0CA-0960-49CD-6316-DBA5D577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1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C8AF95-5E4B-26A2-72CF-F6BA9FD6D8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2F92C-2D41-9F11-8B8B-6B5FB029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25259-B438-3E7D-5B96-41D4236D4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50A19-72AB-A630-BC91-9B486E818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6B845-B3CE-0D7D-157D-8D686354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57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CB67FF-12E7-A217-9836-934A5349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99C4C-B4EB-64E0-42CA-35A02D2CE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ED6F6-B077-F53E-EF01-7518A2583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37C69-E861-4897-AF19-70F0F73ADFA6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6D5A4-93F6-4AB4-8164-4F151F5CCB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09EDD-ABED-BD8F-2AD7-E5EDEFF37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A916C-F4E4-429C-843C-E2A402ABF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87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34" y="451272"/>
            <a:ext cx="11000740" cy="74965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33" dirty="0">
              <a:latin typeface="Times New Roman"/>
              <a:cs typeface="Times New Roman"/>
            </a:endParaRPr>
          </a:p>
          <a:p>
            <a:pPr>
              <a:spcBef>
                <a:spcPts val="573"/>
              </a:spcBef>
            </a:pPr>
            <a:endParaRPr sz="2133" dirty="0">
              <a:latin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AFF0B6-7399-CA2C-57E0-A8B7348C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26" y="365125"/>
            <a:ext cx="11438648" cy="1325563"/>
          </a:xfrm>
        </p:spPr>
        <p:txBody>
          <a:bodyPr/>
          <a:lstStyle/>
          <a:p>
            <a:r>
              <a:rPr lang="en-IN" b="1" dirty="0">
                <a:cs typeface="Times New Roman"/>
              </a:rPr>
              <a:t>Toroidal</a:t>
            </a:r>
            <a:r>
              <a:rPr lang="en-IN" b="1" spc="-73" dirty="0">
                <a:cs typeface="Times New Roman"/>
              </a:rPr>
              <a:t> </a:t>
            </a:r>
            <a:r>
              <a:rPr lang="en-IN" b="1" dirty="0">
                <a:cs typeface="Times New Roman"/>
              </a:rPr>
              <a:t>Rotor</a:t>
            </a:r>
            <a:r>
              <a:rPr lang="en-IN" b="1" spc="-67" dirty="0">
                <a:cs typeface="Times New Roman"/>
              </a:rPr>
              <a:t> </a:t>
            </a:r>
            <a:r>
              <a:rPr lang="en-IN" b="1" dirty="0">
                <a:cs typeface="Times New Roman"/>
              </a:rPr>
              <a:t>Amplifier</a:t>
            </a:r>
            <a:r>
              <a:rPr lang="en-IN" b="1" spc="-13" dirty="0">
                <a:cs typeface="Times New Roman"/>
              </a:rPr>
              <a:t> </a:t>
            </a:r>
            <a:r>
              <a:rPr lang="en-IN" b="1" dirty="0">
                <a:cs typeface="Times New Roman"/>
              </a:rPr>
              <a:t>Platform</a:t>
            </a:r>
            <a:r>
              <a:rPr lang="en-IN" b="1" spc="-33" dirty="0">
                <a:cs typeface="Times New Roman"/>
              </a:rPr>
              <a:t> </a:t>
            </a:r>
            <a:r>
              <a:rPr lang="en-IN" b="1" spc="-13" dirty="0">
                <a:cs typeface="Times New Roman"/>
              </a:rPr>
              <a:t>(TARP)</a:t>
            </a:r>
            <a:endParaRPr lang="en-IN" dirty="0"/>
          </a:p>
        </p:txBody>
      </p:sp>
      <p:pic>
        <p:nvPicPr>
          <p:cNvPr id="5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095" y="1944756"/>
            <a:ext cx="3190391" cy="2420336"/>
          </a:xfrm>
          <a:prstGeom prst="rect">
            <a:avLst/>
          </a:prstGeom>
        </p:spPr>
      </p:pic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0599" y="2251181"/>
            <a:ext cx="1969833" cy="1319589"/>
          </a:xfrm>
          <a:prstGeom prst="rect">
            <a:avLst/>
          </a:prstGeom>
        </p:spPr>
      </p:pic>
      <p:pic>
        <p:nvPicPr>
          <p:cNvPr id="7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00054" y="3979421"/>
            <a:ext cx="6875181" cy="25134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DA50-DCD5-DBDF-B7F4-106DE6D4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365125"/>
            <a:ext cx="11350487" cy="1325563"/>
          </a:xfrm>
        </p:spPr>
        <p:txBody>
          <a:bodyPr>
            <a:normAutofit/>
          </a:bodyPr>
          <a:lstStyle/>
          <a:p>
            <a:r>
              <a:rPr lang="en-IN" sz="4000" dirty="0"/>
              <a:t>Toroidal Rotor Amplifier Platform (TARP)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D1A99-4D9D-30FE-6C82-1D0A132BE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73275" marR="11006" indent="-457189">
              <a:lnSpc>
                <a:spcPct val="114999"/>
              </a:lnSpc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Toroidal</a:t>
            </a:r>
            <a:r>
              <a:rPr lang="en-US" sz="2400" spc="4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Accelerator</a:t>
            </a:r>
            <a:r>
              <a:rPr lang="en-US" sz="2400" spc="4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Rotor</a:t>
            </a:r>
            <a:r>
              <a:rPr lang="en-US" sz="2400" spc="4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Platform</a:t>
            </a:r>
            <a:r>
              <a:rPr lang="en-US" sz="2400" spc="4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(TARP)</a:t>
            </a:r>
            <a:r>
              <a:rPr lang="en-US" sz="2400" spc="4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is</a:t>
            </a:r>
            <a:r>
              <a:rPr lang="en-US" sz="2400" spc="4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</a:t>
            </a:r>
            <a:r>
              <a:rPr lang="en-US" sz="2400" spc="4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new</a:t>
            </a:r>
            <a:r>
              <a:rPr lang="en-US" sz="2400" spc="4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technology</a:t>
            </a:r>
            <a:r>
              <a:rPr lang="en-US" sz="2400" spc="48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for</a:t>
            </a:r>
            <a:r>
              <a:rPr lang="en-US" sz="2400" spc="4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47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energy </a:t>
            </a:r>
            <a:r>
              <a:rPr lang="en-US" sz="2400" dirty="0">
                <a:cs typeface="Times New Roman"/>
              </a:rPr>
              <a:t>generation</a:t>
            </a:r>
            <a:r>
              <a:rPr lang="en-US" sz="2400" spc="-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from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spc="-27" dirty="0">
                <a:cs typeface="Times New Roman"/>
              </a:rPr>
              <a:t>wind</a:t>
            </a:r>
            <a:endParaRPr lang="en-US" sz="2400" dirty="0">
              <a:cs typeface="Times New Roman"/>
            </a:endParaRPr>
          </a:p>
          <a:p>
            <a:pPr marL="473275" indent="-456342">
              <a:spcBef>
                <a:spcPts val="433"/>
              </a:spcBef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TARP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combines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generation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transmission.</a:t>
            </a:r>
            <a:endParaRPr lang="en-US" sz="2400" dirty="0">
              <a:cs typeface="Times New Roman"/>
            </a:endParaRPr>
          </a:p>
          <a:p>
            <a:pPr marL="473275" indent="-456342">
              <a:spcBef>
                <a:spcPts val="433"/>
              </a:spcBef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This</a:t>
            </a:r>
            <a:r>
              <a:rPr lang="en-US" sz="2400" spc="47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concept</a:t>
            </a:r>
            <a:r>
              <a:rPr lang="en-US" sz="2400" spc="60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40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47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capture</a:t>
            </a:r>
            <a:r>
              <a:rPr lang="en-US" sz="2400" spc="40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is</a:t>
            </a:r>
            <a:r>
              <a:rPr lang="en-US" sz="2400" spc="47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based</a:t>
            </a:r>
            <a:r>
              <a:rPr lang="en-US" sz="2400" spc="53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on</a:t>
            </a:r>
            <a:r>
              <a:rPr lang="en-US" sz="2400" spc="40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47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53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Amplified</a:t>
            </a:r>
            <a:r>
              <a:rPr lang="en-US" sz="2400" spc="53" dirty="0">
                <a:cs typeface="Times New Roman"/>
              </a:rPr>
              <a:t>  </a:t>
            </a:r>
            <a:r>
              <a:rPr lang="en-US" sz="2400" dirty="0">
                <a:cs typeface="Times New Roman"/>
              </a:rPr>
              <a:t>Rotor</a:t>
            </a:r>
            <a:r>
              <a:rPr lang="en-US" sz="2400" spc="40" dirty="0">
                <a:cs typeface="Times New Roman"/>
              </a:rPr>
              <a:t>  </a:t>
            </a:r>
            <a:r>
              <a:rPr lang="en-US" sz="2400" spc="-13" dirty="0">
                <a:cs typeface="Times New Roman"/>
              </a:rPr>
              <a:t>Platform (WARP).</a:t>
            </a:r>
            <a:endParaRPr lang="en-US" sz="2400" dirty="0">
              <a:cs typeface="Times New Roman"/>
            </a:endParaRPr>
          </a:p>
          <a:p>
            <a:pPr marL="473275" marR="6773" indent="-457189">
              <a:lnSpc>
                <a:spcPct val="114999"/>
              </a:lnSpc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Small</a:t>
            </a:r>
            <a:r>
              <a:rPr lang="en-US" sz="2400" spc="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turbines</a:t>
            </a:r>
            <a:r>
              <a:rPr lang="en-US" sz="2400" spc="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are</a:t>
            </a:r>
            <a:r>
              <a:rPr lang="en-US" sz="2400" spc="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grouped</a:t>
            </a:r>
            <a:r>
              <a:rPr lang="en-US" sz="2400" spc="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and</a:t>
            </a:r>
            <a:r>
              <a:rPr lang="en-US" sz="2400" spc="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installed</a:t>
            </a:r>
            <a:r>
              <a:rPr lang="en-US" sz="2400" spc="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</a:t>
            </a:r>
            <a:r>
              <a:rPr lang="en-US" sz="2400" spc="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modules,</a:t>
            </a:r>
            <a:r>
              <a:rPr lang="en-US" sz="2400" spc="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conform</a:t>
            </a:r>
            <a:r>
              <a:rPr lang="en-US" sz="2400" spc="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needs</a:t>
            </a:r>
            <a:r>
              <a:rPr lang="en-US" sz="2400" spc="13" dirty="0">
                <a:cs typeface="Times New Roman"/>
              </a:rPr>
              <a:t> </a:t>
            </a:r>
            <a:r>
              <a:rPr lang="en-US" sz="2400" spc="-33" dirty="0">
                <a:cs typeface="Times New Roman"/>
              </a:rPr>
              <a:t>of </a:t>
            </a:r>
            <a:r>
              <a:rPr lang="en-US" sz="2400" dirty="0">
                <a:cs typeface="Times New Roman"/>
              </a:rPr>
              <a:t>distributed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generation.</a:t>
            </a:r>
            <a:endParaRPr lang="en-US" sz="2400" dirty="0">
              <a:cs typeface="Times New Roman"/>
            </a:endParaRPr>
          </a:p>
          <a:p>
            <a:pPr marL="473275" marR="9313" indent="-457189">
              <a:lnSpc>
                <a:spcPct val="114999"/>
              </a:lnSpc>
              <a:buChar char="●"/>
              <a:tabLst>
                <a:tab pos="473275" algn="l"/>
              </a:tabLst>
            </a:pPr>
            <a:r>
              <a:rPr lang="en-US" sz="2400" dirty="0">
                <a:cs typeface="Times New Roman"/>
              </a:rPr>
              <a:t>This</a:t>
            </a:r>
            <a:r>
              <a:rPr lang="en-US" sz="2400" spc="1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entire</a:t>
            </a:r>
            <a:r>
              <a:rPr lang="en-US" sz="2400" spc="1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platform</a:t>
            </a:r>
            <a:r>
              <a:rPr lang="en-US" sz="2400" spc="1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consists</a:t>
            </a:r>
            <a:r>
              <a:rPr lang="en-US" sz="2400" spc="1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1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</a:t>
            </a:r>
            <a:r>
              <a:rPr lang="en-US" sz="2400" spc="1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determined</a:t>
            </a:r>
            <a:r>
              <a:rPr lang="en-US" sz="2400" spc="1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number</a:t>
            </a:r>
            <a:r>
              <a:rPr lang="en-US" sz="2400" spc="1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1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TARPs</a:t>
            </a:r>
            <a:r>
              <a:rPr lang="en-US" sz="2400" spc="1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piled</a:t>
            </a:r>
            <a:r>
              <a:rPr lang="en-US" sz="2400" spc="1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up</a:t>
            </a:r>
            <a:r>
              <a:rPr lang="en-US" sz="2400" spc="1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one</a:t>
            </a:r>
            <a:r>
              <a:rPr lang="en-US" sz="2400" spc="1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on</a:t>
            </a:r>
            <a:r>
              <a:rPr lang="en-US" sz="2400" spc="113" dirty="0">
                <a:cs typeface="Times New Roman"/>
              </a:rPr>
              <a:t> </a:t>
            </a:r>
            <a:r>
              <a:rPr lang="en-US" sz="2400" spc="-33" dirty="0">
                <a:cs typeface="Times New Roman"/>
              </a:rPr>
              <a:t>top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another.</a:t>
            </a:r>
            <a:endParaRPr lang="en-US" sz="24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2619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0408-9E53-09D2-BB4E-3F1477D49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5" y="365125"/>
            <a:ext cx="11390243" cy="1325563"/>
          </a:xfrm>
        </p:spPr>
        <p:txBody>
          <a:bodyPr>
            <a:normAutofit/>
          </a:bodyPr>
          <a:lstStyle/>
          <a:p>
            <a:r>
              <a:rPr lang="en-IN" sz="4000" dirty="0"/>
              <a:t>Toroidal Rotor Amplifier Platform (TARP)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1E2CE-4142-4088-68C6-6B7216C75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6575" indent="-519113">
              <a:spcBef>
                <a:spcPts val="567"/>
              </a:spcBef>
              <a:tabLst>
                <a:tab pos="447675" algn="l"/>
              </a:tabLst>
            </a:pPr>
            <a:r>
              <a:rPr lang="en-US" sz="2400" dirty="0">
                <a:cs typeface="Times New Roman"/>
              </a:rPr>
              <a:t>Toroidal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form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aerodynamic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turbine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shelter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characterizes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working principle</a:t>
            </a:r>
            <a:r>
              <a:rPr lang="en-US" sz="2400" spc="-33" dirty="0">
                <a:cs typeface="Times New Roman"/>
              </a:rPr>
              <a:t> of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spc="-27" dirty="0">
                <a:cs typeface="Times New Roman"/>
              </a:rPr>
              <a:t>TARP</a:t>
            </a:r>
            <a:endParaRPr lang="en-US" sz="2400" dirty="0">
              <a:cs typeface="Times New Roman"/>
            </a:endParaRPr>
          </a:p>
          <a:p>
            <a:pPr marL="536575" indent="-519113">
              <a:spcBef>
                <a:spcPts val="427"/>
              </a:spcBef>
              <a:tabLst>
                <a:tab pos="447675" algn="l"/>
              </a:tabLst>
            </a:pPr>
            <a:r>
              <a:rPr lang="en-US" sz="2400" dirty="0">
                <a:cs typeface="Times New Roman"/>
              </a:rPr>
              <a:t>A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twin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rotor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system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typical</a:t>
            </a:r>
            <a:r>
              <a:rPr lang="en-US" sz="2400" spc="-6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diameter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3</a:t>
            </a:r>
            <a:r>
              <a:rPr lang="en-US" sz="2400" spc="-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or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less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are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placed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180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apart</a:t>
            </a:r>
            <a:endParaRPr lang="en-US" sz="2400" dirty="0">
              <a:cs typeface="Times New Roman"/>
            </a:endParaRPr>
          </a:p>
          <a:p>
            <a:pPr marL="536575" marR="345430" indent="-519113">
              <a:lnSpc>
                <a:spcPts val="3320"/>
              </a:lnSpc>
              <a:spcBef>
                <a:spcPts val="180"/>
              </a:spcBef>
              <a:buClr>
                <a:srgbClr val="000000"/>
              </a:buClr>
              <a:tabLst>
                <a:tab pos="447675" algn="l"/>
              </a:tabLst>
            </a:pPr>
            <a:r>
              <a:rPr lang="en-US" sz="2400" dirty="0">
                <a:solidFill>
                  <a:srgbClr val="2F2F2F"/>
                </a:solidFill>
                <a:cs typeface="Times New Roman"/>
              </a:rPr>
              <a:t>Wind</a:t>
            </a:r>
            <a:r>
              <a:rPr lang="en-US" sz="2400" spc="-3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accelerates</a:t>
            </a:r>
            <a:r>
              <a:rPr lang="en-US" sz="2400" spc="-7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around</a:t>
            </a:r>
            <a:r>
              <a:rPr lang="en-US" sz="2400" spc="-47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the</a:t>
            </a:r>
            <a:r>
              <a:rPr lang="en-US" sz="2400" spc="-3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shelter,</a:t>
            </a:r>
            <a:r>
              <a:rPr lang="en-US" sz="2400" spc="-5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amplifying</a:t>
            </a:r>
            <a:r>
              <a:rPr lang="en-US" sz="2400" spc="-7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the</a:t>
            </a:r>
            <a:r>
              <a:rPr lang="en-US" sz="2400" spc="-5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density</a:t>
            </a:r>
            <a:r>
              <a:rPr lang="en-US" sz="2400" spc="-47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of</a:t>
            </a:r>
            <a:r>
              <a:rPr lang="en-US" sz="2400" spc="-27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wind</a:t>
            </a:r>
            <a:r>
              <a:rPr lang="en-US" sz="2400" spc="-47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power</a:t>
            </a:r>
            <a:r>
              <a:rPr lang="en-US" sz="2400" spc="-3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spc="-13" dirty="0">
                <a:solidFill>
                  <a:srgbClr val="2F2F2F"/>
                </a:solidFill>
                <a:cs typeface="Times New Roman"/>
              </a:rPr>
              <a:t>energy available</a:t>
            </a:r>
            <a:endParaRPr lang="en-US" sz="2400" dirty="0">
              <a:cs typeface="Times New Roman"/>
            </a:endParaRPr>
          </a:p>
          <a:p>
            <a:pPr marL="536575" marR="6773" indent="-519113">
              <a:lnSpc>
                <a:spcPts val="3307"/>
              </a:lnSpc>
              <a:tabLst>
                <a:tab pos="447675" algn="l"/>
              </a:tabLst>
            </a:pPr>
            <a:r>
              <a:rPr lang="en-US" sz="2400" dirty="0">
                <a:cs typeface="Times New Roman"/>
              </a:rPr>
              <a:t>Rotors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are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coupled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directly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generator</a:t>
            </a:r>
            <a:r>
              <a:rPr lang="en-US" sz="2400" spc="-5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through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a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system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of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brakes</a:t>
            </a:r>
            <a:r>
              <a:rPr lang="en-US" sz="2400" spc="-4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but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without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spc="-67" dirty="0">
                <a:cs typeface="Times New Roman"/>
              </a:rPr>
              <a:t>a </a:t>
            </a:r>
            <a:r>
              <a:rPr lang="en-US" sz="2400" dirty="0">
                <a:cs typeface="Times New Roman"/>
              </a:rPr>
              <a:t>speed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multiplication</a:t>
            </a:r>
            <a:r>
              <a:rPr lang="en-US" sz="2400" spc="-73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gearbox</a:t>
            </a:r>
            <a:endParaRPr lang="en-US" sz="2400" dirty="0">
              <a:cs typeface="Times New Roman"/>
            </a:endParaRPr>
          </a:p>
          <a:p>
            <a:pPr marL="536575" indent="-519113">
              <a:spcBef>
                <a:spcPts val="253"/>
              </a:spcBef>
              <a:tabLst>
                <a:tab pos="447675" algn="l"/>
              </a:tabLst>
            </a:pPr>
            <a:r>
              <a:rPr lang="en-US" sz="2400" dirty="0">
                <a:cs typeface="Times New Roman"/>
              </a:rPr>
              <a:t>If</a:t>
            </a:r>
            <a:r>
              <a:rPr lang="en-US" sz="2400" spc="-1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 wind</a:t>
            </a:r>
            <a:r>
              <a:rPr lang="en-US" sz="2400" spc="-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changes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from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direction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(a) to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direction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(b), a</a:t>
            </a:r>
            <a:r>
              <a:rPr lang="en-US" sz="2400" spc="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torque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will form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on</a:t>
            </a:r>
            <a:r>
              <a:rPr lang="en-US" sz="2400" spc="13" dirty="0">
                <a:cs typeface="Times New Roman"/>
              </a:rPr>
              <a:t> </a:t>
            </a:r>
            <a:r>
              <a:rPr lang="en-US" sz="2400" spc="-33" dirty="0">
                <a:cs typeface="Times New Roman"/>
              </a:rPr>
              <a:t>the </a:t>
            </a:r>
            <a:r>
              <a:rPr lang="en-US" sz="2400" dirty="0">
                <a:cs typeface="Times New Roman"/>
              </a:rPr>
              <a:t>rotating</a:t>
            </a:r>
            <a:r>
              <a:rPr lang="en-US" sz="2400" spc="-60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wheel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shelter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that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moves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until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it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is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balanced</a:t>
            </a:r>
            <a:r>
              <a:rPr lang="en-US" sz="2400" spc="-4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in</a:t>
            </a:r>
            <a:r>
              <a:rPr lang="en-US" sz="2400" spc="-27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the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new</a:t>
            </a:r>
            <a:r>
              <a:rPr lang="en-US" sz="2400" spc="-33" dirty="0">
                <a:cs typeface="Times New Roman"/>
              </a:rPr>
              <a:t> </a:t>
            </a:r>
            <a:r>
              <a:rPr lang="en-US" sz="2400" dirty="0">
                <a:cs typeface="Times New Roman"/>
              </a:rPr>
              <a:t>wind</a:t>
            </a:r>
            <a:r>
              <a:rPr lang="en-US" sz="2400" spc="-20" dirty="0">
                <a:cs typeface="Times New Roman"/>
              </a:rPr>
              <a:t> </a:t>
            </a:r>
            <a:r>
              <a:rPr lang="en-US" sz="2400" spc="-13" dirty="0">
                <a:cs typeface="Times New Roman"/>
              </a:rPr>
              <a:t>direction.</a:t>
            </a:r>
            <a:endParaRPr lang="en-US" sz="24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1558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C6731C-086D-3F17-ED9B-729BD4C4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13" dirty="0"/>
              <a:t>Advantages of </a:t>
            </a:r>
            <a:r>
              <a:rPr lang="en-IN" spc="-13" dirty="0">
                <a:cs typeface="Times New Roman"/>
              </a:rPr>
              <a:t>TARP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578AAA-95F8-36B7-4E63-77AE23FCB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1274" indent="-457200">
              <a:lnSpc>
                <a:spcPct val="100000"/>
              </a:lnSpc>
              <a:spcBef>
                <a:spcPts val="527"/>
              </a:spcBef>
              <a:tabLst>
                <a:tab pos="443642" algn="l"/>
              </a:tabLst>
            </a:pPr>
            <a:r>
              <a:rPr lang="en-US" dirty="0"/>
              <a:t>Efficient</a:t>
            </a:r>
            <a:r>
              <a:rPr lang="en-US" spc="-33" dirty="0"/>
              <a:t> </a:t>
            </a:r>
            <a:r>
              <a:rPr lang="en-US" dirty="0"/>
              <a:t>than</a:t>
            </a:r>
            <a:r>
              <a:rPr lang="en-US" spc="-27" dirty="0"/>
              <a:t> </a:t>
            </a:r>
            <a:r>
              <a:rPr lang="en-US" dirty="0"/>
              <a:t>traditional</a:t>
            </a:r>
            <a:r>
              <a:rPr lang="en-US" spc="-7" dirty="0"/>
              <a:t> </a:t>
            </a:r>
            <a:r>
              <a:rPr lang="en-US" spc="-13" dirty="0"/>
              <a:t>blade-</a:t>
            </a:r>
            <a:r>
              <a:rPr lang="en-US" dirty="0"/>
              <a:t>based</a:t>
            </a:r>
            <a:r>
              <a:rPr lang="en-US" spc="-47" dirty="0"/>
              <a:t> </a:t>
            </a:r>
            <a:r>
              <a:rPr lang="en-US" dirty="0"/>
              <a:t>wind</a:t>
            </a:r>
            <a:r>
              <a:rPr lang="en-US" spc="-47" dirty="0"/>
              <a:t> </a:t>
            </a:r>
            <a:r>
              <a:rPr lang="en-US" spc="-13" dirty="0"/>
              <a:t>turbines</a:t>
            </a:r>
          </a:p>
          <a:p>
            <a:pPr marL="451274" indent="-457200">
              <a:lnSpc>
                <a:spcPct val="100000"/>
              </a:lnSpc>
              <a:spcBef>
                <a:spcPts val="400"/>
              </a:spcBef>
              <a:tabLst>
                <a:tab pos="443642" algn="l"/>
              </a:tabLst>
            </a:pPr>
            <a:r>
              <a:rPr lang="en-US" dirty="0"/>
              <a:t>Design</a:t>
            </a:r>
            <a:r>
              <a:rPr lang="en-US" spc="-53" dirty="0"/>
              <a:t> </a:t>
            </a:r>
            <a:r>
              <a:rPr lang="en-US" dirty="0"/>
              <a:t>is</a:t>
            </a:r>
            <a:r>
              <a:rPr lang="en-US" spc="-7" dirty="0"/>
              <a:t> </a:t>
            </a:r>
            <a:r>
              <a:rPr lang="en-US" dirty="0"/>
              <a:t>quieter,</a:t>
            </a:r>
            <a:r>
              <a:rPr lang="en-US" spc="-53" dirty="0"/>
              <a:t> </a:t>
            </a:r>
            <a:r>
              <a:rPr lang="en-US" dirty="0"/>
              <a:t>lighter,</a:t>
            </a:r>
            <a:r>
              <a:rPr lang="en-US" spc="-13" dirty="0"/>
              <a:t> </a:t>
            </a:r>
            <a:r>
              <a:rPr lang="en-US" dirty="0"/>
              <a:t>and</a:t>
            </a:r>
            <a:r>
              <a:rPr lang="en-US" spc="-47" dirty="0"/>
              <a:t> </a:t>
            </a:r>
            <a:r>
              <a:rPr lang="en-US" dirty="0"/>
              <a:t>easier</a:t>
            </a:r>
            <a:r>
              <a:rPr lang="en-US" spc="-40" dirty="0"/>
              <a:t> </a:t>
            </a:r>
            <a:r>
              <a:rPr lang="en-US" dirty="0"/>
              <a:t>to</a:t>
            </a:r>
            <a:r>
              <a:rPr lang="en-US" spc="-20" dirty="0"/>
              <a:t> </a:t>
            </a:r>
            <a:r>
              <a:rPr lang="en-US" dirty="0"/>
              <a:t>maintain</a:t>
            </a:r>
            <a:r>
              <a:rPr lang="en-US" spc="-20" dirty="0"/>
              <a:t> </a:t>
            </a:r>
            <a:r>
              <a:rPr lang="en-US" dirty="0"/>
              <a:t>than</a:t>
            </a:r>
            <a:r>
              <a:rPr lang="en-US" spc="-40" dirty="0"/>
              <a:t> </a:t>
            </a:r>
            <a:r>
              <a:rPr lang="en-US" dirty="0"/>
              <a:t>traditional</a:t>
            </a:r>
            <a:r>
              <a:rPr lang="en-US" spc="-13" dirty="0"/>
              <a:t> </a:t>
            </a:r>
            <a:r>
              <a:rPr lang="en-US" dirty="0"/>
              <a:t>wind</a:t>
            </a:r>
            <a:r>
              <a:rPr lang="en-US" spc="-33" dirty="0"/>
              <a:t> </a:t>
            </a:r>
            <a:r>
              <a:rPr lang="en-US" spc="-13" dirty="0"/>
              <a:t>turbines</a:t>
            </a:r>
          </a:p>
          <a:p>
            <a:pPr marL="450427" marR="6773" indent="-457200">
              <a:lnSpc>
                <a:spcPct val="114700"/>
              </a:lnSpc>
              <a:spcBef>
                <a:spcPts val="20"/>
              </a:spcBef>
              <a:tabLst>
                <a:tab pos="443642" algn="l"/>
              </a:tabLst>
            </a:pPr>
            <a:r>
              <a:rPr lang="en-US" dirty="0"/>
              <a:t>The</a:t>
            </a:r>
            <a:r>
              <a:rPr lang="en-US" spc="-20" dirty="0"/>
              <a:t> </a:t>
            </a:r>
            <a:r>
              <a:rPr lang="en-US" dirty="0"/>
              <a:t>bladeless design means</a:t>
            </a:r>
            <a:r>
              <a:rPr lang="en-US" spc="-13" dirty="0"/>
              <a:t> </a:t>
            </a:r>
            <a:r>
              <a:rPr lang="en-US" dirty="0"/>
              <a:t>that</a:t>
            </a:r>
            <a:r>
              <a:rPr lang="en-US" spc="-7" dirty="0"/>
              <a:t> </a:t>
            </a:r>
            <a:r>
              <a:rPr lang="en-US" dirty="0"/>
              <a:t>there</a:t>
            </a:r>
            <a:r>
              <a:rPr lang="en-US" spc="-20" dirty="0"/>
              <a:t> </a:t>
            </a:r>
            <a:r>
              <a:rPr lang="en-US" dirty="0"/>
              <a:t>are</a:t>
            </a:r>
            <a:r>
              <a:rPr lang="en-US" spc="-20" dirty="0"/>
              <a:t> </a:t>
            </a:r>
            <a:r>
              <a:rPr lang="en-US" dirty="0"/>
              <a:t>no large</a:t>
            </a:r>
            <a:r>
              <a:rPr lang="en-US" spc="-7" dirty="0"/>
              <a:t> </a:t>
            </a:r>
            <a:r>
              <a:rPr lang="en-US" dirty="0"/>
              <a:t>rotating</a:t>
            </a:r>
            <a:r>
              <a:rPr lang="en-US" spc="7" dirty="0"/>
              <a:t> </a:t>
            </a:r>
            <a:r>
              <a:rPr lang="en-US" dirty="0"/>
              <a:t>blades,</a:t>
            </a:r>
            <a:r>
              <a:rPr lang="en-US" spc="7" dirty="0"/>
              <a:t> </a:t>
            </a:r>
            <a:r>
              <a:rPr lang="en-US" dirty="0"/>
              <a:t>which</a:t>
            </a:r>
            <a:r>
              <a:rPr lang="en-US" spc="-7" dirty="0"/>
              <a:t> </a:t>
            </a:r>
            <a:r>
              <a:rPr lang="en-US" dirty="0"/>
              <a:t>can</a:t>
            </a:r>
            <a:r>
              <a:rPr lang="en-US" spc="7" dirty="0"/>
              <a:t> </a:t>
            </a:r>
            <a:r>
              <a:rPr lang="en-US" dirty="0"/>
              <a:t>be</a:t>
            </a:r>
            <a:r>
              <a:rPr lang="en-US" spc="-13" dirty="0"/>
              <a:t> dangerous </a:t>
            </a:r>
            <a:r>
              <a:rPr lang="en-US" dirty="0"/>
              <a:t>and</a:t>
            </a:r>
            <a:r>
              <a:rPr lang="en-US" spc="-20" dirty="0"/>
              <a:t> </a:t>
            </a:r>
            <a:r>
              <a:rPr lang="en-US" spc="-13" dirty="0"/>
              <a:t>noisy</a:t>
            </a:r>
          </a:p>
          <a:p>
            <a:pPr marL="451274" indent="-457200">
              <a:lnSpc>
                <a:spcPct val="100000"/>
              </a:lnSpc>
              <a:spcBef>
                <a:spcPts val="413"/>
              </a:spcBef>
              <a:tabLst>
                <a:tab pos="443642" algn="l"/>
              </a:tabLst>
            </a:pPr>
            <a:r>
              <a:rPr lang="en-US" dirty="0"/>
              <a:t>The</a:t>
            </a:r>
            <a:r>
              <a:rPr lang="en-US" spc="-40" dirty="0"/>
              <a:t> </a:t>
            </a:r>
            <a:r>
              <a:rPr lang="en-US" dirty="0"/>
              <a:t>lack</a:t>
            </a:r>
            <a:r>
              <a:rPr lang="en-US" spc="-33" dirty="0"/>
              <a:t> </a:t>
            </a:r>
            <a:r>
              <a:rPr lang="en-US" dirty="0"/>
              <a:t>of</a:t>
            </a:r>
            <a:r>
              <a:rPr lang="en-US" spc="-33" dirty="0"/>
              <a:t> </a:t>
            </a:r>
            <a:r>
              <a:rPr lang="en-US" dirty="0"/>
              <a:t>blades</a:t>
            </a:r>
            <a:r>
              <a:rPr lang="en-US" spc="-27" dirty="0"/>
              <a:t> </a:t>
            </a:r>
            <a:r>
              <a:rPr lang="en-US" dirty="0"/>
              <a:t>means</a:t>
            </a:r>
            <a:r>
              <a:rPr lang="en-US" spc="-33" dirty="0"/>
              <a:t> </a:t>
            </a:r>
            <a:r>
              <a:rPr lang="en-US" dirty="0"/>
              <a:t>that</a:t>
            </a:r>
            <a:r>
              <a:rPr lang="en-US" spc="-20" dirty="0"/>
              <a:t> </a:t>
            </a:r>
            <a:r>
              <a:rPr lang="en-US" dirty="0"/>
              <a:t>the</a:t>
            </a:r>
            <a:r>
              <a:rPr lang="en-US" spc="-27" dirty="0"/>
              <a:t> </a:t>
            </a:r>
            <a:r>
              <a:rPr lang="en-US" dirty="0"/>
              <a:t>TARP</a:t>
            </a:r>
            <a:r>
              <a:rPr lang="en-US" spc="-47" dirty="0"/>
              <a:t> </a:t>
            </a:r>
            <a:r>
              <a:rPr lang="en-US" dirty="0"/>
              <a:t>is</a:t>
            </a:r>
            <a:r>
              <a:rPr lang="en-US" spc="-20" dirty="0"/>
              <a:t> </a:t>
            </a:r>
            <a:r>
              <a:rPr lang="en-US" dirty="0"/>
              <a:t>lighter</a:t>
            </a:r>
            <a:r>
              <a:rPr lang="en-US" spc="-7" dirty="0"/>
              <a:t> </a:t>
            </a:r>
            <a:r>
              <a:rPr lang="en-US" dirty="0"/>
              <a:t>and</a:t>
            </a:r>
            <a:r>
              <a:rPr lang="en-US" spc="-40" dirty="0"/>
              <a:t> </a:t>
            </a:r>
            <a:r>
              <a:rPr lang="en-US" dirty="0"/>
              <a:t>easier</a:t>
            </a:r>
            <a:r>
              <a:rPr lang="en-US" spc="-33" dirty="0"/>
              <a:t> </a:t>
            </a:r>
            <a:r>
              <a:rPr lang="en-US" dirty="0"/>
              <a:t>to</a:t>
            </a:r>
            <a:r>
              <a:rPr lang="en-US" spc="-13" dirty="0"/>
              <a:t> install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25960-EF43-58AC-0C7D-FB9DBE95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/>
              </a:rPr>
              <a:t>Wind</a:t>
            </a:r>
            <a:r>
              <a:rPr lang="en-US" b="1" spc="-80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amplified</a:t>
            </a:r>
            <a:r>
              <a:rPr lang="en-US" b="1" spc="-20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rotor</a:t>
            </a:r>
            <a:r>
              <a:rPr lang="en-US" b="1" spc="-6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platform</a:t>
            </a:r>
            <a:r>
              <a:rPr lang="en-US" b="1" spc="-47" dirty="0">
                <a:cs typeface="Times New Roman"/>
              </a:rPr>
              <a:t> </a:t>
            </a:r>
            <a:r>
              <a:rPr lang="en-US" b="1" spc="-13" dirty="0">
                <a:cs typeface="Times New Roman"/>
              </a:rPr>
              <a:t>(WARP)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AFFD-A4EF-320D-AD1D-DAB9AB38F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pPr marL="465655" marR="144776" indent="-449569">
              <a:lnSpc>
                <a:spcPct val="114700"/>
              </a:lnSpc>
              <a:spcBef>
                <a:spcPts val="2400"/>
              </a:spcBef>
              <a:buClr>
                <a:srgbClr val="000000"/>
              </a:buClr>
              <a:tabLst>
                <a:tab pos="465655" algn="l"/>
              </a:tabLst>
            </a:pPr>
            <a:r>
              <a:rPr lang="en-US" sz="2000" dirty="0">
                <a:solidFill>
                  <a:srgbClr val="1A1A1A"/>
                </a:solidFill>
                <a:cs typeface="Times New Roman"/>
              </a:rPr>
              <a:t>An</a:t>
            </a:r>
            <a:r>
              <a:rPr lang="en-US" sz="2000" spc="-4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energy</a:t>
            </a:r>
            <a:r>
              <a:rPr lang="en-US" sz="2000" spc="-5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conversion</a:t>
            </a:r>
            <a:r>
              <a:rPr lang="en-US" sz="2000" spc="-4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device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comprises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stacked</a:t>
            </a:r>
            <a:r>
              <a:rPr lang="en-US" sz="2000" spc="-4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array</a:t>
            </a:r>
            <a:r>
              <a:rPr lang="en-US" sz="2000" spc="-4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of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alternating</a:t>
            </a:r>
            <a:r>
              <a:rPr lang="en-US" sz="2000" spc="-1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yaw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rotatable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and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spc="-13" dirty="0">
                <a:solidFill>
                  <a:srgbClr val="1A1A1A"/>
                </a:solidFill>
                <a:cs typeface="Times New Roman"/>
              </a:rPr>
              <a:t>fixed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toroidal</a:t>
            </a:r>
            <a:r>
              <a:rPr lang="en-US" sz="2000" spc="-2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modules</a:t>
            </a:r>
            <a:r>
              <a:rPr lang="en-US" sz="2000" spc="-1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about</a:t>
            </a:r>
            <a:r>
              <a:rPr lang="en-US" sz="2000" spc="-2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</a:t>
            </a:r>
            <a:r>
              <a:rPr lang="en-US" sz="2000" spc="-2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central</a:t>
            </a:r>
            <a:r>
              <a:rPr lang="en-US" sz="2000" spc="-5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core</a:t>
            </a:r>
            <a:r>
              <a:rPr lang="en-US" sz="2000" spc="-2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spc="-13" dirty="0">
                <a:solidFill>
                  <a:srgbClr val="1A1A1A"/>
                </a:solidFill>
                <a:cs typeface="Times New Roman"/>
              </a:rPr>
              <a:t>structure </a:t>
            </a:r>
            <a:r>
              <a:rPr lang="en-US" sz="2000" dirty="0">
                <a:cs typeface="Times New Roman"/>
              </a:rPr>
              <a:t>mainly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designed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amplify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which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turn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increases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power</a:t>
            </a:r>
            <a:endParaRPr lang="en-US" sz="2000" dirty="0">
              <a:cs typeface="Times New Roman"/>
            </a:endParaRPr>
          </a:p>
          <a:p>
            <a:pPr marL="465655" marR="63498" indent="-449569">
              <a:lnSpc>
                <a:spcPts val="3133"/>
              </a:lnSpc>
              <a:spcBef>
                <a:spcPts val="160"/>
              </a:spcBef>
              <a:tabLst>
                <a:tab pos="465655" algn="l"/>
              </a:tabLst>
            </a:pPr>
            <a:r>
              <a:rPr lang="en-US" sz="2000" dirty="0" err="1">
                <a:cs typeface="Times New Roman"/>
              </a:rPr>
              <a:t>Yawable</a:t>
            </a:r>
            <a:r>
              <a:rPr lang="en-US" sz="2000" spc="-87" dirty="0">
                <a:cs typeface="Times New Roman"/>
              </a:rPr>
              <a:t> </a:t>
            </a:r>
            <a:r>
              <a:rPr lang="en-US" sz="2000" dirty="0" err="1">
                <a:cs typeface="Times New Roman"/>
              </a:rPr>
              <a:t>toroids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have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typically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four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impact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impellers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mounted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their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peripheral</a:t>
            </a:r>
            <a:r>
              <a:rPr lang="en-US" sz="2000" spc="-6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flow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regions </a:t>
            </a:r>
            <a:r>
              <a:rPr lang="en-US" sz="2000" dirty="0">
                <a:cs typeface="Times New Roman"/>
              </a:rPr>
              <a:t>for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purpose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of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capturing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flow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energy.</a:t>
            </a:r>
            <a:endParaRPr lang="en-US" sz="2000" dirty="0">
              <a:cs typeface="Times New Roman"/>
            </a:endParaRPr>
          </a:p>
          <a:p>
            <a:pPr marL="465655" indent="-448722">
              <a:spcBef>
                <a:spcPts val="233"/>
              </a:spcBef>
              <a:tabLst>
                <a:tab pos="465655" algn="l"/>
              </a:tabLst>
            </a:pPr>
            <a:r>
              <a:rPr lang="en-US" sz="2000" dirty="0">
                <a:cs typeface="Times New Roman"/>
              </a:rPr>
              <a:t>Static</a:t>
            </a:r>
            <a:r>
              <a:rPr lang="en-US" sz="2000" spc="387" dirty="0">
                <a:cs typeface="Times New Roman"/>
              </a:rPr>
              <a:t> </a:t>
            </a:r>
            <a:r>
              <a:rPr lang="en-US" sz="2000" dirty="0" err="1">
                <a:cs typeface="Times New Roman"/>
              </a:rPr>
              <a:t>toroids</a:t>
            </a:r>
            <a:r>
              <a:rPr lang="en-US" sz="2000" spc="39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are</a:t>
            </a:r>
            <a:r>
              <a:rPr lang="en-US" sz="2000" spc="36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mounted</a:t>
            </a:r>
            <a:r>
              <a:rPr lang="en-US" sz="2000" spc="39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38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complement</a:t>
            </a:r>
            <a:r>
              <a:rPr lang="en-US" sz="2000" spc="38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and</a:t>
            </a:r>
            <a:r>
              <a:rPr lang="en-US" sz="2000" spc="38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further</a:t>
            </a:r>
            <a:r>
              <a:rPr lang="en-US" sz="2000" spc="39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enhance</a:t>
            </a:r>
            <a:r>
              <a:rPr lang="en-US" sz="2000" spc="38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fluid</a:t>
            </a:r>
            <a:r>
              <a:rPr lang="en-US" sz="2000" spc="38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flow</a:t>
            </a:r>
            <a:r>
              <a:rPr lang="en-US" sz="2000" spc="40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impact</a:t>
            </a:r>
            <a:r>
              <a:rPr lang="en-US" sz="2000" spc="38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impeller </a:t>
            </a:r>
            <a:r>
              <a:rPr lang="en-US" sz="2000" dirty="0">
                <a:cs typeface="Times New Roman"/>
              </a:rPr>
              <a:t>energy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capture</a:t>
            </a:r>
            <a:endParaRPr lang="en-US" sz="2000" dirty="0">
              <a:cs typeface="Times New Roman"/>
            </a:endParaRPr>
          </a:p>
          <a:p>
            <a:pPr marL="465655" marR="6773" indent="-449569">
              <a:lnSpc>
                <a:spcPts val="3133"/>
              </a:lnSpc>
              <a:spcBef>
                <a:spcPts val="167"/>
              </a:spcBef>
              <a:buClr>
                <a:srgbClr val="000000"/>
              </a:buClr>
              <a:tabLst>
                <a:tab pos="465655" algn="l"/>
              </a:tabLst>
            </a:pPr>
            <a:r>
              <a:rPr lang="en-US" sz="2000" dirty="0">
                <a:solidFill>
                  <a:srgbClr val="1A1A1A"/>
                </a:solidFill>
                <a:cs typeface="Times New Roman"/>
              </a:rPr>
              <a:t>The</a:t>
            </a:r>
            <a:r>
              <a:rPr lang="en-US" sz="2000" spc="20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stacked</a:t>
            </a:r>
            <a:r>
              <a:rPr lang="en-US" sz="2000" spc="20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array</a:t>
            </a:r>
            <a:r>
              <a:rPr lang="en-US" sz="2000" spc="22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of</a:t>
            </a:r>
            <a:r>
              <a:rPr lang="en-US" sz="2000" spc="19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 err="1">
                <a:solidFill>
                  <a:srgbClr val="1A1A1A"/>
                </a:solidFill>
                <a:cs typeface="Times New Roman"/>
              </a:rPr>
              <a:t>toroids</a:t>
            </a:r>
            <a:r>
              <a:rPr lang="en-US" sz="2000" spc="20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with</a:t>
            </a:r>
            <a:r>
              <a:rPr lang="en-US" sz="2000" spc="22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impellers</a:t>
            </a:r>
            <a:r>
              <a:rPr lang="en-US" sz="2000" spc="21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is</a:t>
            </a:r>
            <a:r>
              <a:rPr lang="en-US" sz="2000" spc="20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termed</a:t>
            </a:r>
            <a:r>
              <a:rPr lang="en-US" sz="2000" spc="21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as</a:t>
            </a:r>
            <a:r>
              <a:rPr lang="en-US" sz="2000" spc="20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Toroidal</a:t>
            </a:r>
            <a:r>
              <a:rPr lang="en-US" sz="2000" spc="18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Rotor</a:t>
            </a:r>
            <a:r>
              <a:rPr lang="en-US" sz="2000" spc="19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Amplified</a:t>
            </a:r>
            <a:r>
              <a:rPr lang="en-US" sz="2000" spc="21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spc="-13" dirty="0">
                <a:solidFill>
                  <a:srgbClr val="1A1A1A"/>
                </a:solidFill>
                <a:cs typeface="Times New Roman"/>
              </a:rPr>
              <a:t>Platform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(TRAP),</a:t>
            </a:r>
            <a:r>
              <a:rPr lang="en-US" sz="2000" spc="-5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and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toroid</a:t>
            </a:r>
            <a:r>
              <a:rPr lang="en-US" sz="2000" spc="-1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without</a:t>
            </a:r>
            <a:r>
              <a:rPr lang="en-US" sz="2000" spc="-2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impellers</a:t>
            </a:r>
            <a:r>
              <a:rPr lang="en-US" sz="2000" spc="-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is</a:t>
            </a:r>
            <a:r>
              <a:rPr lang="en-US" sz="2000" spc="-2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Toroidal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Wind</a:t>
            </a:r>
            <a:r>
              <a:rPr lang="en-US" sz="2000" spc="-2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Frame</a:t>
            </a:r>
            <a:r>
              <a:rPr lang="en-US" sz="2000" spc="-4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spc="-13" dirty="0">
                <a:solidFill>
                  <a:srgbClr val="1A1A1A"/>
                </a:solidFill>
                <a:cs typeface="Times New Roman"/>
              </a:rPr>
              <a:t>(TWF)</a:t>
            </a:r>
            <a:endParaRPr lang="en-US" sz="2000" dirty="0">
              <a:cs typeface="Times New Roman"/>
            </a:endParaRPr>
          </a:p>
          <a:p>
            <a:pPr marL="465655" indent="-448722">
              <a:spcBef>
                <a:spcPts val="227"/>
              </a:spcBef>
              <a:tabLst>
                <a:tab pos="465655" algn="l"/>
              </a:tabLst>
            </a:pPr>
            <a:r>
              <a:rPr lang="en-US" sz="2000" dirty="0">
                <a:solidFill>
                  <a:srgbClr val="1A1A1A"/>
                </a:solidFill>
                <a:cs typeface="Times New Roman"/>
              </a:rPr>
              <a:t>The</a:t>
            </a:r>
            <a:r>
              <a:rPr lang="en-US" sz="2000" spc="-4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aggregate</a:t>
            </a:r>
            <a:r>
              <a:rPr lang="en-US" sz="2000" spc="-4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used</a:t>
            </a:r>
            <a:r>
              <a:rPr lang="en-US" sz="2000" spc="-5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for</a:t>
            </a:r>
            <a:r>
              <a:rPr lang="en-US" sz="2000" spc="-4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wind</a:t>
            </a:r>
            <a:r>
              <a:rPr lang="en-US" sz="2000" spc="-2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energy</a:t>
            </a:r>
            <a:r>
              <a:rPr lang="en-US" sz="2000" spc="-4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conversion</a:t>
            </a:r>
            <a:r>
              <a:rPr lang="en-US" sz="2000" spc="-4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is</a:t>
            </a:r>
            <a:r>
              <a:rPr lang="en-US" sz="2000" spc="-20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Wind</a:t>
            </a:r>
            <a:r>
              <a:rPr lang="en-US" sz="2000" spc="-27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Amplified</a:t>
            </a:r>
            <a:r>
              <a:rPr lang="en-US" sz="2000" spc="-1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Rotor</a:t>
            </a:r>
            <a:r>
              <a:rPr lang="en-US" sz="2000" spc="-33" dirty="0">
                <a:solidFill>
                  <a:srgbClr val="1A1A1A"/>
                </a:solidFill>
                <a:cs typeface="Times New Roman"/>
              </a:rPr>
              <a:t> </a:t>
            </a:r>
            <a:r>
              <a:rPr lang="en-US" sz="2000" dirty="0">
                <a:solidFill>
                  <a:srgbClr val="1A1A1A"/>
                </a:solidFill>
                <a:cs typeface="Times New Roman"/>
              </a:rPr>
              <a:t>Platform </a:t>
            </a:r>
            <a:r>
              <a:rPr lang="en-US" sz="2000" spc="-13" dirty="0">
                <a:solidFill>
                  <a:srgbClr val="1A1A1A"/>
                </a:solidFill>
                <a:cs typeface="Times New Roman"/>
              </a:rPr>
              <a:t>(WARP) </a:t>
            </a:r>
            <a:endParaRPr lang="en-US" sz="2000" dirty="0">
              <a:cs typeface="Times New Roman"/>
            </a:endParaRPr>
          </a:p>
          <a:p>
            <a:pPr marL="465655" indent="-448722">
              <a:spcBef>
                <a:spcPts val="420"/>
              </a:spcBef>
              <a:tabLst>
                <a:tab pos="465655" algn="l"/>
              </a:tabLst>
            </a:pPr>
            <a:r>
              <a:rPr lang="en-US" sz="2000" dirty="0">
                <a:cs typeface="Times New Roman"/>
              </a:rPr>
              <a:t>more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efficient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and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use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less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land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than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wind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machines</a:t>
            </a:r>
            <a:endParaRPr lang="en-US" sz="2000" dirty="0">
              <a:cs typeface="Times New Roman"/>
            </a:endParaRPr>
          </a:p>
          <a:p>
            <a:pPr marL="465655" marR="431789" indent="-449569">
              <a:lnSpc>
                <a:spcPts val="3133"/>
              </a:lnSpc>
              <a:spcBef>
                <a:spcPts val="127"/>
              </a:spcBef>
              <a:tabLst>
                <a:tab pos="465655" algn="l"/>
              </a:tabLst>
            </a:pPr>
            <a:r>
              <a:rPr lang="en-US" sz="2000" dirty="0">
                <a:cs typeface="Times New Roman"/>
              </a:rPr>
              <a:t>WARP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rotors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are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spc="-13" dirty="0">
                <a:cs typeface="Times New Roman"/>
              </a:rPr>
              <a:t>1-</a:t>
            </a:r>
            <a:r>
              <a:rPr lang="en-US" sz="2000" dirty="0">
                <a:cs typeface="Times New Roman"/>
              </a:rPr>
              <a:t>3m</a:t>
            </a:r>
            <a:r>
              <a:rPr lang="en-US" sz="2000" spc="-3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in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diameter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and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are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directly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coupled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(without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step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up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gear</a:t>
            </a:r>
            <a:r>
              <a:rPr lang="en-US" sz="2000" spc="-4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box)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7" dirty="0">
                <a:cs typeface="Times New Roman"/>
              </a:rPr>
              <a:t> </a:t>
            </a:r>
            <a:r>
              <a:rPr lang="en-US" sz="2000" spc="-67" dirty="0">
                <a:cs typeface="Times New Roman"/>
              </a:rPr>
              <a:t>a </a:t>
            </a:r>
            <a:r>
              <a:rPr lang="en-US" sz="2000" dirty="0">
                <a:cs typeface="Times New Roman"/>
              </a:rPr>
              <a:t>generator</a:t>
            </a:r>
            <a:r>
              <a:rPr lang="en-US" sz="2000" spc="-5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due</a:t>
            </a:r>
            <a:r>
              <a:rPr lang="en-US" sz="2000" spc="-4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to</a:t>
            </a:r>
            <a:r>
              <a:rPr lang="en-US" sz="2000" spc="-13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their</a:t>
            </a:r>
            <a:r>
              <a:rPr lang="en-US" sz="2000" spc="-20" dirty="0">
                <a:cs typeface="Times New Roman"/>
              </a:rPr>
              <a:t> </a:t>
            </a:r>
            <a:r>
              <a:rPr lang="en-US" sz="2000" dirty="0">
                <a:cs typeface="Times New Roman"/>
              </a:rPr>
              <a:t>high</a:t>
            </a:r>
            <a:r>
              <a:rPr lang="en-US" sz="2000" spc="-27" dirty="0">
                <a:cs typeface="Times New Roman"/>
              </a:rPr>
              <a:t> </a:t>
            </a:r>
            <a:r>
              <a:rPr lang="en-US" sz="2000" spc="-33" dirty="0">
                <a:cs typeface="Times New Roman"/>
              </a:rPr>
              <a:t>RPM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90454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6704" y="5027205"/>
            <a:ext cx="3156344" cy="18307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4912" y="353567"/>
            <a:ext cx="5657088" cy="45557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487" y="292608"/>
            <a:ext cx="5246623" cy="39359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27143" y="6228622"/>
            <a:ext cx="2176780" cy="338619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6933">
              <a:spcBef>
                <a:spcPts val="160"/>
              </a:spcBef>
            </a:pPr>
            <a:r>
              <a:rPr sz="2067" dirty="0">
                <a:latin typeface="Times New Roman"/>
                <a:cs typeface="Times New Roman"/>
              </a:rPr>
              <a:t>WARP</a:t>
            </a:r>
            <a:r>
              <a:rPr sz="2067" spc="40" dirty="0">
                <a:latin typeface="Times New Roman"/>
                <a:cs typeface="Times New Roman"/>
              </a:rPr>
              <a:t> </a:t>
            </a:r>
            <a:r>
              <a:rPr sz="2067" dirty="0">
                <a:latin typeface="Times New Roman"/>
                <a:cs typeface="Times New Roman"/>
              </a:rPr>
              <a:t>yaw</a:t>
            </a:r>
            <a:r>
              <a:rPr sz="2067" spc="13" dirty="0">
                <a:latin typeface="Times New Roman"/>
                <a:cs typeface="Times New Roman"/>
              </a:rPr>
              <a:t> </a:t>
            </a:r>
            <a:r>
              <a:rPr sz="2067" spc="-13" dirty="0">
                <a:latin typeface="Times New Roman"/>
                <a:cs typeface="Times New Roman"/>
              </a:rPr>
              <a:t>module</a:t>
            </a:r>
            <a:endParaRPr sz="206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ADB8E9-569B-E4E9-69E3-E5705E0E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Times New Roman"/>
              </a:rPr>
              <a:t>Wind</a:t>
            </a:r>
            <a:r>
              <a:rPr lang="en-US" b="1" spc="-80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amplified</a:t>
            </a:r>
            <a:r>
              <a:rPr lang="en-US" b="1" spc="-20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rotor</a:t>
            </a:r>
            <a:r>
              <a:rPr lang="en-US" b="1" spc="-67" dirty="0">
                <a:cs typeface="Times New Roman"/>
              </a:rPr>
              <a:t> </a:t>
            </a:r>
            <a:r>
              <a:rPr lang="en-US" b="1" dirty="0">
                <a:cs typeface="Times New Roman"/>
              </a:rPr>
              <a:t>platform</a:t>
            </a:r>
            <a:r>
              <a:rPr lang="en-US" b="1" spc="-47" dirty="0">
                <a:cs typeface="Times New Roman"/>
              </a:rPr>
              <a:t> </a:t>
            </a:r>
            <a:r>
              <a:rPr lang="en-US" b="1" spc="-13" dirty="0">
                <a:cs typeface="Times New Roman"/>
              </a:rPr>
              <a:t>(WARP)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CB3E3-E7D9-F950-12A0-F914EE465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8711"/>
          </a:xfrm>
        </p:spPr>
        <p:txBody>
          <a:bodyPr>
            <a:normAutofit/>
          </a:bodyPr>
          <a:lstStyle/>
          <a:p>
            <a:pPr marL="131233" indent="-342900">
              <a:spcBef>
                <a:spcPts val="133"/>
              </a:spcBef>
            </a:pPr>
            <a:r>
              <a:rPr lang="en-US" sz="2400" b="1" spc="-13" dirty="0">
                <a:solidFill>
                  <a:srgbClr val="2F2F2F"/>
                </a:solidFill>
                <a:cs typeface="Times New Roman"/>
              </a:rPr>
              <a:t>Advantages</a:t>
            </a:r>
            <a:endParaRPr lang="en-US" sz="2400" dirty="0">
              <a:cs typeface="Times New Roman"/>
            </a:endParaRPr>
          </a:p>
          <a:p>
            <a:pPr marL="625671" indent="-456342">
              <a:spcBef>
                <a:spcPts val="2027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F2F2F"/>
                </a:solidFill>
                <a:cs typeface="Times New Roman"/>
              </a:rPr>
              <a:t>Superior</a:t>
            </a:r>
            <a:r>
              <a:rPr lang="en-US" sz="2400" spc="-87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spc="-13" dirty="0">
                <a:solidFill>
                  <a:srgbClr val="2F2F2F"/>
                </a:solidFill>
                <a:cs typeface="Times New Roman"/>
              </a:rPr>
              <a:t>Performance</a:t>
            </a:r>
            <a:endParaRPr lang="en-US" sz="2400" dirty="0">
              <a:cs typeface="Times New Roman"/>
            </a:endParaRPr>
          </a:p>
          <a:p>
            <a:pPr marL="625671" indent="-456342">
              <a:spcBef>
                <a:spcPts val="433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F2F2F"/>
                </a:solidFill>
                <a:cs typeface="Times New Roman"/>
              </a:rPr>
              <a:t>Easy</a:t>
            </a:r>
            <a:r>
              <a:rPr lang="en-US" sz="2400" spc="-13" dirty="0">
                <a:solidFill>
                  <a:srgbClr val="2F2F2F"/>
                </a:solidFill>
                <a:cs typeface="Times New Roman"/>
              </a:rPr>
              <a:t> Operation</a:t>
            </a:r>
            <a:endParaRPr lang="en-US" sz="2400" dirty="0">
              <a:cs typeface="Times New Roman"/>
            </a:endParaRPr>
          </a:p>
          <a:p>
            <a:pPr marL="625671" indent="-456342">
              <a:spcBef>
                <a:spcPts val="433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F2F2F"/>
                </a:solidFill>
                <a:cs typeface="Times New Roman"/>
              </a:rPr>
              <a:t>Easy</a:t>
            </a:r>
            <a:r>
              <a:rPr lang="en-US" sz="2400" spc="-40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spc="-13" dirty="0">
                <a:solidFill>
                  <a:srgbClr val="2F2F2F"/>
                </a:solidFill>
                <a:cs typeface="Times New Roman"/>
              </a:rPr>
              <a:t>Maintenance</a:t>
            </a:r>
            <a:endParaRPr lang="en-US" sz="2400" dirty="0">
              <a:cs typeface="Times New Roman"/>
            </a:endParaRPr>
          </a:p>
          <a:p>
            <a:pPr marL="625671" indent="-456342">
              <a:spcBef>
                <a:spcPts val="433"/>
              </a:spcBef>
              <a:tabLst>
                <a:tab pos="625671" algn="l"/>
              </a:tabLst>
            </a:pPr>
            <a:r>
              <a:rPr lang="en-US" sz="2400" spc="-13" dirty="0">
                <a:solidFill>
                  <a:srgbClr val="2F2F2F"/>
                </a:solidFill>
                <a:cs typeface="Times New Roman"/>
              </a:rPr>
              <a:t>Reliability</a:t>
            </a:r>
            <a:endParaRPr lang="en-US" sz="2400" dirty="0">
              <a:cs typeface="Times New Roman"/>
            </a:endParaRPr>
          </a:p>
          <a:p>
            <a:pPr marL="625671" indent="-456342">
              <a:spcBef>
                <a:spcPts val="433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F2F2F"/>
                </a:solidFill>
                <a:cs typeface="Times New Roman"/>
              </a:rPr>
              <a:t>Needs</a:t>
            </a:r>
            <a:r>
              <a:rPr lang="en-US" sz="2400" spc="-20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Little</a:t>
            </a:r>
            <a:r>
              <a:rPr lang="en-US" sz="2400" spc="-20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Land</a:t>
            </a:r>
            <a:r>
              <a:rPr lang="en-US" sz="2400" spc="-27" dirty="0">
                <a:solidFill>
                  <a:srgbClr val="2F2F2F"/>
                </a:solidFill>
                <a:cs typeface="Times New Roman"/>
              </a:rPr>
              <a:t> Area</a:t>
            </a:r>
            <a:endParaRPr lang="en-US" sz="2400" dirty="0">
              <a:cs typeface="Times New Roman"/>
            </a:endParaRPr>
          </a:p>
          <a:p>
            <a:pPr marL="625671" indent="-456342">
              <a:spcBef>
                <a:spcPts val="433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F2F2F"/>
                </a:solidFill>
                <a:cs typeface="Times New Roman"/>
              </a:rPr>
              <a:t>Has</a:t>
            </a:r>
            <a:r>
              <a:rPr lang="en-US" sz="2400" spc="-40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Less</a:t>
            </a:r>
            <a:r>
              <a:rPr lang="en-US" sz="2400" spc="-3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spc="-13" dirty="0">
                <a:solidFill>
                  <a:srgbClr val="2F2F2F"/>
                </a:solidFill>
                <a:cs typeface="Times New Roman"/>
              </a:rPr>
              <a:t>Interference</a:t>
            </a:r>
            <a:endParaRPr lang="en-US" sz="2400" dirty="0">
              <a:cs typeface="Times New Roman"/>
            </a:endParaRPr>
          </a:p>
          <a:p>
            <a:pPr marL="131233" indent="-342900">
              <a:spcBef>
                <a:spcPts val="2033"/>
              </a:spcBef>
            </a:pPr>
            <a:r>
              <a:rPr lang="en-US" sz="2400" b="1" spc="-13" dirty="0">
                <a:solidFill>
                  <a:srgbClr val="2F2F2F"/>
                </a:solidFill>
                <a:cs typeface="Times New Roman"/>
              </a:rPr>
              <a:t>Disadvantages</a:t>
            </a:r>
            <a:endParaRPr lang="en-US" sz="2400" dirty="0">
              <a:cs typeface="Times New Roman"/>
            </a:endParaRPr>
          </a:p>
          <a:p>
            <a:pPr marL="625671" indent="-456342">
              <a:spcBef>
                <a:spcPts val="2033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F2F2F"/>
                </a:solidFill>
                <a:cs typeface="Times New Roman"/>
              </a:rPr>
              <a:t>High</a:t>
            </a:r>
            <a:r>
              <a:rPr lang="en-US" sz="2400" spc="-27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Installation</a:t>
            </a:r>
            <a:r>
              <a:rPr lang="en-US" sz="2400" spc="-67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spc="-13" dirty="0">
                <a:solidFill>
                  <a:srgbClr val="2F2F2F"/>
                </a:solidFill>
                <a:cs typeface="Times New Roman"/>
              </a:rPr>
              <a:t>Costs</a:t>
            </a:r>
            <a:endParaRPr lang="en-US" sz="2400" dirty="0">
              <a:cs typeface="Times New Roman"/>
            </a:endParaRPr>
          </a:p>
          <a:p>
            <a:pPr marL="625671" indent="-456342">
              <a:spcBef>
                <a:spcPts val="433"/>
              </a:spcBef>
              <a:tabLst>
                <a:tab pos="625671" algn="l"/>
              </a:tabLst>
            </a:pPr>
            <a:r>
              <a:rPr lang="en-US" sz="2400" dirty="0">
                <a:solidFill>
                  <a:srgbClr val="2F2F2F"/>
                </a:solidFill>
                <a:cs typeface="Times New Roman"/>
              </a:rPr>
              <a:t>Not</a:t>
            </a:r>
            <a:r>
              <a:rPr lang="en-US" sz="2400" spc="-40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Economically</a:t>
            </a:r>
            <a:r>
              <a:rPr lang="en-US" sz="2400" spc="-60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Feasible</a:t>
            </a:r>
            <a:r>
              <a:rPr lang="en-US" sz="2400" spc="-5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For</a:t>
            </a:r>
            <a:r>
              <a:rPr lang="en-US" sz="2400" spc="-27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Small</a:t>
            </a:r>
            <a:r>
              <a:rPr lang="en-US" sz="2400" spc="-3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rgbClr val="2F2F2F"/>
                </a:solidFill>
                <a:cs typeface="Times New Roman"/>
              </a:rPr>
              <a:t>Power</a:t>
            </a:r>
            <a:r>
              <a:rPr lang="en-US" sz="2400" spc="-33" dirty="0">
                <a:solidFill>
                  <a:srgbClr val="2F2F2F"/>
                </a:solidFill>
                <a:cs typeface="Times New Roman"/>
              </a:rPr>
              <a:t> </a:t>
            </a:r>
            <a:r>
              <a:rPr lang="en-US" sz="2400" spc="-13" dirty="0">
                <a:solidFill>
                  <a:srgbClr val="2F2F2F"/>
                </a:solidFill>
                <a:cs typeface="Times New Roman"/>
              </a:rPr>
              <a:t>Applications</a:t>
            </a:r>
            <a:endParaRPr lang="en-US" sz="2400" dirty="0"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Toroidal Rotor Amplifier Platform (TARP)</vt:lpstr>
      <vt:lpstr>Toroidal Rotor Amplifier Platform (TARP)</vt:lpstr>
      <vt:lpstr>Toroidal Rotor Amplifier Platform (TARP)</vt:lpstr>
      <vt:lpstr>Advantages of TARP</vt:lpstr>
      <vt:lpstr>Wind amplified rotor platform (WARP)</vt:lpstr>
      <vt:lpstr>PowerPoint Presentation</vt:lpstr>
      <vt:lpstr>Wind amplified rotor platform (WARP)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2026-01-14T03:59:44Z</dcterms:created>
  <dcterms:modified xsi:type="dcterms:W3CDTF">2026-01-14T04:00:25Z</dcterms:modified>
</cp:coreProperties>
</file>