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23" r:id="rId3"/>
    <p:sldId id="324" r:id="rId4"/>
    <p:sldId id="316" r:id="rId5"/>
    <p:sldId id="318" r:id="rId6"/>
    <p:sldId id="260" r:id="rId7"/>
    <p:sldId id="320" r:id="rId8"/>
    <p:sldId id="325" r:id="rId9"/>
    <p:sldId id="326" r:id="rId10"/>
    <p:sldId id="327" r:id="rId11"/>
    <p:sldId id="328" r:id="rId12"/>
    <p:sldId id="330" r:id="rId13"/>
    <p:sldId id="33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773A-551F-B849-94DC-1CF0C2705D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1FAC449-52FD-7C47-F6F2-72DB9E1FF4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D8D4EE-4240-BC12-EB87-14D978CF8510}"/>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3F66BF40-BA21-E0C8-6E78-891DC5AC10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257A5D-0805-E311-EEED-59D76640B2B4}"/>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3970796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7766-2425-E75A-2BFD-59FE276C2C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F2B388-0C70-47C2-2EA8-BB6F6EE0C2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63EAB7-46C0-D5E8-7528-0CDE2301F347}"/>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698D3BAC-63F1-03D4-E8F1-94107A4671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AD7F72-CFB1-A911-809F-12F67D083CEC}"/>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1555098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BFFBC-5560-C139-A6F9-89F7E67548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7415C0-AFD0-35E1-BF5A-E3E4DA6CE1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A67A6F-0F52-098A-EFFA-E4FE71230D3B}"/>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5E0DC0B6-5DE7-85F6-A927-6A88A3800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48C77E-B839-50E2-78FB-4627CAA703CA}"/>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3573971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C4842-EDEE-8AD1-F054-44A190CB1E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F27ECAA-D8DC-AB97-3A90-F0CDF5A642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5EBE5F-A10F-98D4-36A4-6269CE891D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4742DD-1DAB-44BB-E388-949212E2C7AC}"/>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6" name="Footer Placeholder 5">
            <a:extLst>
              <a:ext uri="{FF2B5EF4-FFF2-40B4-BE49-F238E27FC236}">
                <a16:creationId xmlns:a16="http://schemas.microsoft.com/office/drawing/2014/main" id="{23923AEC-A05F-2FE0-D1C5-CB0F4C58C1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BD5426-A30B-ACF8-5B22-B3814804F11A}"/>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3181402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58B3F-0C7C-3400-EDF8-3D73C05205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914122-D1E7-1242-3D99-8D6BEB2687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315CEF-341D-2979-6CCE-B99C3EBB49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4FA7792-63FC-8BC9-DFE6-F1767F7ED6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02988E-E9A8-FA36-FEF7-8BDBEC3AFE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C3F0B0-A214-41EE-DB34-37C311E29135}"/>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8" name="Footer Placeholder 7">
            <a:extLst>
              <a:ext uri="{FF2B5EF4-FFF2-40B4-BE49-F238E27FC236}">
                <a16:creationId xmlns:a16="http://schemas.microsoft.com/office/drawing/2014/main" id="{70C84E04-D5BC-B19D-56C4-3A55A4F024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4BF904B-CE1D-B2DC-3484-5FA7D1C11FC2}"/>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1168769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EAB9-84ED-0089-D990-C640259A22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50E692-A0D6-C72B-204B-BF3D23B143A3}"/>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4" name="Footer Placeholder 3">
            <a:extLst>
              <a:ext uri="{FF2B5EF4-FFF2-40B4-BE49-F238E27FC236}">
                <a16:creationId xmlns:a16="http://schemas.microsoft.com/office/drawing/2014/main" id="{733F9CD7-7FB9-B879-BFFB-F31291258A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FC4A4F-CF50-42DC-D8EF-7B0708C2E992}"/>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2861160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8132E-FD37-C256-46B0-F9C663830459}"/>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3" name="Footer Placeholder 2">
            <a:extLst>
              <a:ext uri="{FF2B5EF4-FFF2-40B4-BE49-F238E27FC236}">
                <a16:creationId xmlns:a16="http://schemas.microsoft.com/office/drawing/2014/main" id="{EAF005B4-ED60-CA96-C26E-2FD6C65F63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909E32-4DF9-749B-179F-4694F9FF76D1}"/>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3131173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82EC-25FE-111F-F8ED-DC9F646537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583730-9974-7600-66A6-D6ED7CAEDD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F365EF-61E1-79E6-F02B-B4D3C24446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9115EF-4258-7650-3749-78F9BFD30A24}"/>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6" name="Footer Placeholder 5">
            <a:extLst>
              <a:ext uri="{FF2B5EF4-FFF2-40B4-BE49-F238E27FC236}">
                <a16:creationId xmlns:a16="http://schemas.microsoft.com/office/drawing/2014/main" id="{900B1D0E-E75E-7950-17D5-3908AAD687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40F324-1E31-3D12-C4CD-B2E4B5DDB529}"/>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53023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10C28-A81D-D256-D59B-44C86E2DDA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78EF381-076D-DEFA-CA56-E030F8C6D2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B5B32D-22CC-ABF1-3C1A-3C31547701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31D1F-751E-DCC8-5817-D30D04488B5F}"/>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6" name="Footer Placeholder 5">
            <a:extLst>
              <a:ext uri="{FF2B5EF4-FFF2-40B4-BE49-F238E27FC236}">
                <a16:creationId xmlns:a16="http://schemas.microsoft.com/office/drawing/2014/main" id="{11E33989-5BA9-B562-F253-8F64C44132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D7D4B7-7AE7-0E79-4537-5B0D65FE58FB}"/>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1793379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83F85-571B-53DF-F44E-395A22D045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8F6596C-9125-C07D-F5E5-199E6A4A68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E781FE-B6ED-141E-B20D-131CBD66A461}"/>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F7C5EB89-6C98-D934-C2CE-CAF7C31449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184897-76F2-F2A3-82DE-3AB78FA1A3DF}"/>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278578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CF6FE5-0800-29E0-B80C-1D813E179B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B7C443-1E28-3034-B4B3-02AA75AF5B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724E6D-3D31-67B8-CEF3-309E27C56CDB}"/>
              </a:ext>
            </a:extLst>
          </p:cNvPr>
          <p:cNvSpPr>
            <a:spLocks noGrp="1"/>
          </p:cNvSpPr>
          <p:nvPr>
            <p:ph type="dt" sz="half" idx="10"/>
          </p:nvPr>
        </p:nvSpPr>
        <p:spPr/>
        <p:txBody>
          <a:body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2219EACE-2DBE-94A8-E0EF-4E4E1EF8EC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5516B0-D8D5-7F0E-DBE6-FB4B11ACC3B1}"/>
              </a:ext>
            </a:extLst>
          </p:cNvPr>
          <p:cNvSpPr>
            <a:spLocks noGrp="1"/>
          </p:cNvSpPr>
          <p:nvPr>
            <p:ph type="sldNum" sz="quarter" idx="12"/>
          </p:nvPr>
        </p:nvSpPr>
        <p:spPr/>
        <p:txBody>
          <a:bodyPr/>
          <a:lstStyle/>
          <a:p>
            <a:fld id="{213EC8CE-774B-4069-B539-583A9368AF9C}" type="slidenum">
              <a:rPr lang="en-IN" smtClean="0"/>
              <a:t>‹#›</a:t>
            </a:fld>
            <a:endParaRPr lang="en-IN"/>
          </a:p>
        </p:txBody>
      </p:sp>
    </p:spTree>
    <p:extLst>
      <p:ext uri="{BB962C8B-B14F-4D97-AF65-F5344CB8AC3E}">
        <p14:creationId xmlns:p14="http://schemas.microsoft.com/office/powerpoint/2010/main" val="2819369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00D25C-88F2-FB87-3FE8-8203502E49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BC555E-40A3-1D83-B74D-3FC039977F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F14DB4-840A-B6B2-C41A-E855FD72E5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4C489F-4358-433A-BCF4-161126CD53FC}" type="datetimeFigureOut">
              <a:rPr lang="en-IN" smtClean="0"/>
              <a:t>07-01-2026</a:t>
            </a:fld>
            <a:endParaRPr lang="en-IN"/>
          </a:p>
        </p:txBody>
      </p:sp>
      <p:sp>
        <p:nvSpPr>
          <p:cNvPr id="5" name="Footer Placeholder 4">
            <a:extLst>
              <a:ext uri="{FF2B5EF4-FFF2-40B4-BE49-F238E27FC236}">
                <a16:creationId xmlns:a16="http://schemas.microsoft.com/office/drawing/2014/main" id="{72E410FC-49AB-0D0A-88B6-499A0896AA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E181544-1196-BB14-1EB1-7B375688F1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EC8CE-774B-4069-B539-583A9368AF9C}" type="slidenum">
              <a:rPr lang="en-IN" smtClean="0"/>
              <a:t>‹#›</a:t>
            </a:fld>
            <a:endParaRPr lang="en-IN"/>
          </a:p>
        </p:txBody>
      </p:sp>
    </p:spTree>
    <p:extLst>
      <p:ext uri="{BB962C8B-B14F-4D97-AF65-F5344CB8AC3E}">
        <p14:creationId xmlns:p14="http://schemas.microsoft.com/office/powerpoint/2010/main" val="4282386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A254-C517-B12D-9BAF-09040D787E2D}"/>
              </a:ext>
            </a:extLst>
          </p:cNvPr>
          <p:cNvSpPr>
            <a:spLocks noGrp="1"/>
          </p:cNvSpPr>
          <p:nvPr>
            <p:ph type="title"/>
          </p:nvPr>
        </p:nvSpPr>
        <p:spPr/>
        <p:txBody>
          <a:bodyPr/>
          <a:lstStyle/>
          <a:p>
            <a:pPr algn="ctr"/>
            <a:r>
              <a:rPr lang="en-IN" b="1" dirty="0"/>
              <a:t>Module III</a:t>
            </a:r>
            <a:br>
              <a:rPr lang="en-IN" b="1" dirty="0"/>
            </a:br>
            <a:r>
              <a:rPr lang="en-IN" b="1" dirty="0"/>
              <a:t>Wind Energy</a:t>
            </a:r>
          </a:p>
        </p:txBody>
      </p:sp>
      <p:sp>
        <p:nvSpPr>
          <p:cNvPr id="3" name="Content Placeholder 2">
            <a:extLst>
              <a:ext uri="{FF2B5EF4-FFF2-40B4-BE49-F238E27FC236}">
                <a16:creationId xmlns:a16="http://schemas.microsoft.com/office/drawing/2014/main" id="{A689EF80-B870-ED2A-1E46-2D22D718CE7D}"/>
              </a:ext>
            </a:extLst>
          </p:cNvPr>
          <p:cNvSpPr>
            <a:spLocks noGrp="1"/>
          </p:cNvSpPr>
          <p:nvPr>
            <p:ph idx="1"/>
          </p:nvPr>
        </p:nvSpPr>
        <p:spPr/>
        <p:txBody>
          <a:bodyPr>
            <a:normAutofit/>
          </a:bodyPr>
          <a:lstStyle/>
          <a:p>
            <a:r>
              <a:rPr lang="en-IN" sz="2400" dirty="0">
                <a:cs typeface="Times New Roman" panose="02020603050405020304" pitchFamily="18" charset="0"/>
              </a:rPr>
              <a:t>Sources and potentials, Evaluation of Wind Intensity, Topography</a:t>
            </a:r>
          </a:p>
          <a:p>
            <a:r>
              <a:rPr lang="en-IN" sz="2400" dirty="0">
                <a:cs typeface="Times New Roman" panose="02020603050405020304" pitchFamily="18" charset="0"/>
              </a:rPr>
              <a:t>General Classification of Wind Turbines-Rotor Turbines, Multiple-Blade Turbines, Drag Turbines, Lifting Turbines</a:t>
            </a:r>
          </a:p>
          <a:p>
            <a:r>
              <a:rPr lang="en-IN" sz="2400" dirty="0">
                <a:cs typeface="Times New Roman" panose="02020603050405020304" pitchFamily="18" charset="0"/>
              </a:rPr>
              <a:t>Toroidal Rotor Amplifier Platform (TARP)–Wind amplified rotor platform (WARP)</a:t>
            </a:r>
          </a:p>
          <a:p>
            <a:r>
              <a:rPr lang="en-IN" sz="2400" dirty="0">
                <a:cs typeface="Times New Roman" panose="02020603050405020304" pitchFamily="18" charset="0"/>
              </a:rPr>
              <a:t>Generators and speed control used in wind power energy  </a:t>
            </a:r>
          </a:p>
          <a:p>
            <a:r>
              <a:rPr lang="en-IN" sz="2400" dirty="0">
                <a:cs typeface="Times New Roman" panose="02020603050405020304" pitchFamily="18" charset="0"/>
              </a:rPr>
              <a:t>SCIG and DFIG, Synchronous Generator-external magnetized, Synchronous Generator-permanent magnets</a:t>
            </a:r>
          </a:p>
          <a:p>
            <a:r>
              <a:rPr lang="en-US" sz="2400" dirty="0">
                <a:cs typeface="Times New Roman" panose="02020603050405020304" pitchFamily="18" charset="0"/>
              </a:rPr>
              <a:t>Speed control used in wind power energy, Fixed speed with capacitor bank, Rotor resistance control</a:t>
            </a:r>
            <a:endParaRPr lang="en-IN" sz="2400" dirty="0">
              <a:cs typeface="Times New Roman" panose="02020603050405020304" pitchFamily="18" charset="0"/>
            </a:endParaRPr>
          </a:p>
        </p:txBody>
      </p:sp>
    </p:spTree>
    <p:extLst>
      <p:ext uri="{BB962C8B-B14F-4D97-AF65-F5344CB8AC3E}">
        <p14:creationId xmlns:p14="http://schemas.microsoft.com/office/powerpoint/2010/main" val="1198064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86C7D-089D-D6F9-64E1-5DEAE4188890}"/>
              </a:ext>
            </a:extLst>
          </p:cNvPr>
          <p:cNvSpPr>
            <a:spLocks noGrp="1"/>
          </p:cNvSpPr>
          <p:nvPr>
            <p:ph type="title"/>
          </p:nvPr>
        </p:nvSpPr>
        <p:spPr/>
        <p:txBody>
          <a:bodyPr/>
          <a:lstStyle/>
          <a:p>
            <a:r>
              <a:rPr lang="en-IN" b="1" dirty="0">
                <a:latin typeface="+mn-lt"/>
                <a:cs typeface="Times New Roman"/>
              </a:rPr>
              <a:t>Wind</a:t>
            </a:r>
            <a:r>
              <a:rPr lang="en-IN" b="1" spc="-60" dirty="0">
                <a:latin typeface="+mn-lt"/>
                <a:cs typeface="Times New Roman"/>
              </a:rPr>
              <a:t> </a:t>
            </a:r>
            <a:r>
              <a:rPr lang="en-IN" b="1" dirty="0">
                <a:latin typeface="+mn-lt"/>
                <a:cs typeface="Times New Roman"/>
              </a:rPr>
              <a:t>Energy:</a:t>
            </a:r>
            <a:r>
              <a:rPr lang="en-IN" b="1" spc="-60" dirty="0">
                <a:latin typeface="+mn-lt"/>
                <a:cs typeface="Times New Roman"/>
              </a:rPr>
              <a:t> </a:t>
            </a:r>
            <a:r>
              <a:rPr lang="en-IN" b="1" spc="-13" dirty="0">
                <a:latin typeface="+mn-lt"/>
                <a:cs typeface="Times New Roman"/>
              </a:rPr>
              <a:t>Sources</a:t>
            </a:r>
            <a:endParaRPr lang="en-IN" dirty="0">
              <a:latin typeface="+mn-lt"/>
            </a:endParaRPr>
          </a:p>
        </p:txBody>
      </p:sp>
      <p:sp>
        <p:nvSpPr>
          <p:cNvPr id="3" name="Content Placeholder 2">
            <a:extLst>
              <a:ext uri="{FF2B5EF4-FFF2-40B4-BE49-F238E27FC236}">
                <a16:creationId xmlns:a16="http://schemas.microsoft.com/office/drawing/2014/main" id="{D6C51417-C4B5-39D2-D5D7-3D3B4EB7E3AF}"/>
              </a:ext>
            </a:extLst>
          </p:cNvPr>
          <p:cNvSpPr>
            <a:spLocks noGrp="1"/>
          </p:cNvSpPr>
          <p:nvPr>
            <p:ph idx="1"/>
          </p:nvPr>
        </p:nvSpPr>
        <p:spPr/>
        <p:txBody>
          <a:bodyPr>
            <a:normAutofit/>
          </a:bodyPr>
          <a:lstStyle/>
          <a:p>
            <a:r>
              <a:rPr lang="en-US" dirty="0">
                <a:cs typeface="Times New Roman" panose="02020603050405020304" pitchFamily="18" charset="0"/>
              </a:rPr>
              <a:t>Wind energy is a converted form of solar energy. </a:t>
            </a:r>
          </a:p>
          <a:p>
            <a:r>
              <a:rPr lang="en-US" dirty="0">
                <a:cs typeface="Times New Roman" panose="02020603050405020304" pitchFamily="18" charset="0"/>
              </a:rPr>
              <a:t>Wind is the motion of air masses produced by the irregular heating of the earth’s surface by sun. These differences consequently create forces that push air masses around for balancing the global temperature or, on a much smaller scale, the temperature between land and sea or between mountains. </a:t>
            </a:r>
          </a:p>
          <a:p>
            <a:pPr lvl="1"/>
            <a:r>
              <a:rPr lang="en-US" dirty="0">
                <a:cs typeface="Times New Roman" panose="02020603050405020304" pitchFamily="18" charset="0"/>
              </a:rPr>
              <a:t>Wind energy is the kinetic energy associated with movement of large masses of air. </a:t>
            </a:r>
          </a:p>
          <a:p>
            <a:pPr lvl="1"/>
            <a:r>
              <a:rPr lang="en-US" dirty="0">
                <a:cs typeface="Times New Roman" panose="02020603050405020304" pitchFamily="18" charset="0"/>
              </a:rPr>
              <a:t>These motions result from uneven heating of atmosphere by the sun, creating temperature, density and pressure differences. </a:t>
            </a:r>
          </a:p>
          <a:p>
            <a:endParaRPr lang="en-IN" dirty="0">
              <a:cs typeface="Times New Roman" panose="02020603050405020304" pitchFamily="18" charset="0"/>
            </a:endParaRPr>
          </a:p>
        </p:txBody>
      </p:sp>
    </p:spTree>
    <p:extLst>
      <p:ext uri="{BB962C8B-B14F-4D97-AF65-F5344CB8AC3E}">
        <p14:creationId xmlns:p14="http://schemas.microsoft.com/office/powerpoint/2010/main" val="1272480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01B5-B810-9F1A-9019-69AB70B6C4A0}"/>
              </a:ext>
            </a:extLst>
          </p:cNvPr>
          <p:cNvSpPr>
            <a:spLocks noGrp="1"/>
          </p:cNvSpPr>
          <p:nvPr>
            <p:ph type="title"/>
          </p:nvPr>
        </p:nvSpPr>
        <p:spPr/>
        <p:txBody>
          <a:bodyPr/>
          <a:lstStyle/>
          <a:p>
            <a:r>
              <a:rPr lang="en-IN" b="1" dirty="0">
                <a:latin typeface="+mn-lt"/>
                <a:cs typeface="Times New Roman"/>
              </a:rPr>
              <a:t>Wind</a:t>
            </a:r>
            <a:r>
              <a:rPr lang="en-IN" b="1" spc="-60" dirty="0">
                <a:latin typeface="+mn-lt"/>
                <a:cs typeface="Times New Roman"/>
              </a:rPr>
              <a:t> </a:t>
            </a:r>
            <a:r>
              <a:rPr lang="en-IN" b="1" dirty="0">
                <a:latin typeface="+mn-lt"/>
                <a:cs typeface="Times New Roman"/>
              </a:rPr>
              <a:t>Energy:</a:t>
            </a:r>
            <a:r>
              <a:rPr lang="en-IN" b="1" spc="-60" dirty="0">
                <a:latin typeface="+mn-lt"/>
                <a:cs typeface="Times New Roman"/>
              </a:rPr>
              <a:t> </a:t>
            </a:r>
            <a:r>
              <a:rPr lang="en-IN" b="1" spc="-13" dirty="0">
                <a:latin typeface="+mn-lt"/>
                <a:cs typeface="Times New Roman"/>
              </a:rPr>
              <a:t>Sources</a:t>
            </a:r>
            <a:endParaRPr lang="en-IN" dirty="0">
              <a:latin typeface="+mn-lt"/>
            </a:endParaRPr>
          </a:p>
        </p:txBody>
      </p:sp>
      <p:sp>
        <p:nvSpPr>
          <p:cNvPr id="3" name="Content Placeholder 2">
            <a:extLst>
              <a:ext uri="{FF2B5EF4-FFF2-40B4-BE49-F238E27FC236}">
                <a16:creationId xmlns:a16="http://schemas.microsoft.com/office/drawing/2014/main" id="{0100EFDC-02F3-B8B4-6354-53C0AA1EF402}"/>
              </a:ext>
            </a:extLst>
          </p:cNvPr>
          <p:cNvSpPr>
            <a:spLocks noGrp="1"/>
          </p:cNvSpPr>
          <p:nvPr>
            <p:ph idx="1"/>
          </p:nvPr>
        </p:nvSpPr>
        <p:spPr>
          <a:xfrm>
            <a:off x="838200" y="1825625"/>
            <a:ext cx="10800522" cy="4351338"/>
          </a:xfrm>
        </p:spPr>
        <p:txBody>
          <a:bodyPr>
            <a:normAutofit/>
          </a:bodyPr>
          <a:lstStyle/>
          <a:p>
            <a:pPr marL="0" indent="0">
              <a:buNone/>
            </a:pPr>
            <a:r>
              <a:rPr lang="en-US" sz="2400" b="1" dirty="0">
                <a:cs typeface="Times New Roman"/>
              </a:rPr>
              <a:t>Global</a:t>
            </a:r>
            <a:r>
              <a:rPr lang="en-US" sz="2400" b="1" spc="-60" dirty="0">
                <a:cs typeface="Times New Roman"/>
              </a:rPr>
              <a:t> </a:t>
            </a:r>
            <a:r>
              <a:rPr lang="en-US" sz="2400" b="1" spc="-13" dirty="0">
                <a:cs typeface="Times New Roman"/>
              </a:rPr>
              <a:t>Winds</a:t>
            </a:r>
            <a:endParaRPr lang="en-US" sz="2400" dirty="0">
              <a:cs typeface="Times New Roman"/>
            </a:endParaRPr>
          </a:p>
          <a:p>
            <a:pPr marL="625671" indent="-440256">
              <a:buFont typeface="Times New Roman"/>
              <a:buChar char="●"/>
              <a:tabLst>
                <a:tab pos="625671" algn="l"/>
              </a:tabLst>
            </a:pPr>
            <a:r>
              <a:rPr lang="en-US" sz="2400" b="1" dirty="0">
                <a:cs typeface="Times New Roman"/>
              </a:rPr>
              <a:t>Global</a:t>
            </a:r>
            <a:r>
              <a:rPr lang="en-US" sz="2400" b="1" spc="-20" dirty="0">
                <a:cs typeface="Times New Roman"/>
              </a:rPr>
              <a:t> </a:t>
            </a:r>
            <a:r>
              <a:rPr lang="en-US" sz="2400" b="1" dirty="0">
                <a:cs typeface="Times New Roman"/>
              </a:rPr>
              <a:t>winds</a:t>
            </a:r>
            <a:r>
              <a:rPr lang="en-US" sz="2400" b="1" spc="-53" dirty="0">
                <a:cs typeface="Times New Roman"/>
              </a:rPr>
              <a:t> </a:t>
            </a:r>
            <a:r>
              <a:rPr lang="en-US" sz="2400" dirty="0">
                <a:cs typeface="Times New Roman"/>
              </a:rPr>
              <a:t>are</a:t>
            </a:r>
            <a:r>
              <a:rPr lang="en-US" sz="2400" spc="-27" dirty="0">
                <a:cs typeface="Times New Roman"/>
              </a:rPr>
              <a:t> </a:t>
            </a:r>
            <a:r>
              <a:rPr lang="en-US" sz="2400" dirty="0">
                <a:cs typeface="Times New Roman"/>
              </a:rPr>
              <a:t>winds</a:t>
            </a:r>
            <a:r>
              <a:rPr lang="en-US" sz="2400" spc="-47" dirty="0">
                <a:cs typeface="Times New Roman"/>
              </a:rPr>
              <a:t> </a:t>
            </a:r>
            <a:r>
              <a:rPr lang="en-US" sz="2400" dirty="0">
                <a:cs typeface="Times New Roman"/>
              </a:rPr>
              <a:t>that</a:t>
            </a:r>
            <a:r>
              <a:rPr lang="en-US" sz="2400" spc="-13" dirty="0">
                <a:cs typeface="Times New Roman"/>
              </a:rPr>
              <a:t> </a:t>
            </a:r>
            <a:r>
              <a:rPr lang="en-US" sz="2400" dirty="0">
                <a:cs typeface="Times New Roman"/>
              </a:rPr>
              <a:t>occur</a:t>
            </a:r>
            <a:r>
              <a:rPr lang="en-US" sz="2400" spc="-33" dirty="0">
                <a:cs typeface="Times New Roman"/>
              </a:rPr>
              <a:t> </a:t>
            </a:r>
            <a:r>
              <a:rPr lang="en-US" sz="2400" dirty="0">
                <a:cs typeface="Times New Roman"/>
              </a:rPr>
              <a:t>in</a:t>
            </a:r>
            <a:r>
              <a:rPr lang="en-US" sz="2400" spc="-20" dirty="0">
                <a:cs typeface="Times New Roman"/>
              </a:rPr>
              <a:t> </a:t>
            </a:r>
            <a:r>
              <a:rPr lang="en-US" sz="2400" dirty="0">
                <a:cs typeface="Times New Roman"/>
              </a:rPr>
              <a:t>belts</a:t>
            </a:r>
            <a:r>
              <a:rPr lang="en-US" sz="2400" spc="-27" dirty="0">
                <a:cs typeface="Times New Roman"/>
              </a:rPr>
              <a:t> </a:t>
            </a:r>
            <a:r>
              <a:rPr lang="en-US" sz="2400" dirty="0">
                <a:cs typeface="Times New Roman"/>
              </a:rPr>
              <a:t>that</a:t>
            </a:r>
            <a:r>
              <a:rPr lang="en-US" sz="2400" spc="-33" dirty="0">
                <a:cs typeface="Times New Roman"/>
              </a:rPr>
              <a:t> </a:t>
            </a:r>
            <a:r>
              <a:rPr lang="en-US" sz="2400" dirty="0">
                <a:cs typeface="Times New Roman"/>
              </a:rPr>
              <a:t>go</a:t>
            </a:r>
            <a:r>
              <a:rPr lang="en-US" sz="2400" spc="-33" dirty="0">
                <a:cs typeface="Times New Roman"/>
              </a:rPr>
              <a:t> </a:t>
            </a:r>
            <a:r>
              <a:rPr lang="en-US" sz="2400" dirty="0">
                <a:cs typeface="Times New Roman"/>
              </a:rPr>
              <a:t>all</a:t>
            </a:r>
            <a:r>
              <a:rPr lang="en-US" sz="2400" spc="-20" dirty="0">
                <a:cs typeface="Times New Roman"/>
              </a:rPr>
              <a:t> </a:t>
            </a:r>
            <a:r>
              <a:rPr lang="en-US" sz="2400" dirty="0">
                <a:cs typeface="Times New Roman"/>
              </a:rPr>
              <a:t>around</a:t>
            </a:r>
            <a:r>
              <a:rPr lang="en-US" sz="2400" spc="-33" dirty="0">
                <a:cs typeface="Times New Roman"/>
              </a:rPr>
              <a:t> </a:t>
            </a:r>
            <a:r>
              <a:rPr lang="en-US" sz="2400" dirty="0">
                <a:cs typeface="Times New Roman"/>
              </a:rPr>
              <a:t>the</a:t>
            </a:r>
            <a:r>
              <a:rPr lang="en-US" sz="2400" spc="-33" dirty="0">
                <a:cs typeface="Times New Roman"/>
              </a:rPr>
              <a:t> </a:t>
            </a:r>
            <a:r>
              <a:rPr lang="en-US" sz="2400" spc="-13" dirty="0">
                <a:cs typeface="Times New Roman"/>
              </a:rPr>
              <a:t>planet.</a:t>
            </a:r>
          </a:p>
          <a:p>
            <a:pPr marL="625671" indent="-440256">
              <a:buFont typeface="Times New Roman"/>
              <a:buChar char="●"/>
              <a:tabLst>
                <a:tab pos="625671" algn="l"/>
              </a:tabLst>
            </a:pPr>
            <a:r>
              <a:rPr lang="en-US" sz="2400" dirty="0">
                <a:cs typeface="Times New Roman"/>
              </a:rPr>
              <a:t>Two</a:t>
            </a:r>
            <a:r>
              <a:rPr lang="en-US" sz="2400" spc="-53" dirty="0">
                <a:cs typeface="Times New Roman"/>
              </a:rPr>
              <a:t> </a:t>
            </a:r>
            <a:r>
              <a:rPr lang="en-US" sz="2400" dirty="0">
                <a:cs typeface="Times New Roman"/>
              </a:rPr>
              <a:t>major</a:t>
            </a:r>
            <a:r>
              <a:rPr lang="en-US" sz="2400" spc="7" dirty="0">
                <a:cs typeface="Times New Roman"/>
              </a:rPr>
              <a:t> </a:t>
            </a:r>
            <a:r>
              <a:rPr lang="en-US" sz="2400" dirty="0">
                <a:cs typeface="Times New Roman"/>
              </a:rPr>
              <a:t>forces</a:t>
            </a:r>
            <a:r>
              <a:rPr lang="en-US" sz="2400" spc="-47" dirty="0">
                <a:cs typeface="Times New Roman"/>
              </a:rPr>
              <a:t> </a:t>
            </a:r>
            <a:r>
              <a:rPr lang="en-US" sz="2400" dirty="0">
                <a:cs typeface="Times New Roman"/>
              </a:rPr>
              <a:t>determine</a:t>
            </a:r>
            <a:r>
              <a:rPr lang="en-US" sz="2400" spc="20" dirty="0">
                <a:cs typeface="Times New Roman"/>
              </a:rPr>
              <a:t> </a:t>
            </a:r>
            <a:r>
              <a:rPr lang="en-US" sz="2400" dirty="0">
                <a:cs typeface="Times New Roman"/>
              </a:rPr>
              <a:t>the</a:t>
            </a:r>
            <a:r>
              <a:rPr lang="en-US" sz="2400" spc="-47" dirty="0">
                <a:cs typeface="Times New Roman"/>
              </a:rPr>
              <a:t> </a:t>
            </a:r>
            <a:r>
              <a:rPr lang="en-US" sz="2400" dirty="0">
                <a:cs typeface="Times New Roman"/>
              </a:rPr>
              <a:t>speed</a:t>
            </a:r>
            <a:r>
              <a:rPr lang="en-US" sz="2400" spc="-60" dirty="0">
                <a:cs typeface="Times New Roman"/>
              </a:rPr>
              <a:t> </a:t>
            </a:r>
            <a:r>
              <a:rPr lang="en-US" sz="2400" dirty="0">
                <a:cs typeface="Times New Roman"/>
              </a:rPr>
              <a:t>and</a:t>
            </a:r>
            <a:r>
              <a:rPr lang="en-US" sz="2400" spc="-40" dirty="0">
                <a:cs typeface="Times New Roman"/>
              </a:rPr>
              <a:t> </a:t>
            </a:r>
            <a:r>
              <a:rPr lang="en-US" sz="2400" dirty="0">
                <a:cs typeface="Times New Roman"/>
              </a:rPr>
              <a:t>direction</a:t>
            </a:r>
            <a:r>
              <a:rPr lang="en-US" sz="2400" spc="-20" dirty="0">
                <a:cs typeface="Times New Roman"/>
              </a:rPr>
              <a:t> </a:t>
            </a:r>
            <a:r>
              <a:rPr lang="en-US" sz="2400" dirty="0">
                <a:cs typeface="Times New Roman"/>
              </a:rPr>
              <a:t>of</a:t>
            </a:r>
            <a:r>
              <a:rPr lang="en-US" sz="2400" spc="-47" dirty="0">
                <a:cs typeface="Times New Roman"/>
              </a:rPr>
              <a:t> </a:t>
            </a:r>
            <a:r>
              <a:rPr lang="en-US" sz="2400" dirty="0">
                <a:cs typeface="Times New Roman"/>
              </a:rPr>
              <a:t>wind</a:t>
            </a:r>
            <a:r>
              <a:rPr lang="en-US" sz="2400" spc="-40" dirty="0">
                <a:cs typeface="Times New Roman"/>
              </a:rPr>
              <a:t> </a:t>
            </a:r>
            <a:r>
              <a:rPr lang="en-US" sz="2400" dirty="0">
                <a:cs typeface="Times New Roman"/>
              </a:rPr>
              <a:t>on</a:t>
            </a:r>
            <a:r>
              <a:rPr lang="en-US" sz="2400" spc="-73" dirty="0">
                <a:cs typeface="Times New Roman"/>
              </a:rPr>
              <a:t> </a:t>
            </a:r>
            <a:r>
              <a:rPr lang="en-US" sz="2400" dirty="0">
                <a:cs typeface="Times New Roman"/>
              </a:rPr>
              <a:t>global</a:t>
            </a:r>
            <a:r>
              <a:rPr lang="en-US" sz="2400" spc="-53" dirty="0">
                <a:cs typeface="Times New Roman"/>
              </a:rPr>
              <a:t> </a:t>
            </a:r>
            <a:r>
              <a:rPr lang="en-US" sz="2400" spc="-13" dirty="0">
                <a:cs typeface="Times New Roman"/>
              </a:rPr>
              <a:t>basis.</a:t>
            </a:r>
            <a:endParaRPr lang="en-US" sz="2400" dirty="0">
              <a:cs typeface="Times New Roman"/>
            </a:endParaRPr>
          </a:p>
          <a:p>
            <a:pPr marL="699766" marR="177796" indent="-514350">
              <a:lnSpc>
                <a:spcPct val="150000"/>
              </a:lnSpc>
              <a:spcBef>
                <a:spcPts val="1607"/>
              </a:spcBef>
              <a:buFont typeface="+mj-lt"/>
              <a:buAutoNum type="arabicPeriod"/>
              <a:tabLst>
                <a:tab pos="626518" algn="l"/>
              </a:tabLst>
            </a:pPr>
            <a:r>
              <a:rPr lang="en-US" sz="2400" dirty="0">
                <a:cs typeface="Times New Roman"/>
              </a:rPr>
              <a:t>Primary</a:t>
            </a:r>
            <a:r>
              <a:rPr lang="en-US" sz="2400" spc="7" dirty="0">
                <a:cs typeface="Times New Roman"/>
              </a:rPr>
              <a:t> </a:t>
            </a:r>
            <a:r>
              <a:rPr lang="en-US" sz="2400" dirty="0">
                <a:cs typeface="Times New Roman"/>
              </a:rPr>
              <a:t>force</a:t>
            </a:r>
            <a:r>
              <a:rPr lang="en-US" sz="2400" spc="-60" dirty="0">
                <a:cs typeface="Times New Roman"/>
              </a:rPr>
              <a:t> </a:t>
            </a:r>
            <a:r>
              <a:rPr lang="en-US" sz="2400" dirty="0">
                <a:cs typeface="Times New Roman"/>
              </a:rPr>
              <a:t>for</a:t>
            </a:r>
            <a:r>
              <a:rPr lang="en-US" sz="2400" spc="-47" dirty="0">
                <a:cs typeface="Times New Roman"/>
              </a:rPr>
              <a:t> </a:t>
            </a:r>
            <a:r>
              <a:rPr lang="en-US" sz="2400" dirty="0">
                <a:cs typeface="Times New Roman"/>
              </a:rPr>
              <a:t>global</a:t>
            </a:r>
            <a:r>
              <a:rPr lang="en-US" sz="2400" spc="-40" dirty="0">
                <a:cs typeface="Times New Roman"/>
              </a:rPr>
              <a:t> </a:t>
            </a:r>
            <a:r>
              <a:rPr lang="en-US" sz="2400" dirty="0">
                <a:cs typeface="Times New Roman"/>
              </a:rPr>
              <a:t>winds</a:t>
            </a:r>
            <a:r>
              <a:rPr lang="en-US" sz="2400" spc="-60" dirty="0">
                <a:cs typeface="Times New Roman"/>
              </a:rPr>
              <a:t> </a:t>
            </a:r>
            <a:r>
              <a:rPr lang="en-US" sz="2400" dirty="0">
                <a:cs typeface="Times New Roman"/>
              </a:rPr>
              <a:t>is</a:t>
            </a:r>
            <a:r>
              <a:rPr lang="en-US" sz="2400" spc="-33" dirty="0">
                <a:cs typeface="Times New Roman"/>
              </a:rPr>
              <a:t> </a:t>
            </a:r>
            <a:r>
              <a:rPr lang="en-US" sz="2400" dirty="0">
                <a:cs typeface="Times New Roman"/>
              </a:rPr>
              <a:t>developed</a:t>
            </a:r>
            <a:r>
              <a:rPr lang="en-US" sz="2400" spc="-53" dirty="0">
                <a:cs typeface="Times New Roman"/>
              </a:rPr>
              <a:t> </a:t>
            </a:r>
            <a:r>
              <a:rPr lang="en-US" sz="2400" dirty="0">
                <a:cs typeface="Times New Roman"/>
              </a:rPr>
              <a:t>due</a:t>
            </a:r>
            <a:r>
              <a:rPr lang="en-US" sz="2400" spc="-53" dirty="0">
                <a:cs typeface="Times New Roman"/>
              </a:rPr>
              <a:t> </a:t>
            </a:r>
            <a:r>
              <a:rPr lang="en-US" sz="2400" dirty="0">
                <a:cs typeface="Times New Roman"/>
              </a:rPr>
              <a:t>to</a:t>
            </a:r>
            <a:r>
              <a:rPr lang="en-US" sz="2400" spc="-53" dirty="0">
                <a:cs typeface="Times New Roman"/>
              </a:rPr>
              <a:t> </a:t>
            </a:r>
            <a:r>
              <a:rPr lang="en-US" sz="2400" b="1" dirty="0">
                <a:cs typeface="Times New Roman"/>
              </a:rPr>
              <a:t>differential heating</a:t>
            </a:r>
            <a:r>
              <a:rPr lang="en-US" sz="2400" b="1" spc="-40" dirty="0">
                <a:cs typeface="Times New Roman"/>
              </a:rPr>
              <a:t> </a:t>
            </a:r>
            <a:r>
              <a:rPr lang="en-US" sz="2400" b="1" dirty="0">
                <a:cs typeface="Times New Roman"/>
              </a:rPr>
              <a:t>of</a:t>
            </a:r>
            <a:r>
              <a:rPr lang="en-US" sz="2400" b="1" spc="-40" dirty="0">
                <a:cs typeface="Times New Roman"/>
              </a:rPr>
              <a:t> </a:t>
            </a:r>
            <a:r>
              <a:rPr lang="en-US" sz="2400" b="1" dirty="0">
                <a:cs typeface="Times New Roman"/>
              </a:rPr>
              <a:t>earth</a:t>
            </a:r>
            <a:r>
              <a:rPr lang="en-US" sz="2400" b="1" spc="-27" dirty="0">
                <a:cs typeface="Times New Roman"/>
              </a:rPr>
              <a:t> </a:t>
            </a:r>
            <a:r>
              <a:rPr lang="en-US" sz="2400" b="1" dirty="0">
                <a:cs typeface="Times New Roman"/>
              </a:rPr>
              <a:t>at</a:t>
            </a:r>
            <a:r>
              <a:rPr lang="en-US" sz="2400" b="1" spc="-40" dirty="0">
                <a:cs typeface="Times New Roman"/>
              </a:rPr>
              <a:t> </a:t>
            </a:r>
            <a:r>
              <a:rPr lang="en-US" sz="2400" b="1" dirty="0">
                <a:cs typeface="Times New Roman"/>
              </a:rPr>
              <a:t>equator</a:t>
            </a:r>
            <a:r>
              <a:rPr lang="en-US" sz="2400" b="1" spc="-53" dirty="0">
                <a:cs typeface="Times New Roman"/>
              </a:rPr>
              <a:t> </a:t>
            </a:r>
            <a:r>
              <a:rPr lang="en-US" sz="2400" b="1" spc="-33" dirty="0">
                <a:cs typeface="Times New Roman"/>
              </a:rPr>
              <a:t>and </a:t>
            </a:r>
            <a:r>
              <a:rPr lang="en-US" sz="2400" b="1" dirty="0">
                <a:cs typeface="Times New Roman"/>
              </a:rPr>
              <a:t>Polar</a:t>
            </a:r>
            <a:r>
              <a:rPr lang="en-US" sz="2400" b="1" spc="-27" dirty="0">
                <a:cs typeface="Times New Roman"/>
              </a:rPr>
              <a:t> </a:t>
            </a:r>
            <a:r>
              <a:rPr lang="en-US" sz="2400" b="1" spc="-13" dirty="0">
                <a:cs typeface="Times New Roman"/>
              </a:rPr>
              <a:t>regions.</a:t>
            </a:r>
            <a:endParaRPr lang="en-US" sz="2400" b="1" dirty="0">
              <a:cs typeface="Times New Roman"/>
            </a:endParaRPr>
          </a:p>
          <a:p>
            <a:pPr marL="1083718" marR="60112" lvl="1" indent="-441102">
              <a:lnSpc>
                <a:spcPct val="150000"/>
              </a:lnSpc>
              <a:buChar char="●"/>
              <a:tabLst>
                <a:tab pos="626518" algn="l"/>
              </a:tabLst>
            </a:pPr>
            <a:r>
              <a:rPr lang="en-US" sz="2000" dirty="0">
                <a:cs typeface="Times New Roman"/>
              </a:rPr>
              <a:t>In</a:t>
            </a:r>
            <a:r>
              <a:rPr lang="en-US" sz="2000" spc="-33" dirty="0">
                <a:cs typeface="Times New Roman"/>
              </a:rPr>
              <a:t> </a:t>
            </a:r>
            <a:r>
              <a:rPr lang="en-US" sz="2000" dirty="0">
                <a:cs typeface="Times New Roman"/>
              </a:rPr>
              <a:t>the</a:t>
            </a:r>
            <a:r>
              <a:rPr lang="en-US" sz="2000" spc="-27" dirty="0">
                <a:cs typeface="Times New Roman"/>
              </a:rPr>
              <a:t> </a:t>
            </a:r>
            <a:r>
              <a:rPr lang="en-US" sz="2000" dirty="0">
                <a:cs typeface="Times New Roman"/>
              </a:rPr>
              <a:t>tropical</a:t>
            </a:r>
            <a:r>
              <a:rPr lang="en-US" sz="2000" spc="-20" dirty="0">
                <a:cs typeface="Times New Roman"/>
              </a:rPr>
              <a:t> </a:t>
            </a:r>
            <a:r>
              <a:rPr lang="en-US" sz="2000" dirty="0">
                <a:cs typeface="Times New Roman"/>
              </a:rPr>
              <a:t>regions</a:t>
            </a:r>
            <a:r>
              <a:rPr lang="en-US" sz="2000" spc="-20" dirty="0">
                <a:cs typeface="Times New Roman"/>
              </a:rPr>
              <a:t> </a:t>
            </a:r>
            <a:r>
              <a:rPr lang="en-US" sz="2000" dirty="0">
                <a:cs typeface="Times New Roman"/>
              </a:rPr>
              <a:t>there</a:t>
            </a:r>
            <a:r>
              <a:rPr lang="en-US" sz="2000" spc="-7" dirty="0">
                <a:cs typeface="Times New Roman"/>
              </a:rPr>
              <a:t> </a:t>
            </a:r>
            <a:r>
              <a:rPr lang="en-US" sz="2000" dirty="0">
                <a:cs typeface="Times New Roman"/>
              </a:rPr>
              <a:t>is</a:t>
            </a:r>
            <a:r>
              <a:rPr lang="en-US" sz="2000" spc="-40" dirty="0">
                <a:cs typeface="Times New Roman"/>
              </a:rPr>
              <a:t> </a:t>
            </a:r>
            <a:r>
              <a:rPr lang="en-US" sz="2000" dirty="0">
                <a:cs typeface="Times New Roman"/>
              </a:rPr>
              <a:t>net</a:t>
            </a:r>
            <a:r>
              <a:rPr lang="en-US" sz="2000" spc="-33" dirty="0">
                <a:cs typeface="Times New Roman"/>
              </a:rPr>
              <a:t> </a:t>
            </a:r>
            <a:r>
              <a:rPr lang="en-US" sz="2000" dirty="0">
                <a:cs typeface="Times New Roman"/>
              </a:rPr>
              <a:t>gain</a:t>
            </a:r>
            <a:r>
              <a:rPr lang="en-US" sz="2000" spc="-20" dirty="0">
                <a:cs typeface="Times New Roman"/>
              </a:rPr>
              <a:t> </a:t>
            </a:r>
            <a:r>
              <a:rPr lang="en-US" sz="2000" dirty="0">
                <a:cs typeface="Times New Roman"/>
              </a:rPr>
              <a:t>of</a:t>
            </a:r>
            <a:r>
              <a:rPr lang="en-US" sz="2000" spc="-33" dirty="0">
                <a:cs typeface="Times New Roman"/>
              </a:rPr>
              <a:t> </a:t>
            </a:r>
            <a:r>
              <a:rPr lang="en-US" sz="2000" dirty="0">
                <a:cs typeface="Times New Roman"/>
              </a:rPr>
              <a:t>heat</a:t>
            </a:r>
            <a:r>
              <a:rPr lang="en-US" sz="2000" spc="-27" dirty="0">
                <a:cs typeface="Times New Roman"/>
              </a:rPr>
              <a:t> </a:t>
            </a:r>
            <a:r>
              <a:rPr lang="en-US" sz="2000" dirty="0">
                <a:cs typeface="Times New Roman"/>
              </a:rPr>
              <a:t>due</a:t>
            </a:r>
            <a:r>
              <a:rPr lang="en-US" sz="2000" spc="-40" dirty="0">
                <a:cs typeface="Times New Roman"/>
              </a:rPr>
              <a:t> </a:t>
            </a:r>
            <a:r>
              <a:rPr lang="en-US" sz="2000" dirty="0">
                <a:cs typeface="Times New Roman"/>
              </a:rPr>
              <a:t>to</a:t>
            </a:r>
            <a:r>
              <a:rPr lang="en-US" sz="2000" spc="-40" dirty="0">
                <a:cs typeface="Times New Roman"/>
              </a:rPr>
              <a:t> </a:t>
            </a:r>
            <a:r>
              <a:rPr lang="en-US" sz="2000" dirty="0">
                <a:cs typeface="Times New Roman"/>
              </a:rPr>
              <a:t>sun</a:t>
            </a:r>
            <a:r>
              <a:rPr lang="en-US" sz="2000" spc="-40" dirty="0">
                <a:cs typeface="Times New Roman"/>
              </a:rPr>
              <a:t> </a:t>
            </a:r>
            <a:r>
              <a:rPr lang="en-US" sz="2000" dirty="0">
                <a:cs typeface="Times New Roman"/>
              </a:rPr>
              <a:t>rays, whereas</a:t>
            </a:r>
            <a:r>
              <a:rPr lang="en-US" sz="2000" spc="-7" dirty="0">
                <a:cs typeface="Times New Roman"/>
              </a:rPr>
              <a:t> </a:t>
            </a:r>
            <a:r>
              <a:rPr lang="en-US" sz="2000" dirty="0">
                <a:cs typeface="Times New Roman"/>
              </a:rPr>
              <a:t>in</a:t>
            </a:r>
            <a:r>
              <a:rPr lang="en-US" sz="2000" spc="-40" dirty="0">
                <a:cs typeface="Times New Roman"/>
              </a:rPr>
              <a:t> </a:t>
            </a:r>
            <a:r>
              <a:rPr lang="en-US" sz="2000" dirty="0">
                <a:cs typeface="Times New Roman"/>
              </a:rPr>
              <a:t>the</a:t>
            </a:r>
            <a:r>
              <a:rPr lang="en-US" sz="2000" spc="-27" dirty="0">
                <a:cs typeface="Times New Roman"/>
              </a:rPr>
              <a:t> </a:t>
            </a:r>
            <a:r>
              <a:rPr lang="en-US" sz="2000" dirty="0">
                <a:cs typeface="Times New Roman"/>
              </a:rPr>
              <a:t>Polar</a:t>
            </a:r>
            <a:r>
              <a:rPr lang="en-US" sz="2000" spc="-13" dirty="0">
                <a:cs typeface="Times New Roman"/>
              </a:rPr>
              <a:t> </a:t>
            </a:r>
            <a:r>
              <a:rPr lang="en-US" sz="2000" dirty="0">
                <a:cs typeface="Times New Roman"/>
              </a:rPr>
              <a:t>Regions</a:t>
            </a:r>
            <a:r>
              <a:rPr lang="en-US" sz="2000" spc="-60" dirty="0">
                <a:cs typeface="Times New Roman"/>
              </a:rPr>
              <a:t> </a:t>
            </a:r>
            <a:r>
              <a:rPr lang="en-US" sz="2000" spc="-13" dirty="0">
                <a:cs typeface="Times New Roman"/>
              </a:rPr>
              <a:t>there </a:t>
            </a:r>
            <a:r>
              <a:rPr lang="en-US" sz="2000" dirty="0">
                <a:cs typeface="Times New Roman"/>
              </a:rPr>
              <a:t>is</a:t>
            </a:r>
            <a:r>
              <a:rPr lang="en-US" sz="2000" spc="-13" dirty="0">
                <a:cs typeface="Times New Roman"/>
              </a:rPr>
              <a:t> </a:t>
            </a:r>
            <a:r>
              <a:rPr lang="en-US" sz="2000" dirty="0">
                <a:cs typeface="Times New Roman"/>
              </a:rPr>
              <a:t>net</a:t>
            </a:r>
            <a:r>
              <a:rPr lang="en-US" sz="2000" spc="-13" dirty="0">
                <a:cs typeface="Times New Roman"/>
              </a:rPr>
              <a:t> </a:t>
            </a:r>
            <a:r>
              <a:rPr lang="en-US" sz="2000" dirty="0">
                <a:cs typeface="Times New Roman"/>
              </a:rPr>
              <a:t>loss</a:t>
            </a:r>
            <a:r>
              <a:rPr lang="en-US" sz="2000" spc="-27" dirty="0">
                <a:cs typeface="Times New Roman"/>
              </a:rPr>
              <a:t> </a:t>
            </a:r>
            <a:r>
              <a:rPr lang="en-US" sz="2000" dirty="0">
                <a:cs typeface="Times New Roman"/>
              </a:rPr>
              <a:t>of</a:t>
            </a:r>
            <a:r>
              <a:rPr lang="en-US" sz="2000" spc="-13" dirty="0">
                <a:cs typeface="Times New Roman"/>
              </a:rPr>
              <a:t> heat.</a:t>
            </a:r>
            <a:endParaRPr lang="en-US" sz="2000" dirty="0">
              <a:cs typeface="Times New Roman"/>
            </a:endParaRPr>
          </a:p>
          <a:p>
            <a:pPr marL="1082871" lvl="1" indent="-440256">
              <a:spcBef>
                <a:spcPts val="1280"/>
              </a:spcBef>
              <a:buChar char="●"/>
              <a:tabLst>
                <a:tab pos="625671" algn="l"/>
              </a:tabLst>
            </a:pPr>
            <a:r>
              <a:rPr lang="en-US" sz="2000" dirty="0">
                <a:cs typeface="Times New Roman"/>
              </a:rPr>
              <a:t>Thus,</a:t>
            </a:r>
            <a:r>
              <a:rPr lang="en-US" sz="2000" spc="-67" dirty="0">
                <a:cs typeface="Times New Roman"/>
              </a:rPr>
              <a:t> </a:t>
            </a:r>
            <a:r>
              <a:rPr lang="en-US" sz="2000" dirty="0">
                <a:cs typeface="Times New Roman"/>
              </a:rPr>
              <a:t>earth’s</a:t>
            </a:r>
            <a:r>
              <a:rPr lang="en-US" sz="2000" spc="-27" dirty="0">
                <a:cs typeface="Times New Roman"/>
              </a:rPr>
              <a:t> </a:t>
            </a:r>
            <a:r>
              <a:rPr lang="en-US" sz="2000" dirty="0">
                <a:cs typeface="Times New Roman"/>
              </a:rPr>
              <a:t>atmosphere</a:t>
            </a:r>
            <a:r>
              <a:rPr lang="en-US" sz="2000" spc="7" dirty="0">
                <a:cs typeface="Times New Roman"/>
              </a:rPr>
              <a:t> </a:t>
            </a:r>
            <a:r>
              <a:rPr lang="en-US" sz="2000" dirty="0">
                <a:cs typeface="Times New Roman"/>
              </a:rPr>
              <a:t>has</a:t>
            </a:r>
            <a:r>
              <a:rPr lang="en-US" sz="2000" spc="-67" dirty="0">
                <a:cs typeface="Times New Roman"/>
              </a:rPr>
              <a:t> </a:t>
            </a:r>
            <a:r>
              <a:rPr lang="en-US" sz="2000" dirty="0">
                <a:cs typeface="Times New Roman"/>
              </a:rPr>
              <a:t>to</a:t>
            </a:r>
            <a:r>
              <a:rPr lang="en-US" sz="2000" spc="-47" dirty="0">
                <a:cs typeface="Times New Roman"/>
              </a:rPr>
              <a:t> </a:t>
            </a:r>
            <a:r>
              <a:rPr lang="en-US" sz="2000" dirty="0">
                <a:cs typeface="Times New Roman"/>
              </a:rPr>
              <a:t>circulate</a:t>
            </a:r>
            <a:r>
              <a:rPr lang="en-US" sz="2000" spc="-13" dirty="0">
                <a:cs typeface="Times New Roman"/>
              </a:rPr>
              <a:t> </a:t>
            </a:r>
            <a:r>
              <a:rPr lang="en-US" sz="2000" dirty="0">
                <a:cs typeface="Times New Roman"/>
              </a:rPr>
              <a:t>to</a:t>
            </a:r>
            <a:r>
              <a:rPr lang="en-US" sz="2000" spc="-53" dirty="0">
                <a:cs typeface="Times New Roman"/>
              </a:rPr>
              <a:t> </a:t>
            </a:r>
            <a:r>
              <a:rPr lang="en-US" sz="2000" dirty="0">
                <a:cs typeface="Times New Roman"/>
              </a:rPr>
              <a:t>transport</a:t>
            </a:r>
            <a:r>
              <a:rPr lang="en-US" sz="2000" spc="-33" dirty="0">
                <a:cs typeface="Times New Roman"/>
              </a:rPr>
              <a:t> </a:t>
            </a:r>
            <a:r>
              <a:rPr lang="en-US" sz="2000" dirty="0">
                <a:cs typeface="Times New Roman"/>
              </a:rPr>
              <a:t>heat</a:t>
            </a:r>
            <a:r>
              <a:rPr lang="en-US" sz="2000" spc="-53" dirty="0">
                <a:cs typeface="Times New Roman"/>
              </a:rPr>
              <a:t> </a:t>
            </a:r>
            <a:r>
              <a:rPr lang="en-US" sz="2000" dirty="0">
                <a:cs typeface="Times New Roman"/>
              </a:rPr>
              <a:t>from</a:t>
            </a:r>
            <a:r>
              <a:rPr lang="en-US" sz="2000" spc="-40" dirty="0">
                <a:cs typeface="Times New Roman"/>
              </a:rPr>
              <a:t> </a:t>
            </a:r>
            <a:r>
              <a:rPr lang="en-US" sz="2000" dirty="0">
                <a:cs typeface="Times New Roman"/>
              </a:rPr>
              <a:t>tropics</a:t>
            </a:r>
            <a:r>
              <a:rPr lang="en-US" sz="2000" spc="-53" dirty="0">
                <a:cs typeface="Times New Roman"/>
              </a:rPr>
              <a:t> </a:t>
            </a:r>
            <a:r>
              <a:rPr lang="en-US" sz="2000" dirty="0">
                <a:cs typeface="Times New Roman"/>
              </a:rPr>
              <a:t>towards</a:t>
            </a:r>
            <a:r>
              <a:rPr lang="en-US" sz="2000" spc="-33" dirty="0">
                <a:cs typeface="Times New Roman"/>
              </a:rPr>
              <a:t> </a:t>
            </a:r>
            <a:r>
              <a:rPr lang="en-US" sz="2000" dirty="0">
                <a:cs typeface="Times New Roman"/>
              </a:rPr>
              <a:t>the</a:t>
            </a:r>
            <a:r>
              <a:rPr lang="en-US" sz="2000" spc="-53" dirty="0">
                <a:cs typeface="Times New Roman"/>
              </a:rPr>
              <a:t> </a:t>
            </a:r>
            <a:r>
              <a:rPr lang="en-US" sz="2000" spc="-13" dirty="0">
                <a:cs typeface="Times New Roman"/>
              </a:rPr>
              <a:t>poles.</a:t>
            </a:r>
            <a:endParaRPr lang="en-US" sz="2000" dirty="0">
              <a:cs typeface="Times New Roman"/>
            </a:endParaRPr>
          </a:p>
        </p:txBody>
      </p:sp>
    </p:spTree>
    <p:extLst>
      <p:ext uri="{BB962C8B-B14F-4D97-AF65-F5344CB8AC3E}">
        <p14:creationId xmlns:p14="http://schemas.microsoft.com/office/powerpoint/2010/main" val="2579118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6E55-73B9-3C3B-46C1-F7BFE0ECF7DB}"/>
              </a:ext>
            </a:extLst>
          </p:cNvPr>
          <p:cNvSpPr>
            <a:spLocks noGrp="1"/>
          </p:cNvSpPr>
          <p:nvPr>
            <p:ph type="title"/>
          </p:nvPr>
        </p:nvSpPr>
        <p:spPr/>
        <p:txBody>
          <a:bodyPr/>
          <a:lstStyle/>
          <a:p>
            <a:r>
              <a:rPr lang="en-IN" b="1" dirty="0">
                <a:latin typeface="+mn-lt"/>
                <a:cs typeface="Times New Roman"/>
              </a:rPr>
              <a:t>Wind</a:t>
            </a:r>
            <a:r>
              <a:rPr lang="en-IN" b="1" spc="-60" dirty="0">
                <a:latin typeface="+mn-lt"/>
                <a:cs typeface="Times New Roman"/>
              </a:rPr>
              <a:t> </a:t>
            </a:r>
            <a:r>
              <a:rPr lang="en-IN" b="1" dirty="0">
                <a:latin typeface="+mn-lt"/>
                <a:cs typeface="Times New Roman"/>
              </a:rPr>
              <a:t>Energy:</a:t>
            </a:r>
            <a:r>
              <a:rPr lang="en-IN" b="1" spc="-60" dirty="0">
                <a:latin typeface="+mn-lt"/>
                <a:cs typeface="Times New Roman"/>
              </a:rPr>
              <a:t> </a:t>
            </a:r>
            <a:r>
              <a:rPr lang="en-IN" b="1" spc="-13" dirty="0">
                <a:latin typeface="+mn-lt"/>
                <a:cs typeface="Times New Roman"/>
              </a:rPr>
              <a:t>Sources</a:t>
            </a:r>
            <a:endParaRPr lang="en-IN" dirty="0">
              <a:latin typeface="+mn-lt"/>
            </a:endParaRPr>
          </a:p>
        </p:txBody>
      </p:sp>
      <p:sp>
        <p:nvSpPr>
          <p:cNvPr id="3" name="Content Placeholder 2">
            <a:extLst>
              <a:ext uri="{FF2B5EF4-FFF2-40B4-BE49-F238E27FC236}">
                <a16:creationId xmlns:a16="http://schemas.microsoft.com/office/drawing/2014/main" id="{B4DB9A50-AE08-B733-E7BD-B38ED6D31B2B}"/>
              </a:ext>
            </a:extLst>
          </p:cNvPr>
          <p:cNvSpPr>
            <a:spLocks noGrp="1"/>
          </p:cNvSpPr>
          <p:nvPr>
            <p:ph sz="half" idx="1"/>
          </p:nvPr>
        </p:nvSpPr>
        <p:spPr>
          <a:xfrm>
            <a:off x="838199" y="1690688"/>
            <a:ext cx="6317975" cy="4486275"/>
          </a:xfrm>
        </p:spPr>
        <p:txBody>
          <a:bodyPr>
            <a:noAutofit/>
          </a:bodyPr>
          <a:lstStyle/>
          <a:p>
            <a:pPr marL="531283" indent="-514350">
              <a:lnSpc>
                <a:spcPct val="120000"/>
              </a:lnSpc>
              <a:spcBef>
                <a:spcPts val="0"/>
              </a:spcBef>
              <a:buFont typeface="+mj-lt"/>
              <a:buAutoNum type="arabicPeriod" startAt="2"/>
              <a:tabLst>
                <a:tab pos="473275" algn="l"/>
              </a:tabLst>
            </a:pPr>
            <a:r>
              <a:rPr lang="en-US" sz="2000" b="1" dirty="0">
                <a:cs typeface="Times New Roman"/>
              </a:rPr>
              <a:t>Spinning</a:t>
            </a:r>
            <a:r>
              <a:rPr lang="en-US" sz="2000" b="1" spc="140" dirty="0">
                <a:cs typeface="Times New Roman"/>
              </a:rPr>
              <a:t> </a:t>
            </a:r>
            <a:r>
              <a:rPr lang="en-US" sz="2000" b="1" dirty="0">
                <a:cs typeface="Times New Roman"/>
              </a:rPr>
              <a:t>of</a:t>
            </a:r>
            <a:r>
              <a:rPr lang="en-US" sz="2000" b="1" spc="107" dirty="0">
                <a:cs typeface="Times New Roman"/>
              </a:rPr>
              <a:t> </a:t>
            </a:r>
            <a:r>
              <a:rPr lang="en-US" sz="2000" b="1" dirty="0">
                <a:cs typeface="Times New Roman"/>
              </a:rPr>
              <a:t>earth</a:t>
            </a:r>
            <a:r>
              <a:rPr lang="en-US" sz="2000" b="1" spc="127" dirty="0">
                <a:cs typeface="Times New Roman"/>
              </a:rPr>
              <a:t> </a:t>
            </a:r>
            <a:r>
              <a:rPr lang="en-US" sz="2000" b="1" dirty="0">
                <a:cs typeface="Times New Roman"/>
              </a:rPr>
              <a:t>about</a:t>
            </a:r>
            <a:r>
              <a:rPr lang="en-US" sz="2000" b="1" spc="140" dirty="0">
                <a:cs typeface="Times New Roman"/>
              </a:rPr>
              <a:t> </a:t>
            </a:r>
            <a:r>
              <a:rPr lang="en-US" sz="2000" b="1" dirty="0">
                <a:cs typeface="Times New Roman"/>
              </a:rPr>
              <a:t>its</a:t>
            </a:r>
            <a:r>
              <a:rPr lang="en-US" sz="2000" b="1" spc="140" dirty="0">
                <a:cs typeface="Times New Roman"/>
              </a:rPr>
              <a:t> </a:t>
            </a:r>
            <a:r>
              <a:rPr lang="en-US" sz="2000" b="1" dirty="0">
                <a:cs typeface="Times New Roman"/>
              </a:rPr>
              <a:t>axis</a:t>
            </a:r>
            <a:r>
              <a:rPr lang="en-US" sz="2000" b="1" spc="133" dirty="0">
                <a:cs typeface="Times New Roman"/>
              </a:rPr>
              <a:t> </a:t>
            </a:r>
            <a:r>
              <a:rPr lang="en-US" sz="2000" b="1" dirty="0">
                <a:cs typeface="Times New Roman"/>
              </a:rPr>
              <a:t>produces</a:t>
            </a:r>
            <a:r>
              <a:rPr lang="en-US" sz="2000" b="1" spc="133" dirty="0">
                <a:cs typeface="Times New Roman"/>
              </a:rPr>
              <a:t> </a:t>
            </a:r>
            <a:r>
              <a:rPr lang="en-US" sz="2000" b="1" dirty="0">
                <a:cs typeface="Times New Roman"/>
              </a:rPr>
              <a:t>Coriolis</a:t>
            </a:r>
            <a:r>
              <a:rPr lang="en-US" sz="2000" b="1" spc="140" dirty="0">
                <a:cs typeface="Times New Roman"/>
              </a:rPr>
              <a:t> </a:t>
            </a:r>
            <a:r>
              <a:rPr lang="en-US" sz="2000" b="1" dirty="0">
                <a:cs typeface="Times New Roman"/>
              </a:rPr>
              <a:t>force</a:t>
            </a:r>
            <a:r>
              <a:rPr lang="en-US" sz="2000" dirty="0">
                <a:cs typeface="Times New Roman"/>
              </a:rPr>
              <a:t>,</a:t>
            </a:r>
            <a:r>
              <a:rPr lang="en-US" sz="2000" spc="133" dirty="0">
                <a:cs typeface="Times New Roman"/>
              </a:rPr>
              <a:t> </a:t>
            </a:r>
            <a:r>
              <a:rPr lang="en-US" sz="2000" dirty="0">
                <a:cs typeface="Times New Roman"/>
              </a:rPr>
              <a:t>which</a:t>
            </a:r>
            <a:r>
              <a:rPr lang="en-US" sz="2000" spc="147" dirty="0">
                <a:cs typeface="Times New Roman"/>
              </a:rPr>
              <a:t> </a:t>
            </a:r>
            <a:r>
              <a:rPr lang="en-US" sz="2000" dirty="0">
                <a:cs typeface="Times New Roman"/>
              </a:rPr>
              <a:t>is</a:t>
            </a:r>
            <a:r>
              <a:rPr lang="en-US" sz="2000" spc="127" dirty="0">
                <a:cs typeface="Times New Roman"/>
              </a:rPr>
              <a:t> </a:t>
            </a:r>
            <a:r>
              <a:rPr lang="en-US" sz="2000" dirty="0">
                <a:cs typeface="Times New Roman"/>
              </a:rPr>
              <a:t>responsible</a:t>
            </a:r>
            <a:r>
              <a:rPr lang="en-US" sz="2000" spc="133" dirty="0">
                <a:cs typeface="Times New Roman"/>
              </a:rPr>
              <a:t> </a:t>
            </a:r>
            <a:r>
              <a:rPr lang="en-US" sz="2000" spc="-33" dirty="0">
                <a:cs typeface="Times New Roman"/>
              </a:rPr>
              <a:t>for </a:t>
            </a:r>
            <a:r>
              <a:rPr lang="en-US" sz="2000" dirty="0">
                <a:cs typeface="Times New Roman"/>
              </a:rPr>
              <a:t>deviation</a:t>
            </a:r>
            <a:r>
              <a:rPr lang="en-US" sz="2000" spc="-60" dirty="0">
                <a:cs typeface="Times New Roman"/>
              </a:rPr>
              <a:t> </a:t>
            </a:r>
            <a:r>
              <a:rPr lang="en-US" sz="2000" dirty="0">
                <a:cs typeface="Times New Roman"/>
              </a:rPr>
              <a:t>of</a:t>
            </a:r>
            <a:r>
              <a:rPr lang="en-US" sz="2000" spc="-47" dirty="0">
                <a:cs typeface="Times New Roman"/>
              </a:rPr>
              <a:t> </a:t>
            </a:r>
            <a:r>
              <a:rPr lang="en-US" sz="2000" dirty="0">
                <a:cs typeface="Times New Roman"/>
              </a:rPr>
              <a:t>air</a:t>
            </a:r>
            <a:r>
              <a:rPr lang="en-US" sz="2000" spc="-47" dirty="0">
                <a:cs typeface="Times New Roman"/>
              </a:rPr>
              <a:t> </a:t>
            </a:r>
            <a:r>
              <a:rPr lang="en-US" sz="2000" dirty="0">
                <a:cs typeface="Times New Roman"/>
              </a:rPr>
              <a:t>currents</a:t>
            </a:r>
            <a:r>
              <a:rPr lang="en-US" sz="2000" spc="-47" dirty="0">
                <a:cs typeface="Times New Roman"/>
              </a:rPr>
              <a:t> </a:t>
            </a:r>
            <a:r>
              <a:rPr lang="en-US" sz="2000" dirty="0">
                <a:cs typeface="Times New Roman"/>
              </a:rPr>
              <a:t>towards</a:t>
            </a:r>
            <a:r>
              <a:rPr lang="en-US" sz="2000" spc="-33" dirty="0">
                <a:cs typeface="Times New Roman"/>
              </a:rPr>
              <a:t> </a:t>
            </a:r>
            <a:r>
              <a:rPr lang="en-US" sz="2000" spc="-13" dirty="0">
                <a:cs typeface="Times New Roman"/>
              </a:rPr>
              <a:t>west.</a:t>
            </a:r>
            <a:endParaRPr lang="en-US" sz="2000" dirty="0">
              <a:cs typeface="Times New Roman"/>
            </a:endParaRPr>
          </a:p>
          <a:p>
            <a:pPr marL="930475" marR="6773" lvl="1" indent="-457189">
              <a:lnSpc>
                <a:spcPct val="120000"/>
              </a:lnSpc>
              <a:spcBef>
                <a:spcPts val="0"/>
              </a:spcBef>
              <a:buChar char="●"/>
              <a:tabLst>
                <a:tab pos="473275" algn="l"/>
              </a:tabLst>
            </a:pPr>
            <a:r>
              <a:rPr lang="en-US" sz="2000" dirty="0">
                <a:cs typeface="Times New Roman"/>
              </a:rPr>
              <a:t>Between</a:t>
            </a:r>
            <a:r>
              <a:rPr lang="en-US" sz="2000" spc="113" dirty="0">
                <a:cs typeface="Times New Roman"/>
              </a:rPr>
              <a:t> </a:t>
            </a:r>
            <a:r>
              <a:rPr lang="en-US" sz="2000" dirty="0">
                <a:cs typeface="Times New Roman"/>
              </a:rPr>
              <a:t>30°N</a:t>
            </a:r>
            <a:r>
              <a:rPr lang="en-US" sz="2000" spc="113" dirty="0">
                <a:cs typeface="Times New Roman"/>
              </a:rPr>
              <a:t> </a:t>
            </a:r>
            <a:r>
              <a:rPr lang="en-US" sz="2000" dirty="0">
                <a:cs typeface="Times New Roman"/>
              </a:rPr>
              <a:t>and</a:t>
            </a:r>
            <a:r>
              <a:rPr lang="en-US" sz="2000" spc="113" dirty="0">
                <a:cs typeface="Times New Roman"/>
              </a:rPr>
              <a:t> </a:t>
            </a:r>
            <a:r>
              <a:rPr lang="en-US" sz="2000" dirty="0">
                <a:cs typeface="Times New Roman"/>
              </a:rPr>
              <a:t>30°S,</a:t>
            </a:r>
            <a:r>
              <a:rPr lang="en-US" sz="2000" spc="120" dirty="0">
                <a:cs typeface="Times New Roman"/>
              </a:rPr>
              <a:t> </a:t>
            </a:r>
            <a:r>
              <a:rPr lang="en-US" sz="2000" dirty="0">
                <a:cs typeface="Times New Roman"/>
              </a:rPr>
              <a:t>heated</a:t>
            </a:r>
            <a:r>
              <a:rPr lang="en-US" sz="2000" spc="107" dirty="0">
                <a:cs typeface="Times New Roman"/>
              </a:rPr>
              <a:t> </a:t>
            </a:r>
            <a:r>
              <a:rPr lang="en-US" sz="2000" dirty="0">
                <a:cs typeface="Times New Roman"/>
              </a:rPr>
              <a:t>air</a:t>
            </a:r>
            <a:r>
              <a:rPr lang="en-US" sz="2000" spc="120" dirty="0">
                <a:cs typeface="Times New Roman"/>
              </a:rPr>
              <a:t> </a:t>
            </a:r>
            <a:r>
              <a:rPr lang="en-US" sz="2000" dirty="0">
                <a:cs typeface="Times New Roman"/>
              </a:rPr>
              <a:t>at</a:t>
            </a:r>
            <a:r>
              <a:rPr lang="en-US" sz="2000" spc="107" dirty="0">
                <a:cs typeface="Times New Roman"/>
              </a:rPr>
              <a:t> </a:t>
            </a:r>
            <a:r>
              <a:rPr lang="en-US" sz="2000" dirty="0">
                <a:cs typeface="Times New Roman"/>
              </a:rPr>
              <a:t>the</a:t>
            </a:r>
            <a:r>
              <a:rPr lang="en-US" sz="2000" spc="127" dirty="0">
                <a:cs typeface="Times New Roman"/>
              </a:rPr>
              <a:t> </a:t>
            </a:r>
            <a:r>
              <a:rPr lang="en-US" sz="2000" dirty="0">
                <a:cs typeface="Times New Roman"/>
              </a:rPr>
              <a:t>equator</a:t>
            </a:r>
            <a:r>
              <a:rPr lang="en-US" sz="2000" spc="120" dirty="0">
                <a:cs typeface="Times New Roman"/>
              </a:rPr>
              <a:t> </a:t>
            </a:r>
            <a:r>
              <a:rPr lang="en-US" sz="2000" dirty="0">
                <a:cs typeface="Times New Roman"/>
              </a:rPr>
              <a:t>rises</a:t>
            </a:r>
            <a:r>
              <a:rPr lang="en-US" sz="2000" spc="120" dirty="0">
                <a:cs typeface="Times New Roman"/>
              </a:rPr>
              <a:t> </a:t>
            </a:r>
            <a:r>
              <a:rPr lang="en-US" sz="2000" dirty="0">
                <a:cs typeface="Times New Roman"/>
              </a:rPr>
              <a:t>and</a:t>
            </a:r>
            <a:r>
              <a:rPr lang="en-US" sz="2000" spc="120" dirty="0">
                <a:cs typeface="Times New Roman"/>
              </a:rPr>
              <a:t> </a:t>
            </a:r>
            <a:r>
              <a:rPr lang="en-US" sz="2000" dirty="0">
                <a:cs typeface="Times New Roman"/>
              </a:rPr>
              <a:t>is</a:t>
            </a:r>
            <a:r>
              <a:rPr lang="en-US" sz="2000" spc="107" dirty="0">
                <a:cs typeface="Times New Roman"/>
              </a:rPr>
              <a:t> </a:t>
            </a:r>
            <a:r>
              <a:rPr lang="en-US" sz="2000" dirty="0">
                <a:cs typeface="Times New Roman"/>
              </a:rPr>
              <a:t>replaced</a:t>
            </a:r>
            <a:r>
              <a:rPr lang="en-US" sz="2000" spc="120" dirty="0">
                <a:cs typeface="Times New Roman"/>
              </a:rPr>
              <a:t> </a:t>
            </a:r>
            <a:r>
              <a:rPr lang="en-US" sz="2000" dirty="0">
                <a:cs typeface="Times New Roman"/>
              </a:rPr>
              <a:t>by</a:t>
            </a:r>
            <a:r>
              <a:rPr lang="en-US" sz="2000" spc="113" dirty="0">
                <a:cs typeface="Times New Roman"/>
              </a:rPr>
              <a:t> </a:t>
            </a:r>
            <a:r>
              <a:rPr lang="en-US" sz="2000" dirty="0">
                <a:cs typeface="Times New Roman"/>
              </a:rPr>
              <a:t>cooler</a:t>
            </a:r>
            <a:r>
              <a:rPr lang="en-US" sz="2000" spc="100" dirty="0">
                <a:cs typeface="Times New Roman"/>
              </a:rPr>
              <a:t> </a:t>
            </a:r>
            <a:r>
              <a:rPr lang="en-US" sz="2000" spc="-33" dirty="0">
                <a:cs typeface="Times New Roman"/>
              </a:rPr>
              <a:t>air </a:t>
            </a:r>
            <a:r>
              <a:rPr lang="en-US" sz="2000" dirty="0">
                <a:cs typeface="Times New Roman"/>
              </a:rPr>
              <a:t>coming</a:t>
            </a:r>
            <a:r>
              <a:rPr lang="en-US" sz="2000" spc="-60" dirty="0">
                <a:cs typeface="Times New Roman"/>
              </a:rPr>
              <a:t> </a:t>
            </a:r>
            <a:r>
              <a:rPr lang="en-US" sz="2000" dirty="0">
                <a:cs typeface="Times New Roman"/>
              </a:rPr>
              <a:t>from</a:t>
            </a:r>
            <a:r>
              <a:rPr lang="en-US" sz="2000" spc="-40" dirty="0">
                <a:cs typeface="Times New Roman"/>
              </a:rPr>
              <a:t> </a:t>
            </a:r>
            <a:r>
              <a:rPr lang="en-US" sz="2000" dirty="0">
                <a:cs typeface="Times New Roman"/>
              </a:rPr>
              <a:t>north</a:t>
            </a:r>
            <a:r>
              <a:rPr lang="en-US" sz="2000" spc="-53" dirty="0">
                <a:cs typeface="Times New Roman"/>
              </a:rPr>
              <a:t> </a:t>
            </a:r>
            <a:r>
              <a:rPr lang="en-US" sz="2000" dirty="0">
                <a:cs typeface="Times New Roman"/>
              </a:rPr>
              <a:t>and</a:t>
            </a:r>
            <a:r>
              <a:rPr lang="en-US" sz="2000" spc="-53" dirty="0">
                <a:cs typeface="Times New Roman"/>
              </a:rPr>
              <a:t> </a:t>
            </a:r>
            <a:r>
              <a:rPr lang="en-US" sz="2000" dirty="0">
                <a:cs typeface="Times New Roman"/>
              </a:rPr>
              <a:t>south</a:t>
            </a:r>
            <a:r>
              <a:rPr lang="en-US" sz="2000" spc="-40" dirty="0">
                <a:cs typeface="Times New Roman"/>
              </a:rPr>
              <a:t> </a:t>
            </a:r>
            <a:r>
              <a:rPr lang="en-US" sz="2000" dirty="0">
                <a:cs typeface="Times New Roman"/>
              </a:rPr>
              <a:t>(Hadley</a:t>
            </a:r>
            <a:r>
              <a:rPr lang="en-US" sz="2000" spc="-60" dirty="0">
                <a:cs typeface="Times New Roman"/>
              </a:rPr>
              <a:t> </a:t>
            </a:r>
            <a:r>
              <a:rPr lang="en-US" sz="2000" spc="-13" dirty="0">
                <a:cs typeface="Times New Roman"/>
              </a:rPr>
              <a:t>circulation).</a:t>
            </a:r>
            <a:endParaRPr lang="en-US" sz="2000" dirty="0">
              <a:cs typeface="Times New Roman"/>
            </a:endParaRPr>
          </a:p>
          <a:p>
            <a:pPr marL="930475" lvl="1" indent="-456342">
              <a:lnSpc>
                <a:spcPct val="120000"/>
              </a:lnSpc>
              <a:spcBef>
                <a:spcPts val="0"/>
              </a:spcBef>
              <a:buChar char="●"/>
              <a:tabLst>
                <a:tab pos="473275" algn="l"/>
              </a:tabLst>
            </a:pPr>
            <a:r>
              <a:rPr lang="en-US" sz="2000" dirty="0">
                <a:cs typeface="Times New Roman"/>
              </a:rPr>
              <a:t>Between</a:t>
            </a:r>
            <a:r>
              <a:rPr lang="en-US" sz="2000" spc="-60" dirty="0">
                <a:cs typeface="Times New Roman"/>
              </a:rPr>
              <a:t> </a:t>
            </a:r>
            <a:r>
              <a:rPr lang="en-US" sz="2000" dirty="0">
                <a:cs typeface="Times New Roman"/>
              </a:rPr>
              <a:t>30°N</a:t>
            </a:r>
            <a:r>
              <a:rPr lang="en-US" sz="2000" spc="-33" dirty="0">
                <a:cs typeface="Times New Roman"/>
              </a:rPr>
              <a:t> </a:t>
            </a:r>
            <a:r>
              <a:rPr lang="en-US" sz="2000" dirty="0">
                <a:cs typeface="Times New Roman"/>
              </a:rPr>
              <a:t>(/S)</a:t>
            </a:r>
            <a:r>
              <a:rPr lang="en-US" sz="2000" spc="-60" dirty="0">
                <a:cs typeface="Times New Roman"/>
              </a:rPr>
              <a:t> </a:t>
            </a:r>
            <a:r>
              <a:rPr lang="en-US" sz="2000" dirty="0">
                <a:cs typeface="Times New Roman"/>
              </a:rPr>
              <a:t>and</a:t>
            </a:r>
            <a:r>
              <a:rPr lang="en-US" sz="2000" spc="-47" dirty="0">
                <a:cs typeface="Times New Roman"/>
              </a:rPr>
              <a:t> </a:t>
            </a:r>
            <a:r>
              <a:rPr lang="en-US" sz="2000" dirty="0">
                <a:cs typeface="Times New Roman"/>
              </a:rPr>
              <a:t>70°N</a:t>
            </a:r>
            <a:r>
              <a:rPr lang="en-US" sz="2000" spc="-27" dirty="0">
                <a:cs typeface="Times New Roman"/>
              </a:rPr>
              <a:t> </a:t>
            </a:r>
            <a:r>
              <a:rPr lang="en-US" sz="2000" dirty="0">
                <a:cs typeface="Times New Roman"/>
              </a:rPr>
              <a:t>(/S)</a:t>
            </a:r>
            <a:r>
              <a:rPr lang="en-US" sz="2000" spc="-53" dirty="0">
                <a:cs typeface="Times New Roman"/>
              </a:rPr>
              <a:t> </a:t>
            </a:r>
            <a:r>
              <a:rPr lang="en-US" sz="2000" dirty="0">
                <a:cs typeface="Times New Roman"/>
              </a:rPr>
              <a:t>predominantly</a:t>
            </a:r>
            <a:r>
              <a:rPr lang="en-US" sz="2000" spc="-40" dirty="0">
                <a:cs typeface="Times New Roman"/>
              </a:rPr>
              <a:t> </a:t>
            </a:r>
            <a:r>
              <a:rPr lang="en-US" sz="2000" dirty="0">
                <a:cs typeface="Times New Roman"/>
              </a:rPr>
              <a:t>western</a:t>
            </a:r>
            <a:r>
              <a:rPr lang="en-US" sz="2000" spc="-47" dirty="0">
                <a:cs typeface="Times New Roman"/>
              </a:rPr>
              <a:t> </a:t>
            </a:r>
            <a:r>
              <a:rPr lang="en-US" sz="2000" dirty="0">
                <a:cs typeface="Times New Roman"/>
              </a:rPr>
              <a:t>winds</a:t>
            </a:r>
            <a:r>
              <a:rPr lang="en-US" sz="2000" spc="-40" dirty="0">
                <a:cs typeface="Times New Roman"/>
              </a:rPr>
              <a:t> </a:t>
            </a:r>
            <a:r>
              <a:rPr lang="en-US" sz="2000" dirty="0">
                <a:cs typeface="Times New Roman"/>
              </a:rPr>
              <a:t>are</a:t>
            </a:r>
            <a:r>
              <a:rPr lang="en-US" sz="2000" spc="-40" dirty="0">
                <a:cs typeface="Times New Roman"/>
              </a:rPr>
              <a:t> </a:t>
            </a:r>
            <a:r>
              <a:rPr lang="en-US" sz="2000" spc="-13" dirty="0">
                <a:cs typeface="Times New Roman"/>
              </a:rPr>
              <a:t>found. </a:t>
            </a:r>
            <a:r>
              <a:rPr lang="en-US" sz="2000" dirty="0">
                <a:cs typeface="Times New Roman"/>
              </a:rPr>
              <a:t>These</a:t>
            </a:r>
            <a:r>
              <a:rPr lang="en-US" sz="2000" spc="187" dirty="0">
                <a:cs typeface="Times New Roman"/>
              </a:rPr>
              <a:t> </a:t>
            </a:r>
            <a:r>
              <a:rPr lang="en-US" sz="2000" dirty="0">
                <a:cs typeface="Times New Roman"/>
              </a:rPr>
              <a:t>winds</a:t>
            </a:r>
            <a:r>
              <a:rPr lang="en-US" sz="2000" spc="173" dirty="0">
                <a:cs typeface="Times New Roman"/>
              </a:rPr>
              <a:t> </a:t>
            </a:r>
            <a:r>
              <a:rPr lang="en-US" sz="2000" dirty="0">
                <a:cs typeface="Times New Roman"/>
              </a:rPr>
              <a:t>form</a:t>
            </a:r>
            <a:r>
              <a:rPr lang="en-US" sz="2000" spc="173" dirty="0">
                <a:cs typeface="Times New Roman"/>
              </a:rPr>
              <a:t> </a:t>
            </a:r>
            <a:r>
              <a:rPr lang="en-US" sz="2000" dirty="0">
                <a:cs typeface="Times New Roman"/>
              </a:rPr>
              <a:t>a</a:t>
            </a:r>
            <a:r>
              <a:rPr lang="en-US" sz="2000" spc="200" dirty="0">
                <a:cs typeface="Times New Roman"/>
              </a:rPr>
              <a:t> </a:t>
            </a:r>
            <a:r>
              <a:rPr lang="en-US" sz="2000" dirty="0">
                <a:cs typeface="Times New Roman"/>
              </a:rPr>
              <a:t>wavelike</a:t>
            </a:r>
            <a:r>
              <a:rPr lang="en-US" sz="2000" spc="180" dirty="0">
                <a:cs typeface="Times New Roman"/>
              </a:rPr>
              <a:t> </a:t>
            </a:r>
            <a:r>
              <a:rPr lang="en-US" sz="2000" dirty="0">
                <a:cs typeface="Times New Roman"/>
              </a:rPr>
              <a:t>circulation,</a:t>
            </a:r>
            <a:r>
              <a:rPr lang="en-US" sz="2000" spc="193" dirty="0">
                <a:cs typeface="Times New Roman"/>
              </a:rPr>
              <a:t> </a:t>
            </a:r>
            <a:r>
              <a:rPr lang="en-US" sz="2000" dirty="0">
                <a:cs typeface="Times New Roman"/>
              </a:rPr>
              <a:t>transferring</a:t>
            </a:r>
            <a:r>
              <a:rPr lang="en-US" sz="2000" spc="180" dirty="0">
                <a:cs typeface="Times New Roman"/>
              </a:rPr>
              <a:t> </a:t>
            </a:r>
            <a:r>
              <a:rPr lang="en-US" sz="2000" dirty="0">
                <a:cs typeface="Times New Roman"/>
              </a:rPr>
              <a:t>cold</a:t>
            </a:r>
            <a:r>
              <a:rPr lang="en-US" sz="2000" spc="180" dirty="0">
                <a:cs typeface="Times New Roman"/>
              </a:rPr>
              <a:t> </a:t>
            </a:r>
            <a:r>
              <a:rPr lang="en-US" sz="2000" dirty="0">
                <a:cs typeface="Times New Roman"/>
              </a:rPr>
              <a:t>air</a:t>
            </a:r>
            <a:r>
              <a:rPr lang="en-US" sz="2000" spc="180" dirty="0">
                <a:cs typeface="Times New Roman"/>
              </a:rPr>
              <a:t> </a:t>
            </a:r>
            <a:r>
              <a:rPr lang="en-US" sz="2000" dirty="0">
                <a:cs typeface="Times New Roman"/>
              </a:rPr>
              <a:t>southward</a:t>
            </a:r>
            <a:r>
              <a:rPr lang="en-US" sz="2000" spc="187" dirty="0">
                <a:cs typeface="Times New Roman"/>
              </a:rPr>
              <a:t> </a:t>
            </a:r>
            <a:r>
              <a:rPr lang="en-US" sz="2000" dirty="0">
                <a:cs typeface="Times New Roman"/>
              </a:rPr>
              <a:t>and</a:t>
            </a:r>
            <a:r>
              <a:rPr lang="en-US" sz="2000" spc="187" dirty="0">
                <a:cs typeface="Times New Roman"/>
              </a:rPr>
              <a:t> </a:t>
            </a:r>
            <a:r>
              <a:rPr lang="en-US" sz="2000" spc="-27" dirty="0">
                <a:cs typeface="Times New Roman"/>
              </a:rPr>
              <a:t>warm </a:t>
            </a:r>
            <a:r>
              <a:rPr lang="en-US" sz="2000" dirty="0">
                <a:cs typeface="Times New Roman"/>
              </a:rPr>
              <a:t>air</a:t>
            </a:r>
            <a:r>
              <a:rPr lang="en-US" sz="2000" spc="-47" dirty="0">
                <a:cs typeface="Times New Roman"/>
              </a:rPr>
              <a:t> </a:t>
            </a:r>
            <a:r>
              <a:rPr lang="en-US" sz="2000" dirty="0">
                <a:cs typeface="Times New Roman"/>
              </a:rPr>
              <a:t>northward</a:t>
            </a:r>
            <a:r>
              <a:rPr lang="en-US" sz="2000" spc="-47" dirty="0">
                <a:cs typeface="Times New Roman"/>
              </a:rPr>
              <a:t> </a:t>
            </a:r>
            <a:r>
              <a:rPr lang="en-US" sz="2000" dirty="0">
                <a:cs typeface="Times New Roman"/>
              </a:rPr>
              <a:t>(Rossby</a:t>
            </a:r>
            <a:r>
              <a:rPr lang="en-US" sz="2000" spc="-33" dirty="0">
                <a:cs typeface="Times New Roman"/>
              </a:rPr>
              <a:t> </a:t>
            </a:r>
            <a:r>
              <a:rPr lang="en-US" sz="2000" spc="-13" dirty="0">
                <a:cs typeface="Times New Roman"/>
              </a:rPr>
              <a:t>circulation).</a:t>
            </a:r>
            <a:endParaRPr lang="en-US" sz="2000" dirty="0">
              <a:cs typeface="Times New Roman"/>
            </a:endParaRPr>
          </a:p>
        </p:txBody>
      </p:sp>
      <p:pic>
        <p:nvPicPr>
          <p:cNvPr id="5" name="object 3">
            <a:extLst>
              <a:ext uri="{FF2B5EF4-FFF2-40B4-BE49-F238E27FC236}">
                <a16:creationId xmlns:a16="http://schemas.microsoft.com/office/drawing/2014/main" id="{5E1AF046-B8DD-1E0A-1589-252D183939B1}"/>
              </a:ext>
            </a:extLst>
          </p:cNvPr>
          <p:cNvPicPr>
            <a:picLocks noGrp="1"/>
          </p:cNvPicPr>
          <p:nvPr>
            <p:ph sz="half" idx="2"/>
          </p:nvPr>
        </p:nvPicPr>
        <p:blipFill>
          <a:blip r:embed="rId2" cstate="print"/>
          <a:stretch>
            <a:fillRect/>
          </a:stretch>
        </p:blipFill>
        <p:spPr>
          <a:xfrm>
            <a:off x="7156174" y="1690688"/>
            <a:ext cx="4981575" cy="4191000"/>
          </a:xfrm>
          <a:prstGeom prst="rect">
            <a:avLst/>
          </a:prstGeom>
        </p:spPr>
      </p:pic>
    </p:spTree>
    <p:extLst>
      <p:ext uri="{BB962C8B-B14F-4D97-AF65-F5344CB8AC3E}">
        <p14:creationId xmlns:p14="http://schemas.microsoft.com/office/powerpoint/2010/main" val="2929238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1977-2D71-885A-7406-185B497AED86}"/>
              </a:ext>
            </a:extLst>
          </p:cNvPr>
          <p:cNvSpPr>
            <a:spLocks noGrp="1"/>
          </p:cNvSpPr>
          <p:nvPr>
            <p:ph type="title"/>
          </p:nvPr>
        </p:nvSpPr>
        <p:spPr/>
        <p:txBody>
          <a:bodyPr/>
          <a:lstStyle/>
          <a:p>
            <a:r>
              <a:rPr lang="en-IN" b="1" dirty="0">
                <a:latin typeface="+mn-lt"/>
                <a:cs typeface="Times New Roman" panose="02020603050405020304" pitchFamily="18" charset="0"/>
              </a:rPr>
              <a:t>Local</a:t>
            </a:r>
            <a:r>
              <a:rPr lang="en-IN" b="1" spc="-33" dirty="0">
                <a:latin typeface="+mn-lt"/>
                <a:cs typeface="Times New Roman" panose="02020603050405020304" pitchFamily="18" charset="0"/>
              </a:rPr>
              <a:t> </a:t>
            </a:r>
            <a:r>
              <a:rPr lang="en-IN" b="1" spc="-27" dirty="0">
                <a:latin typeface="+mn-lt"/>
                <a:cs typeface="Times New Roman" panose="02020603050405020304" pitchFamily="18" charset="0"/>
              </a:rPr>
              <a:t>Winds</a:t>
            </a:r>
            <a:endParaRPr lang="en-IN" b="1"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464E3692-677C-DC52-D6C7-F1EC6DC6002B}"/>
              </a:ext>
            </a:extLst>
          </p:cNvPr>
          <p:cNvSpPr>
            <a:spLocks noGrp="1"/>
          </p:cNvSpPr>
          <p:nvPr>
            <p:ph idx="1"/>
          </p:nvPr>
        </p:nvSpPr>
        <p:spPr>
          <a:xfrm>
            <a:off x="838200" y="1520686"/>
            <a:ext cx="11217966" cy="5128592"/>
          </a:xfrm>
        </p:spPr>
        <p:txBody>
          <a:bodyPr>
            <a:normAutofit/>
          </a:bodyPr>
          <a:lstStyle/>
          <a:p>
            <a:pPr marL="455613" indent="-439738">
              <a:spcBef>
                <a:spcPts val="1413"/>
              </a:spcBef>
              <a:buChar char="●"/>
              <a:tabLst>
                <a:tab pos="457189" algn="l"/>
              </a:tabLst>
            </a:pPr>
            <a:r>
              <a:rPr lang="en-US" dirty="0">
                <a:cs typeface="Times New Roman"/>
              </a:rPr>
              <a:t>Localized</a:t>
            </a:r>
            <a:r>
              <a:rPr lang="en-US" spc="-33" dirty="0">
                <a:cs typeface="Times New Roman"/>
              </a:rPr>
              <a:t> </a:t>
            </a:r>
            <a:r>
              <a:rPr lang="en-US" dirty="0">
                <a:cs typeface="Times New Roman"/>
              </a:rPr>
              <a:t>uneven</a:t>
            </a:r>
            <a:r>
              <a:rPr lang="en-US" spc="-53" dirty="0">
                <a:cs typeface="Times New Roman"/>
              </a:rPr>
              <a:t> </a:t>
            </a:r>
            <a:r>
              <a:rPr lang="en-US" dirty="0">
                <a:cs typeface="Times New Roman"/>
              </a:rPr>
              <a:t>heating</a:t>
            </a:r>
            <a:r>
              <a:rPr lang="en-US" spc="-40" dirty="0">
                <a:cs typeface="Times New Roman"/>
              </a:rPr>
              <a:t> </a:t>
            </a:r>
            <a:r>
              <a:rPr lang="en-US" dirty="0">
                <a:cs typeface="Times New Roman"/>
              </a:rPr>
              <a:t>is</a:t>
            </a:r>
            <a:r>
              <a:rPr lang="en-US" spc="-40" dirty="0">
                <a:cs typeface="Times New Roman"/>
              </a:rPr>
              <a:t> </a:t>
            </a:r>
            <a:r>
              <a:rPr lang="en-US" dirty="0">
                <a:cs typeface="Times New Roman"/>
              </a:rPr>
              <a:t>responsible</a:t>
            </a:r>
            <a:r>
              <a:rPr lang="en-US" spc="-40" dirty="0">
                <a:cs typeface="Times New Roman"/>
              </a:rPr>
              <a:t> </a:t>
            </a:r>
            <a:r>
              <a:rPr lang="en-US" dirty="0">
                <a:cs typeface="Times New Roman"/>
              </a:rPr>
              <a:t>for</a:t>
            </a:r>
            <a:r>
              <a:rPr lang="en-US" spc="-60" dirty="0">
                <a:cs typeface="Times New Roman"/>
              </a:rPr>
              <a:t> </a:t>
            </a:r>
            <a:r>
              <a:rPr lang="en-US" dirty="0">
                <a:cs typeface="Times New Roman"/>
              </a:rPr>
              <a:t>local</a:t>
            </a:r>
            <a:r>
              <a:rPr lang="en-US" spc="-40" dirty="0">
                <a:cs typeface="Times New Roman"/>
              </a:rPr>
              <a:t> </a:t>
            </a:r>
            <a:r>
              <a:rPr lang="en-US" spc="-13" dirty="0">
                <a:cs typeface="Times New Roman"/>
              </a:rPr>
              <a:t>winds.</a:t>
            </a:r>
            <a:endParaRPr lang="en-US" dirty="0">
              <a:cs typeface="Times New Roman"/>
            </a:endParaRPr>
          </a:p>
          <a:p>
            <a:pPr marL="455613" indent="-439738">
              <a:spcBef>
                <a:spcPts val="1280"/>
              </a:spcBef>
              <a:buChar char="●"/>
              <a:tabLst>
                <a:tab pos="524074" algn="l"/>
              </a:tabLst>
            </a:pPr>
            <a:r>
              <a:rPr lang="en-US" dirty="0">
                <a:cs typeface="Times New Roman"/>
              </a:rPr>
              <a:t>Local</a:t>
            </a:r>
            <a:r>
              <a:rPr lang="en-US" spc="-20" dirty="0">
                <a:cs typeface="Times New Roman"/>
              </a:rPr>
              <a:t> </a:t>
            </a:r>
            <a:r>
              <a:rPr lang="en-US" dirty="0">
                <a:cs typeface="Times New Roman"/>
              </a:rPr>
              <a:t>winds</a:t>
            </a:r>
            <a:r>
              <a:rPr lang="en-US" spc="-47" dirty="0">
                <a:cs typeface="Times New Roman"/>
              </a:rPr>
              <a:t> </a:t>
            </a:r>
            <a:r>
              <a:rPr lang="en-US" dirty="0">
                <a:cs typeface="Times New Roman"/>
              </a:rPr>
              <a:t>are</a:t>
            </a:r>
            <a:r>
              <a:rPr lang="en-US" spc="-27" dirty="0">
                <a:cs typeface="Times New Roman"/>
              </a:rPr>
              <a:t> </a:t>
            </a:r>
            <a:r>
              <a:rPr lang="en-US" dirty="0">
                <a:cs typeface="Times New Roman"/>
              </a:rPr>
              <a:t>produced</a:t>
            </a:r>
            <a:r>
              <a:rPr lang="en-US" spc="-47" dirty="0">
                <a:cs typeface="Times New Roman"/>
              </a:rPr>
              <a:t> </a:t>
            </a:r>
            <a:r>
              <a:rPr lang="en-US" dirty="0">
                <a:cs typeface="Times New Roman"/>
              </a:rPr>
              <a:t>due</a:t>
            </a:r>
            <a:r>
              <a:rPr lang="en-US" spc="-47" dirty="0">
                <a:cs typeface="Times New Roman"/>
              </a:rPr>
              <a:t> </a:t>
            </a:r>
            <a:r>
              <a:rPr lang="en-US" dirty="0">
                <a:cs typeface="Times New Roman"/>
              </a:rPr>
              <a:t>to</a:t>
            </a:r>
            <a:r>
              <a:rPr lang="en-US" spc="-27" dirty="0">
                <a:cs typeface="Times New Roman"/>
              </a:rPr>
              <a:t> </a:t>
            </a:r>
            <a:r>
              <a:rPr lang="en-US" dirty="0">
                <a:cs typeface="Times New Roman"/>
              </a:rPr>
              <a:t>two</a:t>
            </a:r>
            <a:r>
              <a:rPr lang="en-US" spc="-40" dirty="0">
                <a:cs typeface="Times New Roman"/>
              </a:rPr>
              <a:t> </a:t>
            </a:r>
            <a:r>
              <a:rPr lang="en-US" spc="-13" dirty="0">
                <a:cs typeface="Times New Roman"/>
              </a:rPr>
              <a:t>mechanisms</a:t>
            </a:r>
            <a:endParaRPr lang="en-US" dirty="0">
              <a:cs typeface="Times New Roman"/>
            </a:endParaRPr>
          </a:p>
          <a:p>
            <a:pPr marL="930275" lvl="1" indent="-457200">
              <a:spcBef>
                <a:spcPts val="1280"/>
              </a:spcBef>
              <a:buFont typeface="+mj-lt"/>
              <a:buAutoNum type="arabicPeriod"/>
              <a:tabLst>
                <a:tab pos="457189" algn="l"/>
              </a:tabLst>
            </a:pPr>
            <a:r>
              <a:rPr lang="en-US" b="1" dirty="0">
                <a:cs typeface="Times New Roman"/>
              </a:rPr>
              <a:t>Differential</a:t>
            </a:r>
            <a:r>
              <a:rPr lang="en-US" b="1" spc="-7" dirty="0">
                <a:cs typeface="Times New Roman"/>
              </a:rPr>
              <a:t> </a:t>
            </a:r>
            <a:r>
              <a:rPr lang="en-US" b="1" dirty="0">
                <a:cs typeface="Times New Roman"/>
              </a:rPr>
              <a:t>heating</a:t>
            </a:r>
            <a:r>
              <a:rPr lang="en-US" b="1" spc="-33" dirty="0">
                <a:cs typeface="Times New Roman"/>
              </a:rPr>
              <a:t> </a:t>
            </a:r>
            <a:r>
              <a:rPr lang="en-US" b="1" dirty="0">
                <a:cs typeface="Times New Roman"/>
              </a:rPr>
              <a:t>of</a:t>
            </a:r>
            <a:r>
              <a:rPr lang="en-US" b="1" spc="-33" dirty="0">
                <a:cs typeface="Times New Roman"/>
              </a:rPr>
              <a:t> </a:t>
            </a:r>
            <a:r>
              <a:rPr lang="en-US" b="1" dirty="0">
                <a:cs typeface="Times New Roman"/>
              </a:rPr>
              <a:t>land</a:t>
            </a:r>
            <a:r>
              <a:rPr lang="en-US" b="1" spc="-33" dirty="0">
                <a:cs typeface="Times New Roman"/>
              </a:rPr>
              <a:t> </a:t>
            </a:r>
            <a:r>
              <a:rPr lang="en-US" b="1" dirty="0">
                <a:cs typeface="Times New Roman"/>
              </a:rPr>
              <a:t>surface</a:t>
            </a:r>
            <a:r>
              <a:rPr lang="en-US" b="1" spc="-47" dirty="0">
                <a:cs typeface="Times New Roman"/>
              </a:rPr>
              <a:t> </a:t>
            </a:r>
            <a:r>
              <a:rPr lang="en-US" b="1" dirty="0">
                <a:cs typeface="Times New Roman"/>
              </a:rPr>
              <a:t>and</a:t>
            </a:r>
            <a:r>
              <a:rPr lang="en-US" b="1" spc="-40" dirty="0">
                <a:cs typeface="Times New Roman"/>
              </a:rPr>
              <a:t> </a:t>
            </a:r>
            <a:r>
              <a:rPr lang="en-US" b="1" dirty="0">
                <a:cs typeface="Times New Roman"/>
              </a:rPr>
              <a:t>water</a:t>
            </a:r>
            <a:r>
              <a:rPr lang="en-US" b="1" spc="-20" dirty="0">
                <a:cs typeface="Times New Roman"/>
              </a:rPr>
              <a:t> </a:t>
            </a:r>
            <a:r>
              <a:rPr lang="en-US" b="1" dirty="0">
                <a:cs typeface="Times New Roman"/>
              </a:rPr>
              <a:t>bodies</a:t>
            </a:r>
            <a:r>
              <a:rPr lang="en-US" b="1" spc="-47" dirty="0">
                <a:cs typeface="Times New Roman"/>
              </a:rPr>
              <a:t> </a:t>
            </a:r>
            <a:r>
              <a:rPr lang="en-US" b="1" dirty="0">
                <a:cs typeface="Times New Roman"/>
              </a:rPr>
              <a:t>due</a:t>
            </a:r>
            <a:r>
              <a:rPr lang="en-US" b="1" spc="-53" dirty="0">
                <a:cs typeface="Times New Roman"/>
              </a:rPr>
              <a:t> </a:t>
            </a:r>
            <a:r>
              <a:rPr lang="en-US" b="1" dirty="0">
                <a:cs typeface="Times New Roman"/>
              </a:rPr>
              <a:t>to</a:t>
            </a:r>
            <a:r>
              <a:rPr lang="en-US" b="1" spc="-47" dirty="0">
                <a:cs typeface="Times New Roman"/>
              </a:rPr>
              <a:t> </a:t>
            </a:r>
            <a:r>
              <a:rPr lang="en-US" b="1" dirty="0">
                <a:cs typeface="Times New Roman"/>
              </a:rPr>
              <a:t>solar</a:t>
            </a:r>
            <a:r>
              <a:rPr lang="en-US" b="1" spc="-27" dirty="0">
                <a:cs typeface="Times New Roman"/>
              </a:rPr>
              <a:t> </a:t>
            </a:r>
            <a:r>
              <a:rPr lang="en-US" b="1" spc="-13" dirty="0">
                <a:cs typeface="Times New Roman"/>
              </a:rPr>
              <a:t>radiation</a:t>
            </a:r>
            <a:endParaRPr lang="en-US" spc="-13" dirty="0">
              <a:cs typeface="Times New Roman"/>
            </a:endParaRPr>
          </a:p>
          <a:p>
            <a:pPr marL="1387475" lvl="2" indent="-457200">
              <a:spcBef>
                <a:spcPts val="1280"/>
              </a:spcBef>
              <a:tabLst>
                <a:tab pos="457189" algn="l"/>
              </a:tabLst>
            </a:pPr>
            <a:r>
              <a:rPr lang="en-US" dirty="0">
                <a:cs typeface="Times New Roman"/>
              </a:rPr>
              <a:t>During</a:t>
            </a:r>
            <a:r>
              <a:rPr lang="en-US" spc="-40" dirty="0">
                <a:cs typeface="Times New Roman"/>
              </a:rPr>
              <a:t> </a:t>
            </a:r>
            <a:r>
              <a:rPr lang="en-US" dirty="0">
                <a:cs typeface="Times New Roman"/>
              </a:rPr>
              <a:t>the</a:t>
            </a:r>
            <a:r>
              <a:rPr lang="en-US" spc="-40" dirty="0">
                <a:cs typeface="Times New Roman"/>
              </a:rPr>
              <a:t> </a:t>
            </a:r>
            <a:r>
              <a:rPr lang="en-US" dirty="0">
                <a:cs typeface="Times New Roman"/>
              </a:rPr>
              <a:t>day,</a:t>
            </a:r>
            <a:r>
              <a:rPr lang="en-US" spc="-20" dirty="0">
                <a:cs typeface="Times New Roman"/>
              </a:rPr>
              <a:t> </a:t>
            </a:r>
            <a:r>
              <a:rPr lang="en-US" dirty="0">
                <a:cs typeface="Times New Roman"/>
              </a:rPr>
              <a:t>solar</a:t>
            </a:r>
            <a:r>
              <a:rPr lang="en-US" spc="-47" dirty="0">
                <a:cs typeface="Times New Roman"/>
              </a:rPr>
              <a:t> </a:t>
            </a:r>
            <a:r>
              <a:rPr lang="en-US" dirty="0">
                <a:cs typeface="Times New Roman"/>
              </a:rPr>
              <a:t>energy</a:t>
            </a:r>
            <a:r>
              <a:rPr lang="en-US" spc="-20" dirty="0">
                <a:cs typeface="Times New Roman"/>
              </a:rPr>
              <a:t> </a:t>
            </a:r>
            <a:r>
              <a:rPr lang="en-US" dirty="0">
                <a:cs typeface="Times New Roman"/>
              </a:rPr>
              <a:t>is</a:t>
            </a:r>
            <a:r>
              <a:rPr lang="en-US" spc="-33" dirty="0">
                <a:cs typeface="Times New Roman"/>
              </a:rPr>
              <a:t> </a:t>
            </a:r>
            <a:r>
              <a:rPr lang="en-US" dirty="0">
                <a:cs typeface="Times New Roman"/>
              </a:rPr>
              <a:t>converted</a:t>
            </a:r>
            <a:r>
              <a:rPr lang="en-US" spc="-27" dirty="0">
                <a:cs typeface="Times New Roman"/>
              </a:rPr>
              <a:t> </a:t>
            </a:r>
            <a:r>
              <a:rPr lang="en-US" dirty="0">
                <a:cs typeface="Times New Roman"/>
              </a:rPr>
              <a:t>to</a:t>
            </a:r>
            <a:r>
              <a:rPr lang="en-US" spc="-40" dirty="0">
                <a:cs typeface="Times New Roman"/>
              </a:rPr>
              <a:t> </a:t>
            </a:r>
            <a:r>
              <a:rPr lang="en-US" dirty="0">
                <a:cs typeface="Times New Roman"/>
              </a:rPr>
              <a:t>thermal</a:t>
            </a:r>
            <a:r>
              <a:rPr lang="en-US" spc="20" dirty="0">
                <a:cs typeface="Times New Roman"/>
              </a:rPr>
              <a:t> </a:t>
            </a:r>
            <a:r>
              <a:rPr lang="en-US" dirty="0">
                <a:cs typeface="Times New Roman"/>
              </a:rPr>
              <a:t>energy</a:t>
            </a:r>
            <a:r>
              <a:rPr lang="en-US" spc="-27" dirty="0">
                <a:cs typeface="Times New Roman"/>
              </a:rPr>
              <a:t> </a:t>
            </a:r>
            <a:r>
              <a:rPr lang="en-US" dirty="0">
                <a:cs typeface="Times New Roman"/>
              </a:rPr>
              <a:t>on</a:t>
            </a:r>
            <a:r>
              <a:rPr lang="en-US" spc="-60" dirty="0">
                <a:cs typeface="Times New Roman"/>
              </a:rPr>
              <a:t> </a:t>
            </a:r>
            <a:r>
              <a:rPr lang="en-US" dirty="0">
                <a:cs typeface="Times New Roman"/>
              </a:rPr>
              <a:t>the</a:t>
            </a:r>
            <a:r>
              <a:rPr lang="en-US" spc="-40" dirty="0">
                <a:cs typeface="Times New Roman"/>
              </a:rPr>
              <a:t> </a:t>
            </a:r>
            <a:r>
              <a:rPr lang="en-US" dirty="0">
                <a:cs typeface="Times New Roman"/>
              </a:rPr>
              <a:t>land</a:t>
            </a:r>
            <a:r>
              <a:rPr lang="en-US" spc="-27" dirty="0">
                <a:cs typeface="Times New Roman"/>
              </a:rPr>
              <a:t> </a:t>
            </a:r>
            <a:r>
              <a:rPr lang="en-US" dirty="0">
                <a:cs typeface="Times New Roman"/>
              </a:rPr>
              <a:t>surface</a:t>
            </a:r>
            <a:r>
              <a:rPr lang="en-US" spc="-27" dirty="0">
                <a:cs typeface="Times New Roman"/>
              </a:rPr>
              <a:t> </a:t>
            </a:r>
            <a:r>
              <a:rPr lang="en-US" dirty="0">
                <a:cs typeface="Times New Roman"/>
              </a:rPr>
              <a:t>and</a:t>
            </a:r>
            <a:r>
              <a:rPr lang="en-US" spc="-40" dirty="0">
                <a:cs typeface="Times New Roman"/>
              </a:rPr>
              <a:t> </a:t>
            </a:r>
            <a:r>
              <a:rPr lang="en-US" dirty="0">
                <a:cs typeface="Times New Roman"/>
              </a:rPr>
              <a:t>thus</a:t>
            </a:r>
            <a:r>
              <a:rPr lang="en-US" spc="-53" dirty="0">
                <a:cs typeface="Times New Roman"/>
              </a:rPr>
              <a:t> </a:t>
            </a:r>
            <a:r>
              <a:rPr lang="en-US" spc="-13" dirty="0">
                <a:cs typeface="Times New Roman"/>
              </a:rPr>
              <a:t>quickly </a:t>
            </a:r>
            <a:r>
              <a:rPr lang="en-US" dirty="0">
                <a:cs typeface="Times New Roman"/>
              </a:rPr>
              <a:t>increases</a:t>
            </a:r>
            <a:r>
              <a:rPr lang="en-US" spc="-20" dirty="0">
                <a:cs typeface="Times New Roman"/>
              </a:rPr>
              <a:t> </a:t>
            </a:r>
            <a:r>
              <a:rPr lang="en-US" dirty="0">
                <a:cs typeface="Times New Roman"/>
              </a:rPr>
              <a:t>its</a:t>
            </a:r>
            <a:r>
              <a:rPr lang="en-US" spc="-47" dirty="0">
                <a:cs typeface="Times New Roman"/>
              </a:rPr>
              <a:t> </a:t>
            </a:r>
            <a:r>
              <a:rPr lang="en-US" spc="-13" dirty="0">
                <a:cs typeface="Times New Roman"/>
              </a:rPr>
              <a:t>temperature. </a:t>
            </a:r>
          </a:p>
          <a:p>
            <a:pPr marL="1387475" lvl="2" indent="-457200">
              <a:spcBef>
                <a:spcPts val="1280"/>
              </a:spcBef>
              <a:tabLst>
                <a:tab pos="457189" algn="l"/>
              </a:tabLst>
            </a:pPr>
            <a:r>
              <a:rPr lang="en-US" dirty="0">
                <a:cs typeface="Times New Roman"/>
              </a:rPr>
              <a:t>On</a:t>
            </a:r>
            <a:r>
              <a:rPr lang="en-US" spc="-47" dirty="0">
                <a:cs typeface="Times New Roman"/>
              </a:rPr>
              <a:t> </a:t>
            </a:r>
            <a:r>
              <a:rPr lang="en-US" dirty="0">
                <a:cs typeface="Times New Roman"/>
              </a:rPr>
              <a:t>water</a:t>
            </a:r>
            <a:r>
              <a:rPr lang="en-US" spc="-33" dirty="0">
                <a:cs typeface="Times New Roman"/>
              </a:rPr>
              <a:t> </a:t>
            </a:r>
            <a:r>
              <a:rPr lang="en-US" dirty="0">
                <a:cs typeface="Times New Roman"/>
              </a:rPr>
              <a:t>bodies</a:t>
            </a:r>
            <a:r>
              <a:rPr lang="en-US" spc="-53" dirty="0">
                <a:cs typeface="Times New Roman"/>
              </a:rPr>
              <a:t> </a:t>
            </a:r>
            <a:r>
              <a:rPr lang="en-US" dirty="0">
                <a:cs typeface="Times New Roman"/>
              </a:rPr>
              <a:t>it</a:t>
            </a:r>
            <a:r>
              <a:rPr lang="en-US" spc="-20" dirty="0">
                <a:cs typeface="Times New Roman"/>
              </a:rPr>
              <a:t> </a:t>
            </a:r>
            <a:r>
              <a:rPr lang="en-US" dirty="0">
                <a:cs typeface="Times New Roman"/>
              </a:rPr>
              <a:t>is</a:t>
            </a:r>
            <a:r>
              <a:rPr lang="en-US" spc="-33" dirty="0">
                <a:cs typeface="Times New Roman"/>
              </a:rPr>
              <a:t> </a:t>
            </a:r>
            <a:r>
              <a:rPr lang="en-US" dirty="0">
                <a:cs typeface="Times New Roman"/>
              </a:rPr>
              <a:t>partly</a:t>
            </a:r>
            <a:r>
              <a:rPr lang="en-US" spc="-40" dirty="0">
                <a:cs typeface="Times New Roman"/>
              </a:rPr>
              <a:t> </a:t>
            </a:r>
            <a:r>
              <a:rPr lang="en-US" dirty="0">
                <a:cs typeface="Times New Roman"/>
              </a:rPr>
              <a:t>consumed</a:t>
            </a:r>
            <a:r>
              <a:rPr lang="en-US" spc="-7" dirty="0">
                <a:cs typeface="Times New Roman"/>
              </a:rPr>
              <a:t> </a:t>
            </a:r>
            <a:r>
              <a:rPr lang="en-US" dirty="0">
                <a:cs typeface="Times New Roman"/>
              </a:rPr>
              <a:t>in</a:t>
            </a:r>
            <a:r>
              <a:rPr lang="en-US" spc="-33" dirty="0">
                <a:cs typeface="Times New Roman"/>
              </a:rPr>
              <a:t> </a:t>
            </a:r>
            <a:r>
              <a:rPr lang="en-US" dirty="0">
                <a:cs typeface="Times New Roman"/>
              </a:rPr>
              <a:t>evaporating</a:t>
            </a:r>
            <a:r>
              <a:rPr lang="en-US" spc="-20" dirty="0">
                <a:cs typeface="Times New Roman"/>
              </a:rPr>
              <a:t> </a:t>
            </a:r>
            <a:r>
              <a:rPr lang="en-US" dirty="0">
                <a:cs typeface="Times New Roman"/>
              </a:rPr>
              <a:t>water</a:t>
            </a:r>
            <a:r>
              <a:rPr lang="en-US" spc="-33" dirty="0">
                <a:cs typeface="Times New Roman"/>
              </a:rPr>
              <a:t> </a:t>
            </a:r>
            <a:r>
              <a:rPr lang="en-US" dirty="0">
                <a:cs typeface="Times New Roman"/>
              </a:rPr>
              <a:t>and</a:t>
            </a:r>
            <a:r>
              <a:rPr lang="en-US" spc="-40" dirty="0">
                <a:cs typeface="Times New Roman"/>
              </a:rPr>
              <a:t> </a:t>
            </a:r>
            <a:r>
              <a:rPr lang="en-US" dirty="0">
                <a:cs typeface="Times New Roman"/>
              </a:rPr>
              <a:t>only</a:t>
            </a:r>
            <a:r>
              <a:rPr lang="en-US" spc="-47" dirty="0">
                <a:cs typeface="Times New Roman"/>
              </a:rPr>
              <a:t> </a:t>
            </a:r>
            <a:r>
              <a:rPr lang="en-US" dirty="0">
                <a:cs typeface="Times New Roman"/>
              </a:rPr>
              <a:t>partly</a:t>
            </a:r>
            <a:r>
              <a:rPr lang="en-US" spc="-40" dirty="0">
                <a:cs typeface="Times New Roman"/>
              </a:rPr>
              <a:t> </a:t>
            </a:r>
            <a:r>
              <a:rPr lang="en-US" dirty="0">
                <a:cs typeface="Times New Roman"/>
              </a:rPr>
              <a:t>absorbed</a:t>
            </a:r>
            <a:r>
              <a:rPr lang="en-US" spc="-33" dirty="0">
                <a:cs typeface="Times New Roman"/>
              </a:rPr>
              <a:t> </a:t>
            </a:r>
            <a:r>
              <a:rPr lang="en-US" dirty="0">
                <a:cs typeface="Times New Roman"/>
              </a:rPr>
              <a:t>to</a:t>
            </a:r>
            <a:r>
              <a:rPr lang="en-US" spc="-27" dirty="0">
                <a:cs typeface="Times New Roman"/>
              </a:rPr>
              <a:t> </a:t>
            </a:r>
            <a:r>
              <a:rPr lang="en-US" dirty="0">
                <a:cs typeface="Times New Roman"/>
              </a:rPr>
              <a:t>cause</a:t>
            </a:r>
            <a:r>
              <a:rPr lang="en-US" spc="-40" dirty="0">
                <a:cs typeface="Times New Roman"/>
              </a:rPr>
              <a:t> </a:t>
            </a:r>
            <a:r>
              <a:rPr lang="en-US" spc="-33" dirty="0">
                <a:cs typeface="Times New Roman"/>
              </a:rPr>
              <a:t>an </a:t>
            </a:r>
            <a:r>
              <a:rPr lang="en-US" dirty="0">
                <a:cs typeface="Times New Roman"/>
              </a:rPr>
              <a:t>increase</a:t>
            </a:r>
            <a:r>
              <a:rPr lang="en-US" spc="-13" dirty="0">
                <a:cs typeface="Times New Roman"/>
              </a:rPr>
              <a:t> </a:t>
            </a:r>
            <a:r>
              <a:rPr lang="en-US" dirty="0">
                <a:cs typeface="Times New Roman"/>
              </a:rPr>
              <a:t>in</a:t>
            </a:r>
            <a:r>
              <a:rPr lang="en-US" spc="-47" dirty="0">
                <a:cs typeface="Times New Roman"/>
              </a:rPr>
              <a:t> </a:t>
            </a:r>
            <a:r>
              <a:rPr lang="en-US" spc="-13" dirty="0">
                <a:cs typeface="Times New Roman"/>
              </a:rPr>
              <a:t>temperature.</a:t>
            </a:r>
          </a:p>
          <a:p>
            <a:pPr marL="1371589" lvl="2" indent="-440256">
              <a:spcBef>
                <a:spcPts val="1280"/>
              </a:spcBef>
              <a:tabLst>
                <a:tab pos="457189" algn="l"/>
              </a:tabLst>
            </a:pPr>
            <a:r>
              <a:rPr lang="en-US" dirty="0">
                <a:cs typeface="Times New Roman"/>
              </a:rPr>
              <a:t>Land</a:t>
            </a:r>
            <a:r>
              <a:rPr lang="en-US" spc="-47" dirty="0">
                <a:cs typeface="Times New Roman"/>
              </a:rPr>
              <a:t> </a:t>
            </a:r>
            <a:r>
              <a:rPr lang="en-US" dirty="0">
                <a:cs typeface="Times New Roman"/>
              </a:rPr>
              <a:t>mass thus</a:t>
            </a:r>
            <a:r>
              <a:rPr lang="en-US" spc="-60" dirty="0">
                <a:cs typeface="Times New Roman"/>
              </a:rPr>
              <a:t> </a:t>
            </a:r>
            <a:r>
              <a:rPr lang="en-US" dirty="0">
                <a:cs typeface="Times New Roman"/>
              </a:rPr>
              <a:t>becomes</a:t>
            </a:r>
            <a:r>
              <a:rPr lang="en-US" spc="-7" dirty="0">
                <a:cs typeface="Times New Roman"/>
              </a:rPr>
              <a:t> </a:t>
            </a:r>
            <a:r>
              <a:rPr lang="en-US" dirty="0">
                <a:cs typeface="Times New Roman"/>
              </a:rPr>
              <a:t>hotter</a:t>
            </a:r>
            <a:r>
              <a:rPr lang="en-US" spc="-33" dirty="0">
                <a:cs typeface="Times New Roman"/>
              </a:rPr>
              <a:t> </a:t>
            </a:r>
            <a:r>
              <a:rPr lang="en-US" dirty="0">
                <a:cs typeface="Times New Roman"/>
              </a:rPr>
              <a:t>than</a:t>
            </a:r>
            <a:r>
              <a:rPr lang="en-US" spc="-60" dirty="0">
                <a:cs typeface="Times New Roman"/>
              </a:rPr>
              <a:t> </a:t>
            </a:r>
            <a:r>
              <a:rPr lang="en-US" dirty="0">
                <a:cs typeface="Times New Roman"/>
              </a:rPr>
              <a:t>water,</a:t>
            </a:r>
            <a:r>
              <a:rPr lang="en-US" spc="-27" dirty="0">
                <a:cs typeface="Times New Roman"/>
              </a:rPr>
              <a:t> </a:t>
            </a:r>
            <a:r>
              <a:rPr lang="en-US" dirty="0">
                <a:cs typeface="Times New Roman"/>
              </a:rPr>
              <a:t>which</a:t>
            </a:r>
            <a:r>
              <a:rPr lang="en-US" spc="-53" dirty="0">
                <a:cs typeface="Times New Roman"/>
              </a:rPr>
              <a:t> </a:t>
            </a:r>
            <a:r>
              <a:rPr lang="en-US" dirty="0">
                <a:cs typeface="Times New Roman"/>
              </a:rPr>
              <a:t>causes</a:t>
            </a:r>
            <a:r>
              <a:rPr lang="en-US" spc="-47" dirty="0">
                <a:cs typeface="Times New Roman"/>
              </a:rPr>
              <a:t> </a:t>
            </a:r>
            <a:r>
              <a:rPr lang="en-US" dirty="0">
                <a:cs typeface="Times New Roman"/>
              </a:rPr>
              <a:t>differential</a:t>
            </a:r>
            <a:r>
              <a:rPr lang="en-US" spc="-7" dirty="0">
                <a:cs typeface="Times New Roman"/>
              </a:rPr>
              <a:t> </a:t>
            </a:r>
            <a:r>
              <a:rPr lang="en-US" dirty="0">
                <a:cs typeface="Times New Roman"/>
              </a:rPr>
              <a:t>heating</a:t>
            </a:r>
            <a:r>
              <a:rPr lang="en-US" spc="-47" dirty="0">
                <a:cs typeface="Times New Roman"/>
              </a:rPr>
              <a:t> </a:t>
            </a:r>
            <a:r>
              <a:rPr lang="en-US" dirty="0">
                <a:cs typeface="Times New Roman"/>
              </a:rPr>
              <a:t>of</a:t>
            </a:r>
            <a:r>
              <a:rPr lang="en-US" spc="-47" dirty="0">
                <a:cs typeface="Times New Roman"/>
              </a:rPr>
              <a:t> </a:t>
            </a:r>
            <a:r>
              <a:rPr lang="en-US" dirty="0">
                <a:cs typeface="Times New Roman"/>
              </a:rPr>
              <a:t>air</a:t>
            </a:r>
            <a:r>
              <a:rPr lang="en-US" spc="-47" dirty="0">
                <a:cs typeface="Times New Roman"/>
              </a:rPr>
              <a:t> </a:t>
            </a:r>
            <a:r>
              <a:rPr lang="en-US" dirty="0">
                <a:cs typeface="Times New Roman"/>
              </a:rPr>
              <a:t>above</a:t>
            </a:r>
            <a:r>
              <a:rPr lang="en-US" spc="-60" dirty="0">
                <a:cs typeface="Times New Roman"/>
              </a:rPr>
              <a:t> </a:t>
            </a:r>
            <a:r>
              <a:rPr lang="en-US" spc="-13" dirty="0">
                <a:cs typeface="Times New Roman"/>
              </a:rPr>
              <a:t>them and </a:t>
            </a:r>
            <a:r>
              <a:rPr lang="en-US" dirty="0">
                <a:cs typeface="Times New Roman"/>
              </a:rPr>
              <a:t>cool</a:t>
            </a:r>
            <a:r>
              <a:rPr lang="en-US" spc="-40" dirty="0">
                <a:cs typeface="Times New Roman"/>
              </a:rPr>
              <a:t> </a:t>
            </a:r>
            <a:r>
              <a:rPr lang="en-US" dirty="0">
                <a:cs typeface="Times New Roman"/>
              </a:rPr>
              <a:t>and</a:t>
            </a:r>
            <a:r>
              <a:rPr lang="en-US" spc="-40" dirty="0">
                <a:cs typeface="Times New Roman"/>
              </a:rPr>
              <a:t> </a:t>
            </a:r>
            <a:r>
              <a:rPr lang="en-US" dirty="0">
                <a:cs typeface="Times New Roman"/>
              </a:rPr>
              <a:t>heavier</a:t>
            </a:r>
            <a:r>
              <a:rPr lang="en-US" spc="-27" dirty="0">
                <a:cs typeface="Times New Roman"/>
              </a:rPr>
              <a:t> </a:t>
            </a:r>
            <a:r>
              <a:rPr lang="en-US" dirty="0">
                <a:cs typeface="Times New Roman"/>
              </a:rPr>
              <a:t>air</a:t>
            </a:r>
            <a:r>
              <a:rPr lang="en-US" spc="-20" dirty="0">
                <a:cs typeface="Times New Roman"/>
              </a:rPr>
              <a:t> </a:t>
            </a:r>
            <a:r>
              <a:rPr lang="en-US" dirty="0">
                <a:cs typeface="Times New Roman"/>
              </a:rPr>
              <a:t>blow</a:t>
            </a:r>
            <a:r>
              <a:rPr lang="en-US" spc="-53" dirty="0">
                <a:cs typeface="Times New Roman"/>
              </a:rPr>
              <a:t> </a:t>
            </a:r>
            <a:r>
              <a:rPr lang="en-US" dirty="0">
                <a:cs typeface="Times New Roman"/>
              </a:rPr>
              <a:t>from</a:t>
            </a:r>
            <a:r>
              <a:rPr lang="en-US" spc="-40" dirty="0">
                <a:cs typeface="Times New Roman"/>
              </a:rPr>
              <a:t> </a:t>
            </a:r>
            <a:r>
              <a:rPr lang="en-US" dirty="0">
                <a:cs typeface="Times New Roman"/>
              </a:rPr>
              <a:t>water</a:t>
            </a:r>
            <a:r>
              <a:rPr lang="en-US" spc="-13" dirty="0">
                <a:cs typeface="Times New Roman"/>
              </a:rPr>
              <a:t> </a:t>
            </a:r>
            <a:r>
              <a:rPr lang="en-US" dirty="0">
                <a:cs typeface="Times New Roman"/>
              </a:rPr>
              <a:t>towards</a:t>
            </a:r>
            <a:r>
              <a:rPr lang="en-US" spc="-27" dirty="0">
                <a:cs typeface="Times New Roman"/>
              </a:rPr>
              <a:t> </a:t>
            </a:r>
            <a:r>
              <a:rPr lang="en-US" spc="-13" dirty="0">
                <a:cs typeface="Times New Roman"/>
              </a:rPr>
              <a:t>land.</a:t>
            </a:r>
            <a:endParaRPr lang="en-US" dirty="0">
              <a:cs typeface="Times New Roman"/>
            </a:endParaRPr>
          </a:p>
          <a:p>
            <a:pPr marL="1371589" lvl="2" indent="-440256">
              <a:spcBef>
                <a:spcPts val="1280"/>
              </a:spcBef>
              <a:tabLst>
                <a:tab pos="457189" algn="l"/>
              </a:tabLst>
            </a:pPr>
            <a:r>
              <a:rPr lang="en-US" dirty="0">
                <a:cs typeface="Times New Roman"/>
              </a:rPr>
              <a:t>At</a:t>
            </a:r>
            <a:r>
              <a:rPr lang="en-US" spc="-40" dirty="0">
                <a:cs typeface="Times New Roman"/>
              </a:rPr>
              <a:t> </a:t>
            </a:r>
            <a:r>
              <a:rPr lang="en-US" dirty="0">
                <a:cs typeface="Times New Roman"/>
              </a:rPr>
              <a:t>night,</a:t>
            </a:r>
            <a:r>
              <a:rPr lang="en-US" spc="-53" dirty="0">
                <a:cs typeface="Times New Roman"/>
              </a:rPr>
              <a:t> </a:t>
            </a:r>
            <a:r>
              <a:rPr lang="en-US" dirty="0">
                <a:cs typeface="Times New Roman"/>
              </a:rPr>
              <a:t>the</a:t>
            </a:r>
            <a:r>
              <a:rPr lang="en-US" spc="-40" dirty="0">
                <a:cs typeface="Times New Roman"/>
              </a:rPr>
              <a:t> </a:t>
            </a:r>
            <a:r>
              <a:rPr lang="en-US" dirty="0">
                <a:cs typeface="Times New Roman"/>
              </a:rPr>
              <a:t>direction of</a:t>
            </a:r>
            <a:r>
              <a:rPr lang="en-US" spc="-53" dirty="0">
                <a:cs typeface="Times New Roman"/>
              </a:rPr>
              <a:t> </a:t>
            </a:r>
            <a:r>
              <a:rPr lang="en-US" dirty="0">
                <a:cs typeface="Times New Roman"/>
              </a:rPr>
              <a:t>wind</a:t>
            </a:r>
            <a:r>
              <a:rPr lang="en-US" spc="-47" dirty="0">
                <a:cs typeface="Times New Roman"/>
              </a:rPr>
              <a:t> </a:t>
            </a:r>
            <a:r>
              <a:rPr lang="en-US" dirty="0">
                <a:cs typeface="Times New Roman"/>
              </a:rPr>
              <a:t>is</a:t>
            </a:r>
            <a:r>
              <a:rPr lang="en-US" spc="-33" dirty="0">
                <a:cs typeface="Times New Roman"/>
              </a:rPr>
              <a:t> </a:t>
            </a:r>
            <a:r>
              <a:rPr lang="en-US" dirty="0">
                <a:cs typeface="Times New Roman"/>
              </a:rPr>
              <a:t>reversed as</a:t>
            </a:r>
            <a:r>
              <a:rPr lang="en-US" spc="-40" dirty="0">
                <a:cs typeface="Times New Roman"/>
              </a:rPr>
              <a:t> </a:t>
            </a:r>
            <a:r>
              <a:rPr lang="en-US" dirty="0">
                <a:cs typeface="Times New Roman"/>
              </a:rPr>
              <a:t>the</a:t>
            </a:r>
            <a:r>
              <a:rPr lang="en-US" spc="-47" dirty="0">
                <a:cs typeface="Times New Roman"/>
              </a:rPr>
              <a:t> </a:t>
            </a:r>
            <a:r>
              <a:rPr lang="en-US" dirty="0">
                <a:cs typeface="Times New Roman"/>
              </a:rPr>
              <a:t>land</a:t>
            </a:r>
            <a:r>
              <a:rPr lang="en-US" spc="-33" dirty="0">
                <a:cs typeface="Times New Roman"/>
              </a:rPr>
              <a:t> </a:t>
            </a:r>
            <a:r>
              <a:rPr lang="en-US" dirty="0">
                <a:cs typeface="Times New Roman"/>
              </a:rPr>
              <a:t>mass</a:t>
            </a:r>
            <a:r>
              <a:rPr lang="en-US" spc="13" dirty="0">
                <a:cs typeface="Times New Roman"/>
              </a:rPr>
              <a:t> </a:t>
            </a:r>
            <a:r>
              <a:rPr lang="en-US" dirty="0">
                <a:cs typeface="Times New Roman"/>
              </a:rPr>
              <a:t>cools</a:t>
            </a:r>
            <a:r>
              <a:rPr lang="en-US" spc="-27" dirty="0">
                <a:cs typeface="Times New Roman"/>
              </a:rPr>
              <a:t> </a:t>
            </a:r>
            <a:r>
              <a:rPr lang="en-US" dirty="0">
                <a:cs typeface="Times New Roman"/>
              </a:rPr>
              <a:t>more rapidly</a:t>
            </a:r>
            <a:r>
              <a:rPr lang="en-US" spc="-33" dirty="0">
                <a:cs typeface="Times New Roman"/>
              </a:rPr>
              <a:t> </a:t>
            </a:r>
            <a:r>
              <a:rPr lang="en-US" dirty="0">
                <a:cs typeface="Times New Roman"/>
              </a:rPr>
              <a:t>than</a:t>
            </a:r>
            <a:r>
              <a:rPr lang="en-US" spc="-33" dirty="0">
                <a:cs typeface="Times New Roman"/>
              </a:rPr>
              <a:t> </a:t>
            </a:r>
            <a:r>
              <a:rPr lang="en-US" dirty="0">
                <a:cs typeface="Times New Roman"/>
              </a:rPr>
              <a:t>the</a:t>
            </a:r>
            <a:r>
              <a:rPr lang="en-US" spc="-33" dirty="0">
                <a:cs typeface="Times New Roman"/>
              </a:rPr>
              <a:t> </a:t>
            </a:r>
            <a:r>
              <a:rPr lang="en-US" spc="-13" dirty="0">
                <a:cs typeface="Times New Roman"/>
              </a:rPr>
              <a:t>water.</a:t>
            </a:r>
          </a:p>
          <a:p>
            <a:pPr marL="931333" lvl="1" indent="-457200">
              <a:spcBef>
                <a:spcPts val="1280"/>
              </a:spcBef>
              <a:buFont typeface="+mj-lt"/>
              <a:buAutoNum type="arabicPeriod" startAt="2"/>
              <a:tabLst>
                <a:tab pos="457189" algn="l"/>
              </a:tabLst>
            </a:pPr>
            <a:r>
              <a:rPr lang="en-US" b="1" dirty="0">
                <a:cs typeface="Times New Roman"/>
              </a:rPr>
              <a:t>Differential</a:t>
            </a:r>
            <a:r>
              <a:rPr lang="en-US" b="1" spc="-7" dirty="0">
                <a:cs typeface="Times New Roman"/>
              </a:rPr>
              <a:t> </a:t>
            </a:r>
            <a:r>
              <a:rPr lang="en-US" b="1" dirty="0">
                <a:cs typeface="Times New Roman"/>
              </a:rPr>
              <a:t>heating</a:t>
            </a:r>
            <a:r>
              <a:rPr lang="en-US" b="1" spc="-33" dirty="0">
                <a:cs typeface="Times New Roman"/>
              </a:rPr>
              <a:t> </a:t>
            </a:r>
            <a:r>
              <a:rPr lang="en-US" b="1" dirty="0">
                <a:cs typeface="Times New Roman"/>
              </a:rPr>
              <a:t>of</a:t>
            </a:r>
            <a:r>
              <a:rPr lang="en-US" b="1" spc="-33" dirty="0">
                <a:cs typeface="Times New Roman"/>
              </a:rPr>
              <a:t> </a:t>
            </a:r>
            <a:r>
              <a:rPr lang="en-US" b="1" dirty="0">
                <a:cs typeface="Times New Roman"/>
              </a:rPr>
              <a:t>slope</a:t>
            </a:r>
            <a:r>
              <a:rPr lang="en-US" b="1" spc="-33" dirty="0">
                <a:cs typeface="Times New Roman"/>
              </a:rPr>
              <a:t> </a:t>
            </a:r>
            <a:r>
              <a:rPr lang="en-US" b="1" dirty="0">
                <a:cs typeface="Times New Roman"/>
              </a:rPr>
              <a:t>on</a:t>
            </a:r>
            <a:r>
              <a:rPr lang="en-US" b="1" spc="-67" dirty="0">
                <a:cs typeface="Times New Roman"/>
              </a:rPr>
              <a:t> </a:t>
            </a:r>
            <a:r>
              <a:rPr lang="en-US" b="1" dirty="0">
                <a:cs typeface="Times New Roman"/>
              </a:rPr>
              <a:t>the</a:t>
            </a:r>
            <a:r>
              <a:rPr lang="en-US" b="1" spc="-33" dirty="0">
                <a:cs typeface="Times New Roman"/>
              </a:rPr>
              <a:t> </a:t>
            </a:r>
            <a:r>
              <a:rPr lang="en-US" b="1" dirty="0">
                <a:cs typeface="Times New Roman"/>
              </a:rPr>
              <a:t>hillsides</a:t>
            </a:r>
            <a:r>
              <a:rPr lang="en-US" b="1" spc="-20" dirty="0">
                <a:cs typeface="Times New Roman"/>
              </a:rPr>
              <a:t> </a:t>
            </a:r>
            <a:r>
              <a:rPr lang="en-US" b="1" dirty="0">
                <a:cs typeface="Times New Roman"/>
              </a:rPr>
              <a:t>and</a:t>
            </a:r>
            <a:r>
              <a:rPr lang="en-US" b="1" spc="-40" dirty="0">
                <a:cs typeface="Times New Roman"/>
              </a:rPr>
              <a:t> </a:t>
            </a:r>
            <a:r>
              <a:rPr lang="en-US" b="1" dirty="0">
                <a:cs typeface="Times New Roman"/>
              </a:rPr>
              <a:t>that</a:t>
            </a:r>
            <a:r>
              <a:rPr lang="en-US" b="1" spc="-20" dirty="0">
                <a:cs typeface="Times New Roman"/>
              </a:rPr>
              <a:t> </a:t>
            </a:r>
            <a:r>
              <a:rPr lang="en-US" b="1" dirty="0">
                <a:cs typeface="Times New Roman"/>
              </a:rPr>
              <a:t>of</a:t>
            </a:r>
            <a:r>
              <a:rPr lang="en-US" b="1" spc="-33" dirty="0">
                <a:cs typeface="Times New Roman"/>
              </a:rPr>
              <a:t> </a:t>
            </a:r>
            <a:r>
              <a:rPr lang="en-US" b="1" dirty="0">
                <a:cs typeface="Times New Roman"/>
              </a:rPr>
              <a:t>low</a:t>
            </a:r>
            <a:r>
              <a:rPr lang="en-US" b="1" spc="-53" dirty="0">
                <a:cs typeface="Times New Roman"/>
              </a:rPr>
              <a:t> </a:t>
            </a:r>
            <a:r>
              <a:rPr lang="en-US" b="1" spc="-13" dirty="0">
                <a:cs typeface="Times New Roman"/>
              </a:rPr>
              <a:t>lands.</a:t>
            </a:r>
            <a:endParaRPr lang="en-US" b="1" dirty="0">
              <a:cs typeface="Times New Roman"/>
            </a:endParaRPr>
          </a:p>
          <a:p>
            <a:pPr marL="1371589" lvl="2" indent="-440256">
              <a:spcBef>
                <a:spcPts val="1287"/>
              </a:spcBef>
              <a:tabLst>
                <a:tab pos="457189" algn="l"/>
              </a:tabLst>
            </a:pPr>
            <a:r>
              <a:rPr lang="en-US" dirty="0">
                <a:cs typeface="Times New Roman"/>
              </a:rPr>
              <a:t>The</a:t>
            </a:r>
            <a:r>
              <a:rPr lang="en-US" spc="-33" dirty="0">
                <a:cs typeface="Times New Roman"/>
              </a:rPr>
              <a:t> </a:t>
            </a:r>
            <a:r>
              <a:rPr lang="en-US" dirty="0">
                <a:cs typeface="Times New Roman"/>
              </a:rPr>
              <a:t>slope</a:t>
            </a:r>
            <a:r>
              <a:rPr lang="en-US" spc="-47" dirty="0">
                <a:cs typeface="Times New Roman"/>
              </a:rPr>
              <a:t> </a:t>
            </a:r>
            <a:r>
              <a:rPr lang="en-US" dirty="0">
                <a:cs typeface="Times New Roman"/>
              </a:rPr>
              <a:t>heats</a:t>
            </a:r>
            <a:r>
              <a:rPr lang="en-US" spc="-13" dirty="0">
                <a:cs typeface="Times New Roman"/>
              </a:rPr>
              <a:t> </a:t>
            </a:r>
            <a:r>
              <a:rPr lang="en-US" dirty="0">
                <a:cs typeface="Times New Roman"/>
              </a:rPr>
              <a:t>up</a:t>
            </a:r>
            <a:r>
              <a:rPr lang="en-US" spc="-60" dirty="0">
                <a:cs typeface="Times New Roman"/>
              </a:rPr>
              <a:t> </a:t>
            </a:r>
            <a:r>
              <a:rPr lang="en-US" dirty="0">
                <a:cs typeface="Times New Roman"/>
              </a:rPr>
              <a:t>during</a:t>
            </a:r>
            <a:r>
              <a:rPr lang="en-US" spc="-20" dirty="0">
                <a:cs typeface="Times New Roman"/>
              </a:rPr>
              <a:t> </a:t>
            </a:r>
            <a:r>
              <a:rPr lang="en-US" dirty="0">
                <a:cs typeface="Times New Roman"/>
              </a:rPr>
              <a:t>the</a:t>
            </a:r>
            <a:r>
              <a:rPr lang="en-US" spc="-47" dirty="0">
                <a:cs typeface="Times New Roman"/>
              </a:rPr>
              <a:t> </a:t>
            </a:r>
            <a:r>
              <a:rPr lang="en-US" dirty="0">
                <a:cs typeface="Times New Roman"/>
              </a:rPr>
              <a:t>day</a:t>
            </a:r>
            <a:r>
              <a:rPr lang="en-US" spc="-47" dirty="0">
                <a:cs typeface="Times New Roman"/>
              </a:rPr>
              <a:t> </a:t>
            </a:r>
            <a:r>
              <a:rPr lang="en-US" dirty="0">
                <a:cs typeface="Times New Roman"/>
              </a:rPr>
              <a:t>and</a:t>
            </a:r>
            <a:r>
              <a:rPr lang="en-US" spc="-27" dirty="0">
                <a:cs typeface="Times New Roman"/>
              </a:rPr>
              <a:t> </a:t>
            </a:r>
            <a:r>
              <a:rPr lang="en-US" dirty="0">
                <a:cs typeface="Times New Roman"/>
              </a:rPr>
              <a:t>cools</a:t>
            </a:r>
            <a:r>
              <a:rPr lang="en-US" spc="-40" dirty="0">
                <a:cs typeface="Times New Roman"/>
              </a:rPr>
              <a:t> </a:t>
            </a:r>
            <a:r>
              <a:rPr lang="en-US" dirty="0">
                <a:cs typeface="Times New Roman"/>
              </a:rPr>
              <a:t>down</a:t>
            </a:r>
            <a:r>
              <a:rPr lang="en-US" spc="-60" dirty="0">
                <a:cs typeface="Times New Roman"/>
              </a:rPr>
              <a:t> </a:t>
            </a:r>
            <a:r>
              <a:rPr lang="en-US" dirty="0">
                <a:cs typeface="Times New Roman"/>
              </a:rPr>
              <a:t>during</a:t>
            </a:r>
            <a:r>
              <a:rPr lang="en-US" spc="-20" dirty="0">
                <a:cs typeface="Times New Roman"/>
              </a:rPr>
              <a:t> </a:t>
            </a:r>
            <a:r>
              <a:rPr lang="en-US" dirty="0">
                <a:cs typeface="Times New Roman"/>
              </a:rPr>
              <a:t>night</a:t>
            </a:r>
            <a:r>
              <a:rPr lang="en-US" spc="-47" dirty="0">
                <a:cs typeface="Times New Roman"/>
              </a:rPr>
              <a:t> </a:t>
            </a:r>
            <a:r>
              <a:rPr lang="en-US" dirty="0">
                <a:cs typeface="Times New Roman"/>
              </a:rPr>
              <a:t>more</a:t>
            </a:r>
            <a:r>
              <a:rPr lang="en-US" spc="7" dirty="0">
                <a:cs typeface="Times New Roman"/>
              </a:rPr>
              <a:t> </a:t>
            </a:r>
            <a:r>
              <a:rPr lang="en-US" dirty="0">
                <a:cs typeface="Times New Roman"/>
              </a:rPr>
              <a:t>rapidly</a:t>
            </a:r>
            <a:r>
              <a:rPr lang="en-US" spc="-13" dirty="0">
                <a:cs typeface="Times New Roman"/>
              </a:rPr>
              <a:t> </a:t>
            </a:r>
            <a:r>
              <a:rPr lang="en-US" dirty="0">
                <a:cs typeface="Times New Roman"/>
              </a:rPr>
              <a:t>than</a:t>
            </a:r>
            <a:r>
              <a:rPr lang="en-US" spc="-40" dirty="0">
                <a:cs typeface="Times New Roman"/>
              </a:rPr>
              <a:t> </a:t>
            </a:r>
            <a:r>
              <a:rPr lang="en-US" dirty="0">
                <a:cs typeface="Times New Roman"/>
              </a:rPr>
              <a:t>the</a:t>
            </a:r>
            <a:r>
              <a:rPr lang="en-US" spc="-33" dirty="0">
                <a:cs typeface="Times New Roman"/>
              </a:rPr>
              <a:t> </a:t>
            </a:r>
            <a:r>
              <a:rPr lang="en-US" dirty="0">
                <a:cs typeface="Times New Roman"/>
              </a:rPr>
              <a:t>low</a:t>
            </a:r>
            <a:r>
              <a:rPr lang="en-US" spc="-33" dirty="0">
                <a:cs typeface="Times New Roman"/>
              </a:rPr>
              <a:t> </a:t>
            </a:r>
            <a:r>
              <a:rPr lang="en-US" spc="-27" dirty="0">
                <a:cs typeface="Times New Roman"/>
              </a:rPr>
              <a:t>land</a:t>
            </a:r>
            <a:endParaRPr lang="en-US" dirty="0">
              <a:cs typeface="Times New Roman"/>
            </a:endParaRPr>
          </a:p>
        </p:txBody>
      </p:sp>
    </p:spTree>
    <p:extLst>
      <p:ext uri="{BB962C8B-B14F-4D97-AF65-F5344CB8AC3E}">
        <p14:creationId xmlns:p14="http://schemas.microsoft.com/office/powerpoint/2010/main" val="2010151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3E5C1B-B45B-E235-1892-1348333AD721}"/>
              </a:ext>
            </a:extLst>
          </p:cNvPr>
          <p:cNvSpPr>
            <a:spLocks noGrp="1"/>
          </p:cNvSpPr>
          <p:nvPr>
            <p:ph type="title"/>
          </p:nvPr>
        </p:nvSpPr>
        <p:spPr/>
        <p:txBody>
          <a:bodyPr/>
          <a:lstStyle/>
          <a:p>
            <a:r>
              <a:rPr lang="en-IN" b="1" dirty="0">
                <a:latin typeface="+mn-lt"/>
                <a:cs typeface="Times New Roman"/>
              </a:rPr>
              <a:t>Evaluation</a:t>
            </a:r>
            <a:r>
              <a:rPr lang="en-IN" b="1" spc="-60" dirty="0">
                <a:latin typeface="+mn-lt"/>
                <a:cs typeface="Times New Roman"/>
              </a:rPr>
              <a:t> </a:t>
            </a:r>
            <a:r>
              <a:rPr lang="en-IN" b="1" dirty="0">
                <a:latin typeface="+mn-lt"/>
                <a:cs typeface="Times New Roman"/>
              </a:rPr>
              <a:t>of</a:t>
            </a:r>
            <a:r>
              <a:rPr lang="en-IN" b="1" spc="-47" dirty="0">
                <a:latin typeface="+mn-lt"/>
                <a:cs typeface="Times New Roman"/>
              </a:rPr>
              <a:t> </a:t>
            </a:r>
            <a:r>
              <a:rPr lang="en-IN" b="1" dirty="0">
                <a:latin typeface="+mn-lt"/>
                <a:cs typeface="Times New Roman"/>
              </a:rPr>
              <a:t>Wind</a:t>
            </a:r>
            <a:r>
              <a:rPr lang="en-IN" b="1" spc="-40" dirty="0">
                <a:latin typeface="+mn-lt"/>
                <a:cs typeface="Times New Roman"/>
              </a:rPr>
              <a:t> </a:t>
            </a:r>
            <a:r>
              <a:rPr lang="en-IN" b="1" spc="-13" dirty="0">
                <a:latin typeface="+mn-lt"/>
                <a:cs typeface="Times New Roman"/>
              </a:rPr>
              <a:t>Intensity</a:t>
            </a:r>
            <a:endParaRPr lang="en-IN" dirty="0">
              <a:latin typeface="+mn-lt"/>
            </a:endParaRPr>
          </a:p>
        </p:txBody>
      </p:sp>
      <p:sp>
        <p:nvSpPr>
          <p:cNvPr id="5" name="Content Placeholder 4">
            <a:extLst>
              <a:ext uri="{FF2B5EF4-FFF2-40B4-BE49-F238E27FC236}">
                <a16:creationId xmlns:a16="http://schemas.microsoft.com/office/drawing/2014/main" id="{343E86DB-91EA-FB8E-365B-53EDEF7A02A0}"/>
              </a:ext>
            </a:extLst>
          </p:cNvPr>
          <p:cNvSpPr>
            <a:spLocks noGrp="1"/>
          </p:cNvSpPr>
          <p:nvPr>
            <p:ph idx="1"/>
          </p:nvPr>
        </p:nvSpPr>
        <p:spPr/>
        <p:txBody>
          <a:bodyPr/>
          <a:lstStyle/>
          <a:p>
            <a:pPr marL="473275" marR="6773" indent="-457189">
              <a:lnSpc>
                <a:spcPct val="114999"/>
              </a:lnSpc>
              <a:spcBef>
                <a:spcPts val="2285"/>
              </a:spcBef>
              <a:buChar char="●"/>
              <a:tabLst>
                <a:tab pos="473275" algn="l"/>
              </a:tabLst>
            </a:pPr>
            <a:r>
              <a:rPr lang="en-US" dirty="0">
                <a:cs typeface="Times New Roman"/>
              </a:rPr>
              <a:t>The</a:t>
            </a:r>
            <a:r>
              <a:rPr lang="en-US" spc="40" dirty="0">
                <a:cs typeface="Times New Roman"/>
              </a:rPr>
              <a:t> </a:t>
            </a:r>
            <a:r>
              <a:rPr lang="en-US" dirty="0">
                <a:cs typeface="Times New Roman"/>
              </a:rPr>
              <a:t>energy</a:t>
            </a:r>
            <a:r>
              <a:rPr lang="en-US" spc="40" dirty="0">
                <a:cs typeface="Times New Roman"/>
              </a:rPr>
              <a:t> </a:t>
            </a:r>
            <a:r>
              <a:rPr lang="en-US" dirty="0">
                <a:cs typeface="Times New Roman"/>
              </a:rPr>
              <a:t>captured</a:t>
            </a:r>
            <a:r>
              <a:rPr lang="en-US" spc="40" dirty="0">
                <a:cs typeface="Times New Roman"/>
              </a:rPr>
              <a:t> </a:t>
            </a:r>
            <a:r>
              <a:rPr lang="en-US" dirty="0">
                <a:cs typeface="Times New Roman"/>
              </a:rPr>
              <a:t>by</a:t>
            </a:r>
            <a:r>
              <a:rPr lang="en-US" spc="47" dirty="0">
                <a:cs typeface="Times New Roman"/>
              </a:rPr>
              <a:t> </a:t>
            </a:r>
            <a:r>
              <a:rPr lang="en-US" dirty="0">
                <a:cs typeface="Times New Roman"/>
              </a:rPr>
              <a:t>the</a:t>
            </a:r>
            <a:r>
              <a:rPr lang="en-US" spc="47" dirty="0">
                <a:cs typeface="Times New Roman"/>
              </a:rPr>
              <a:t> </a:t>
            </a:r>
            <a:r>
              <a:rPr lang="en-US" dirty="0">
                <a:cs typeface="Times New Roman"/>
              </a:rPr>
              <a:t>rotor</a:t>
            </a:r>
            <a:r>
              <a:rPr lang="en-US" spc="27" dirty="0">
                <a:cs typeface="Times New Roman"/>
              </a:rPr>
              <a:t> </a:t>
            </a:r>
            <a:r>
              <a:rPr lang="en-US" dirty="0">
                <a:cs typeface="Times New Roman"/>
              </a:rPr>
              <a:t>of</a:t>
            </a:r>
            <a:r>
              <a:rPr lang="en-US" spc="27" dirty="0">
                <a:cs typeface="Times New Roman"/>
              </a:rPr>
              <a:t> </a:t>
            </a:r>
            <a:r>
              <a:rPr lang="en-US" dirty="0">
                <a:cs typeface="Times New Roman"/>
              </a:rPr>
              <a:t>a</a:t>
            </a:r>
            <a:r>
              <a:rPr lang="en-US" spc="40" dirty="0">
                <a:cs typeface="Times New Roman"/>
              </a:rPr>
              <a:t> </a:t>
            </a:r>
            <a:r>
              <a:rPr lang="en-US" dirty="0">
                <a:cs typeface="Times New Roman"/>
              </a:rPr>
              <a:t>wind</a:t>
            </a:r>
            <a:r>
              <a:rPr lang="en-US" spc="27" dirty="0">
                <a:cs typeface="Times New Roman"/>
              </a:rPr>
              <a:t> </a:t>
            </a:r>
            <a:r>
              <a:rPr lang="en-US" dirty="0">
                <a:cs typeface="Times New Roman"/>
              </a:rPr>
              <a:t>turbine</a:t>
            </a:r>
            <a:r>
              <a:rPr lang="en-US" spc="47" dirty="0">
                <a:cs typeface="Times New Roman"/>
              </a:rPr>
              <a:t> </a:t>
            </a:r>
            <a:r>
              <a:rPr lang="en-US" dirty="0">
                <a:cs typeface="Times New Roman"/>
              </a:rPr>
              <a:t>is</a:t>
            </a:r>
            <a:r>
              <a:rPr lang="en-US" spc="27" dirty="0">
                <a:cs typeface="Times New Roman"/>
              </a:rPr>
              <a:t> </a:t>
            </a:r>
            <a:r>
              <a:rPr lang="en-US" dirty="0">
                <a:cs typeface="Times New Roman"/>
              </a:rPr>
              <a:t>proportional to</a:t>
            </a:r>
            <a:r>
              <a:rPr lang="en-US" spc="33" dirty="0">
                <a:cs typeface="Times New Roman"/>
              </a:rPr>
              <a:t> </a:t>
            </a:r>
            <a:r>
              <a:rPr lang="en-US" dirty="0">
                <a:cs typeface="Times New Roman"/>
              </a:rPr>
              <a:t>the</a:t>
            </a:r>
            <a:r>
              <a:rPr lang="en-US" spc="40" dirty="0">
                <a:cs typeface="Times New Roman"/>
              </a:rPr>
              <a:t> </a:t>
            </a:r>
            <a:r>
              <a:rPr lang="en-US" dirty="0">
                <a:cs typeface="Times New Roman"/>
              </a:rPr>
              <a:t>cubic</a:t>
            </a:r>
            <a:r>
              <a:rPr lang="en-US" spc="53" dirty="0">
                <a:cs typeface="Times New Roman"/>
              </a:rPr>
              <a:t> </a:t>
            </a:r>
            <a:r>
              <a:rPr lang="en-US" spc="-13" dirty="0">
                <a:cs typeface="Times New Roman"/>
              </a:rPr>
              <a:t>power </a:t>
            </a:r>
            <a:r>
              <a:rPr lang="en-US" dirty="0">
                <a:cs typeface="Times New Roman"/>
              </a:rPr>
              <a:t>of</a:t>
            </a:r>
            <a:r>
              <a:rPr lang="en-US" spc="-33" dirty="0">
                <a:cs typeface="Times New Roman"/>
              </a:rPr>
              <a:t> </a:t>
            </a:r>
            <a:r>
              <a:rPr lang="en-US" dirty="0">
                <a:cs typeface="Times New Roman"/>
              </a:rPr>
              <a:t>the</a:t>
            </a:r>
            <a:r>
              <a:rPr lang="en-US" spc="-13" dirty="0">
                <a:cs typeface="Times New Roman"/>
              </a:rPr>
              <a:t> </a:t>
            </a:r>
            <a:r>
              <a:rPr lang="en-US" dirty="0">
                <a:cs typeface="Times New Roman"/>
              </a:rPr>
              <a:t>wind</a:t>
            </a:r>
            <a:r>
              <a:rPr lang="en-US" spc="-13" dirty="0">
                <a:cs typeface="Times New Roman"/>
              </a:rPr>
              <a:t> speed</a:t>
            </a:r>
            <a:endParaRPr lang="en-US" dirty="0">
              <a:cs typeface="Times New Roman"/>
            </a:endParaRPr>
          </a:p>
          <a:p>
            <a:pPr marL="473275" indent="-456342">
              <a:spcBef>
                <a:spcPts val="433"/>
              </a:spcBef>
              <a:buChar char="●"/>
              <a:tabLst>
                <a:tab pos="473275" algn="l"/>
              </a:tabLst>
            </a:pPr>
            <a:r>
              <a:rPr lang="en-US" dirty="0">
                <a:cs typeface="Times New Roman"/>
              </a:rPr>
              <a:t>Wind</a:t>
            </a:r>
            <a:r>
              <a:rPr lang="en-US" spc="-27" dirty="0">
                <a:cs typeface="Times New Roman"/>
              </a:rPr>
              <a:t> </a:t>
            </a:r>
            <a:r>
              <a:rPr lang="en-US" dirty="0">
                <a:cs typeface="Times New Roman"/>
              </a:rPr>
              <a:t>power</a:t>
            </a:r>
            <a:r>
              <a:rPr lang="en-US" spc="-7" dirty="0">
                <a:cs typeface="Times New Roman"/>
              </a:rPr>
              <a:t> </a:t>
            </a:r>
            <a:r>
              <a:rPr lang="en-US" spc="-33" dirty="0">
                <a:cs typeface="Times New Roman"/>
              </a:rPr>
              <a:t>P,</a:t>
            </a:r>
            <a:endParaRPr lang="en-US" dirty="0">
              <a:cs typeface="Times New Roman"/>
            </a:endParaRPr>
          </a:p>
          <a:p>
            <a:endParaRPr lang="en-IN" dirty="0"/>
          </a:p>
        </p:txBody>
      </p:sp>
      <p:pic>
        <p:nvPicPr>
          <p:cNvPr id="6" name="object 3"/>
          <p:cNvPicPr/>
          <p:nvPr/>
        </p:nvPicPr>
        <p:blipFill>
          <a:blip r:embed="rId2" cstate="print"/>
          <a:stretch>
            <a:fillRect/>
          </a:stretch>
        </p:blipFill>
        <p:spPr>
          <a:xfrm>
            <a:off x="1325267" y="3429000"/>
            <a:ext cx="3665419" cy="918863"/>
          </a:xfrm>
          <a:prstGeom prst="rect">
            <a:avLst/>
          </a:prstGeom>
        </p:spPr>
      </p:pic>
      <p:sp>
        <p:nvSpPr>
          <p:cNvPr id="7" name="object 11">
            <a:extLst>
              <a:ext uri="{FF2B5EF4-FFF2-40B4-BE49-F238E27FC236}">
                <a16:creationId xmlns:a16="http://schemas.microsoft.com/office/drawing/2014/main" id="{7C1A3690-9BC5-4118-AE46-1F0C707F279E}"/>
              </a:ext>
            </a:extLst>
          </p:cNvPr>
          <p:cNvSpPr txBox="1"/>
          <p:nvPr/>
        </p:nvSpPr>
        <p:spPr>
          <a:xfrm>
            <a:off x="5477753" y="3607905"/>
            <a:ext cx="416151" cy="344475"/>
          </a:xfrm>
          <a:prstGeom prst="rect">
            <a:avLst/>
          </a:prstGeom>
        </p:spPr>
        <p:txBody>
          <a:bodyPr vert="horz" wrap="square" lIns="0" tIns="16087" rIns="0" bIns="0" rtlCol="0">
            <a:spAutoFit/>
          </a:bodyPr>
          <a:lstStyle/>
          <a:p>
            <a:pPr marL="16933">
              <a:spcBef>
                <a:spcPts val="127"/>
              </a:spcBef>
            </a:pPr>
            <a:r>
              <a:rPr sz="2133" spc="-33" dirty="0">
                <a:latin typeface="Times New Roman"/>
                <a:cs typeface="Times New Roman"/>
              </a:rPr>
              <a:t>(1)</a:t>
            </a:r>
            <a:endParaRPr sz="2133" dirty="0">
              <a:latin typeface="Times New Roman"/>
              <a:cs typeface="Times New Roman"/>
            </a:endParaRPr>
          </a:p>
        </p:txBody>
      </p:sp>
      <p:pic>
        <p:nvPicPr>
          <p:cNvPr id="8" name="object 4">
            <a:extLst>
              <a:ext uri="{FF2B5EF4-FFF2-40B4-BE49-F238E27FC236}">
                <a16:creationId xmlns:a16="http://schemas.microsoft.com/office/drawing/2014/main" id="{5987233E-6C21-4057-2F9C-729F5AD024E8}"/>
              </a:ext>
            </a:extLst>
          </p:cNvPr>
          <p:cNvPicPr/>
          <p:nvPr/>
        </p:nvPicPr>
        <p:blipFill>
          <a:blip r:embed="rId3" cstate="print"/>
          <a:stretch>
            <a:fillRect/>
          </a:stretch>
        </p:blipFill>
        <p:spPr>
          <a:xfrm>
            <a:off x="1613464" y="4565897"/>
            <a:ext cx="2860350" cy="1065749"/>
          </a:xfrm>
          <a:prstGeom prst="rect">
            <a:avLst/>
          </a:prstGeom>
        </p:spPr>
      </p:pic>
      <p:sp>
        <p:nvSpPr>
          <p:cNvPr id="9" name="object 12">
            <a:extLst>
              <a:ext uri="{FF2B5EF4-FFF2-40B4-BE49-F238E27FC236}">
                <a16:creationId xmlns:a16="http://schemas.microsoft.com/office/drawing/2014/main" id="{66CBB52C-2880-4E4C-2256-A0DAFFE4B0A7}"/>
              </a:ext>
            </a:extLst>
          </p:cNvPr>
          <p:cNvSpPr txBox="1"/>
          <p:nvPr/>
        </p:nvSpPr>
        <p:spPr>
          <a:xfrm>
            <a:off x="5405983" y="4951093"/>
            <a:ext cx="349673" cy="344475"/>
          </a:xfrm>
          <a:prstGeom prst="rect">
            <a:avLst/>
          </a:prstGeom>
        </p:spPr>
        <p:txBody>
          <a:bodyPr vert="horz" wrap="square" lIns="0" tIns="16087" rIns="0" bIns="0" rtlCol="0">
            <a:spAutoFit/>
          </a:bodyPr>
          <a:lstStyle/>
          <a:p>
            <a:pPr marL="16933">
              <a:spcBef>
                <a:spcPts val="127"/>
              </a:spcBef>
            </a:pPr>
            <a:r>
              <a:rPr sz="2133" spc="-33" dirty="0">
                <a:latin typeface="Times New Roman"/>
                <a:cs typeface="Times New Roman"/>
              </a:rPr>
              <a:t>(2)</a:t>
            </a:r>
            <a:endParaRPr sz="2133" dirty="0">
              <a:latin typeface="Times New Roman"/>
              <a:cs typeface="Times New Roman"/>
            </a:endParaRPr>
          </a:p>
        </p:txBody>
      </p:sp>
      <p:sp>
        <p:nvSpPr>
          <p:cNvPr id="11" name="TextBox 10">
            <a:extLst>
              <a:ext uri="{FF2B5EF4-FFF2-40B4-BE49-F238E27FC236}">
                <a16:creationId xmlns:a16="http://schemas.microsoft.com/office/drawing/2014/main" id="{659258A3-07E3-C916-75E7-487CAEBCBF3E}"/>
              </a:ext>
            </a:extLst>
          </p:cNvPr>
          <p:cNvSpPr txBox="1"/>
          <p:nvPr/>
        </p:nvSpPr>
        <p:spPr>
          <a:xfrm>
            <a:off x="6687825" y="2820073"/>
            <a:ext cx="4553332" cy="3059812"/>
          </a:xfrm>
          <a:prstGeom prst="rect">
            <a:avLst/>
          </a:prstGeom>
          <a:noFill/>
        </p:spPr>
        <p:txBody>
          <a:bodyPr wrap="square">
            <a:spAutoFit/>
          </a:bodyPr>
          <a:lstStyle/>
          <a:p>
            <a:r>
              <a:rPr lang="en-IN" sz="2400" spc="-33" dirty="0">
                <a:cs typeface="Times New Roman" panose="02020603050405020304" pitchFamily="18" charset="0"/>
              </a:rPr>
              <a:t>Ke	</a:t>
            </a:r>
            <a:r>
              <a:rPr lang="en-IN" sz="2400" dirty="0">
                <a:cs typeface="Times New Roman" panose="02020603050405020304" pitchFamily="18" charset="0"/>
              </a:rPr>
              <a:t>:</a:t>
            </a:r>
            <a:r>
              <a:rPr lang="en-IN" sz="2400" spc="-7" dirty="0">
                <a:cs typeface="Times New Roman" panose="02020603050405020304" pitchFamily="18" charset="0"/>
              </a:rPr>
              <a:t> </a:t>
            </a:r>
            <a:r>
              <a:rPr lang="en-IN" sz="2400" dirty="0">
                <a:cs typeface="Times New Roman" panose="02020603050405020304" pitchFamily="18" charset="0"/>
              </a:rPr>
              <a:t>kinetic</a:t>
            </a:r>
            <a:r>
              <a:rPr lang="en-IN" sz="2400" spc="-60" dirty="0">
                <a:cs typeface="Times New Roman" panose="02020603050405020304" pitchFamily="18" charset="0"/>
              </a:rPr>
              <a:t> </a:t>
            </a:r>
            <a:r>
              <a:rPr lang="en-IN" sz="2400" spc="-13" dirty="0">
                <a:cs typeface="Times New Roman" panose="02020603050405020304" pitchFamily="18" charset="0"/>
              </a:rPr>
              <a:t>energy</a:t>
            </a:r>
          </a:p>
          <a:p>
            <a:r>
              <a:rPr lang="en-US" sz="2400" dirty="0">
                <a:cs typeface="Times New Roman" panose="02020603050405020304" pitchFamily="18" charset="0"/>
              </a:rPr>
              <a:t>dm/dt</a:t>
            </a:r>
            <a:r>
              <a:rPr lang="en-US" sz="2400" spc="420" dirty="0">
                <a:cs typeface="Times New Roman" panose="02020603050405020304" pitchFamily="18" charset="0"/>
              </a:rPr>
              <a:t> 	</a:t>
            </a:r>
            <a:r>
              <a:rPr lang="en-US" sz="2400" dirty="0">
                <a:cs typeface="Times New Roman" panose="02020603050405020304" pitchFamily="18" charset="0"/>
              </a:rPr>
              <a:t>:</a:t>
            </a:r>
            <a:r>
              <a:rPr lang="en-US" sz="2400" spc="-13" dirty="0">
                <a:cs typeface="Times New Roman" panose="02020603050405020304" pitchFamily="18" charset="0"/>
              </a:rPr>
              <a:t> </a:t>
            </a:r>
            <a:r>
              <a:rPr lang="en-US" sz="2400" dirty="0">
                <a:cs typeface="Times New Roman" panose="02020603050405020304" pitchFamily="18" charset="0"/>
              </a:rPr>
              <a:t>mass flow</a:t>
            </a:r>
            <a:r>
              <a:rPr lang="en-US" sz="2400" spc="-47" dirty="0">
                <a:cs typeface="Times New Roman" panose="02020603050405020304" pitchFamily="18" charset="0"/>
              </a:rPr>
              <a:t> </a:t>
            </a:r>
            <a:r>
              <a:rPr lang="en-US" sz="2400" dirty="0">
                <a:cs typeface="Times New Roman" panose="02020603050405020304" pitchFamily="18" charset="0"/>
              </a:rPr>
              <a:t>rate</a:t>
            </a:r>
            <a:r>
              <a:rPr lang="en-US" sz="2400" spc="-33" dirty="0">
                <a:cs typeface="Times New Roman" panose="02020603050405020304" pitchFamily="18" charset="0"/>
              </a:rPr>
              <a:t> </a:t>
            </a:r>
            <a:r>
              <a:rPr lang="en-US" sz="2400" dirty="0">
                <a:cs typeface="Times New Roman" panose="02020603050405020304" pitchFamily="18" charset="0"/>
              </a:rPr>
              <a:t>per</a:t>
            </a:r>
            <a:r>
              <a:rPr lang="en-US" sz="2400" spc="-40" dirty="0">
                <a:cs typeface="Times New Roman" panose="02020603050405020304" pitchFamily="18" charset="0"/>
              </a:rPr>
              <a:t> </a:t>
            </a:r>
            <a:r>
              <a:rPr lang="en-US" sz="2400" spc="-13" dirty="0">
                <a:cs typeface="Times New Roman" panose="02020603050405020304" pitchFamily="18" charset="0"/>
              </a:rPr>
              <a:t>second</a:t>
            </a:r>
          </a:p>
          <a:p>
            <a:pPr marL="16933" marR="6773" algn="just">
              <a:spcBef>
                <a:spcPts val="133"/>
              </a:spcBef>
            </a:pPr>
            <a:r>
              <a:rPr lang="en-IN" sz="2400" spc="-67" dirty="0">
                <a:cs typeface="Times New Roman" panose="02020603050405020304" pitchFamily="18" charset="0"/>
              </a:rPr>
              <a:t>v 	</a:t>
            </a:r>
            <a:r>
              <a:rPr lang="en-US" sz="2400" dirty="0">
                <a:cs typeface="Times New Roman" panose="02020603050405020304" pitchFamily="18" charset="0"/>
              </a:rPr>
              <a:t>:</a:t>
            </a:r>
            <a:r>
              <a:rPr lang="en-US" sz="2400" spc="-33" dirty="0">
                <a:cs typeface="Times New Roman" panose="02020603050405020304" pitchFamily="18" charset="0"/>
              </a:rPr>
              <a:t> </a:t>
            </a:r>
            <a:r>
              <a:rPr lang="en-US" sz="2400" dirty="0">
                <a:cs typeface="Times New Roman" panose="02020603050405020304" pitchFamily="18" charset="0"/>
              </a:rPr>
              <a:t>moving</a:t>
            </a:r>
            <a:r>
              <a:rPr lang="en-US" sz="2400" spc="-27" dirty="0">
                <a:cs typeface="Times New Roman" panose="02020603050405020304" pitchFamily="18" charset="0"/>
              </a:rPr>
              <a:t> </a:t>
            </a:r>
            <a:r>
              <a:rPr lang="en-US" sz="2400" dirty="0">
                <a:cs typeface="Times New Roman" panose="02020603050405020304" pitchFamily="18" charset="0"/>
              </a:rPr>
              <a:t>air</a:t>
            </a:r>
            <a:r>
              <a:rPr lang="en-US" sz="2400" spc="-33" dirty="0">
                <a:cs typeface="Times New Roman" panose="02020603050405020304" pitchFamily="18" charset="0"/>
              </a:rPr>
              <a:t> </a:t>
            </a:r>
            <a:r>
              <a:rPr lang="en-US" sz="2400" spc="-13" dirty="0">
                <a:cs typeface="Times New Roman" panose="02020603050405020304" pitchFamily="18" charset="0"/>
              </a:rPr>
              <a:t>velocity</a:t>
            </a:r>
            <a:endParaRPr lang="en-US" sz="2400" dirty="0">
              <a:cs typeface="Times New Roman" panose="02020603050405020304" pitchFamily="18" charset="0"/>
            </a:endParaRPr>
          </a:p>
          <a:p>
            <a:pPr marL="16933">
              <a:spcBef>
                <a:spcPts val="7"/>
              </a:spcBef>
            </a:pPr>
            <a:r>
              <a:rPr lang="en-IN" sz="2400" spc="-67" dirty="0">
                <a:cs typeface="Times New Roman" panose="02020603050405020304" pitchFamily="18" charset="0"/>
              </a:rPr>
              <a:t>A 	</a:t>
            </a:r>
            <a:r>
              <a:rPr lang="en-US" sz="2400" dirty="0">
                <a:cs typeface="Times New Roman" panose="02020603050405020304" pitchFamily="18" charset="0"/>
              </a:rPr>
              <a:t>:</a:t>
            </a:r>
            <a:r>
              <a:rPr lang="en-US" sz="2400" spc="-27" dirty="0">
                <a:cs typeface="Times New Roman" panose="02020603050405020304" pitchFamily="18" charset="0"/>
              </a:rPr>
              <a:t> </a:t>
            </a:r>
            <a:r>
              <a:rPr lang="en-US" sz="2400" dirty="0">
                <a:cs typeface="Times New Roman" panose="02020603050405020304" pitchFamily="18" charset="0"/>
              </a:rPr>
              <a:t>area</a:t>
            </a:r>
            <a:r>
              <a:rPr lang="en-US" sz="2400" spc="-7" dirty="0">
                <a:cs typeface="Times New Roman" panose="02020603050405020304" pitchFamily="18" charset="0"/>
              </a:rPr>
              <a:t> </a:t>
            </a:r>
            <a:r>
              <a:rPr lang="en-US" sz="2400" dirty="0">
                <a:cs typeface="Times New Roman" panose="02020603050405020304" pitchFamily="18" charset="0"/>
              </a:rPr>
              <a:t>swept</a:t>
            </a:r>
            <a:r>
              <a:rPr lang="en-US" sz="2400" spc="-27" dirty="0">
                <a:cs typeface="Times New Roman" panose="02020603050405020304" pitchFamily="18" charset="0"/>
              </a:rPr>
              <a:t> </a:t>
            </a:r>
            <a:r>
              <a:rPr lang="en-US" sz="2400" dirty="0">
                <a:cs typeface="Times New Roman" panose="02020603050405020304" pitchFamily="18" charset="0"/>
              </a:rPr>
              <a:t>by</a:t>
            </a:r>
            <a:r>
              <a:rPr lang="en-US" sz="2400" spc="-27" dirty="0">
                <a:cs typeface="Times New Roman" panose="02020603050405020304" pitchFamily="18" charset="0"/>
              </a:rPr>
              <a:t> </a:t>
            </a:r>
            <a:r>
              <a:rPr lang="en-US" sz="2400" dirty="0">
                <a:cs typeface="Times New Roman" panose="02020603050405020304" pitchFamily="18" charset="0"/>
              </a:rPr>
              <a:t>rotor</a:t>
            </a:r>
            <a:r>
              <a:rPr lang="en-US" sz="2400" spc="-60" dirty="0">
                <a:cs typeface="Times New Roman" panose="02020603050405020304" pitchFamily="18" charset="0"/>
              </a:rPr>
              <a:t> </a:t>
            </a:r>
            <a:r>
              <a:rPr lang="en-US" sz="2400" spc="-27" dirty="0">
                <a:cs typeface="Times New Roman" panose="02020603050405020304" pitchFamily="18" charset="0"/>
              </a:rPr>
              <a:t>blade</a:t>
            </a:r>
            <a:endParaRPr lang="en-US" sz="2400" dirty="0">
              <a:cs typeface="Times New Roman" panose="02020603050405020304" pitchFamily="18" charset="0"/>
            </a:endParaRPr>
          </a:p>
          <a:p>
            <a:r>
              <a:rPr lang="en-US" sz="2400" dirty="0">
                <a:cs typeface="Times New Roman" panose="02020603050405020304" pitchFamily="18" charset="0"/>
              </a:rPr>
              <a:t>V	:volume</a:t>
            </a:r>
            <a:r>
              <a:rPr lang="en-US" sz="2400" spc="-47" dirty="0">
                <a:cs typeface="Times New Roman" panose="02020603050405020304" pitchFamily="18" charset="0"/>
              </a:rPr>
              <a:t> </a:t>
            </a:r>
            <a:r>
              <a:rPr lang="en-US" sz="2400" dirty="0">
                <a:cs typeface="Times New Roman" panose="02020603050405020304" pitchFamily="18" charset="0"/>
              </a:rPr>
              <a:t>of</a:t>
            </a:r>
            <a:r>
              <a:rPr lang="en-US" sz="2400" spc="-47" dirty="0">
                <a:cs typeface="Times New Roman" panose="02020603050405020304" pitchFamily="18" charset="0"/>
              </a:rPr>
              <a:t> </a:t>
            </a:r>
            <a:r>
              <a:rPr lang="en-US" sz="2400" spc="-33" dirty="0">
                <a:cs typeface="Times New Roman" panose="02020603050405020304" pitchFamily="18" charset="0"/>
              </a:rPr>
              <a:t>air</a:t>
            </a:r>
            <a:endParaRPr lang="en-US" sz="2400" dirty="0">
              <a:cs typeface="Times New Roman" panose="02020603050405020304" pitchFamily="18" charset="0"/>
            </a:endParaRPr>
          </a:p>
          <a:p>
            <a:pPr marL="16933">
              <a:spcBef>
                <a:spcPts val="7"/>
              </a:spcBef>
            </a:pPr>
            <a:r>
              <a:rPr lang="en-IN" sz="2400" spc="-67" dirty="0">
                <a:cs typeface="Times New Roman" panose="02020603050405020304" pitchFamily="18" charset="0"/>
              </a:rPr>
              <a:t>⍴	 </a:t>
            </a:r>
            <a:r>
              <a:rPr lang="en-US" sz="2400" dirty="0">
                <a:cs typeface="Times New Roman" panose="02020603050405020304" pitchFamily="18" charset="0"/>
              </a:rPr>
              <a:t>:air</a:t>
            </a:r>
            <a:r>
              <a:rPr lang="en-US" sz="2400" spc="-20" dirty="0">
                <a:cs typeface="Times New Roman" panose="02020603050405020304" pitchFamily="18" charset="0"/>
              </a:rPr>
              <a:t> </a:t>
            </a:r>
            <a:r>
              <a:rPr lang="en-US" sz="2400" spc="-13" dirty="0">
                <a:cs typeface="Times New Roman" panose="02020603050405020304" pitchFamily="18" charset="0"/>
              </a:rPr>
              <a:t>density</a:t>
            </a: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IN" sz="2400" dirty="0">
              <a:cs typeface="Times New Roman" panose="02020603050405020304" pitchFamily="18" charset="0"/>
            </a:endParaRPr>
          </a:p>
        </p:txBody>
      </p:sp>
      <p:pic>
        <p:nvPicPr>
          <p:cNvPr id="12" name="object 9">
            <a:extLst>
              <a:ext uri="{FF2B5EF4-FFF2-40B4-BE49-F238E27FC236}">
                <a16:creationId xmlns:a16="http://schemas.microsoft.com/office/drawing/2014/main" id="{22BA439F-3E98-FD0D-13F4-D7603D9F3BC5}"/>
              </a:ext>
            </a:extLst>
          </p:cNvPr>
          <p:cNvPicPr/>
          <p:nvPr/>
        </p:nvPicPr>
        <p:blipFill>
          <a:blip r:embed="rId4" cstate="print"/>
          <a:stretch>
            <a:fillRect/>
          </a:stretch>
        </p:blipFill>
        <p:spPr>
          <a:xfrm>
            <a:off x="6808271" y="5330223"/>
            <a:ext cx="1141518" cy="3014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69CAD-5A5B-6408-15F4-C6311C169B05}"/>
              </a:ext>
            </a:extLst>
          </p:cNvPr>
          <p:cNvSpPr>
            <a:spLocks noGrp="1"/>
          </p:cNvSpPr>
          <p:nvPr>
            <p:ph type="title"/>
          </p:nvPr>
        </p:nvSpPr>
        <p:spPr/>
        <p:txBody>
          <a:bodyPr/>
          <a:lstStyle/>
          <a:p>
            <a:r>
              <a:rPr lang="en-IN" b="1" dirty="0">
                <a:latin typeface="+mn-lt"/>
                <a:cs typeface="Times New Roman"/>
              </a:rPr>
              <a:t>Evaluation</a:t>
            </a:r>
            <a:r>
              <a:rPr lang="en-IN" b="1" spc="-60" dirty="0">
                <a:latin typeface="+mn-lt"/>
                <a:cs typeface="Times New Roman"/>
              </a:rPr>
              <a:t> </a:t>
            </a:r>
            <a:r>
              <a:rPr lang="en-IN" b="1" dirty="0">
                <a:latin typeface="+mn-lt"/>
                <a:cs typeface="Times New Roman"/>
              </a:rPr>
              <a:t>of</a:t>
            </a:r>
            <a:r>
              <a:rPr lang="en-IN" b="1" spc="-47" dirty="0">
                <a:latin typeface="+mn-lt"/>
                <a:cs typeface="Times New Roman"/>
              </a:rPr>
              <a:t> </a:t>
            </a:r>
            <a:r>
              <a:rPr lang="en-IN" b="1" dirty="0">
                <a:latin typeface="+mn-lt"/>
                <a:cs typeface="Times New Roman"/>
              </a:rPr>
              <a:t>Wind</a:t>
            </a:r>
            <a:r>
              <a:rPr lang="en-IN" b="1" spc="-40" dirty="0">
                <a:latin typeface="+mn-lt"/>
                <a:cs typeface="Times New Roman"/>
              </a:rPr>
              <a:t> </a:t>
            </a:r>
            <a:r>
              <a:rPr lang="en-IN" b="1" spc="-13" dirty="0">
                <a:latin typeface="+mn-lt"/>
                <a:cs typeface="Times New Roman"/>
              </a:rPr>
              <a:t>Intensity</a:t>
            </a:r>
            <a:endParaRPr lang="en-IN" dirty="0">
              <a:latin typeface="+mn-lt"/>
            </a:endParaRPr>
          </a:p>
        </p:txBody>
      </p:sp>
      <p:sp>
        <p:nvSpPr>
          <p:cNvPr id="3" name="Content Placeholder 2">
            <a:extLst>
              <a:ext uri="{FF2B5EF4-FFF2-40B4-BE49-F238E27FC236}">
                <a16:creationId xmlns:a16="http://schemas.microsoft.com/office/drawing/2014/main" id="{05CC5D68-4E22-7693-E3CB-D4B657423B91}"/>
              </a:ext>
            </a:extLst>
          </p:cNvPr>
          <p:cNvSpPr>
            <a:spLocks noGrp="1"/>
          </p:cNvSpPr>
          <p:nvPr>
            <p:ph idx="1"/>
          </p:nvPr>
        </p:nvSpPr>
        <p:spPr>
          <a:xfrm>
            <a:off x="838199" y="1690688"/>
            <a:ext cx="10850217" cy="4486275"/>
          </a:xfrm>
        </p:spPr>
        <p:txBody>
          <a:bodyPr>
            <a:normAutofit/>
          </a:bodyPr>
          <a:lstStyle/>
          <a:p>
            <a:pPr marL="474133" indent="-457200">
              <a:spcBef>
                <a:spcPts val="560"/>
              </a:spcBef>
              <a:tabLst>
                <a:tab pos="473275" algn="l"/>
              </a:tabLst>
            </a:pPr>
            <a:r>
              <a:rPr lang="en-US" sz="2400" dirty="0">
                <a:cs typeface="Times New Roman" panose="02020603050405020304" pitchFamily="18" charset="0"/>
              </a:rPr>
              <a:t>The</a:t>
            </a:r>
            <a:r>
              <a:rPr lang="en-US" sz="2400" spc="527" dirty="0">
                <a:cs typeface="Times New Roman" panose="02020603050405020304" pitchFamily="18" charset="0"/>
              </a:rPr>
              <a:t> </a:t>
            </a:r>
            <a:r>
              <a:rPr lang="en-US" sz="2400" dirty="0">
                <a:cs typeface="Times New Roman" panose="02020603050405020304" pitchFamily="18" charset="0"/>
              </a:rPr>
              <a:t>effective</a:t>
            </a:r>
            <a:r>
              <a:rPr lang="en-US" sz="2400" spc="540" dirty="0">
                <a:cs typeface="Times New Roman" panose="02020603050405020304" pitchFamily="18" charset="0"/>
              </a:rPr>
              <a:t> </a:t>
            </a:r>
            <a:r>
              <a:rPr lang="en-US" sz="2400" dirty="0">
                <a:cs typeface="Times New Roman" panose="02020603050405020304" pitchFamily="18" charset="0"/>
              </a:rPr>
              <a:t>power</a:t>
            </a:r>
            <a:r>
              <a:rPr lang="en-US" sz="2400" spc="540" dirty="0">
                <a:cs typeface="Times New Roman" panose="02020603050405020304" pitchFamily="18" charset="0"/>
              </a:rPr>
              <a:t> </a:t>
            </a:r>
            <a:r>
              <a:rPr lang="en-US" sz="2400" dirty="0">
                <a:cs typeface="Times New Roman" panose="02020603050405020304" pitchFamily="18" charset="0"/>
              </a:rPr>
              <a:t>extracted</a:t>
            </a:r>
            <a:r>
              <a:rPr lang="en-US" sz="2400" spc="520" dirty="0">
                <a:cs typeface="Times New Roman" panose="02020603050405020304" pitchFamily="18" charset="0"/>
              </a:rPr>
              <a:t> </a:t>
            </a:r>
            <a:r>
              <a:rPr lang="en-US" sz="2400" dirty="0">
                <a:cs typeface="Times New Roman" panose="02020603050405020304" pitchFamily="18" charset="0"/>
              </a:rPr>
              <a:t>from</a:t>
            </a:r>
            <a:r>
              <a:rPr lang="en-US" sz="2400" spc="513" dirty="0">
                <a:cs typeface="Times New Roman" panose="02020603050405020304" pitchFamily="18" charset="0"/>
              </a:rPr>
              <a:t> </a:t>
            </a:r>
            <a:r>
              <a:rPr lang="en-US" sz="2400" dirty="0">
                <a:cs typeface="Times New Roman" panose="02020603050405020304" pitchFamily="18" charset="0"/>
              </a:rPr>
              <a:t>wind</a:t>
            </a:r>
            <a:r>
              <a:rPr lang="en-US" sz="2400" spc="533" dirty="0">
                <a:cs typeface="Times New Roman" panose="02020603050405020304" pitchFamily="18" charset="0"/>
              </a:rPr>
              <a:t> </a:t>
            </a:r>
            <a:r>
              <a:rPr lang="en-US" sz="2400" dirty="0">
                <a:cs typeface="Times New Roman" panose="02020603050405020304" pitchFamily="18" charset="0"/>
              </a:rPr>
              <a:t>is</a:t>
            </a:r>
            <a:r>
              <a:rPr lang="en-US" sz="2400" spc="513" dirty="0">
                <a:cs typeface="Times New Roman" panose="02020603050405020304" pitchFamily="18" charset="0"/>
              </a:rPr>
              <a:t> </a:t>
            </a:r>
            <a:r>
              <a:rPr lang="en-US" sz="2400" dirty="0">
                <a:cs typeface="Times New Roman" panose="02020603050405020304" pitchFamily="18" charset="0"/>
              </a:rPr>
              <a:t>derived</a:t>
            </a:r>
            <a:r>
              <a:rPr lang="en-US" sz="2400" spc="533" dirty="0">
                <a:cs typeface="Times New Roman" panose="02020603050405020304" pitchFamily="18" charset="0"/>
              </a:rPr>
              <a:t> </a:t>
            </a:r>
            <a:r>
              <a:rPr lang="en-US" sz="2400" dirty="0">
                <a:cs typeface="Times New Roman" panose="02020603050405020304" pitchFamily="18" charset="0"/>
              </a:rPr>
              <a:t>from</a:t>
            </a:r>
            <a:r>
              <a:rPr lang="en-US" sz="2400" spc="520" dirty="0">
                <a:cs typeface="Times New Roman" panose="02020603050405020304" pitchFamily="18" charset="0"/>
              </a:rPr>
              <a:t> </a:t>
            </a:r>
            <a:r>
              <a:rPr lang="en-US" sz="2400" dirty="0">
                <a:cs typeface="Times New Roman" panose="02020603050405020304" pitchFamily="18" charset="0"/>
              </a:rPr>
              <a:t>the</a:t>
            </a:r>
            <a:r>
              <a:rPr lang="en-US" sz="2400" spc="527" dirty="0">
                <a:cs typeface="Times New Roman" panose="02020603050405020304" pitchFamily="18" charset="0"/>
              </a:rPr>
              <a:t> </a:t>
            </a:r>
            <a:r>
              <a:rPr lang="en-US" sz="2400" dirty="0">
                <a:cs typeface="Times New Roman" panose="02020603050405020304" pitchFamily="18" charset="0"/>
              </a:rPr>
              <a:t>airflow</a:t>
            </a:r>
            <a:r>
              <a:rPr lang="en-US" sz="2400" spc="533" dirty="0">
                <a:cs typeface="Times New Roman" panose="02020603050405020304" pitchFamily="18" charset="0"/>
              </a:rPr>
              <a:t> </a:t>
            </a:r>
            <a:r>
              <a:rPr lang="en-US" sz="2400" dirty="0">
                <a:cs typeface="Times New Roman" panose="02020603050405020304" pitchFamily="18" charset="0"/>
              </a:rPr>
              <a:t>speed</a:t>
            </a:r>
            <a:r>
              <a:rPr lang="en-US" sz="2400" spc="507" dirty="0">
                <a:cs typeface="Times New Roman" panose="02020603050405020304" pitchFamily="18" charset="0"/>
              </a:rPr>
              <a:t> </a:t>
            </a:r>
            <a:r>
              <a:rPr lang="en-US" sz="2400" spc="-27" dirty="0">
                <a:cs typeface="Times New Roman" panose="02020603050405020304" pitchFamily="18" charset="0"/>
              </a:rPr>
              <a:t>just </a:t>
            </a:r>
            <a:r>
              <a:rPr lang="en-US" sz="2400" dirty="0">
                <a:cs typeface="Times New Roman" panose="02020603050405020304" pitchFamily="18" charset="0"/>
              </a:rPr>
              <a:t>reaching</a:t>
            </a:r>
            <a:r>
              <a:rPr lang="en-US" sz="2400" spc="-40" dirty="0">
                <a:cs typeface="Times New Roman" panose="02020603050405020304" pitchFamily="18" charset="0"/>
              </a:rPr>
              <a:t> </a:t>
            </a:r>
            <a:r>
              <a:rPr lang="en-US" sz="2400" dirty="0">
                <a:cs typeface="Times New Roman" panose="02020603050405020304" pitchFamily="18" charset="0"/>
              </a:rPr>
              <a:t>the turbine,</a:t>
            </a:r>
            <a:r>
              <a:rPr lang="en-US" sz="2400" spc="-13" dirty="0">
                <a:cs typeface="Times New Roman" panose="02020603050405020304" pitchFamily="18" charset="0"/>
              </a:rPr>
              <a:t> </a:t>
            </a:r>
            <a:r>
              <a:rPr lang="en-US" sz="2400" dirty="0">
                <a:cs typeface="Times New Roman" panose="02020603050405020304" pitchFamily="18" charset="0"/>
              </a:rPr>
              <a:t>v1,</a:t>
            </a:r>
            <a:r>
              <a:rPr lang="en-US" sz="2400" spc="-7" dirty="0">
                <a:cs typeface="Times New Roman" panose="02020603050405020304" pitchFamily="18" charset="0"/>
              </a:rPr>
              <a:t> </a:t>
            </a:r>
            <a:r>
              <a:rPr lang="en-US" sz="2400" dirty="0">
                <a:cs typeface="Times New Roman" panose="02020603050405020304" pitchFamily="18" charset="0"/>
              </a:rPr>
              <a:t>and</a:t>
            </a:r>
            <a:r>
              <a:rPr lang="en-US" sz="2400" spc="-7" dirty="0">
                <a:cs typeface="Times New Roman" panose="02020603050405020304" pitchFamily="18" charset="0"/>
              </a:rPr>
              <a:t> </a:t>
            </a:r>
            <a:r>
              <a:rPr lang="en-US" sz="2400" dirty="0">
                <a:cs typeface="Times New Roman" panose="02020603050405020304" pitchFamily="18" charset="0"/>
              </a:rPr>
              <a:t>the velocity</a:t>
            </a:r>
            <a:r>
              <a:rPr lang="en-US" sz="2400" spc="-20" dirty="0">
                <a:cs typeface="Times New Roman" panose="02020603050405020304" pitchFamily="18" charset="0"/>
              </a:rPr>
              <a:t> </a:t>
            </a:r>
            <a:r>
              <a:rPr lang="en-US" sz="2400" dirty="0">
                <a:cs typeface="Times New Roman" panose="02020603050405020304" pitchFamily="18" charset="0"/>
              </a:rPr>
              <a:t>just</a:t>
            </a:r>
            <a:r>
              <a:rPr lang="en-US" sz="2400" spc="-13" dirty="0">
                <a:cs typeface="Times New Roman" panose="02020603050405020304" pitchFamily="18" charset="0"/>
              </a:rPr>
              <a:t> </a:t>
            </a:r>
            <a:r>
              <a:rPr lang="en-US" sz="2400" dirty="0">
                <a:cs typeface="Times New Roman" panose="02020603050405020304" pitchFamily="18" charset="0"/>
              </a:rPr>
              <a:t>leaving</a:t>
            </a:r>
            <a:r>
              <a:rPr lang="en-US" sz="2400" spc="-27" dirty="0">
                <a:cs typeface="Times New Roman" panose="02020603050405020304" pitchFamily="18" charset="0"/>
              </a:rPr>
              <a:t> </a:t>
            </a:r>
            <a:r>
              <a:rPr lang="en-US" sz="2400" dirty="0">
                <a:cs typeface="Times New Roman" panose="02020603050405020304" pitchFamily="18" charset="0"/>
              </a:rPr>
              <a:t>it, </a:t>
            </a:r>
            <a:r>
              <a:rPr lang="en-US" sz="2400" spc="-33" dirty="0">
                <a:cs typeface="Times New Roman" panose="02020603050405020304" pitchFamily="18" charset="0"/>
              </a:rPr>
              <a:t>v2.</a:t>
            </a:r>
            <a:endParaRPr lang="en-US" sz="2400" dirty="0">
              <a:cs typeface="Times New Roman" panose="02020603050405020304" pitchFamily="18" charset="0"/>
            </a:endParaRPr>
          </a:p>
          <a:p>
            <a:pPr marL="474133" indent="-457200">
              <a:spcBef>
                <a:spcPts val="433"/>
              </a:spcBef>
              <a:tabLst>
                <a:tab pos="473275" algn="l"/>
              </a:tabLst>
            </a:pPr>
            <a:r>
              <a:rPr lang="en-US" sz="2400" dirty="0">
                <a:cs typeface="Times New Roman" panose="02020603050405020304" pitchFamily="18" charset="0"/>
              </a:rPr>
              <a:t>The</a:t>
            </a:r>
            <a:r>
              <a:rPr lang="en-US" sz="2400" spc="-33" dirty="0">
                <a:cs typeface="Times New Roman" panose="02020603050405020304" pitchFamily="18" charset="0"/>
              </a:rPr>
              <a:t> </a:t>
            </a:r>
            <a:r>
              <a:rPr lang="en-US" sz="2400" dirty="0">
                <a:cs typeface="Times New Roman" panose="02020603050405020304" pitchFamily="18" charset="0"/>
              </a:rPr>
              <a:t>number</a:t>
            </a:r>
            <a:r>
              <a:rPr lang="en-US" sz="2400" spc="-7" dirty="0">
                <a:cs typeface="Times New Roman" panose="02020603050405020304" pitchFamily="18" charset="0"/>
              </a:rPr>
              <a:t> </a:t>
            </a:r>
            <a:r>
              <a:rPr lang="en-US" sz="2400" dirty="0">
                <a:cs typeface="Times New Roman" panose="02020603050405020304" pitchFamily="18" charset="0"/>
              </a:rPr>
              <a:t>of</a:t>
            </a:r>
            <a:r>
              <a:rPr lang="en-US" sz="2400" spc="-47" dirty="0">
                <a:cs typeface="Times New Roman" panose="02020603050405020304" pitchFamily="18" charset="0"/>
              </a:rPr>
              <a:t> </a:t>
            </a:r>
            <a:r>
              <a:rPr lang="en-US" sz="2400" dirty="0">
                <a:cs typeface="Times New Roman" panose="02020603050405020304" pitchFamily="18" charset="0"/>
              </a:rPr>
              <a:t>blades</a:t>
            </a:r>
            <a:r>
              <a:rPr lang="en-US" sz="2400" spc="-33" dirty="0">
                <a:cs typeface="Times New Roman" panose="02020603050405020304" pitchFamily="18" charset="0"/>
              </a:rPr>
              <a:t> </a:t>
            </a:r>
            <a:r>
              <a:rPr lang="en-US" sz="2400" dirty="0">
                <a:cs typeface="Times New Roman" panose="02020603050405020304" pitchFamily="18" charset="0"/>
              </a:rPr>
              <a:t>must</a:t>
            </a:r>
            <a:r>
              <a:rPr lang="en-US" sz="2400" spc="-20" dirty="0">
                <a:cs typeface="Times New Roman" panose="02020603050405020304" pitchFamily="18" charset="0"/>
              </a:rPr>
              <a:t> </a:t>
            </a:r>
            <a:r>
              <a:rPr lang="en-US" sz="2400" dirty="0">
                <a:cs typeface="Times New Roman" panose="02020603050405020304" pitchFamily="18" charset="0"/>
              </a:rPr>
              <a:t>also</a:t>
            </a:r>
            <a:r>
              <a:rPr lang="en-US" sz="2400" spc="-40" dirty="0">
                <a:cs typeface="Times New Roman" panose="02020603050405020304" pitchFamily="18" charset="0"/>
              </a:rPr>
              <a:t> </a:t>
            </a:r>
            <a:r>
              <a:rPr lang="en-US" sz="2400" dirty="0">
                <a:cs typeface="Times New Roman" panose="02020603050405020304" pitchFamily="18" charset="0"/>
              </a:rPr>
              <a:t>be</a:t>
            </a:r>
            <a:r>
              <a:rPr lang="en-US" sz="2400" spc="-20" dirty="0">
                <a:cs typeface="Times New Roman" panose="02020603050405020304" pitchFamily="18" charset="0"/>
              </a:rPr>
              <a:t> </a:t>
            </a:r>
            <a:r>
              <a:rPr lang="en-US" sz="2400" spc="-13" dirty="0">
                <a:cs typeface="Times New Roman" panose="02020603050405020304" pitchFamily="18" charset="0"/>
              </a:rPr>
              <a:t>considered.</a:t>
            </a:r>
            <a:r>
              <a:rPr lang="en-US" sz="2400" dirty="0">
                <a:cs typeface="Times New Roman" panose="02020603050405020304" pitchFamily="18" charset="0"/>
              </a:rPr>
              <a:t>                                           </a:t>
            </a:r>
          </a:p>
          <a:p>
            <a:pPr marL="16933" indent="0">
              <a:spcBef>
                <a:spcPts val="433"/>
              </a:spcBef>
              <a:buNone/>
              <a:tabLst>
                <a:tab pos="473275" algn="l"/>
              </a:tabLst>
            </a:pPr>
            <a:r>
              <a:rPr lang="en-US" sz="2400" dirty="0">
                <a:cs typeface="Times New Roman" panose="02020603050405020304" pitchFamily="18" charset="0"/>
              </a:rPr>
              <a:t>											       </a:t>
            </a:r>
            <a:r>
              <a:rPr lang="en-US" sz="2400" spc="-33" dirty="0">
                <a:cs typeface="Times New Roman" panose="02020603050405020304" pitchFamily="18" charset="0"/>
              </a:rPr>
              <a:t>(3)</a:t>
            </a:r>
            <a:endParaRPr lang="en-US" sz="2400" dirty="0">
              <a:cs typeface="Times New Roman" panose="02020603050405020304" pitchFamily="18" charset="0"/>
            </a:endParaRPr>
          </a:p>
          <a:p>
            <a:endParaRPr lang="en-IN" sz="2400" dirty="0">
              <a:cs typeface="Times New Roman" panose="02020603050405020304" pitchFamily="18" charset="0"/>
            </a:endParaRPr>
          </a:p>
          <a:p>
            <a:pPr marL="473286" marR="6773" indent="-457200">
              <a:lnSpc>
                <a:spcPct val="114999"/>
              </a:lnSpc>
              <a:spcBef>
                <a:spcPts val="133"/>
              </a:spcBef>
              <a:tabLst>
                <a:tab pos="473275" algn="l"/>
              </a:tabLst>
            </a:pPr>
            <a:r>
              <a:rPr lang="en-US" sz="2400" dirty="0">
                <a:cs typeface="Times New Roman" panose="02020603050405020304" pitchFamily="18" charset="0"/>
              </a:rPr>
              <a:t>There</a:t>
            </a:r>
            <a:r>
              <a:rPr lang="en-US" sz="2400" spc="-53" dirty="0">
                <a:cs typeface="Times New Roman" panose="02020603050405020304" pitchFamily="18" charset="0"/>
              </a:rPr>
              <a:t> </a:t>
            </a:r>
            <a:r>
              <a:rPr lang="en-US" sz="2400" dirty="0">
                <a:cs typeface="Times New Roman" panose="02020603050405020304" pitchFamily="18" charset="0"/>
              </a:rPr>
              <a:t>is</a:t>
            </a:r>
            <a:r>
              <a:rPr lang="en-US" sz="2400" spc="-27" dirty="0">
                <a:cs typeface="Times New Roman" panose="02020603050405020304" pitchFamily="18" charset="0"/>
              </a:rPr>
              <a:t> </a:t>
            </a:r>
            <a:r>
              <a:rPr lang="en-US" sz="2400" dirty="0">
                <a:cs typeface="Times New Roman" panose="02020603050405020304" pitchFamily="18" charset="0"/>
              </a:rPr>
              <a:t>a</a:t>
            </a:r>
            <a:r>
              <a:rPr lang="en-US" sz="2400" spc="-27" dirty="0">
                <a:cs typeface="Times New Roman" panose="02020603050405020304" pitchFamily="18" charset="0"/>
              </a:rPr>
              <a:t> </a:t>
            </a:r>
            <a:r>
              <a:rPr lang="en-US" sz="2400" dirty="0">
                <a:cs typeface="Times New Roman" panose="02020603050405020304" pitchFamily="18" charset="0"/>
              </a:rPr>
              <a:t>difference</a:t>
            </a:r>
            <a:r>
              <a:rPr lang="en-US" sz="2400" spc="-53" dirty="0">
                <a:cs typeface="Times New Roman" panose="02020603050405020304" pitchFamily="18" charset="0"/>
              </a:rPr>
              <a:t> </a:t>
            </a:r>
            <a:r>
              <a:rPr lang="en-US" sz="2400" dirty="0">
                <a:cs typeface="Times New Roman" panose="02020603050405020304" pitchFamily="18" charset="0"/>
              </a:rPr>
              <a:t>in</a:t>
            </a:r>
            <a:r>
              <a:rPr lang="en-US" sz="2400" spc="-27" dirty="0">
                <a:cs typeface="Times New Roman" panose="02020603050405020304" pitchFamily="18" charset="0"/>
              </a:rPr>
              <a:t> </a:t>
            </a:r>
            <a:r>
              <a:rPr lang="en-US" sz="2400" dirty="0">
                <a:cs typeface="Times New Roman" panose="02020603050405020304" pitchFamily="18" charset="0"/>
              </a:rPr>
              <a:t>the</a:t>
            </a:r>
            <a:r>
              <a:rPr lang="en-US" sz="2400" spc="-33" dirty="0">
                <a:cs typeface="Times New Roman" panose="02020603050405020304" pitchFamily="18" charset="0"/>
              </a:rPr>
              <a:t> </a:t>
            </a:r>
            <a:r>
              <a:rPr lang="en-US" sz="2400" dirty="0">
                <a:cs typeface="Times New Roman" panose="02020603050405020304" pitchFamily="18" charset="0"/>
              </a:rPr>
              <a:t>kinetic</a:t>
            </a:r>
            <a:r>
              <a:rPr lang="en-US" sz="2400" spc="-53" dirty="0">
                <a:cs typeface="Times New Roman" panose="02020603050405020304" pitchFamily="18" charset="0"/>
              </a:rPr>
              <a:t> </a:t>
            </a:r>
            <a:r>
              <a:rPr lang="en-US" sz="2400" dirty="0">
                <a:cs typeface="Times New Roman" panose="02020603050405020304" pitchFamily="18" charset="0"/>
              </a:rPr>
              <a:t>energy</a:t>
            </a:r>
            <a:r>
              <a:rPr lang="en-US" sz="2400" spc="-40" dirty="0">
                <a:cs typeface="Times New Roman" panose="02020603050405020304" pitchFamily="18" charset="0"/>
              </a:rPr>
              <a:t> </a:t>
            </a:r>
            <a:r>
              <a:rPr lang="en-US" sz="2400" dirty="0">
                <a:cs typeface="Times New Roman" panose="02020603050405020304" pitchFamily="18" charset="0"/>
              </a:rPr>
              <a:t>in</a:t>
            </a:r>
            <a:r>
              <a:rPr lang="en-US" sz="2400" spc="-27" dirty="0">
                <a:cs typeface="Times New Roman" panose="02020603050405020304" pitchFamily="18" charset="0"/>
              </a:rPr>
              <a:t> </a:t>
            </a:r>
            <a:r>
              <a:rPr lang="en-US" sz="2400" dirty="0">
                <a:cs typeface="Times New Roman" panose="02020603050405020304" pitchFamily="18" charset="0"/>
              </a:rPr>
              <a:t>the</a:t>
            </a:r>
            <a:r>
              <a:rPr lang="en-US" sz="2400" spc="-33" dirty="0">
                <a:cs typeface="Times New Roman" panose="02020603050405020304" pitchFamily="18" charset="0"/>
              </a:rPr>
              <a:t> </a:t>
            </a:r>
            <a:r>
              <a:rPr lang="en-US" sz="2400" dirty="0">
                <a:cs typeface="Times New Roman" panose="02020603050405020304" pitchFamily="18" charset="0"/>
              </a:rPr>
              <a:t>wind</a:t>
            </a:r>
            <a:r>
              <a:rPr lang="en-US" sz="2400" spc="-47" dirty="0">
                <a:cs typeface="Times New Roman" panose="02020603050405020304" pitchFamily="18" charset="0"/>
              </a:rPr>
              <a:t> </a:t>
            </a:r>
            <a:r>
              <a:rPr lang="en-US" sz="2400" dirty="0">
                <a:cs typeface="Times New Roman" panose="02020603050405020304" pitchFamily="18" charset="0"/>
              </a:rPr>
              <a:t>speed</a:t>
            </a:r>
            <a:r>
              <a:rPr lang="en-US" sz="2400" spc="-40" dirty="0">
                <a:cs typeface="Times New Roman" panose="02020603050405020304" pitchFamily="18" charset="0"/>
              </a:rPr>
              <a:t> </a:t>
            </a:r>
            <a:r>
              <a:rPr lang="en-US" sz="2400" dirty="0">
                <a:cs typeface="Times New Roman" panose="02020603050405020304" pitchFamily="18" charset="0"/>
              </a:rPr>
              <a:t>just</a:t>
            </a:r>
            <a:r>
              <a:rPr lang="en-US" sz="2400" spc="-20" dirty="0">
                <a:cs typeface="Times New Roman" panose="02020603050405020304" pitchFamily="18" charset="0"/>
              </a:rPr>
              <a:t> </a:t>
            </a:r>
            <a:r>
              <a:rPr lang="en-US" sz="2400" dirty="0">
                <a:cs typeface="Times New Roman" panose="02020603050405020304" pitchFamily="18" charset="0"/>
              </a:rPr>
              <a:t>reaching</a:t>
            </a:r>
            <a:r>
              <a:rPr lang="en-US" sz="2400" spc="-60" dirty="0">
                <a:cs typeface="Times New Roman" panose="02020603050405020304" pitchFamily="18" charset="0"/>
              </a:rPr>
              <a:t> </a:t>
            </a:r>
            <a:r>
              <a:rPr lang="en-US" sz="2400" dirty="0">
                <a:cs typeface="Times New Roman" panose="02020603050405020304" pitchFamily="18" charset="0"/>
              </a:rPr>
              <a:t>and</a:t>
            </a:r>
            <a:r>
              <a:rPr lang="en-US" sz="2400" spc="-27" dirty="0">
                <a:cs typeface="Times New Roman" panose="02020603050405020304" pitchFamily="18" charset="0"/>
              </a:rPr>
              <a:t> just </a:t>
            </a:r>
            <a:r>
              <a:rPr lang="en-US" sz="2400" dirty="0">
                <a:cs typeface="Times New Roman" panose="02020603050405020304" pitchFamily="18" charset="0"/>
              </a:rPr>
              <a:t>leaving</a:t>
            </a:r>
            <a:r>
              <a:rPr lang="en-US" sz="2400" spc="-60" dirty="0">
                <a:cs typeface="Times New Roman" panose="02020603050405020304" pitchFamily="18" charset="0"/>
              </a:rPr>
              <a:t> </a:t>
            </a:r>
            <a:r>
              <a:rPr lang="en-US" sz="2400" dirty="0">
                <a:cs typeface="Times New Roman" panose="02020603050405020304" pitchFamily="18" charset="0"/>
              </a:rPr>
              <a:t>the</a:t>
            </a:r>
            <a:r>
              <a:rPr lang="en-US" sz="2400" spc="-33" dirty="0">
                <a:cs typeface="Times New Roman" panose="02020603050405020304" pitchFamily="18" charset="0"/>
              </a:rPr>
              <a:t> </a:t>
            </a:r>
            <a:r>
              <a:rPr lang="en-US" sz="2400" spc="-13" dirty="0">
                <a:cs typeface="Times New Roman" panose="02020603050405020304" pitchFamily="18" charset="0"/>
              </a:rPr>
              <a:t>turbine</a:t>
            </a:r>
            <a:endParaRPr lang="en-US" sz="2400" dirty="0">
              <a:cs typeface="Times New Roman" panose="02020603050405020304" pitchFamily="18" charset="0"/>
            </a:endParaRPr>
          </a:p>
          <a:p>
            <a:pPr marL="473286" marR="740815" indent="-457200">
              <a:lnSpc>
                <a:spcPts val="3320"/>
              </a:lnSpc>
              <a:spcBef>
                <a:spcPts val="173"/>
              </a:spcBef>
              <a:tabLst>
                <a:tab pos="473275" algn="l"/>
              </a:tabLst>
            </a:pPr>
            <a:r>
              <a:rPr lang="en-US" sz="2400" dirty="0">
                <a:cs typeface="Times New Roman" panose="02020603050405020304" pitchFamily="18" charset="0"/>
              </a:rPr>
              <a:t>Net</a:t>
            </a:r>
            <a:r>
              <a:rPr lang="en-US" sz="2400" spc="-33" dirty="0">
                <a:cs typeface="Times New Roman" panose="02020603050405020304" pitchFamily="18" charset="0"/>
              </a:rPr>
              <a:t> </a:t>
            </a:r>
            <a:r>
              <a:rPr lang="en-US" sz="2400" dirty="0">
                <a:cs typeface="Times New Roman" panose="02020603050405020304" pitchFamily="18" charset="0"/>
              </a:rPr>
              <a:t>wind</a:t>
            </a:r>
            <a:r>
              <a:rPr lang="en-US" sz="2400" spc="-27" dirty="0">
                <a:cs typeface="Times New Roman" panose="02020603050405020304" pitchFamily="18" charset="0"/>
              </a:rPr>
              <a:t> </a:t>
            </a:r>
            <a:r>
              <a:rPr lang="en-US" sz="2400" dirty="0">
                <a:cs typeface="Times New Roman" panose="02020603050405020304" pitchFamily="18" charset="0"/>
              </a:rPr>
              <a:t>mechanical</a:t>
            </a:r>
            <a:r>
              <a:rPr lang="en-US" sz="2400" spc="-53" dirty="0">
                <a:cs typeface="Times New Roman" panose="02020603050405020304" pitchFamily="18" charset="0"/>
              </a:rPr>
              <a:t> </a:t>
            </a:r>
            <a:r>
              <a:rPr lang="en-US" sz="2400" dirty="0">
                <a:cs typeface="Times New Roman" panose="02020603050405020304" pitchFamily="18" charset="0"/>
              </a:rPr>
              <a:t>power</a:t>
            </a:r>
            <a:r>
              <a:rPr lang="en-US" sz="2400" spc="-27" dirty="0">
                <a:cs typeface="Times New Roman" panose="02020603050405020304" pitchFamily="18" charset="0"/>
              </a:rPr>
              <a:t> </a:t>
            </a:r>
            <a:r>
              <a:rPr lang="en-US" sz="2400" dirty="0">
                <a:cs typeface="Times New Roman" panose="02020603050405020304" pitchFamily="18" charset="0"/>
              </a:rPr>
              <a:t>of</a:t>
            </a:r>
            <a:r>
              <a:rPr lang="en-US" sz="2400" spc="-33" dirty="0">
                <a:cs typeface="Times New Roman" panose="02020603050405020304" pitchFamily="18" charset="0"/>
              </a:rPr>
              <a:t> </a:t>
            </a:r>
            <a:r>
              <a:rPr lang="en-US" sz="2400" dirty="0">
                <a:cs typeface="Times New Roman" panose="02020603050405020304" pitchFamily="18" charset="0"/>
              </a:rPr>
              <a:t>the</a:t>
            </a:r>
            <a:r>
              <a:rPr lang="en-US" sz="2400" spc="-47" dirty="0">
                <a:cs typeface="Times New Roman" panose="02020603050405020304" pitchFamily="18" charset="0"/>
              </a:rPr>
              <a:t> </a:t>
            </a:r>
            <a:r>
              <a:rPr lang="en-US" sz="2400" dirty="0">
                <a:cs typeface="Times New Roman" panose="02020603050405020304" pitchFamily="18" charset="0"/>
              </a:rPr>
              <a:t>turbine</a:t>
            </a:r>
            <a:r>
              <a:rPr lang="en-US" sz="2400" spc="-33" dirty="0">
                <a:cs typeface="Times New Roman" panose="02020603050405020304" pitchFamily="18" charset="0"/>
              </a:rPr>
              <a:t> </a:t>
            </a:r>
            <a:r>
              <a:rPr lang="en-US" sz="2400" dirty="0">
                <a:cs typeface="Times New Roman" panose="02020603050405020304" pitchFamily="18" charset="0"/>
              </a:rPr>
              <a:t>is</a:t>
            </a:r>
            <a:r>
              <a:rPr lang="en-US" sz="2400" spc="-40" dirty="0">
                <a:cs typeface="Times New Roman" panose="02020603050405020304" pitchFamily="18" charset="0"/>
              </a:rPr>
              <a:t> </a:t>
            </a:r>
            <a:r>
              <a:rPr lang="en-US" sz="2400" dirty="0">
                <a:cs typeface="Times New Roman" panose="02020603050405020304" pitchFamily="18" charset="0"/>
              </a:rPr>
              <a:t>imposed</a:t>
            </a:r>
            <a:r>
              <a:rPr lang="en-US" sz="2400" spc="-27" dirty="0">
                <a:cs typeface="Times New Roman" panose="02020603050405020304" pitchFamily="18" charset="0"/>
              </a:rPr>
              <a:t> </a:t>
            </a:r>
            <a:r>
              <a:rPr lang="en-US" sz="2400" dirty="0">
                <a:cs typeface="Times New Roman" panose="02020603050405020304" pitchFamily="18" charset="0"/>
              </a:rPr>
              <a:t>by</a:t>
            </a:r>
            <a:r>
              <a:rPr lang="en-US" sz="2400" spc="-27" dirty="0">
                <a:cs typeface="Times New Roman" panose="02020603050405020304" pitchFamily="18" charset="0"/>
              </a:rPr>
              <a:t> </a:t>
            </a:r>
            <a:r>
              <a:rPr lang="en-US" sz="2400" dirty="0">
                <a:cs typeface="Times New Roman" panose="02020603050405020304" pitchFamily="18" charset="0"/>
              </a:rPr>
              <a:t>this</a:t>
            </a:r>
            <a:r>
              <a:rPr lang="en-US" sz="2400" spc="-53" dirty="0">
                <a:cs typeface="Times New Roman" panose="02020603050405020304" pitchFamily="18" charset="0"/>
              </a:rPr>
              <a:t> </a:t>
            </a:r>
            <a:r>
              <a:rPr lang="en-US" sz="2400" dirty="0">
                <a:cs typeface="Times New Roman" panose="02020603050405020304" pitchFamily="18" charset="0"/>
              </a:rPr>
              <a:t>kinetic</a:t>
            </a:r>
            <a:r>
              <a:rPr lang="en-US" sz="2400" spc="-47" dirty="0">
                <a:cs typeface="Times New Roman" panose="02020603050405020304" pitchFamily="18" charset="0"/>
              </a:rPr>
              <a:t> </a:t>
            </a:r>
            <a:r>
              <a:rPr lang="en-US" sz="2400" spc="-13" dirty="0">
                <a:cs typeface="Times New Roman" panose="02020603050405020304" pitchFamily="18" charset="0"/>
              </a:rPr>
              <a:t>energy difference</a:t>
            </a:r>
          </a:p>
          <a:p>
            <a:pPr marL="16086" marR="740815" indent="0">
              <a:lnSpc>
                <a:spcPts val="3320"/>
              </a:lnSpc>
              <a:spcBef>
                <a:spcPts val="173"/>
              </a:spcBef>
              <a:buNone/>
              <a:tabLst>
                <a:tab pos="473275" algn="l"/>
              </a:tabLst>
            </a:pPr>
            <a:r>
              <a:rPr lang="en-IN" sz="2400" spc="-33" dirty="0">
                <a:cs typeface="Times New Roman"/>
              </a:rPr>
              <a:t>                                                                                               (4</a:t>
            </a:r>
            <a:endParaRPr lang="en-IN" sz="2400" dirty="0">
              <a:cs typeface="Times New Roman"/>
            </a:endParaRPr>
          </a:p>
        </p:txBody>
      </p:sp>
      <p:pic>
        <p:nvPicPr>
          <p:cNvPr id="4" name="object 10">
            <a:extLst>
              <a:ext uri="{FF2B5EF4-FFF2-40B4-BE49-F238E27FC236}">
                <a16:creationId xmlns:a16="http://schemas.microsoft.com/office/drawing/2014/main" id="{2C214384-E83C-7165-3D36-4A1D42EC6B6B}"/>
              </a:ext>
            </a:extLst>
          </p:cNvPr>
          <p:cNvPicPr/>
          <p:nvPr/>
        </p:nvPicPr>
        <p:blipFill>
          <a:blip r:embed="rId2" cstate="print"/>
          <a:stretch>
            <a:fillRect/>
          </a:stretch>
        </p:blipFill>
        <p:spPr>
          <a:xfrm>
            <a:off x="7447794" y="2573346"/>
            <a:ext cx="2560910" cy="686688"/>
          </a:xfrm>
          <a:prstGeom prst="rect">
            <a:avLst/>
          </a:prstGeom>
        </p:spPr>
      </p:pic>
      <p:pic>
        <p:nvPicPr>
          <p:cNvPr id="5" name="object 3"/>
          <p:cNvPicPr/>
          <p:nvPr/>
        </p:nvPicPr>
        <p:blipFill>
          <a:blip r:embed="rId3" cstate="print"/>
          <a:stretch>
            <a:fillRect/>
          </a:stretch>
        </p:blipFill>
        <p:spPr>
          <a:xfrm>
            <a:off x="3490466" y="5020355"/>
            <a:ext cx="3735282" cy="1156608"/>
          </a:xfrm>
          <a:prstGeom prst="rect">
            <a:avLst/>
          </a:prstGeom>
        </p:spPr>
      </p:pic>
    </p:spTree>
    <p:extLst>
      <p:ext uri="{BB962C8B-B14F-4D97-AF65-F5344CB8AC3E}">
        <p14:creationId xmlns:p14="http://schemas.microsoft.com/office/powerpoint/2010/main" val="2646939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F626-C64C-6581-553B-12A7F8B727E2}"/>
              </a:ext>
            </a:extLst>
          </p:cNvPr>
          <p:cNvSpPr>
            <a:spLocks noGrp="1"/>
          </p:cNvSpPr>
          <p:nvPr>
            <p:ph type="title"/>
          </p:nvPr>
        </p:nvSpPr>
        <p:spPr/>
        <p:txBody>
          <a:bodyPr/>
          <a:lstStyle/>
          <a:p>
            <a:r>
              <a:rPr lang="en-IN" b="1" dirty="0">
                <a:latin typeface="+mn-lt"/>
                <a:cs typeface="Times New Roman"/>
              </a:rPr>
              <a:t>Evaluation</a:t>
            </a:r>
            <a:r>
              <a:rPr lang="en-IN" b="1" spc="-60" dirty="0">
                <a:latin typeface="+mn-lt"/>
                <a:cs typeface="Times New Roman"/>
              </a:rPr>
              <a:t> </a:t>
            </a:r>
            <a:r>
              <a:rPr lang="en-IN" b="1" dirty="0">
                <a:latin typeface="+mn-lt"/>
                <a:cs typeface="Times New Roman"/>
              </a:rPr>
              <a:t>of</a:t>
            </a:r>
            <a:r>
              <a:rPr lang="en-IN" b="1" spc="-47" dirty="0">
                <a:latin typeface="+mn-lt"/>
                <a:cs typeface="Times New Roman"/>
              </a:rPr>
              <a:t> </a:t>
            </a:r>
            <a:r>
              <a:rPr lang="en-IN" b="1" dirty="0">
                <a:latin typeface="+mn-lt"/>
                <a:cs typeface="Times New Roman"/>
              </a:rPr>
              <a:t>Wind</a:t>
            </a:r>
            <a:r>
              <a:rPr lang="en-IN" b="1" spc="-40" dirty="0">
                <a:latin typeface="+mn-lt"/>
                <a:cs typeface="Times New Roman"/>
              </a:rPr>
              <a:t> </a:t>
            </a:r>
            <a:r>
              <a:rPr lang="en-IN" b="1" spc="-13" dirty="0">
                <a:latin typeface="+mn-lt"/>
                <a:cs typeface="Times New Roman"/>
              </a:rPr>
              <a:t>Intensity</a:t>
            </a:r>
            <a:endParaRPr lang="en-IN" dirty="0">
              <a:latin typeface="+mn-lt"/>
            </a:endParaRPr>
          </a:p>
        </p:txBody>
      </p:sp>
      <p:sp>
        <p:nvSpPr>
          <p:cNvPr id="3" name="Content Placeholder 2">
            <a:extLst>
              <a:ext uri="{FF2B5EF4-FFF2-40B4-BE49-F238E27FC236}">
                <a16:creationId xmlns:a16="http://schemas.microsoft.com/office/drawing/2014/main" id="{521B43EF-A43E-F004-3D9F-F068B0BF2C7E}"/>
              </a:ext>
            </a:extLst>
          </p:cNvPr>
          <p:cNvSpPr>
            <a:spLocks noGrp="1"/>
          </p:cNvSpPr>
          <p:nvPr>
            <p:ph idx="1"/>
          </p:nvPr>
        </p:nvSpPr>
        <p:spPr>
          <a:xfrm>
            <a:off x="838200" y="1560444"/>
            <a:ext cx="10515600" cy="5158408"/>
          </a:xfrm>
        </p:spPr>
        <p:txBody>
          <a:bodyPr>
            <a:normAutofit/>
          </a:bodyPr>
          <a:lstStyle/>
          <a:p>
            <a:r>
              <a:rPr lang="en-US" sz="2400" dirty="0">
                <a:cs typeface="Times New Roman"/>
              </a:rPr>
              <a:t>Combining</a:t>
            </a:r>
            <a:r>
              <a:rPr lang="en-US" sz="2400" spc="-40" dirty="0">
                <a:cs typeface="Times New Roman"/>
              </a:rPr>
              <a:t> </a:t>
            </a:r>
            <a:r>
              <a:rPr lang="en-US" sz="2400" dirty="0">
                <a:cs typeface="Times New Roman"/>
              </a:rPr>
              <a:t>equations</a:t>
            </a:r>
            <a:r>
              <a:rPr lang="en-US" sz="2400" spc="-47" dirty="0">
                <a:cs typeface="Times New Roman"/>
              </a:rPr>
              <a:t> </a:t>
            </a:r>
            <a:r>
              <a:rPr lang="en-US" sz="2400" dirty="0">
                <a:cs typeface="Times New Roman"/>
              </a:rPr>
              <a:t>(3)</a:t>
            </a:r>
            <a:r>
              <a:rPr lang="en-US" sz="2400" spc="-20" dirty="0">
                <a:cs typeface="Times New Roman"/>
              </a:rPr>
              <a:t> </a:t>
            </a:r>
            <a:r>
              <a:rPr lang="en-US" sz="2400" dirty="0">
                <a:cs typeface="Times New Roman"/>
              </a:rPr>
              <a:t>and</a:t>
            </a:r>
            <a:r>
              <a:rPr lang="en-US" sz="2400" spc="-27" dirty="0">
                <a:cs typeface="Times New Roman"/>
              </a:rPr>
              <a:t> (4),</a:t>
            </a:r>
          </a:p>
          <a:p>
            <a:endParaRPr lang="en-US" sz="2400" spc="-27" dirty="0">
              <a:cs typeface="Times New Roman"/>
            </a:endParaRPr>
          </a:p>
          <a:p>
            <a:pPr marL="0" indent="0">
              <a:buNone/>
            </a:pPr>
            <a:r>
              <a:rPr lang="en-US" sz="2400" dirty="0">
                <a:cs typeface="Times New Roman"/>
              </a:rPr>
              <a:t>                                                                             	</a:t>
            </a:r>
            <a:r>
              <a:rPr lang="en-IN" sz="2400" spc="-33" dirty="0">
                <a:cs typeface="Times New Roman"/>
              </a:rPr>
              <a:t>(5)</a:t>
            </a:r>
          </a:p>
          <a:p>
            <a:pPr marL="0" indent="0">
              <a:buNone/>
            </a:pPr>
            <a:endParaRPr lang="en-IN" sz="2400" spc="-33" dirty="0">
              <a:cs typeface="Times New Roman"/>
            </a:endParaRPr>
          </a:p>
          <a:p>
            <a:pPr marL="0" indent="0">
              <a:buNone/>
            </a:pPr>
            <a:endParaRPr lang="en-IN" sz="2400" spc="-33" dirty="0">
              <a:cs typeface="Times New Roman"/>
            </a:endParaRPr>
          </a:p>
          <a:p>
            <a:pPr marL="0" indent="0">
              <a:buNone/>
            </a:pPr>
            <a:endParaRPr lang="en-IN" sz="2400" spc="-33" dirty="0">
              <a:cs typeface="Times New Roman"/>
            </a:endParaRPr>
          </a:p>
          <a:p>
            <a:pPr marL="0" indent="0">
              <a:buNone/>
            </a:pPr>
            <a:endParaRPr lang="en-IN" sz="2400" spc="-33" dirty="0">
              <a:cs typeface="Times New Roman"/>
            </a:endParaRPr>
          </a:p>
          <a:p>
            <a:pPr marL="0" indent="0">
              <a:buNone/>
            </a:pPr>
            <a:r>
              <a:rPr lang="en-IN" sz="2400" spc="-33" dirty="0">
                <a:cs typeface="Times New Roman"/>
              </a:rPr>
              <a:t>								(6)</a:t>
            </a:r>
            <a:endParaRPr lang="en-IN" sz="2400" dirty="0">
              <a:cs typeface="Times New Roman"/>
            </a:endParaRPr>
          </a:p>
          <a:p>
            <a:pPr marL="0" indent="0">
              <a:buNone/>
            </a:pPr>
            <a:endParaRPr lang="en-IN" sz="2400" dirty="0">
              <a:cs typeface="Times New Roman"/>
            </a:endParaRPr>
          </a:p>
          <a:p>
            <a:pPr marL="0" indent="0">
              <a:buNone/>
            </a:pPr>
            <a:r>
              <a:rPr lang="en-US" sz="2400" spc="-13" dirty="0">
                <a:cs typeface="Times New Roman"/>
              </a:rPr>
              <a:t>where</a:t>
            </a:r>
            <a:r>
              <a:rPr lang="en-US" sz="2400" dirty="0">
                <a:cs typeface="Times New Roman"/>
              </a:rPr>
              <a:t>	                                                        is</a:t>
            </a:r>
            <a:r>
              <a:rPr lang="en-US" sz="2400" spc="-40" dirty="0">
                <a:cs typeface="Times New Roman"/>
              </a:rPr>
              <a:t> </a:t>
            </a:r>
            <a:r>
              <a:rPr lang="en-US" sz="2400" dirty="0">
                <a:cs typeface="Times New Roman"/>
              </a:rPr>
              <a:t>the</a:t>
            </a:r>
            <a:r>
              <a:rPr lang="en-US" sz="2400" spc="-40" dirty="0">
                <a:cs typeface="Times New Roman"/>
              </a:rPr>
              <a:t> </a:t>
            </a:r>
            <a:r>
              <a:rPr lang="en-US" sz="2400" dirty="0">
                <a:cs typeface="Times New Roman"/>
              </a:rPr>
              <a:t>power</a:t>
            </a:r>
            <a:r>
              <a:rPr lang="en-US" sz="2400" spc="-40" dirty="0">
                <a:cs typeface="Times New Roman"/>
              </a:rPr>
              <a:t> </a:t>
            </a:r>
            <a:r>
              <a:rPr lang="en-US" sz="2400" dirty="0">
                <a:cs typeface="Times New Roman"/>
              </a:rPr>
              <a:t>coefficient</a:t>
            </a:r>
            <a:r>
              <a:rPr lang="en-US" sz="2400" spc="-73" dirty="0">
                <a:cs typeface="Times New Roman"/>
              </a:rPr>
              <a:t> </a:t>
            </a:r>
            <a:r>
              <a:rPr lang="en-US" sz="2400" dirty="0">
                <a:cs typeface="Times New Roman"/>
              </a:rPr>
              <a:t>or</a:t>
            </a:r>
            <a:r>
              <a:rPr lang="en-US" sz="2400" spc="-27" dirty="0">
                <a:cs typeface="Times New Roman"/>
              </a:rPr>
              <a:t> </a:t>
            </a:r>
            <a:r>
              <a:rPr lang="en-US" sz="2400" dirty="0">
                <a:cs typeface="Times New Roman"/>
              </a:rPr>
              <a:t>rotor</a:t>
            </a:r>
            <a:r>
              <a:rPr lang="en-US" sz="2400" spc="-40" dirty="0">
                <a:cs typeface="Times New Roman"/>
              </a:rPr>
              <a:t> </a:t>
            </a:r>
            <a:r>
              <a:rPr lang="en-US" sz="2400" spc="-13" dirty="0">
                <a:cs typeface="Times New Roman"/>
              </a:rPr>
              <a:t>efficiency</a:t>
            </a:r>
            <a:endParaRPr lang="en-IN" sz="2400" dirty="0"/>
          </a:p>
        </p:txBody>
      </p:sp>
      <p:grpSp>
        <p:nvGrpSpPr>
          <p:cNvPr id="5" name="object 5"/>
          <p:cNvGrpSpPr/>
          <p:nvPr/>
        </p:nvGrpSpPr>
        <p:grpSpPr>
          <a:xfrm>
            <a:off x="1527864" y="2134439"/>
            <a:ext cx="5429527" cy="2079752"/>
            <a:chOff x="2429255" y="3069335"/>
            <a:chExt cx="3324225" cy="1294130"/>
          </a:xfrm>
        </p:grpSpPr>
        <p:pic>
          <p:nvPicPr>
            <p:cNvPr id="6" name="object 6"/>
            <p:cNvPicPr/>
            <p:nvPr/>
          </p:nvPicPr>
          <p:blipFill>
            <a:blip r:embed="rId2" cstate="print"/>
            <a:stretch>
              <a:fillRect/>
            </a:stretch>
          </p:blipFill>
          <p:spPr>
            <a:xfrm>
              <a:off x="2429255" y="3069335"/>
              <a:ext cx="3323844" cy="676655"/>
            </a:xfrm>
            <a:prstGeom prst="rect">
              <a:avLst/>
            </a:prstGeom>
          </p:spPr>
        </p:pic>
        <p:pic>
          <p:nvPicPr>
            <p:cNvPr id="7" name="object 7"/>
            <p:cNvPicPr/>
            <p:nvPr/>
          </p:nvPicPr>
          <p:blipFill>
            <a:blip r:embed="rId3" cstate="print"/>
            <a:stretch>
              <a:fillRect/>
            </a:stretch>
          </p:blipFill>
          <p:spPr>
            <a:xfrm>
              <a:off x="2510027" y="3677411"/>
              <a:ext cx="3057144" cy="685800"/>
            </a:xfrm>
            <a:prstGeom prst="rect">
              <a:avLst/>
            </a:prstGeom>
          </p:spPr>
        </p:pic>
      </p:grpSp>
      <p:pic>
        <p:nvPicPr>
          <p:cNvPr id="9" name="object 9"/>
          <p:cNvPicPr/>
          <p:nvPr/>
        </p:nvPicPr>
        <p:blipFill>
          <a:blip r:embed="rId4" cstate="print"/>
          <a:stretch>
            <a:fillRect/>
          </a:stretch>
        </p:blipFill>
        <p:spPr>
          <a:xfrm>
            <a:off x="1659791" y="4232199"/>
            <a:ext cx="2435131" cy="958802"/>
          </a:xfrm>
          <a:prstGeom prst="rect">
            <a:avLst/>
          </a:prstGeom>
        </p:spPr>
      </p:pic>
      <p:pic>
        <p:nvPicPr>
          <p:cNvPr id="8" name="object 3">
            <a:extLst>
              <a:ext uri="{FF2B5EF4-FFF2-40B4-BE49-F238E27FC236}">
                <a16:creationId xmlns:a16="http://schemas.microsoft.com/office/drawing/2014/main" id="{F48C419D-69B7-0AE1-2BDE-F86557CCFB0E}"/>
              </a:ext>
            </a:extLst>
          </p:cNvPr>
          <p:cNvPicPr/>
          <p:nvPr/>
        </p:nvPicPr>
        <p:blipFill>
          <a:blip r:embed="rId5" cstate="print"/>
          <a:stretch>
            <a:fillRect/>
          </a:stretch>
        </p:blipFill>
        <p:spPr>
          <a:xfrm>
            <a:off x="2006061" y="5681428"/>
            <a:ext cx="3708939" cy="490772"/>
          </a:xfrm>
          <a:prstGeom prst="rect">
            <a:avLst/>
          </a:prstGeom>
        </p:spPr>
      </p:pic>
    </p:spTree>
    <p:extLst>
      <p:ext uri="{BB962C8B-B14F-4D97-AF65-F5344CB8AC3E}">
        <p14:creationId xmlns:p14="http://schemas.microsoft.com/office/powerpoint/2010/main" val="1697476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2CF41-5BC5-C408-36D6-F384E1100500}"/>
              </a:ext>
            </a:extLst>
          </p:cNvPr>
          <p:cNvSpPr>
            <a:spLocks noGrp="1"/>
          </p:cNvSpPr>
          <p:nvPr>
            <p:ph type="title"/>
          </p:nvPr>
        </p:nvSpPr>
        <p:spPr/>
        <p:txBody>
          <a:bodyPr/>
          <a:lstStyle/>
          <a:p>
            <a:r>
              <a:rPr lang="en-IN" b="1" dirty="0">
                <a:latin typeface="+mn-lt"/>
                <a:cs typeface="Times New Roman"/>
              </a:rPr>
              <a:t>Evaluation</a:t>
            </a:r>
            <a:r>
              <a:rPr lang="en-IN" b="1" spc="-60" dirty="0">
                <a:latin typeface="+mn-lt"/>
                <a:cs typeface="Times New Roman"/>
              </a:rPr>
              <a:t> </a:t>
            </a:r>
            <a:r>
              <a:rPr lang="en-IN" b="1" dirty="0">
                <a:latin typeface="+mn-lt"/>
                <a:cs typeface="Times New Roman"/>
              </a:rPr>
              <a:t>of</a:t>
            </a:r>
            <a:r>
              <a:rPr lang="en-IN" b="1" spc="-47" dirty="0">
                <a:latin typeface="+mn-lt"/>
                <a:cs typeface="Times New Roman"/>
              </a:rPr>
              <a:t> </a:t>
            </a:r>
            <a:r>
              <a:rPr lang="en-IN" b="1" dirty="0">
                <a:latin typeface="+mn-lt"/>
                <a:cs typeface="Times New Roman"/>
              </a:rPr>
              <a:t>Wind</a:t>
            </a:r>
            <a:r>
              <a:rPr lang="en-IN" b="1" spc="-40" dirty="0">
                <a:latin typeface="+mn-lt"/>
                <a:cs typeface="Times New Roman"/>
              </a:rPr>
              <a:t> </a:t>
            </a:r>
            <a:r>
              <a:rPr lang="en-IN" b="1" spc="-13" dirty="0">
                <a:latin typeface="+mn-lt"/>
                <a:cs typeface="Times New Roman"/>
              </a:rPr>
              <a:t>Intensity</a:t>
            </a:r>
            <a:endParaRPr lang="en-IN" dirty="0">
              <a:latin typeface="+mn-lt"/>
            </a:endParaRPr>
          </a:p>
        </p:txBody>
      </p:sp>
      <p:sp>
        <p:nvSpPr>
          <p:cNvPr id="3" name="Content Placeholder 2">
            <a:extLst>
              <a:ext uri="{FF2B5EF4-FFF2-40B4-BE49-F238E27FC236}">
                <a16:creationId xmlns:a16="http://schemas.microsoft.com/office/drawing/2014/main" id="{7E49303B-397E-D1B9-21D0-83F3899C7B88}"/>
              </a:ext>
            </a:extLst>
          </p:cNvPr>
          <p:cNvSpPr>
            <a:spLocks noGrp="1"/>
          </p:cNvSpPr>
          <p:nvPr>
            <p:ph idx="1"/>
          </p:nvPr>
        </p:nvSpPr>
        <p:spPr/>
        <p:txBody>
          <a:bodyPr>
            <a:normAutofit/>
          </a:bodyPr>
          <a:lstStyle/>
          <a:p>
            <a:pPr marL="473275" marR="6773" indent="-457189" algn="just">
              <a:lnSpc>
                <a:spcPct val="114999"/>
              </a:lnSpc>
              <a:spcBef>
                <a:spcPts val="1600"/>
              </a:spcBef>
              <a:buChar char="●"/>
              <a:tabLst>
                <a:tab pos="473275" algn="l"/>
              </a:tabLst>
            </a:pPr>
            <a:r>
              <a:rPr lang="en-US" sz="2400" dirty="0">
                <a:cs typeface="Times New Roman"/>
              </a:rPr>
              <a:t>If</a:t>
            </a:r>
            <a:r>
              <a:rPr lang="en-US" sz="2400" spc="407" dirty="0">
                <a:cs typeface="Times New Roman"/>
              </a:rPr>
              <a:t> </a:t>
            </a:r>
            <a:r>
              <a:rPr lang="en-US" sz="2400" dirty="0">
                <a:cs typeface="Times New Roman"/>
              </a:rPr>
              <a:t>Cp</a:t>
            </a:r>
            <a:r>
              <a:rPr lang="en-US" sz="2400" spc="400" dirty="0">
                <a:cs typeface="Times New Roman"/>
              </a:rPr>
              <a:t> </a:t>
            </a:r>
            <a:r>
              <a:rPr lang="en-US" sz="2400" dirty="0">
                <a:cs typeface="Times New Roman"/>
              </a:rPr>
              <a:t>is</a:t>
            </a:r>
            <a:r>
              <a:rPr lang="en-US" sz="2400" spc="407" dirty="0">
                <a:cs typeface="Times New Roman"/>
              </a:rPr>
              <a:t> </a:t>
            </a:r>
            <a:r>
              <a:rPr lang="en-US" sz="2400" dirty="0">
                <a:cs typeface="Times New Roman"/>
              </a:rPr>
              <a:t>considered</a:t>
            </a:r>
            <a:r>
              <a:rPr lang="en-US" sz="2400" spc="380" dirty="0">
                <a:cs typeface="Times New Roman"/>
              </a:rPr>
              <a:t> </a:t>
            </a:r>
            <a:r>
              <a:rPr lang="en-US" sz="2400" dirty="0">
                <a:cs typeface="Times New Roman"/>
              </a:rPr>
              <a:t>a</a:t>
            </a:r>
            <a:r>
              <a:rPr lang="en-US" sz="2400" spc="420" dirty="0">
                <a:cs typeface="Times New Roman"/>
              </a:rPr>
              <a:t> </a:t>
            </a:r>
            <a:r>
              <a:rPr lang="en-US" sz="2400" dirty="0">
                <a:cs typeface="Times New Roman"/>
              </a:rPr>
              <a:t>function</a:t>
            </a:r>
            <a:r>
              <a:rPr lang="en-US" sz="2400" spc="387" dirty="0">
                <a:cs typeface="Times New Roman"/>
              </a:rPr>
              <a:t> </a:t>
            </a:r>
            <a:r>
              <a:rPr lang="en-US" sz="2400" dirty="0">
                <a:cs typeface="Times New Roman"/>
              </a:rPr>
              <a:t>of</a:t>
            </a:r>
            <a:r>
              <a:rPr lang="en-US" sz="2400" spc="413" dirty="0">
                <a:cs typeface="Times New Roman"/>
              </a:rPr>
              <a:t> </a:t>
            </a:r>
            <a:r>
              <a:rPr lang="en-US" sz="2400" dirty="0">
                <a:cs typeface="Times New Roman"/>
              </a:rPr>
              <a:t>v2/v1,</a:t>
            </a:r>
            <a:r>
              <a:rPr lang="en-US" sz="2400" spc="400" dirty="0">
                <a:cs typeface="Times New Roman"/>
              </a:rPr>
              <a:t> </a:t>
            </a:r>
            <a:r>
              <a:rPr lang="en-US" sz="2400" dirty="0">
                <a:cs typeface="Times New Roman"/>
              </a:rPr>
              <a:t>the</a:t>
            </a:r>
            <a:r>
              <a:rPr lang="en-US" sz="2400" spc="420" dirty="0">
                <a:cs typeface="Times New Roman"/>
              </a:rPr>
              <a:t> </a:t>
            </a:r>
            <a:r>
              <a:rPr lang="en-US" sz="2400" dirty="0">
                <a:cs typeface="Times New Roman"/>
              </a:rPr>
              <a:t>maximum</a:t>
            </a:r>
            <a:r>
              <a:rPr lang="en-US" sz="2400" spc="407" dirty="0">
                <a:cs typeface="Times New Roman"/>
              </a:rPr>
              <a:t> </a:t>
            </a:r>
            <a:r>
              <a:rPr lang="en-US" sz="2400" dirty="0">
                <a:cs typeface="Times New Roman"/>
              </a:rPr>
              <a:t>of</a:t>
            </a:r>
            <a:r>
              <a:rPr lang="en-US" sz="2400" spc="413" dirty="0">
                <a:cs typeface="Times New Roman"/>
              </a:rPr>
              <a:t> </a:t>
            </a:r>
            <a:r>
              <a:rPr lang="en-US" sz="2400" dirty="0">
                <a:cs typeface="Times New Roman"/>
              </a:rPr>
              <a:t>such</a:t>
            </a:r>
            <a:r>
              <a:rPr lang="en-US" sz="2400" spc="413" dirty="0">
                <a:cs typeface="Times New Roman"/>
              </a:rPr>
              <a:t> </a:t>
            </a:r>
            <a:r>
              <a:rPr lang="en-US" sz="2400" dirty="0">
                <a:cs typeface="Times New Roman"/>
              </a:rPr>
              <a:t>a</a:t>
            </a:r>
            <a:r>
              <a:rPr lang="en-US" sz="2400" spc="413" dirty="0">
                <a:cs typeface="Times New Roman"/>
              </a:rPr>
              <a:t> </a:t>
            </a:r>
            <a:r>
              <a:rPr lang="en-US" sz="2400" dirty="0">
                <a:cs typeface="Times New Roman"/>
              </a:rPr>
              <a:t>function</a:t>
            </a:r>
            <a:r>
              <a:rPr lang="en-US" sz="2400" spc="407" dirty="0">
                <a:cs typeface="Times New Roman"/>
              </a:rPr>
              <a:t> </a:t>
            </a:r>
            <a:r>
              <a:rPr lang="en-US" sz="2400" dirty="0">
                <a:cs typeface="Times New Roman"/>
              </a:rPr>
              <a:t>can</a:t>
            </a:r>
            <a:r>
              <a:rPr lang="en-US" sz="2400" spc="407" dirty="0">
                <a:cs typeface="Times New Roman"/>
              </a:rPr>
              <a:t> </a:t>
            </a:r>
            <a:r>
              <a:rPr lang="en-US" sz="2400" spc="-33" dirty="0">
                <a:cs typeface="Times New Roman"/>
              </a:rPr>
              <a:t>be </a:t>
            </a:r>
            <a:r>
              <a:rPr lang="en-US" sz="2400" dirty="0">
                <a:cs typeface="Times New Roman"/>
              </a:rPr>
              <a:t>obtained</a:t>
            </a:r>
            <a:r>
              <a:rPr lang="en-US" sz="2400" spc="-33" dirty="0">
                <a:cs typeface="Times New Roman"/>
              </a:rPr>
              <a:t> </a:t>
            </a:r>
            <a:r>
              <a:rPr lang="en-US" sz="2400" dirty="0">
                <a:cs typeface="Times New Roman"/>
              </a:rPr>
              <a:t>for</a:t>
            </a:r>
            <a:r>
              <a:rPr lang="en-US" sz="2400" spc="-13" dirty="0">
                <a:cs typeface="Times New Roman"/>
              </a:rPr>
              <a:t> </a:t>
            </a:r>
            <a:r>
              <a:rPr lang="en-US" sz="2400" dirty="0">
                <a:cs typeface="Times New Roman"/>
              </a:rPr>
              <a:t>v2/v1</a:t>
            </a:r>
            <a:r>
              <a:rPr lang="en-US" sz="2400" spc="-27" dirty="0">
                <a:cs typeface="Times New Roman"/>
              </a:rPr>
              <a:t> </a:t>
            </a:r>
            <a:r>
              <a:rPr lang="en-US" sz="2400" dirty="0">
                <a:cs typeface="Times New Roman"/>
              </a:rPr>
              <a:t>=</a:t>
            </a:r>
            <a:r>
              <a:rPr lang="en-US" sz="2400" spc="-20" dirty="0">
                <a:cs typeface="Times New Roman"/>
              </a:rPr>
              <a:t> </a:t>
            </a:r>
            <a:r>
              <a:rPr lang="en-US" sz="2400" dirty="0">
                <a:cs typeface="Times New Roman"/>
              </a:rPr>
              <a:t>1/3</a:t>
            </a:r>
            <a:r>
              <a:rPr lang="en-US" sz="2400" spc="-27" dirty="0">
                <a:cs typeface="Times New Roman"/>
              </a:rPr>
              <a:t> </a:t>
            </a:r>
            <a:r>
              <a:rPr lang="en-US" sz="2400" dirty="0">
                <a:cs typeface="Times New Roman"/>
              </a:rPr>
              <a:t>as</a:t>
            </a:r>
            <a:r>
              <a:rPr lang="en-US" sz="2400" spc="-33" dirty="0">
                <a:cs typeface="Times New Roman"/>
              </a:rPr>
              <a:t> </a:t>
            </a:r>
            <a:r>
              <a:rPr lang="en-US" sz="2400" dirty="0">
                <a:cs typeface="Times New Roman"/>
              </a:rPr>
              <a:t>Cp</a:t>
            </a:r>
            <a:r>
              <a:rPr lang="en-US" sz="2400" spc="-7" dirty="0">
                <a:cs typeface="Times New Roman"/>
              </a:rPr>
              <a:t> </a:t>
            </a:r>
            <a:r>
              <a:rPr lang="en-US" sz="2400" dirty="0">
                <a:cs typeface="Times New Roman"/>
              </a:rPr>
              <a:t>=16/27</a:t>
            </a:r>
            <a:r>
              <a:rPr lang="en-US" sz="2400" spc="-40" dirty="0">
                <a:cs typeface="Times New Roman"/>
              </a:rPr>
              <a:t> </a:t>
            </a:r>
            <a:r>
              <a:rPr lang="en-US" sz="2400" dirty="0">
                <a:cs typeface="Times New Roman"/>
              </a:rPr>
              <a:t>=</a:t>
            </a:r>
            <a:r>
              <a:rPr lang="en-US" sz="2400" spc="-20" dirty="0">
                <a:cs typeface="Times New Roman"/>
              </a:rPr>
              <a:t> </a:t>
            </a:r>
            <a:r>
              <a:rPr lang="en-US" sz="2400" spc="-13" dirty="0">
                <a:cs typeface="Times New Roman"/>
              </a:rPr>
              <a:t>0.5926.</a:t>
            </a:r>
            <a:endParaRPr lang="en-US" sz="2400" dirty="0">
              <a:cs typeface="Times New Roman"/>
            </a:endParaRPr>
          </a:p>
          <a:p>
            <a:pPr marL="473275" marR="7620" indent="-457189" algn="just">
              <a:lnSpc>
                <a:spcPct val="114999"/>
              </a:lnSpc>
              <a:buChar char="●"/>
              <a:tabLst>
                <a:tab pos="473275" algn="l"/>
                <a:tab pos="549473" algn="l"/>
              </a:tabLst>
            </a:pPr>
            <a:r>
              <a:rPr lang="en-US" sz="2400" dirty="0">
                <a:cs typeface="Times New Roman"/>
              </a:rPr>
              <a:t>This</a:t>
            </a:r>
            <a:r>
              <a:rPr lang="en-US" sz="2400" spc="227" dirty="0">
                <a:cs typeface="Times New Roman"/>
              </a:rPr>
              <a:t> </a:t>
            </a:r>
            <a:r>
              <a:rPr lang="en-US" sz="2400" dirty="0">
                <a:cs typeface="Times New Roman"/>
              </a:rPr>
              <a:t>value</a:t>
            </a:r>
            <a:r>
              <a:rPr lang="en-US" sz="2400" spc="253" dirty="0">
                <a:cs typeface="Times New Roman"/>
              </a:rPr>
              <a:t> </a:t>
            </a:r>
            <a:r>
              <a:rPr lang="en-US" sz="2400" dirty="0">
                <a:cs typeface="Times New Roman"/>
              </a:rPr>
              <a:t>is</a:t>
            </a:r>
            <a:r>
              <a:rPr lang="en-US" sz="2400" spc="227" dirty="0">
                <a:cs typeface="Times New Roman"/>
              </a:rPr>
              <a:t> </a:t>
            </a:r>
            <a:r>
              <a:rPr lang="en-US" sz="2400" dirty="0">
                <a:cs typeface="Times New Roman"/>
              </a:rPr>
              <a:t>known</a:t>
            </a:r>
            <a:r>
              <a:rPr lang="en-US" sz="2400" spc="227" dirty="0">
                <a:cs typeface="Times New Roman"/>
              </a:rPr>
              <a:t> </a:t>
            </a:r>
            <a:r>
              <a:rPr lang="en-US" sz="2400" dirty="0">
                <a:cs typeface="Times New Roman"/>
              </a:rPr>
              <a:t>as</a:t>
            </a:r>
            <a:r>
              <a:rPr lang="en-US" sz="2400" spc="227" dirty="0">
                <a:cs typeface="Times New Roman"/>
              </a:rPr>
              <a:t> </a:t>
            </a:r>
            <a:r>
              <a:rPr lang="en-US" sz="2400" dirty="0">
                <a:cs typeface="Times New Roman"/>
              </a:rPr>
              <a:t>the</a:t>
            </a:r>
            <a:r>
              <a:rPr lang="en-US" sz="2400" spc="240" dirty="0">
                <a:cs typeface="Times New Roman"/>
              </a:rPr>
              <a:t> </a:t>
            </a:r>
            <a:r>
              <a:rPr lang="en-US" sz="2400" dirty="0">
                <a:cs typeface="Times New Roman"/>
              </a:rPr>
              <a:t>Betz</a:t>
            </a:r>
            <a:r>
              <a:rPr lang="en-US" sz="2400" spc="240" dirty="0">
                <a:cs typeface="Times New Roman"/>
              </a:rPr>
              <a:t> </a:t>
            </a:r>
            <a:r>
              <a:rPr lang="en-US" sz="2400" dirty="0">
                <a:cs typeface="Times New Roman"/>
              </a:rPr>
              <a:t>limit,</a:t>
            </a:r>
            <a:r>
              <a:rPr lang="en-US" sz="2400" spc="240" dirty="0">
                <a:cs typeface="Times New Roman"/>
              </a:rPr>
              <a:t> </a:t>
            </a:r>
            <a:r>
              <a:rPr lang="en-US" sz="2400" dirty="0">
                <a:cs typeface="Times New Roman"/>
              </a:rPr>
              <a:t>the</a:t>
            </a:r>
            <a:r>
              <a:rPr lang="en-US" sz="2400" spc="247" dirty="0">
                <a:cs typeface="Times New Roman"/>
              </a:rPr>
              <a:t> </a:t>
            </a:r>
            <a:r>
              <a:rPr lang="en-US" sz="2400" dirty="0">
                <a:cs typeface="Times New Roman"/>
              </a:rPr>
              <a:t>point</a:t>
            </a:r>
            <a:r>
              <a:rPr lang="en-US" sz="2400" spc="233" dirty="0">
                <a:cs typeface="Times New Roman"/>
              </a:rPr>
              <a:t> </a:t>
            </a:r>
            <a:r>
              <a:rPr lang="en-US" sz="2400" dirty="0">
                <a:cs typeface="Times New Roman"/>
              </a:rPr>
              <a:t>at</a:t>
            </a:r>
            <a:r>
              <a:rPr lang="en-US" sz="2400" spc="240" dirty="0">
                <a:cs typeface="Times New Roman"/>
              </a:rPr>
              <a:t> </a:t>
            </a:r>
            <a:r>
              <a:rPr lang="en-US" sz="2400" dirty="0">
                <a:cs typeface="Times New Roman"/>
              </a:rPr>
              <a:t>which</a:t>
            </a:r>
            <a:r>
              <a:rPr lang="en-US" sz="2400" spc="227" dirty="0">
                <a:cs typeface="Times New Roman"/>
              </a:rPr>
              <a:t> </a:t>
            </a:r>
            <a:r>
              <a:rPr lang="en-US" sz="2400" dirty="0">
                <a:cs typeface="Times New Roman"/>
              </a:rPr>
              <a:t>if</a:t>
            </a:r>
            <a:r>
              <a:rPr lang="en-US" sz="2400" spc="233" dirty="0">
                <a:cs typeface="Times New Roman"/>
              </a:rPr>
              <a:t> </a:t>
            </a:r>
            <a:r>
              <a:rPr lang="en-US" sz="2400" dirty="0">
                <a:cs typeface="Times New Roman"/>
              </a:rPr>
              <a:t>the</a:t>
            </a:r>
            <a:r>
              <a:rPr lang="en-US" sz="2400" spc="227" dirty="0">
                <a:cs typeface="Times New Roman"/>
              </a:rPr>
              <a:t> </a:t>
            </a:r>
            <a:r>
              <a:rPr lang="en-US" sz="2400" dirty="0">
                <a:cs typeface="Times New Roman"/>
              </a:rPr>
              <a:t>blades</a:t>
            </a:r>
            <a:r>
              <a:rPr lang="en-US" sz="2400" spc="233" dirty="0">
                <a:cs typeface="Times New Roman"/>
              </a:rPr>
              <a:t> </a:t>
            </a:r>
            <a:r>
              <a:rPr lang="en-US" sz="2400" dirty="0">
                <a:cs typeface="Times New Roman"/>
              </a:rPr>
              <a:t>were</a:t>
            </a:r>
            <a:r>
              <a:rPr lang="en-US" sz="2400" spc="247" dirty="0">
                <a:cs typeface="Times New Roman"/>
              </a:rPr>
              <a:t> </a:t>
            </a:r>
            <a:r>
              <a:rPr lang="en-US" sz="2400" spc="-27" dirty="0">
                <a:cs typeface="Times New Roman"/>
              </a:rPr>
              <a:t>100% </a:t>
            </a:r>
            <a:r>
              <a:rPr lang="en-US" sz="2400" dirty="0">
                <a:cs typeface="Times New Roman"/>
              </a:rPr>
              <a:t>efficient,</a:t>
            </a:r>
            <a:r>
              <a:rPr lang="en-US" sz="2400" spc="53" dirty="0">
                <a:cs typeface="Times New Roman"/>
              </a:rPr>
              <a:t> </a:t>
            </a:r>
            <a:r>
              <a:rPr lang="en-US" sz="2400" dirty="0">
                <a:cs typeface="Times New Roman"/>
              </a:rPr>
              <a:t>the</a:t>
            </a:r>
            <a:r>
              <a:rPr lang="en-US" sz="2400" spc="40" dirty="0">
                <a:cs typeface="Times New Roman"/>
              </a:rPr>
              <a:t> </a:t>
            </a:r>
            <a:r>
              <a:rPr lang="en-US" sz="2400" dirty="0">
                <a:cs typeface="Times New Roman"/>
              </a:rPr>
              <a:t>wind</a:t>
            </a:r>
            <a:r>
              <a:rPr lang="en-US" sz="2400" spc="47" dirty="0">
                <a:cs typeface="Times New Roman"/>
              </a:rPr>
              <a:t> </a:t>
            </a:r>
            <a:r>
              <a:rPr lang="en-US" sz="2400" dirty="0">
                <a:cs typeface="Times New Roman"/>
              </a:rPr>
              <a:t>turbine</a:t>
            </a:r>
            <a:r>
              <a:rPr lang="en-US" sz="2400" spc="60" dirty="0">
                <a:cs typeface="Times New Roman"/>
              </a:rPr>
              <a:t> </a:t>
            </a:r>
            <a:r>
              <a:rPr lang="en-US" sz="2400" dirty="0">
                <a:cs typeface="Times New Roman"/>
              </a:rPr>
              <a:t>would</a:t>
            </a:r>
            <a:r>
              <a:rPr lang="en-US" sz="2400" spc="47" dirty="0">
                <a:cs typeface="Times New Roman"/>
              </a:rPr>
              <a:t> </a:t>
            </a:r>
            <a:r>
              <a:rPr lang="en-US" sz="2400" dirty="0">
                <a:cs typeface="Times New Roman"/>
              </a:rPr>
              <a:t>no</a:t>
            </a:r>
            <a:r>
              <a:rPr lang="en-US" sz="2400" spc="47" dirty="0">
                <a:cs typeface="Times New Roman"/>
              </a:rPr>
              <a:t> </a:t>
            </a:r>
            <a:r>
              <a:rPr lang="en-US" sz="2400" dirty="0">
                <a:cs typeface="Times New Roman"/>
              </a:rPr>
              <a:t>longer</a:t>
            </a:r>
            <a:r>
              <a:rPr lang="en-US" sz="2400" spc="47" dirty="0">
                <a:cs typeface="Times New Roman"/>
              </a:rPr>
              <a:t> </a:t>
            </a:r>
            <a:r>
              <a:rPr lang="en-US" sz="2400" dirty="0">
                <a:cs typeface="Times New Roman"/>
              </a:rPr>
              <a:t>work</a:t>
            </a:r>
            <a:r>
              <a:rPr lang="en-US" sz="2400" spc="53" dirty="0">
                <a:cs typeface="Times New Roman"/>
              </a:rPr>
              <a:t> </a:t>
            </a:r>
            <a:r>
              <a:rPr lang="en-US" sz="2400" dirty="0">
                <a:cs typeface="Times New Roman"/>
              </a:rPr>
              <a:t>because</a:t>
            </a:r>
            <a:r>
              <a:rPr lang="en-US" sz="2400" spc="40" dirty="0">
                <a:cs typeface="Times New Roman"/>
              </a:rPr>
              <a:t> </a:t>
            </a:r>
            <a:r>
              <a:rPr lang="en-US" sz="2400" dirty="0">
                <a:cs typeface="Times New Roman"/>
              </a:rPr>
              <a:t>the</a:t>
            </a:r>
            <a:r>
              <a:rPr lang="en-US" sz="2400" spc="60" dirty="0">
                <a:cs typeface="Times New Roman"/>
              </a:rPr>
              <a:t> </a:t>
            </a:r>
            <a:r>
              <a:rPr lang="en-US" sz="2400" dirty="0">
                <a:cs typeface="Times New Roman"/>
              </a:rPr>
              <a:t>air</a:t>
            </a:r>
            <a:r>
              <a:rPr lang="en-US" sz="2400" spc="40" dirty="0">
                <a:cs typeface="Times New Roman"/>
              </a:rPr>
              <a:t> </a:t>
            </a:r>
            <a:r>
              <a:rPr lang="en-US" sz="2400" dirty="0">
                <a:cs typeface="Times New Roman"/>
              </a:rPr>
              <a:t>(having</a:t>
            </a:r>
            <a:r>
              <a:rPr lang="en-US" sz="2400" spc="53" dirty="0">
                <a:cs typeface="Times New Roman"/>
              </a:rPr>
              <a:t> </a:t>
            </a:r>
            <a:r>
              <a:rPr lang="en-US" sz="2400" dirty="0">
                <a:cs typeface="Times New Roman"/>
              </a:rPr>
              <a:t>given</a:t>
            </a:r>
            <a:r>
              <a:rPr lang="en-US" sz="2400" spc="60" dirty="0">
                <a:cs typeface="Times New Roman"/>
              </a:rPr>
              <a:t> </a:t>
            </a:r>
            <a:r>
              <a:rPr lang="en-US" sz="2400" dirty="0">
                <a:cs typeface="Times New Roman"/>
              </a:rPr>
              <a:t>up</a:t>
            </a:r>
            <a:r>
              <a:rPr lang="en-US" sz="2400" spc="47" dirty="0">
                <a:cs typeface="Times New Roman"/>
              </a:rPr>
              <a:t> </a:t>
            </a:r>
            <a:r>
              <a:rPr lang="en-US" sz="2400" spc="-33" dirty="0">
                <a:cs typeface="Times New Roman"/>
              </a:rPr>
              <a:t>all </a:t>
            </a:r>
            <a:r>
              <a:rPr lang="en-US" sz="2400" dirty="0">
                <a:cs typeface="Times New Roman"/>
              </a:rPr>
              <a:t>its</a:t>
            </a:r>
            <a:r>
              <a:rPr lang="en-US" sz="2400" spc="-33" dirty="0">
                <a:cs typeface="Times New Roman"/>
              </a:rPr>
              <a:t> </a:t>
            </a:r>
            <a:r>
              <a:rPr lang="en-US" sz="2400" dirty="0">
                <a:cs typeface="Times New Roman"/>
              </a:rPr>
              <a:t>energy)</a:t>
            </a:r>
            <a:r>
              <a:rPr lang="en-US" sz="2400" spc="-47" dirty="0">
                <a:cs typeface="Times New Roman"/>
              </a:rPr>
              <a:t> </a:t>
            </a:r>
            <a:r>
              <a:rPr lang="en-US" sz="2400" dirty="0">
                <a:cs typeface="Times New Roman"/>
              </a:rPr>
              <a:t>would</a:t>
            </a:r>
            <a:r>
              <a:rPr lang="en-US" sz="2400" spc="-7" dirty="0">
                <a:cs typeface="Times New Roman"/>
              </a:rPr>
              <a:t> </a:t>
            </a:r>
            <a:r>
              <a:rPr lang="en-US" sz="2400" dirty="0">
                <a:cs typeface="Times New Roman"/>
              </a:rPr>
              <a:t>stop</a:t>
            </a:r>
            <a:r>
              <a:rPr lang="en-US" sz="2400" spc="-27" dirty="0">
                <a:cs typeface="Times New Roman"/>
              </a:rPr>
              <a:t> </a:t>
            </a:r>
            <a:r>
              <a:rPr lang="en-US" sz="2400" dirty="0">
                <a:cs typeface="Times New Roman"/>
              </a:rPr>
              <a:t>entirely</a:t>
            </a:r>
            <a:r>
              <a:rPr lang="en-US" sz="2400" spc="-33" dirty="0">
                <a:cs typeface="Times New Roman"/>
              </a:rPr>
              <a:t> </a:t>
            </a:r>
            <a:r>
              <a:rPr lang="en-US" sz="2400" dirty="0">
                <a:cs typeface="Times New Roman"/>
              </a:rPr>
              <a:t>after</a:t>
            </a:r>
            <a:r>
              <a:rPr lang="en-US" sz="2400" spc="-27" dirty="0">
                <a:cs typeface="Times New Roman"/>
              </a:rPr>
              <a:t> </a:t>
            </a:r>
            <a:r>
              <a:rPr lang="en-US" sz="2400" dirty="0">
                <a:cs typeface="Times New Roman"/>
              </a:rPr>
              <a:t>passing</a:t>
            </a:r>
            <a:r>
              <a:rPr lang="en-US" sz="2400" spc="-7" dirty="0">
                <a:cs typeface="Times New Roman"/>
              </a:rPr>
              <a:t> </a:t>
            </a:r>
            <a:r>
              <a:rPr lang="en-US" sz="2400" dirty="0">
                <a:cs typeface="Times New Roman"/>
              </a:rPr>
              <a:t>its</a:t>
            </a:r>
            <a:r>
              <a:rPr lang="en-US" sz="2400" spc="-27" dirty="0">
                <a:cs typeface="Times New Roman"/>
              </a:rPr>
              <a:t> </a:t>
            </a:r>
            <a:r>
              <a:rPr lang="en-US" sz="2400" spc="-13" dirty="0">
                <a:cs typeface="Times New Roman"/>
              </a:rPr>
              <a:t>blades.</a:t>
            </a:r>
            <a:endParaRPr lang="en-US" sz="2400" dirty="0">
              <a:cs typeface="Times New Roman"/>
            </a:endParaRPr>
          </a:p>
          <a:p>
            <a:endParaRPr lang="en-IN" sz="2400" dirty="0"/>
          </a:p>
        </p:txBody>
      </p:sp>
    </p:spTree>
    <p:extLst>
      <p:ext uri="{BB962C8B-B14F-4D97-AF65-F5344CB8AC3E}">
        <p14:creationId xmlns:p14="http://schemas.microsoft.com/office/powerpoint/2010/main" val="3780546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4E997-2D3D-F886-1D0B-F4B5519C6EB7}"/>
              </a:ext>
            </a:extLst>
          </p:cNvPr>
          <p:cNvSpPr>
            <a:spLocks noGrp="1"/>
          </p:cNvSpPr>
          <p:nvPr>
            <p:ph type="title"/>
          </p:nvPr>
        </p:nvSpPr>
        <p:spPr/>
        <p:txBody>
          <a:bodyPr/>
          <a:lstStyle/>
          <a:p>
            <a:r>
              <a:rPr lang="en-IN" b="1" spc="-13" dirty="0"/>
              <a:t>Topography</a:t>
            </a:r>
            <a:endParaRPr lang="en-IN" b="1" dirty="0"/>
          </a:p>
        </p:txBody>
      </p:sp>
      <p:sp>
        <p:nvSpPr>
          <p:cNvPr id="3" name="Content Placeholder 2">
            <a:extLst>
              <a:ext uri="{FF2B5EF4-FFF2-40B4-BE49-F238E27FC236}">
                <a16:creationId xmlns:a16="http://schemas.microsoft.com/office/drawing/2014/main" id="{6DFC6753-EEE8-CB65-18CB-3D93E901E54D}"/>
              </a:ext>
            </a:extLst>
          </p:cNvPr>
          <p:cNvSpPr>
            <a:spLocks noGrp="1"/>
          </p:cNvSpPr>
          <p:nvPr>
            <p:ph idx="1"/>
          </p:nvPr>
        </p:nvSpPr>
        <p:spPr>
          <a:xfrm>
            <a:off x="1046921" y="1480930"/>
            <a:ext cx="10740888" cy="5098774"/>
          </a:xfrm>
        </p:spPr>
        <p:txBody>
          <a:bodyPr>
            <a:normAutofit/>
          </a:bodyPr>
          <a:lstStyle/>
          <a:p>
            <a:pPr marL="446088" indent="-428625">
              <a:lnSpc>
                <a:spcPct val="120000"/>
              </a:lnSpc>
              <a:spcBef>
                <a:spcPts val="0"/>
              </a:spcBef>
              <a:buAutoNum type="arabicPeriod"/>
              <a:tabLst>
                <a:tab pos="447029" algn="l"/>
              </a:tabLst>
            </a:pPr>
            <a:r>
              <a:rPr lang="en-US" sz="2000" dirty="0">
                <a:cs typeface="Times New Roman" panose="02020603050405020304" pitchFamily="18" charset="0"/>
              </a:rPr>
              <a:t>The</a:t>
            </a:r>
            <a:r>
              <a:rPr lang="en-US" sz="2000" spc="-33" dirty="0">
                <a:cs typeface="Times New Roman" panose="02020603050405020304" pitchFamily="18" charset="0"/>
              </a:rPr>
              <a:t> </a:t>
            </a:r>
            <a:r>
              <a:rPr lang="en-US" sz="2000" dirty="0">
                <a:cs typeface="Times New Roman" panose="02020603050405020304" pitchFamily="18" charset="0"/>
              </a:rPr>
              <a:t>analysis</a:t>
            </a:r>
            <a:r>
              <a:rPr lang="en-US" sz="2000" spc="-20" dirty="0">
                <a:cs typeface="Times New Roman" panose="02020603050405020304" pitchFamily="18" charset="0"/>
              </a:rPr>
              <a:t> </a:t>
            </a:r>
            <a:r>
              <a:rPr lang="en-US" sz="2000" dirty="0">
                <a:cs typeface="Times New Roman" panose="02020603050405020304" pitchFamily="18" charset="0"/>
              </a:rPr>
              <a:t>of</a:t>
            </a:r>
            <a:r>
              <a:rPr lang="en-US" sz="2000" spc="-13" dirty="0">
                <a:cs typeface="Times New Roman" panose="02020603050405020304" pitchFamily="18" charset="0"/>
              </a:rPr>
              <a:t> </a:t>
            </a:r>
            <a:r>
              <a:rPr lang="en-US" sz="2000" dirty="0">
                <a:cs typeface="Times New Roman" panose="02020603050405020304" pitchFamily="18" charset="0"/>
              </a:rPr>
              <a:t>topography</a:t>
            </a:r>
            <a:r>
              <a:rPr lang="en-US" sz="2000" spc="-53" dirty="0">
                <a:cs typeface="Times New Roman" panose="02020603050405020304" pitchFamily="18" charset="0"/>
              </a:rPr>
              <a:t> </a:t>
            </a:r>
            <a:r>
              <a:rPr lang="en-US" sz="2000" dirty="0">
                <a:cs typeface="Times New Roman" panose="02020603050405020304" pitchFamily="18" charset="0"/>
              </a:rPr>
              <a:t>is</a:t>
            </a:r>
            <a:r>
              <a:rPr lang="en-US" sz="2000" spc="-33" dirty="0">
                <a:cs typeface="Times New Roman" panose="02020603050405020304" pitchFamily="18" charset="0"/>
              </a:rPr>
              <a:t> </a:t>
            </a:r>
            <a:r>
              <a:rPr lang="en-US" sz="2000" dirty="0">
                <a:cs typeface="Times New Roman" panose="02020603050405020304" pitchFamily="18" charset="0"/>
              </a:rPr>
              <a:t>very</a:t>
            </a:r>
            <a:r>
              <a:rPr lang="en-US" sz="2000" spc="-20" dirty="0">
                <a:cs typeface="Times New Roman" panose="02020603050405020304" pitchFamily="18" charset="0"/>
              </a:rPr>
              <a:t> </a:t>
            </a:r>
            <a:r>
              <a:rPr lang="en-US" sz="2000" dirty="0">
                <a:cs typeface="Times New Roman" panose="02020603050405020304" pitchFamily="18" charset="0"/>
              </a:rPr>
              <a:t>important</a:t>
            </a:r>
            <a:r>
              <a:rPr lang="en-US" sz="2000" spc="-33" dirty="0">
                <a:cs typeface="Times New Roman" panose="02020603050405020304" pitchFamily="18" charset="0"/>
              </a:rPr>
              <a:t> </a:t>
            </a:r>
            <a:r>
              <a:rPr lang="en-US" sz="2000" dirty="0">
                <a:cs typeface="Times New Roman" panose="02020603050405020304" pitchFamily="18" charset="0"/>
              </a:rPr>
              <a:t>when</a:t>
            </a:r>
            <a:r>
              <a:rPr lang="en-US" sz="2000" spc="-20" dirty="0">
                <a:cs typeface="Times New Roman" panose="02020603050405020304" pitchFamily="18" charset="0"/>
              </a:rPr>
              <a:t> </a:t>
            </a:r>
            <a:r>
              <a:rPr lang="en-US" sz="2000" dirty="0">
                <a:cs typeface="Times New Roman" panose="02020603050405020304" pitchFamily="18" charset="0"/>
              </a:rPr>
              <a:t>choosing</a:t>
            </a:r>
            <a:r>
              <a:rPr lang="en-US" sz="2000" spc="-53" dirty="0">
                <a:cs typeface="Times New Roman" panose="02020603050405020304" pitchFamily="18" charset="0"/>
              </a:rPr>
              <a:t> </a:t>
            </a:r>
            <a:r>
              <a:rPr lang="en-US" sz="2000" dirty="0">
                <a:cs typeface="Times New Roman" panose="02020603050405020304" pitchFamily="18" charset="0"/>
              </a:rPr>
              <a:t>a</a:t>
            </a:r>
            <a:r>
              <a:rPr lang="en-US" sz="2000" spc="-13" dirty="0">
                <a:cs typeface="Times New Roman" panose="02020603050405020304" pitchFamily="18" charset="0"/>
              </a:rPr>
              <a:t> site.</a:t>
            </a:r>
            <a:endParaRPr lang="en-US" sz="2000" dirty="0">
              <a:cs typeface="Times New Roman" panose="02020603050405020304" pitchFamily="18" charset="0"/>
            </a:endParaRPr>
          </a:p>
          <a:p>
            <a:pPr marL="446088" indent="-428625">
              <a:lnSpc>
                <a:spcPct val="120000"/>
              </a:lnSpc>
              <a:spcBef>
                <a:spcPts val="0"/>
              </a:spcBef>
              <a:buAutoNum type="arabicPeriod"/>
              <a:tabLst>
                <a:tab pos="447029" algn="l"/>
              </a:tabLst>
            </a:pPr>
            <a:r>
              <a:rPr lang="en-US" sz="2000" dirty="0">
                <a:cs typeface="Times New Roman" panose="02020603050405020304" pitchFamily="18" charset="0"/>
              </a:rPr>
              <a:t>This</a:t>
            </a:r>
            <a:r>
              <a:rPr lang="en-US" sz="2000" spc="-33" dirty="0">
                <a:cs typeface="Times New Roman" panose="02020603050405020304" pitchFamily="18" charset="0"/>
              </a:rPr>
              <a:t> </a:t>
            </a:r>
            <a:r>
              <a:rPr lang="en-US" sz="2000" dirty="0">
                <a:cs typeface="Times New Roman" panose="02020603050405020304" pitchFamily="18" charset="0"/>
              </a:rPr>
              <a:t>is</a:t>
            </a:r>
            <a:r>
              <a:rPr lang="en-US" sz="2000" spc="-13" dirty="0">
                <a:cs typeface="Times New Roman" panose="02020603050405020304" pitchFamily="18" charset="0"/>
              </a:rPr>
              <a:t> </a:t>
            </a:r>
            <a:r>
              <a:rPr lang="en-US" sz="2000" dirty="0">
                <a:cs typeface="Times New Roman" panose="02020603050405020304" pitchFamily="18" charset="0"/>
              </a:rPr>
              <a:t>an</a:t>
            </a:r>
            <a:r>
              <a:rPr lang="en-US" sz="2000" spc="-13" dirty="0">
                <a:cs typeface="Times New Roman" panose="02020603050405020304" pitchFamily="18" charset="0"/>
              </a:rPr>
              <a:t> </a:t>
            </a:r>
            <a:r>
              <a:rPr lang="en-US" sz="2000" dirty="0">
                <a:cs typeface="Times New Roman" panose="02020603050405020304" pitchFamily="18" charset="0"/>
              </a:rPr>
              <a:t>important</a:t>
            </a:r>
            <a:r>
              <a:rPr lang="en-US" sz="2000" spc="-60" dirty="0">
                <a:cs typeface="Times New Roman" panose="02020603050405020304" pitchFamily="18" charset="0"/>
              </a:rPr>
              <a:t> </a:t>
            </a:r>
            <a:r>
              <a:rPr lang="en-US" sz="2000" dirty="0">
                <a:cs typeface="Times New Roman" panose="02020603050405020304" pitchFamily="18" charset="0"/>
              </a:rPr>
              <a:t>point</a:t>
            </a:r>
            <a:r>
              <a:rPr lang="en-US" sz="2000" spc="-40" dirty="0">
                <a:cs typeface="Times New Roman" panose="02020603050405020304" pitchFamily="18" charset="0"/>
              </a:rPr>
              <a:t> </a:t>
            </a:r>
            <a:r>
              <a:rPr lang="en-US" sz="2000" dirty="0">
                <a:cs typeface="Times New Roman" panose="02020603050405020304" pitchFamily="18" charset="0"/>
              </a:rPr>
              <a:t>when</a:t>
            </a:r>
            <a:r>
              <a:rPr lang="en-US" sz="2000" spc="-13" dirty="0">
                <a:cs typeface="Times New Roman" panose="02020603050405020304" pitchFamily="18" charset="0"/>
              </a:rPr>
              <a:t> </a:t>
            </a:r>
            <a:r>
              <a:rPr lang="en-US" sz="2000" dirty="0">
                <a:cs typeface="Times New Roman" panose="02020603050405020304" pitchFamily="18" charset="0"/>
              </a:rPr>
              <a:t>mountainous</a:t>
            </a:r>
            <a:r>
              <a:rPr lang="en-US" sz="2000" spc="-47" dirty="0">
                <a:cs typeface="Times New Roman" panose="02020603050405020304" pitchFamily="18" charset="0"/>
              </a:rPr>
              <a:t> </a:t>
            </a:r>
            <a:r>
              <a:rPr lang="en-US" sz="2000" dirty="0">
                <a:cs typeface="Times New Roman" panose="02020603050405020304" pitchFamily="18" charset="0"/>
              </a:rPr>
              <a:t>locations</a:t>
            </a:r>
            <a:r>
              <a:rPr lang="en-US" sz="2000" spc="-53" dirty="0">
                <a:cs typeface="Times New Roman" panose="02020603050405020304" pitchFamily="18" charset="0"/>
              </a:rPr>
              <a:t> </a:t>
            </a:r>
            <a:r>
              <a:rPr lang="en-US" sz="2000" dirty="0">
                <a:cs typeface="Times New Roman" panose="02020603050405020304" pitchFamily="18" charset="0"/>
              </a:rPr>
              <a:t>are</a:t>
            </a:r>
            <a:r>
              <a:rPr lang="en-US" sz="2000" spc="-13" dirty="0">
                <a:cs typeface="Times New Roman" panose="02020603050405020304" pitchFamily="18" charset="0"/>
              </a:rPr>
              <a:t> </a:t>
            </a:r>
            <a:r>
              <a:rPr lang="en-US" sz="2000" dirty="0">
                <a:cs typeface="Times New Roman" panose="02020603050405020304" pitchFamily="18" charset="0"/>
              </a:rPr>
              <a:t>under</a:t>
            </a:r>
            <a:r>
              <a:rPr lang="en-US" sz="2000" spc="-40" dirty="0">
                <a:cs typeface="Times New Roman" panose="02020603050405020304" pitchFamily="18" charset="0"/>
              </a:rPr>
              <a:t> </a:t>
            </a:r>
            <a:r>
              <a:rPr lang="en-US" sz="2000" spc="-13" dirty="0">
                <a:cs typeface="Times New Roman" panose="02020603050405020304" pitchFamily="18" charset="0"/>
              </a:rPr>
              <a:t>consideration.</a:t>
            </a:r>
            <a:endParaRPr lang="en-US" sz="2000" dirty="0">
              <a:cs typeface="Times New Roman" panose="02020603050405020304" pitchFamily="18" charset="0"/>
            </a:endParaRPr>
          </a:p>
          <a:p>
            <a:pPr marL="446088" indent="-428625">
              <a:lnSpc>
                <a:spcPct val="120000"/>
              </a:lnSpc>
              <a:spcBef>
                <a:spcPts val="0"/>
              </a:spcBef>
              <a:buAutoNum type="arabicPeriod"/>
              <a:tabLst>
                <a:tab pos="447029" algn="l"/>
              </a:tabLst>
            </a:pPr>
            <a:r>
              <a:rPr lang="en-US" sz="2000" dirty="0">
                <a:cs typeface="Times New Roman" panose="02020603050405020304" pitchFamily="18" charset="0"/>
              </a:rPr>
              <a:t>For</a:t>
            </a:r>
            <a:r>
              <a:rPr lang="en-US" sz="2000" spc="320" dirty="0">
                <a:cs typeface="Times New Roman" panose="02020603050405020304" pitchFamily="18" charset="0"/>
              </a:rPr>
              <a:t> </a:t>
            </a:r>
            <a:r>
              <a:rPr lang="en-US" sz="2000" dirty="0">
                <a:cs typeface="Times New Roman" panose="02020603050405020304" pitchFamily="18" charset="0"/>
              </a:rPr>
              <a:t>those</a:t>
            </a:r>
            <a:r>
              <a:rPr lang="en-US" sz="2000" spc="339" dirty="0">
                <a:cs typeface="Times New Roman" panose="02020603050405020304" pitchFamily="18" charset="0"/>
              </a:rPr>
              <a:t> </a:t>
            </a:r>
            <a:r>
              <a:rPr lang="en-US" sz="2000" dirty="0">
                <a:cs typeface="Times New Roman" panose="02020603050405020304" pitchFamily="18" charset="0"/>
              </a:rPr>
              <a:t>areas,</a:t>
            </a:r>
            <a:r>
              <a:rPr lang="en-US" sz="2000" spc="320" dirty="0">
                <a:cs typeface="Times New Roman" panose="02020603050405020304" pitchFamily="18" charset="0"/>
              </a:rPr>
              <a:t> </a:t>
            </a:r>
            <a:r>
              <a:rPr lang="en-US" sz="2000" dirty="0">
                <a:cs typeface="Times New Roman" panose="02020603050405020304" pitchFamily="18" charset="0"/>
              </a:rPr>
              <a:t>the</a:t>
            </a:r>
            <a:r>
              <a:rPr lang="en-US" sz="2000" spc="333" dirty="0">
                <a:cs typeface="Times New Roman" panose="02020603050405020304" pitchFamily="18" charset="0"/>
              </a:rPr>
              <a:t> </a:t>
            </a:r>
            <a:r>
              <a:rPr lang="en-US" sz="2000" dirty="0">
                <a:cs typeface="Times New Roman" panose="02020603050405020304" pitchFamily="18" charset="0"/>
              </a:rPr>
              <a:t>wind</a:t>
            </a:r>
            <a:r>
              <a:rPr lang="en-US" sz="2000" spc="347" dirty="0">
                <a:cs typeface="Times New Roman" panose="02020603050405020304" pitchFamily="18" charset="0"/>
              </a:rPr>
              <a:t> </a:t>
            </a:r>
            <a:r>
              <a:rPr lang="en-US" sz="2000" dirty="0">
                <a:cs typeface="Times New Roman" panose="02020603050405020304" pitchFamily="18" charset="0"/>
              </a:rPr>
              <a:t>speed</a:t>
            </a:r>
            <a:r>
              <a:rPr lang="en-US" sz="2000" spc="327" dirty="0">
                <a:cs typeface="Times New Roman" panose="02020603050405020304" pitchFamily="18" charset="0"/>
              </a:rPr>
              <a:t> </a:t>
            </a:r>
            <a:r>
              <a:rPr lang="en-US" sz="2000" dirty="0">
                <a:cs typeface="Times New Roman" panose="02020603050405020304" pitchFamily="18" charset="0"/>
              </a:rPr>
              <a:t>increases</a:t>
            </a:r>
            <a:r>
              <a:rPr lang="en-US" sz="2000" spc="347" dirty="0">
                <a:cs typeface="Times New Roman" panose="02020603050405020304" pitchFamily="18" charset="0"/>
              </a:rPr>
              <a:t> </a:t>
            </a:r>
            <a:r>
              <a:rPr lang="en-US" sz="2000" dirty="0">
                <a:cs typeface="Times New Roman" panose="02020603050405020304" pitchFamily="18" charset="0"/>
              </a:rPr>
              <a:t>on</a:t>
            </a:r>
            <a:r>
              <a:rPr lang="en-US" sz="2000" spc="347" dirty="0">
                <a:cs typeface="Times New Roman" panose="02020603050405020304" pitchFamily="18" charset="0"/>
              </a:rPr>
              <a:t> </a:t>
            </a:r>
            <a:r>
              <a:rPr lang="en-US" sz="2000" dirty="0">
                <a:cs typeface="Times New Roman" panose="02020603050405020304" pitchFamily="18" charset="0"/>
              </a:rPr>
              <a:t>the</a:t>
            </a:r>
            <a:r>
              <a:rPr lang="en-US" sz="2000" spc="327" dirty="0">
                <a:cs typeface="Times New Roman" panose="02020603050405020304" pitchFamily="18" charset="0"/>
              </a:rPr>
              <a:t> </a:t>
            </a:r>
            <a:r>
              <a:rPr lang="en-US" sz="2000" dirty="0">
                <a:cs typeface="Times New Roman" panose="02020603050405020304" pitchFamily="18" charset="0"/>
              </a:rPr>
              <a:t>front</a:t>
            </a:r>
            <a:r>
              <a:rPr lang="en-US" sz="2000" spc="347" dirty="0">
                <a:cs typeface="Times New Roman" panose="02020603050405020304" pitchFamily="18" charset="0"/>
              </a:rPr>
              <a:t> </a:t>
            </a:r>
            <a:r>
              <a:rPr lang="en-US" sz="2000" dirty="0">
                <a:cs typeface="Times New Roman" panose="02020603050405020304" pitchFamily="18" charset="0"/>
              </a:rPr>
              <a:t>side</a:t>
            </a:r>
            <a:r>
              <a:rPr lang="en-US" sz="2000" spc="327" dirty="0">
                <a:cs typeface="Times New Roman" panose="02020603050405020304" pitchFamily="18" charset="0"/>
              </a:rPr>
              <a:t> </a:t>
            </a:r>
            <a:r>
              <a:rPr lang="en-US" sz="2000" dirty="0">
                <a:cs typeface="Times New Roman" panose="02020603050405020304" pitchFamily="18" charset="0"/>
              </a:rPr>
              <a:t>of</a:t>
            </a:r>
            <a:r>
              <a:rPr lang="en-US" sz="2000" spc="347" dirty="0">
                <a:cs typeface="Times New Roman" panose="02020603050405020304" pitchFamily="18" charset="0"/>
              </a:rPr>
              <a:t> </a:t>
            </a:r>
            <a:r>
              <a:rPr lang="en-US" sz="2000" dirty="0">
                <a:cs typeface="Times New Roman" panose="02020603050405020304" pitchFamily="18" charset="0"/>
              </a:rPr>
              <a:t>the</a:t>
            </a:r>
            <a:r>
              <a:rPr lang="en-US" sz="2000" spc="333" dirty="0">
                <a:cs typeface="Times New Roman" panose="02020603050405020304" pitchFamily="18" charset="0"/>
              </a:rPr>
              <a:t> </a:t>
            </a:r>
            <a:r>
              <a:rPr lang="en-US" sz="2000" dirty="0">
                <a:cs typeface="Times New Roman" panose="02020603050405020304" pitchFamily="18" charset="0"/>
              </a:rPr>
              <a:t>mountain</a:t>
            </a:r>
            <a:r>
              <a:rPr lang="en-US" sz="2000" spc="347" dirty="0">
                <a:cs typeface="Times New Roman" panose="02020603050405020304" pitchFamily="18" charset="0"/>
              </a:rPr>
              <a:t> </a:t>
            </a:r>
            <a:r>
              <a:rPr lang="en-US" sz="2000" dirty="0">
                <a:cs typeface="Times New Roman" panose="02020603050405020304" pitchFamily="18" charset="0"/>
              </a:rPr>
              <a:t>and</a:t>
            </a:r>
            <a:r>
              <a:rPr lang="en-US" sz="2000" spc="333" dirty="0">
                <a:cs typeface="Times New Roman" panose="02020603050405020304" pitchFamily="18" charset="0"/>
              </a:rPr>
              <a:t> </a:t>
            </a:r>
            <a:r>
              <a:rPr lang="en-US" sz="2000" dirty="0">
                <a:cs typeface="Times New Roman" panose="02020603050405020304" pitchFamily="18" charset="0"/>
              </a:rPr>
              <a:t>decreases</a:t>
            </a:r>
            <a:r>
              <a:rPr lang="en-US" sz="2000" spc="339" dirty="0">
                <a:cs typeface="Times New Roman" panose="02020603050405020304" pitchFamily="18" charset="0"/>
              </a:rPr>
              <a:t> </a:t>
            </a:r>
            <a:r>
              <a:rPr lang="en-US" sz="2000" dirty="0">
                <a:cs typeface="Times New Roman" panose="02020603050405020304" pitchFamily="18" charset="0"/>
              </a:rPr>
              <a:t>on</a:t>
            </a:r>
            <a:r>
              <a:rPr lang="en-US" sz="2000" spc="333" dirty="0">
                <a:cs typeface="Times New Roman" panose="02020603050405020304" pitchFamily="18" charset="0"/>
              </a:rPr>
              <a:t> </a:t>
            </a:r>
            <a:r>
              <a:rPr lang="en-US" sz="2000" spc="-33" dirty="0">
                <a:cs typeface="Times New Roman" panose="02020603050405020304" pitchFamily="18" charset="0"/>
              </a:rPr>
              <a:t>the </a:t>
            </a:r>
            <a:r>
              <a:rPr lang="en-US" sz="2000" dirty="0">
                <a:cs typeface="Times New Roman" panose="02020603050405020304" pitchFamily="18" charset="0"/>
              </a:rPr>
              <a:t>opposite</a:t>
            </a:r>
            <a:r>
              <a:rPr lang="en-US" sz="2000" spc="-53" dirty="0">
                <a:cs typeface="Times New Roman" panose="02020603050405020304" pitchFamily="18" charset="0"/>
              </a:rPr>
              <a:t> </a:t>
            </a:r>
            <a:r>
              <a:rPr lang="en-US" sz="2000" spc="-27" dirty="0">
                <a:cs typeface="Times New Roman" panose="02020603050405020304" pitchFamily="18" charset="0"/>
              </a:rPr>
              <a:t>side.</a:t>
            </a:r>
            <a:endParaRPr lang="en-US" sz="2000" dirty="0">
              <a:cs typeface="Times New Roman" panose="02020603050405020304" pitchFamily="18" charset="0"/>
            </a:endParaRPr>
          </a:p>
          <a:p>
            <a:pPr marL="446088" marR="9313" indent="-428625">
              <a:lnSpc>
                <a:spcPct val="120000"/>
              </a:lnSpc>
              <a:spcBef>
                <a:spcPts val="0"/>
              </a:spcBef>
              <a:buAutoNum type="arabicPeriod" startAt="4"/>
              <a:tabLst>
                <a:tab pos="447029" algn="l"/>
              </a:tabLst>
            </a:pPr>
            <a:r>
              <a:rPr lang="en-US" sz="2000" dirty="0">
                <a:cs typeface="Times New Roman" panose="02020603050405020304" pitchFamily="18" charset="0"/>
              </a:rPr>
              <a:t>In</a:t>
            </a:r>
            <a:r>
              <a:rPr lang="en-US" sz="2000" spc="360" dirty="0">
                <a:cs typeface="Times New Roman" panose="02020603050405020304" pitchFamily="18" charset="0"/>
              </a:rPr>
              <a:t> </a:t>
            </a:r>
            <a:r>
              <a:rPr lang="en-US" sz="2000" dirty="0">
                <a:cs typeface="Times New Roman" panose="02020603050405020304" pitchFamily="18" charset="0"/>
              </a:rPr>
              <a:t>plane</a:t>
            </a:r>
            <a:r>
              <a:rPr lang="en-US" sz="2000" spc="353" dirty="0">
                <a:cs typeface="Times New Roman" panose="02020603050405020304" pitchFamily="18" charset="0"/>
              </a:rPr>
              <a:t> </a:t>
            </a:r>
            <a:r>
              <a:rPr lang="en-US" sz="2000" dirty="0">
                <a:cs typeface="Times New Roman" panose="02020603050405020304" pitchFamily="18" charset="0"/>
              </a:rPr>
              <a:t>areas,</a:t>
            </a:r>
            <a:r>
              <a:rPr lang="en-US" sz="2000" spc="360" dirty="0">
                <a:cs typeface="Times New Roman" panose="02020603050405020304" pitchFamily="18" charset="0"/>
              </a:rPr>
              <a:t> </a:t>
            </a:r>
            <a:r>
              <a:rPr lang="en-US" sz="2000" dirty="0">
                <a:cs typeface="Times New Roman" panose="02020603050405020304" pitchFamily="18" charset="0"/>
              </a:rPr>
              <a:t>the</a:t>
            </a:r>
            <a:r>
              <a:rPr lang="en-US" sz="2000" spc="360" dirty="0">
                <a:cs typeface="Times New Roman" panose="02020603050405020304" pitchFamily="18" charset="0"/>
              </a:rPr>
              <a:t> </a:t>
            </a:r>
            <a:r>
              <a:rPr lang="en-US" sz="2000" dirty="0">
                <a:cs typeface="Times New Roman" panose="02020603050405020304" pitchFamily="18" charset="0"/>
              </a:rPr>
              <a:t>position</a:t>
            </a:r>
            <a:r>
              <a:rPr lang="en-US" sz="2000" spc="367" dirty="0">
                <a:cs typeface="Times New Roman" panose="02020603050405020304" pitchFamily="18" charset="0"/>
              </a:rPr>
              <a:t> </a:t>
            </a:r>
            <a:r>
              <a:rPr lang="en-US" sz="2000" dirty="0">
                <a:cs typeface="Times New Roman" panose="02020603050405020304" pitchFamily="18" charset="0"/>
              </a:rPr>
              <a:t>of</a:t>
            </a:r>
            <a:r>
              <a:rPr lang="en-US" sz="2000" spc="360" dirty="0">
                <a:cs typeface="Times New Roman" panose="02020603050405020304" pitchFamily="18" charset="0"/>
              </a:rPr>
              <a:t> </a:t>
            </a:r>
            <a:r>
              <a:rPr lang="en-US" sz="2000" dirty="0">
                <a:cs typeface="Times New Roman" panose="02020603050405020304" pitchFamily="18" charset="0"/>
              </a:rPr>
              <a:t>tree</a:t>
            </a:r>
            <a:r>
              <a:rPr lang="en-US" sz="2000" spc="353" dirty="0">
                <a:cs typeface="Times New Roman" panose="02020603050405020304" pitchFamily="18" charset="0"/>
              </a:rPr>
              <a:t> </a:t>
            </a:r>
            <a:r>
              <a:rPr lang="en-US" sz="2000" dirty="0">
                <a:cs typeface="Times New Roman" panose="02020603050405020304" pitchFamily="18" charset="0"/>
              </a:rPr>
              <a:t>barriers</a:t>
            </a:r>
            <a:r>
              <a:rPr lang="en-US" sz="2000" spc="367" dirty="0">
                <a:cs typeface="Times New Roman" panose="02020603050405020304" pitchFamily="18" charset="0"/>
              </a:rPr>
              <a:t> </a:t>
            </a:r>
            <a:r>
              <a:rPr lang="en-US" sz="2000" dirty="0">
                <a:cs typeface="Times New Roman" panose="02020603050405020304" pitchFamily="18" charset="0"/>
              </a:rPr>
              <a:t>should</a:t>
            </a:r>
            <a:r>
              <a:rPr lang="en-US" sz="2000" spc="373" dirty="0">
                <a:cs typeface="Times New Roman" panose="02020603050405020304" pitchFamily="18" charset="0"/>
              </a:rPr>
              <a:t> </a:t>
            </a:r>
            <a:r>
              <a:rPr lang="en-US" sz="2000" dirty="0">
                <a:cs typeface="Times New Roman" panose="02020603050405020304" pitchFamily="18" charset="0"/>
              </a:rPr>
              <a:t>be</a:t>
            </a:r>
            <a:r>
              <a:rPr lang="en-US" sz="2000" spc="347" dirty="0">
                <a:cs typeface="Times New Roman" panose="02020603050405020304" pitchFamily="18" charset="0"/>
              </a:rPr>
              <a:t> </a:t>
            </a:r>
            <a:r>
              <a:rPr lang="en-US" sz="2000" dirty="0">
                <a:cs typeface="Times New Roman" panose="02020603050405020304" pitchFamily="18" charset="0"/>
              </a:rPr>
              <a:t>observed</a:t>
            </a:r>
            <a:r>
              <a:rPr lang="en-US" sz="2000" spc="373" dirty="0">
                <a:cs typeface="Times New Roman" panose="02020603050405020304" pitchFamily="18" charset="0"/>
              </a:rPr>
              <a:t> </a:t>
            </a:r>
            <a:r>
              <a:rPr lang="en-US" sz="2000" dirty="0">
                <a:cs typeface="Times New Roman" panose="02020603050405020304" pitchFamily="18" charset="0"/>
              </a:rPr>
              <a:t>with</a:t>
            </a:r>
            <a:r>
              <a:rPr lang="en-US" sz="2000" spc="367" dirty="0">
                <a:cs typeface="Times New Roman" panose="02020603050405020304" pitchFamily="18" charset="0"/>
              </a:rPr>
              <a:t> </a:t>
            </a:r>
            <a:r>
              <a:rPr lang="en-US" sz="2000" dirty="0">
                <a:cs typeface="Times New Roman" panose="02020603050405020304" pitchFamily="18" charset="0"/>
              </a:rPr>
              <a:t>respect</a:t>
            </a:r>
            <a:r>
              <a:rPr lang="en-US" sz="2000" spc="367" dirty="0">
                <a:cs typeface="Times New Roman" panose="02020603050405020304" pitchFamily="18" charset="0"/>
              </a:rPr>
              <a:t> </a:t>
            </a:r>
            <a:r>
              <a:rPr lang="en-US" sz="2000" dirty="0">
                <a:cs typeface="Times New Roman" panose="02020603050405020304" pitchFamily="18" charset="0"/>
              </a:rPr>
              <a:t>to</a:t>
            </a:r>
            <a:r>
              <a:rPr lang="en-US" sz="2000" spc="367" dirty="0">
                <a:cs typeface="Times New Roman" panose="02020603050405020304" pitchFamily="18" charset="0"/>
              </a:rPr>
              <a:t> </a:t>
            </a:r>
            <a:r>
              <a:rPr lang="en-US" sz="2000" dirty="0">
                <a:cs typeface="Times New Roman" panose="02020603050405020304" pitchFamily="18" charset="0"/>
              </a:rPr>
              <a:t>the</a:t>
            </a:r>
            <a:r>
              <a:rPr lang="en-US" sz="2000" spc="353" dirty="0">
                <a:cs typeface="Times New Roman" panose="02020603050405020304" pitchFamily="18" charset="0"/>
              </a:rPr>
              <a:t> </a:t>
            </a:r>
            <a:r>
              <a:rPr lang="en-US" sz="2000" dirty="0">
                <a:cs typeface="Times New Roman" panose="02020603050405020304" pitchFamily="18" charset="0"/>
              </a:rPr>
              <a:t>wind,</a:t>
            </a:r>
            <a:r>
              <a:rPr lang="en-US" sz="2000" spc="360" dirty="0">
                <a:cs typeface="Times New Roman" panose="02020603050405020304" pitchFamily="18" charset="0"/>
              </a:rPr>
              <a:t> </a:t>
            </a:r>
            <a:r>
              <a:rPr lang="en-US" sz="2000" dirty="0">
                <a:cs typeface="Times New Roman" panose="02020603050405020304" pitchFamily="18" charset="0"/>
              </a:rPr>
              <a:t>as</a:t>
            </a:r>
            <a:r>
              <a:rPr lang="en-US" sz="2000" spc="380" dirty="0">
                <a:cs typeface="Times New Roman" panose="02020603050405020304" pitchFamily="18" charset="0"/>
              </a:rPr>
              <a:t> </a:t>
            </a:r>
            <a:r>
              <a:rPr lang="en-US" sz="2000" spc="-13" dirty="0">
                <a:cs typeface="Times New Roman" panose="02020603050405020304" pitchFamily="18" charset="0"/>
              </a:rPr>
              <a:t>their </a:t>
            </a:r>
            <a:r>
              <a:rPr lang="en-US" sz="2000" dirty="0">
                <a:cs typeface="Times New Roman" panose="02020603050405020304" pitchFamily="18" charset="0"/>
              </a:rPr>
              <a:t>proximity</a:t>
            </a:r>
            <a:r>
              <a:rPr lang="en-US" sz="2000" spc="-53" dirty="0">
                <a:cs typeface="Times New Roman" panose="02020603050405020304" pitchFamily="18" charset="0"/>
              </a:rPr>
              <a:t> </a:t>
            </a:r>
            <a:r>
              <a:rPr lang="en-US" sz="2000" dirty="0">
                <a:cs typeface="Times New Roman" panose="02020603050405020304" pitchFamily="18" charset="0"/>
              </a:rPr>
              <a:t>to</a:t>
            </a:r>
            <a:r>
              <a:rPr lang="en-US" sz="2000" spc="-20" dirty="0">
                <a:cs typeface="Times New Roman" panose="02020603050405020304" pitchFamily="18" charset="0"/>
              </a:rPr>
              <a:t> </a:t>
            </a:r>
            <a:r>
              <a:rPr lang="en-US" sz="2000" dirty="0">
                <a:cs typeface="Times New Roman" panose="02020603050405020304" pitchFamily="18" charset="0"/>
              </a:rPr>
              <a:t>the</a:t>
            </a:r>
            <a:r>
              <a:rPr lang="en-US" sz="2000" spc="-40" dirty="0">
                <a:cs typeface="Times New Roman" panose="02020603050405020304" pitchFamily="18" charset="0"/>
              </a:rPr>
              <a:t> </a:t>
            </a:r>
            <a:r>
              <a:rPr lang="en-US" sz="2000" dirty="0">
                <a:cs typeface="Times New Roman" panose="02020603050405020304" pitchFamily="18" charset="0"/>
              </a:rPr>
              <a:t>place</a:t>
            </a:r>
            <a:r>
              <a:rPr lang="en-US" sz="2000" spc="-20" dirty="0">
                <a:cs typeface="Times New Roman" panose="02020603050405020304" pitchFamily="18" charset="0"/>
              </a:rPr>
              <a:t> </a:t>
            </a:r>
            <a:r>
              <a:rPr lang="en-US" sz="2000" dirty="0">
                <a:cs typeface="Times New Roman" panose="02020603050405020304" pitchFamily="18" charset="0"/>
              </a:rPr>
              <a:t>chosen</a:t>
            </a:r>
            <a:r>
              <a:rPr lang="en-US" sz="2000" spc="-27" dirty="0">
                <a:cs typeface="Times New Roman" panose="02020603050405020304" pitchFamily="18" charset="0"/>
              </a:rPr>
              <a:t> </a:t>
            </a:r>
            <a:r>
              <a:rPr lang="en-US" sz="2000" dirty="0">
                <a:cs typeface="Times New Roman" panose="02020603050405020304" pitchFamily="18" charset="0"/>
              </a:rPr>
              <a:t>for</a:t>
            </a:r>
            <a:r>
              <a:rPr lang="en-US" sz="2000" spc="-20" dirty="0">
                <a:cs typeface="Times New Roman" panose="02020603050405020304" pitchFamily="18" charset="0"/>
              </a:rPr>
              <a:t> </a:t>
            </a:r>
            <a:r>
              <a:rPr lang="en-US" sz="2000" dirty="0">
                <a:cs typeface="Times New Roman" panose="02020603050405020304" pitchFamily="18" charset="0"/>
              </a:rPr>
              <a:t>turbine</a:t>
            </a:r>
            <a:r>
              <a:rPr lang="en-US" sz="2000" spc="-53" dirty="0">
                <a:cs typeface="Times New Roman" panose="02020603050405020304" pitchFamily="18" charset="0"/>
              </a:rPr>
              <a:t> </a:t>
            </a:r>
            <a:r>
              <a:rPr lang="en-US" sz="2000" dirty="0">
                <a:cs typeface="Times New Roman" panose="02020603050405020304" pitchFamily="18" charset="0"/>
              </a:rPr>
              <a:t>installation</a:t>
            </a:r>
            <a:r>
              <a:rPr lang="en-US" sz="2000" spc="-47" dirty="0">
                <a:cs typeface="Times New Roman" panose="02020603050405020304" pitchFamily="18" charset="0"/>
              </a:rPr>
              <a:t> </a:t>
            </a:r>
            <a:r>
              <a:rPr lang="en-US" sz="2000" dirty="0">
                <a:cs typeface="Times New Roman" panose="02020603050405020304" pitchFamily="18" charset="0"/>
              </a:rPr>
              <a:t>is</a:t>
            </a:r>
            <a:r>
              <a:rPr lang="en-US" sz="2000" spc="-13" dirty="0">
                <a:cs typeface="Times New Roman" panose="02020603050405020304" pitchFamily="18" charset="0"/>
              </a:rPr>
              <a:t> critical.</a:t>
            </a:r>
            <a:endParaRPr lang="en-US" sz="2000" dirty="0">
              <a:cs typeface="Times New Roman" panose="02020603050405020304" pitchFamily="18" charset="0"/>
            </a:endParaRPr>
          </a:p>
          <a:p>
            <a:pPr marL="446088" marR="11006" indent="-428625">
              <a:lnSpc>
                <a:spcPct val="120000"/>
              </a:lnSpc>
              <a:spcBef>
                <a:spcPts val="0"/>
              </a:spcBef>
              <a:buAutoNum type="arabicPeriod" startAt="4"/>
              <a:tabLst>
                <a:tab pos="447029" algn="l"/>
              </a:tabLst>
            </a:pPr>
            <a:r>
              <a:rPr lang="en-US" sz="2000" dirty="0">
                <a:cs typeface="Times New Roman" panose="02020603050405020304" pitchFamily="18" charset="0"/>
              </a:rPr>
              <a:t>There</a:t>
            </a:r>
            <a:r>
              <a:rPr lang="en-US" sz="2000" spc="253" dirty="0">
                <a:cs typeface="Times New Roman" panose="02020603050405020304" pitchFamily="18" charset="0"/>
              </a:rPr>
              <a:t> </a:t>
            </a:r>
            <a:r>
              <a:rPr lang="en-US" sz="2000" dirty="0">
                <a:cs typeface="Times New Roman" panose="02020603050405020304" pitchFamily="18" charset="0"/>
              </a:rPr>
              <a:t>should</a:t>
            </a:r>
            <a:r>
              <a:rPr lang="en-US" sz="2000" spc="260" dirty="0">
                <a:cs typeface="Times New Roman" panose="02020603050405020304" pitchFamily="18" charset="0"/>
              </a:rPr>
              <a:t> </a:t>
            </a:r>
            <a:r>
              <a:rPr lang="en-US" sz="2000" dirty="0">
                <a:cs typeface="Times New Roman" panose="02020603050405020304" pitchFamily="18" charset="0"/>
              </a:rPr>
              <a:t>be</a:t>
            </a:r>
            <a:r>
              <a:rPr lang="en-US" sz="2000" spc="247" dirty="0">
                <a:cs typeface="Times New Roman" panose="02020603050405020304" pitchFamily="18" charset="0"/>
              </a:rPr>
              <a:t> </a:t>
            </a:r>
            <a:r>
              <a:rPr lang="en-US" sz="2000" dirty="0">
                <a:cs typeface="Times New Roman" panose="02020603050405020304" pitchFamily="18" charset="0"/>
              </a:rPr>
              <a:t>a</a:t>
            </a:r>
            <a:r>
              <a:rPr lang="en-US" sz="2000" spc="240" dirty="0">
                <a:cs typeface="Times New Roman" panose="02020603050405020304" pitchFamily="18" charset="0"/>
              </a:rPr>
              <a:t> </a:t>
            </a:r>
            <a:r>
              <a:rPr lang="en-US" sz="2000" dirty="0">
                <a:cs typeface="Times New Roman" panose="02020603050405020304" pitchFamily="18" charset="0"/>
              </a:rPr>
              <a:t>maximum</a:t>
            </a:r>
            <a:r>
              <a:rPr lang="en-US" sz="2000" spc="247" dirty="0">
                <a:cs typeface="Times New Roman" panose="02020603050405020304" pitchFamily="18" charset="0"/>
              </a:rPr>
              <a:t> </a:t>
            </a:r>
            <a:r>
              <a:rPr lang="en-US" sz="2000" dirty="0">
                <a:cs typeface="Times New Roman" panose="02020603050405020304" pitchFamily="18" charset="0"/>
              </a:rPr>
              <a:t>of</a:t>
            </a:r>
            <a:r>
              <a:rPr lang="en-US" sz="2000" spc="260" dirty="0">
                <a:cs typeface="Times New Roman" panose="02020603050405020304" pitchFamily="18" charset="0"/>
              </a:rPr>
              <a:t> </a:t>
            </a:r>
            <a:r>
              <a:rPr lang="en-US" sz="2000" dirty="0">
                <a:cs typeface="Times New Roman" panose="02020603050405020304" pitchFamily="18" charset="0"/>
              </a:rPr>
              <a:t>free</a:t>
            </a:r>
            <a:r>
              <a:rPr lang="en-US" sz="2000" spc="253" dirty="0">
                <a:cs typeface="Times New Roman" panose="02020603050405020304" pitchFamily="18" charset="0"/>
              </a:rPr>
              <a:t> </a:t>
            </a:r>
            <a:r>
              <a:rPr lang="en-US" sz="2000" dirty="0">
                <a:cs typeface="Times New Roman" panose="02020603050405020304" pitchFamily="18" charset="0"/>
              </a:rPr>
              <a:t>space</a:t>
            </a:r>
            <a:r>
              <a:rPr lang="en-US" sz="2000" spc="247" dirty="0">
                <a:cs typeface="Times New Roman" panose="02020603050405020304" pitchFamily="18" charset="0"/>
              </a:rPr>
              <a:t> </a:t>
            </a:r>
            <a:r>
              <a:rPr lang="en-US" sz="2000" dirty="0">
                <a:cs typeface="Times New Roman" panose="02020603050405020304" pitchFamily="18" charset="0"/>
              </a:rPr>
              <a:t>between</a:t>
            </a:r>
            <a:r>
              <a:rPr lang="en-US" sz="2000" spc="267" dirty="0">
                <a:cs typeface="Times New Roman" panose="02020603050405020304" pitchFamily="18" charset="0"/>
              </a:rPr>
              <a:t> </a:t>
            </a:r>
            <a:r>
              <a:rPr lang="en-US" sz="2000" dirty="0">
                <a:cs typeface="Times New Roman" panose="02020603050405020304" pitchFamily="18" charset="0"/>
              </a:rPr>
              <a:t>tree</a:t>
            </a:r>
            <a:r>
              <a:rPr lang="en-US" sz="2000" spc="240" dirty="0">
                <a:cs typeface="Times New Roman" panose="02020603050405020304" pitchFamily="18" charset="0"/>
              </a:rPr>
              <a:t> </a:t>
            </a:r>
            <a:r>
              <a:rPr lang="en-US" sz="2000" dirty="0">
                <a:cs typeface="Times New Roman" panose="02020603050405020304" pitchFamily="18" charset="0"/>
              </a:rPr>
              <a:t>barriers</a:t>
            </a:r>
            <a:r>
              <a:rPr lang="en-US" sz="2000" spc="272" dirty="0">
                <a:cs typeface="Times New Roman" panose="02020603050405020304" pitchFamily="18" charset="0"/>
              </a:rPr>
              <a:t> </a:t>
            </a:r>
            <a:r>
              <a:rPr lang="en-US" sz="2000" dirty="0">
                <a:cs typeface="Times New Roman" panose="02020603050405020304" pitchFamily="18" charset="0"/>
              </a:rPr>
              <a:t>and</a:t>
            </a:r>
            <a:r>
              <a:rPr lang="en-US" sz="2000" spc="267" dirty="0">
                <a:cs typeface="Times New Roman" panose="02020603050405020304" pitchFamily="18" charset="0"/>
              </a:rPr>
              <a:t> </a:t>
            </a:r>
            <a:r>
              <a:rPr lang="en-US" sz="2000" dirty="0">
                <a:cs typeface="Times New Roman" panose="02020603050405020304" pitchFamily="18" charset="0"/>
              </a:rPr>
              <a:t>the</a:t>
            </a:r>
            <a:r>
              <a:rPr lang="en-US" sz="2000" spc="247" dirty="0">
                <a:cs typeface="Times New Roman" panose="02020603050405020304" pitchFamily="18" charset="0"/>
              </a:rPr>
              <a:t> </a:t>
            </a:r>
            <a:r>
              <a:rPr lang="en-US" sz="2000" dirty="0">
                <a:cs typeface="Times New Roman" panose="02020603050405020304" pitchFamily="18" charset="0"/>
              </a:rPr>
              <a:t>power</a:t>
            </a:r>
            <a:r>
              <a:rPr lang="en-US" sz="2000" spc="267" dirty="0">
                <a:cs typeface="Times New Roman" panose="02020603050405020304" pitchFamily="18" charset="0"/>
              </a:rPr>
              <a:t> </a:t>
            </a:r>
            <a:r>
              <a:rPr lang="en-US" sz="2000" dirty="0">
                <a:cs typeface="Times New Roman" panose="02020603050405020304" pitchFamily="18" charset="0"/>
              </a:rPr>
              <a:t>plant,</a:t>
            </a:r>
            <a:r>
              <a:rPr lang="en-US" sz="2000" spc="267" dirty="0">
                <a:cs typeface="Times New Roman" panose="02020603050405020304" pitchFamily="18" charset="0"/>
              </a:rPr>
              <a:t> </a:t>
            </a:r>
            <a:r>
              <a:rPr lang="en-US" sz="2000" dirty="0">
                <a:cs typeface="Times New Roman" panose="02020603050405020304" pitchFamily="18" charset="0"/>
              </a:rPr>
              <a:t>to</a:t>
            </a:r>
            <a:r>
              <a:rPr lang="en-US" sz="2000" spc="260" dirty="0">
                <a:cs typeface="Times New Roman" panose="02020603050405020304" pitchFamily="18" charset="0"/>
              </a:rPr>
              <a:t> </a:t>
            </a:r>
            <a:r>
              <a:rPr lang="en-US" sz="2000" dirty="0">
                <a:cs typeface="Times New Roman" panose="02020603050405020304" pitchFamily="18" charset="0"/>
              </a:rPr>
              <a:t>avoid</a:t>
            </a:r>
            <a:r>
              <a:rPr lang="en-US" sz="2000" spc="247" dirty="0">
                <a:cs typeface="Times New Roman" panose="02020603050405020304" pitchFamily="18" charset="0"/>
              </a:rPr>
              <a:t> </a:t>
            </a:r>
            <a:r>
              <a:rPr lang="en-US" sz="2000" spc="-33" dirty="0">
                <a:cs typeface="Times New Roman" panose="02020603050405020304" pitchFamily="18" charset="0"/>
              </a:rPr>
              <a:t>any </a:t>
            </a:r>
            <a:r>
              <a:rPr lang="en-US" sz="2000" dirty="0">
                <a:cs typeface="Times New Roman" panose="02020603050405020304" pitchFamily="18" charset="0"/>
              </a:rPr>
              <a:t>slowing</a:t>
            </a:r>
            <a:r>
              <a:rPr lang="en-US" sz="2000" spc="-33" dirty="0">
                <a:cs typeface="Times New Roman" panose="02020603050405020304" pitchFamily="18" charset="0"/>
              </a:rPr>
              <a:t> </a:t>
            </a:r>
            <a:r>
              <a:rPr lang="en-US" sz="2000" dirty="0">
                <a:cs typeface="Times New Roman" panose="02020603050405020304" pitchFamily="18" charset="0"/>
              </a:rPr>
              <a:t>down</a:t>
            </a:r>
            <a:r>
              <a:rPr lang="en-US" sz="2000" spc="-20" dirty="0">
                <a:cs typeface="Times New Roman" panose="02020603050405020304" pitchFamily="18" charset="0"/>
              </a:rPr>
              <a:t> </a:t>
            </a:r>
            <a:r>
              <a:rPr lang="en-US" sz="2000" dirty="0">
                <a:cs typeface="Times New Roman" panose="02020603050405020304" pitchFamily="18" charset="0"/>
              </a:rPr>
              <a:t>of</a:t>
            </a:r>
            <a:r>
              <a:rPr lang="en-US" sz="2000" spc="-7" dirty="0">
                <a:cs typeface="Times New Roman" panose="02020603050405020304" pitchFamily="18" charset="0"/>
              </a:rPr>
              <a:t> </a:t>
            </a:r>
            <a:r>
              <a:rPr lang="en-US" sz="2000" dirty="0">
                <a:cs typeface="Times New Roman" panose="02020603050405020304" pitchFamily="18" charset="0"/>
              </a:rPr>
              <a:t>the</a:t>
            </a:r>
            <a:r>
              <a:rPr lang="en-US" sz="2000" spc="-33" dirty="0">
                <a:cs typeface="Times New Roman" panose="02020603050405020304" pitchFamily="18" charset="0"/>
              </a:rPr>
              <a:t> </a:t>
            </a:r>
            <a:r>
              <a:rPr lang="en-US" sz="2000" spc="-27" dirty="0">
                <a:cs typeface="Times New Roman" panose="02020603050405020304" pitchFamily="18" charset="0"/>
              </a:rPr>
              <a:t>wind</a:t>
            </a:r>
            <a:endParaRPr lang="en-US" sz="2000" dirty="0">
              <a:cs typeface="Times New Roman" panose="02020603050405020304" pitchFamily="18" charset="0"/>
            </a:endParaRPr>
          </a:p>
          <a:p>
            <a:pPr marL="446088" indent="-428625">
              <a:lnSpc>
                <a:spcPct val="120000"/>
              </a:lnSpc>
              <a:spcBef>
                <a:spcPts val="0"/>
              </a:spcBef>
              <a:buAutoNum type="arabicPeriod" startAt="4"/>
              <a:tabLst>
                <a:tab pos="447029" algn="l"/>
              </a:tabLst>
            </a:pPr>
            <a:r>
              <a:rPr lang="en-US" sz="2000" dirty="0">
                <a:cs typeface="Times New Roman" panose="02020603050405020304" pitchFamily="18" charset="0"/>
              </a:rPr>
              <a:t>With</a:t>
            </a:r>
            <a:r>
              <a:rPr lang="en-US" sz="2000" spc="-13" dirty="0">
                <a:cs typeface="Times New Roman" panose="02020603050405020304" pitchFamily="18" charset="0"/>
              </a:rPr>
              <a:t> </a:t>
            </a:r>
            <a:r>
              <a:rPr lang="en-US" sz="2000" dirty="0">
                <a:cs typeface="Times New Roman" panose="02020603050405020304" pitchFamily="18" charset="0"/>
              </a:rPr>
              <a:t>increased</a:t>
            </a:r>
            <a:r>
              <a:rPr lang="en-US" sz="2000" spc="-13" dirty="0">
                <a:cs typeface="Times New Roman" panose="02020603050405020304" pitchFamily="18" charset="0"/>
              </a:rPr>
              <a:t> </a:t>
            </a:r>
            <a:r>
              <a:rPr lang="en-US" sz="2000" dirty="0">
                <a:cs typeface="Times New Roman" panose="02020603050405020304" pitchFamily="18" charset="0"/>
              </a:rPr>
              <a:t>altitude,</a:t>
            </a:r>
            <a:r>
              <a:rPr lang="en-US" sz="2000" spc="-27" dirty="0">
                <a:cs typeface="Times New Roman" panose="02020603050405020304" pitchFamily="18" charset="0"/>
              </a:rPr>
              <a:t> </a:t>
            </a:r>
            <a:r>
              <a:rPr lang="en-US" sz="2000" dirty="0">
                <a:cs typeface="Times New Roman" panose="02020603050405020304" pitchFamily="18" charset="0"/>
              </a:rPr>
              <a:t>the</a:t>
            </a:r>
            <a:r>
              <a:rPr lang="en-US" sz="2000" spc="-33" dirty="0">
                <a:cs typeface="Times New Roman" panose="02020603050405020304" pitchFamily="18" charset="0"/>
              </a:rPr>
              <a:t> </a:t>
            </a:r>
            <a:r>
              <a:rPr lang="en-US" sz="2000" dirty="0">
                <a:cs typeface="Times New Roman" panose="02020603050405020304" pitchFamily="18" charset="0"/>
              </a:rPr>
              <a:t>movement</a:t>
            </a:r>
            <a:r>
              <a:rPr lang="en-US" sz="2000" spc="-33" dirty="0">
                <a:cs typeface="Times New Roman" panose="02020603050405020304" pitchFamily="18" charset="0"/>
              </a:rPr>
              <a:t> </a:t>
            </a:r>
            <a:r>
              <a:rPr lang="en-US" sz="2000" dirty="0">
                <a:cs typeface="Times New Roman" panose="02020603050405020304" pitchFamily="18" charset="0"/>
              </a:rPr>
              <a:t>of</a:t>
            </a:r>
            <a:r>
              <a:rPr lang="en-US" sz="2000" spc="-20" dirty="0">
                <a:cs typeface="Times New Roman" panose="02020603050405020304" pitchFamily="18" charset="0"/>
              </a:rPr>
              <a:t> </a:t>
            </a:r>
            <a:r>
              <a:rPr lang="en-US" sz="2000" dirty="0">
                <a:cs typeface="Times New Roman" panose="02020603050405020304" pitchFamily="18" charset="0"/>
              </a:rPr>
              <a:t>a</a:t>
            </a:r>
            <a:r>
              <a:rPr lang="en-US" sz="2000" spc="-27" dirty="0">
                <a:cs typeface="Times New Roman" panose="02020603050405020304" pitchFamily="18" charset="0"/>
              </a:rPr>
              <a:t> </a:t>
            </a:r>
            <a:r>
              <a:rPr lang="en-US" sz="2000" dirty="0">
                <a:cs typeface="Times New Roman" panose="02020603050405020304" pitchFamily="18" charset="0"/>
              </a:rPr>
              <a:t>wind</a:t>
            </a:r>
            <a:r>
              <a:rPr lang="en-US" sz="2000" spc="-20" dirty="0">
                <a:cs typeface="Times New Roman" panose="02020603050405020304" pitchFamily="18" charset="0"/>
              </a:rPr>
              <a:t> </a:t>
            </a:r>
            <a:r>
              <a:rPr lang="en-US" sz="2000" dirty="0">
                <a:cs typeface="Times New Roman" panose="02020603050405020304" pitchFamily="18" charset="0"/>
              </a:rPr>
              <a:t>draft</a:t>
            </a:r>
            <a:r>
              <a:rPr lang="en-US" sz="2000" spc="-33" dirty="0">
                <a:cs typeface="Times New Roman" panose="02020603050405020304" pitchFamily="18" charset="0"/>
              </a:rPr>
              <a:t> </a:t>
            </a:r>
            <a:r>
              <a:rPr lang="en-US" sz="2000" dirty="0">
                <a:cs typeface="Times New Roman" panose="02020603050405020304" pitchFamily="18" charset="0"/>
              </a:rPr>
              <a:t>takes</a:t>
            </a:r>
            <a:r>
              <a:rPr lang="en-US" sz="2000" spc="-20" dirty="0">
                <a:cs typeface="Times New Roman" panose="02020603050405020304" pitchFamily="18" charset="0"/>
              </a:rPr>
              <a:t> </a:t>
            </a:r>
            <a:r>
              <a:rPr lang="en-US" sz="2000" dirty="0">
                <a:cs typeface="Times New Roman" panose="02020603050405020304" pitchFamily="18" charset="0"/>
              </a:rPr>
              <a:t>a</a:t>
            </a:r>
            <a:r>
              <a:rPr lang="en-US" sz="2000" spc="-20" dirty="0">
                <a:cs typeface="Times New Roman" panose="02020603050405020304" pitchFamily="18" charset="0"/>
              </a:rPr>
              <a:t> </a:t>
            </a:r>
            <a:r>
              <a:rPr lang="en-US" sz="2000" dirty="0">
                <a:cs typeface="Times New Roman" panose="02020603050405020304" pitchFamily="18" charset="0"/>
              </a:rPr>
              <a:t>more</a:t>
            </a:r>
            <a:r>
              <a:rPr lang="en-US" sz="2000" spc="-20" dirty="0">
                <a:cs typeface="Times New Roman" panose="02020603050405020304" pitchFamily="18" charset="0"/>
              </a:rPr>
              <a:t> </a:t>
            </a:r>
            <a:r>
              <a:rPr lang="en-US" sz="2000" dirty="0">
                <a:cs typeface="Times New Roman" panose="02020603050405020304" pitchFamily="18" charset="0"/>
              </a:rPr>
              <a:t>complex</a:t>
            </a:r>
            <a:r>
              <a:rPr lang="en-US" sz="2000" spc="-20" dirty="0">
                <a:cs typeface="Times New Roman" panose="02020603050405020304" pitchFamily="18" charset="0"/>
              </a:rPr>
              <a:t> </a:t>
            </a:r>
            <a:r>
              <a:rPr lang="en-US" sz="2000" dirty="0">
                <a:cs typeface="Times New Roman" panose="02020603050405020304" pitchFamily="18" charset="0"/>
              </a:rPr>
              <a:t>form,</a:t>
            </a:r>
            <a:r>
              <a:rPr lang="en-US" sz="2000" spc="-33" dirty="0">
                <a:cs typeface="Times New Roman" panose="02020603050405020304" pitchFamily="18" charset="0"/>
              </a:rPr>
              <a:t> </a:t>
            </a:r>
            <a:r>
              <a:rPr lang="en-US" sz="2000" dirty="0">
                <a:cs typeface="Times New Roman" panose="02020603050405020304" pitchFamily="18" charset="0"/>
              </a:rPr>
              <a:t>due</a:t>
            </a:r>
            <a:r>
              <a:rPr lang="en-US" sz="2000" spc="-33" dirty="0">
                <a:cs typeface="Times New Roman" panose="02020603050405020304" pitchFamily="18" charset="0"/>
              </a:rPr>
              <a:t> </a:t>
            </a:r>
            <a:r>
              <a:rPr lang="en-US" sz="2000" dirty="0">
                <a:cs typeface="Times New Roman" panose="02020603050405020304" pitchFamily="18" charset="0"/>
              </a:rPr>
              <a:t>to</a:t>
            </a:r>
            <a:r>
              <a:rPr lang="en-US" sz="2000" spc="-20" dirty="0">
                <a:cs typeface="Times New Roman" panose="02020603050405020304" pitchFamily="18" charset="0"/>
              </a:rPr>
              <a:t> </a:t>
            </a:r>
            <a:r>
              <a:rPr lang="en-US" sz="2000" dirty="0">
                <a:cs typeface="Times New Roman" panose="02020603050405020304" pitchFamily="18" charset="0"/>
              </a:rPr>
              <a:t>different</a:t>
            </a:r>
            <a:r>
              <a:rPr lang="en-US" sz="2000" spc="-33" dirty="0">
                <a:cs typeface="Times New Roman" panose="02020603050405020304" pitchFamily="18" charset="0"/>
              </a:rPr>
              <a:t> </a:t>
            </a:r>
            <a:r>
              <a:rPr lang="en-US" sz="2000" spc="-27" dirty="0">
                <a:cs typeface="Times New Roman" panose="02020603050405020304" pitchFamily="18" charset="0"/>
              </a:rPr>
              <a:t>land </a:t>
            </a:r>
            <a:r>
              <a:rPr lang="en-US" sz="2000" spc="-13" dirty="0">
                <a:cs typeface="Times New Roman" panose="02020603050405020304" pitchFamily="18" charset="0"/>
              </a:rPr>
              <a:t>shapes.</a:t>
            </a:r>
            <a:endParaRPr lang="en-US" sz="2000" dirty="0">
              <a:cs typeface="Times New Roman" panose="02020603050405020304" pitchFamily="18" charset="0"/>
            </a:endParaRPr>
          </a:p>
          <a:p>
            <a:pPr marL="446088" indent="-428625">
              <a:lnSpc>
                <a:spcPct val="120000"/>
              </a:lnSpc>
              <a:spcBef>
                <a:spcPts val="0"/>
              </a:spcBef>
              <a:buAutoNum type="arabicPeriod" startAt="7"/>
              <a:tabLst>
                <a:tab pos="447029" algn="l"/>
              </a:tabLst>
            </a:pPr>
            <a:r>
              <a:rPr lang="en-US" sz="2000" dirty="0">
                <a:cs typeface="Times New Roman" panose="02020603050405020304" pitchFamily="18" charset="0"/>
              </a:rPr>
              <a:t>Thus,</a:t>
            </a:r>
            <a:r>
              <a:rPr lang="en-US" sz="2000" spc="-33" dirty="0">
                <a:cs typeface="Times New Roman" panose="02020603050405020304" pitchFamily="18" charset="0"/>
              </a:rPr>
              <a:t> </a:t>
            </a:r>
            <a:r>
              <a:rPr lang="en-US" sz="2000" dirty="0">
                <a:cs typeface="Times New Roman" panose="02020603050405020304" pitchFamily="18" charset="0"/>
              </a:rPr>
              <a:t>it</a:t>
            </a:r>
            <a:r>
              <a:rPr lang="en-US" sz="2000" spc="-33" dirty="0">
                <a:cs typeface="Times New Roman" panose="02020603050405020304" pitchFamily="18" charset="0"/>
              </a:rPr>
              <a:t> </a:t>
            </a:r>
            <a:r>
              <a:rPr lang="en-US" sz="2000" dirty="0">
                <a:cs typeface="Times New Roman" panose="02020603050405020304" pitchFamily="18" charset="0"/>
              </a:rPr>
              <a:t>is</a:t>
            </a:r>
            <a:r>
              <a:rPr lang="en-US" sz="2000" spc="-13" dirty="0">
                <a:cs typeface="Times New Roman" panose="02020603050405020304" pitchFamily="18" charset="0"/>
              </a:rPr>
              <a:t> </a:t>
            </a:r>
            <a:r>
              <a:rPr lang="en-US" sz="2000" dirty="0">
                <a:cs typeface="Times New Roman" panose="02020603050405020304" pitchFamily="18" charset="0"/>
              </a:rPr>
              <a:t>necessary to</a:t>
            </a:r>
            <a:r>
              <a:rPr lang="en-US" sz="2000" spc="-20" dirty="0">
                <a:cs typeface="Times New Roman" panose="02020603050405020304" pitchFamily="18" charset="0"/>
              </a:rPr>
              <a:t> </a:t>
            </a:r>
            <a:r>
              <a:rPr lang="en-US" sz="2000" dirty="0">
                <a:cs typeface="Times New Roman" panose="02020603050405020304" pitchFamily="18" charset="0"/>
              </a:rPr>
              <a:t>have</a:t>
            </a:r>
            <a:r>
              <a:rPr lang="en-US" sz="2000" spc="-27" dirty="0">
                <a:cs typeface="Times New Roman" panose="02020603050405020304" pitchFamily="18" charset="0"/>
              </a:rPr>
              <a:t> </a:t>
            </a:r>
            <a:r>
              <a:rPr lang="en-US" sz="2000" dirty="0">
                <a:cs typeface="Times New Roman" panose="02020603050405020304" pitchFamily="18" charset="0"/>
              </a:rPr>
              <a:t>a</a:t>
            </a:r>
            <a:r>
              <a:rPr lang="en-US" sz="2000" spc="-27" dirty="0">
                <a:cs typeface="Times New Roman" panose="02020603050405020304" pitchFamily="18" charset="0"/>
              </a:rPr>
              <a:t> </a:t>
            </a:r>
            <a:r>
              <a:rPr lang="en-US" sz="2000" dirty="0">
                <a:cs typeface="Times New Roman" panose="02020603050405020304" pitchFamily="18" charset="0"/>
              </a:rPr>
              <a:t>reasonable</a:t>
            </a:r>
            <a:r>
              <a:rPr lang="en-US" sz="2000" spc="-27" dirty="0">
                <a:cs typeface="Times New Roman" panose="02020603050405020304" pitchFamily="18" charset="0"/>
              </a:rPr>
              <a:t> </a:t>
            </a:r>
            <a:r>
              <a:rPr lang="en-US" sz="2000" dirty="0">
                <a:cs typeface="Times New Roman" panose="02020603050405020304" pitchFamily="18" charset="0"/>
              </a:rPr>
              <a:t>knowledge</a:t>
            </a:r>
            <a:r>
              <a:rPr lang="en-US" sz="2000" spc="-47" dirty="0">
                <a:cs typeface="Times New Roman" panose="02020603050405020304" pitchFamily="18" charset="0"/>
              </a:rPr>
              <a:t> </a:t>
            </a:r>
            <a:r>
              <a:rPr lang="en-US" sz="2000" dirty="0">
                <a:cs typeface="Times New Roman" panose="02020603050405020304" pitchFamily="18" charset="0"/>
              </a:rPr>
              <a:t>of</a:t>
            </a:r>
            <a:r>
              <a:rPr lang="en-US" sz="2000" spc="-33" dirty="0">
                <a:cs typeface="Times New Roman" panose="02020603050405020304" pitchFamily="18" charset="0"/>
              </a:rPr>
              <a:t> </a:t>
            </a:r>
            <a:r>
              <a:rPr lang="en-US" sz="2000" dirty="0">
                <a:cs typeface="Times New Roman" panose="02020603050405020304" pitchFamily="18" charset="0"/>
              </a:rPr>
              <a:t>the</a:t>
            </a:r>
            <a:r>
              <a:rPr lang="en-US" sz="2000" spc="-27" dirty="0">
                <a:cs typeface="Times New Roman" panose="02020603050405020304" pitchFamily="18" charset="0"/>
              </a:rPr>
              <a:t> </a:t>
            </a:r>
            <a:r>
              <a:rPr lang="en-US" sz="2000" dirty="0">
                <a:cs typeface="Times New Roman" panose="02020603050405020304" pitchFamily="18" charset="0"/>
              </a:rPr>
              <a:t>characteristics</a:t>
            </a:r>
            <a:r>
              <a:rPr lang="en-US" sz="2000" spc="-47" dirty="0">
                <a:cs typeface="Times New Roman" panose="02020603050405020304" pitchFamily="18" charset="0"/>
              </a:rPr>
              <a:t> </a:t>
            </a:r>
            <a:r>
              <a:rPr lang="en-US" sz="2000" dirty="0">
                <a:cs typeface="Times New Roman" panose="02020603050405020304" pitchFamily="18" charset="0"/>
              </a:rPr>
              <a:t>of</a:t>
            </a:r>
            <a:r>
              <a:rPr lang="en-US" sz="2000" spc="-13" dirty="0">
                <a:cs typeface="Times New Roman" panose="02020603050405020304" pitchFamily="18" charset="0"/>
              </a:rPr>
              <a:t> </a:t>
            </a:r>
            <a:r>
              <a:rPr lang="en-US" sz="2000" dirty="0">
                <a:cs typeface="Times New Roman" panose="02020603050405020304" pitchFamily="18" charset="0"/>
              </a:rPr>
              <a:t>the</a:t>
            </a:r>
            <a:r>
              <a:rPr lang="en-US" sz="2000" spc="-40" dirty="0">
                <a:cs typeface="Times New Roman" panose="02020603050405020304" pitchFamily="18" charset="0"/>
              </a:rPr>
              <a:t> </a:t>
            </a:r>
            <a:r>
              <a:rPr lang="en-US" sz="2000" dirty="0">
                <a:cs typeface="Times New Roman" panose="02020603050405020304" pitchFamily="18" charset="0"/>
              </a:rPr>
              <a:t>soil</a:t>
            </a:r>
            <a:r>
              <a:rPr lang="en-US" sz="2000" spc="-33" dirty="0">
                <a:cs typeface="Times New Roman" panose="02020603050405020304" pitchFamily="18" charset="0"/>
              </a:rPr>
              <a:t> </a:t>
            </a:r>
            <a:r>
              <a:rPr lang="en-US" sz="2000" dirty="0">
                <a:cs typeface="Times New Roman" panose="02020603050405020304" pitchFamily="18" charset="0"/>
              </a:rPr>
              <a:t>to</a:t>
            </a:r>
            <a:r>
              <a:rPr lang="en-US" sz="2000" spc="-13" dirty="0">
                <a:cs typeface="Times New Roman" panose="02020603050405020304" pitchFamily="18" charset="0"/>
              </a:rPr>
              <a:t> </a:t>
            </a:r>
            <a:r>
              <a:rPr lang="en-US" sz="2000" dirty="0">
                <a:cs typeface="Times New Roman" panose="02020603050405020304" pitchFamily="18" charset="0"/>
              </a:rPr>
              <a:t>be</a:t>
            </a:r>
            <a:r>
              <a:rPr lang="en-US" sz="2000" spc="-27" dirty="0">
                <a:cs typeface="Times New Roman" panose="02020603050405020304" pitchFamily="18" charset="0"/>
              </a:rPr>
              <a:t> </a:t>
            </a:r>
            <a:r>
              <a:rPr lang="en-US" sz="2000" spc="-13" dirty="0">
                <a:cs typeface="Times New Roman" panose="02020603050405020304" pitchFamily="18" charset="0"/>
              </a:rPr>
              <a:t>occupied</a:t>
            </a:r>
            <a:endParaRPr lang="en-US" sz="2000" dirty="0">
              <a:cs typeface="Times New Roman" panose="02020603050405020304" pitchFamily="18" charset="0"/>
            </a:endParaRPr>
          </a:p>
          <a:p>
            <a:pPr marL="446088" indent="-428625">
              <a:lnSpc>
                <a:spcPct val="120000"/>
              </a:lnSpc>
              <a:spcBef>
                <a:spcPts val="0"/>
              </a:spcBef>
              <a:buAutoNum type="arabicPeriod" startAt="7"/>
              <a:tabLst>
                <a:tab pos="447029" algn="l"/>
              </a:tabLst>
            </a:pPr>
            <a:r>
              <a:rPr lang="en-US" sz="2000" dirty="0">
                <a:cs typeface="Times New Roman" panose="02020603050405020304" pitchFamily="18" charset="0"/>
              </a:rPr>
              <a:t>The</a:t>
            </a:r>
            <a:r>
              <a:rPr lang="en-US" sz="2000" spc="-40" dirty="0">
                <a:cs typeface="Times New Roman" panose="02020603050405020304" pitchFamily="18" charset="0"/>
              </a:rPr>
              <a:t> </a:t>
            </a:r>
            <a:r>
              <a:rPr lang="en-US" sz="2000" dirty="0">
                <a:cs typeface="Times New Roman" panose="02020603050405020304" pitchFamily="18" charset="0"/>
              </a:rPr>
              <a:t>roughness</a:t>
            </a:r>
            <a:r>
              <a:rPr lang="en-US" sz="2000" spc="-33" dirty="0">
                <a:cs typeface="Times New Roman" panose="02020603050405020304" pitchFamily="18" charset="0"/>
              </a:rPr>
              <a:t> </a:t>
            </a:r>
            <a:r>
              <a:rPr lang="en-US" sz="2000" dirty="0">
                <a:cs typeface="Times New Roman" panose="02020603050405020304" pitchFamily="18" charset="0"/>
              </a:rPr>
              <a:t>of</a:t>
            </a:r>
            <a:r>
              <a:rPr lang="en-US" sz="2000" spc="-40" dirty="0">
                <a:cs typeface="Times New Roman" panose="02020603050405020304" pitchFamily="18" charset="0"/>
              </a:rPr>
              <a:t> </a:t>
            </a:r>
            <a:r>
              <a:rPr lang="en-US" sz="2000" dirty="0">
                <a:cs typeface="Times New Roman" panose="02020603050405020304" pitchFamily="18" charset="0"/>
              </a:rPr>
              <a:t>the</a:t>
            </a:r>
            <a:r>
              <a:rPr lang="en-US" sz="2000" spc="-47" dirty="0">
                <a:cs typeface="Times New Roman" panose="02020603050405020304" pitchFamily="18" charset="0"/>
              </a:rPr>
              <a:t> </a:t>
            </a:r>
            <a:r>
              <a:rPr lang="en-US" sz="2000" dirty="0">
                <a:cs typeface="Times New Roman" panose="02020603050405020304" pitchFamily="18" charset="0"/>
              </a:rPr>
              <a:t>ground</a:t>
            </a:r>
            <a:r>
              <a:rPr lang="en-US" sz="2000" spc="-47" dirty="0">
                <a:cs typeface="Times New Roman" panose="02020603050405020304" pitchFamily="18" charset="0"/>
              </a:rPr>
              <a:t> </a:t>
            </a:r>
            <a:r>
              <a:rPr lang="en-US" sz="2000" dirty="0">
                <a:cs typeface="Times New Roman" panose="02020603050405020304" pitchFamily="18" charset="0"/>
              </a:rPr>
              <a:t>surface</a:t>
            </a:r>
            <a:r>
              <a:rPr lang="en-US" sz="2000" spc="-47" dirty="0">
                <a:cs typeface="Times New Roman" panose="02020603050405020304" pitchFamily="18" charset="0"/>
              </a:rPr>
              <a:t> </a:t>
            </a:r>
            <a:r>
              <a:rPr lang="en-US" sz="2000" dirty="0">
                <a:cs typeface="Times New Roman" panose="02020603050405020304" pitchFamily="18" charset="0"/>
              </a:rPr>
              <a:t>causes wind</a:t>
            </a:r>
            <a:r>
              <a:rPr lang="en-US" sz="2000" spc="-33" dirty="0">
                <a:cs typeface="Times New Roman" panose="02020603050405020304" pitchFamily="18" charset="0"/>
              </a:rPr>
              <a:t> </a:t>
            </a:r>
            <a:r>
              <a:rPr lang="en-US" sz="2000" dirty="0">
                <a:cs typeface="Times New Roman" panose="02020603050405020304" pitchFamily="18" charset="0"/>
              </a:rPr>
              <a:t>shear,</a:t>
            </a:r>
            <a:r>
              <a:rPr lang="en-US" sz="2000" spc="-27" dirty="0">
                <a:cs typeface="Times New Roman" panose="02020603050405020304" pitchFamily="18" charset="0"/>
              </a:rPr>
              <a:t> </a:t>
            </a:r>
            <a:r>
              <a:rPr lang="en-US" sz="2000" dirty="0">
                <a:cs typeface="Times New Roman" panose="02020603050405020304" pitchFamily="18" charset="0"/>
              </a:rPr>
              <a:t>which</a:t>
            </a:r>
            <a:r>
              <a:rPr lang="en-US" sz="2000" spc="-33" dirty="0">
                <a:cs typeface="Times New Roman" panose="02020603050405020304" pitchFamily="18" charset="0"/>
              </a:rPr>
              <a:t> </a:t>
            </a:r>
            <a:r>
              <a:rPr lang="en-US" sz="2000" dirty="0">
                <a:cs typeface="Times New Roman" panose="02020603050405020304" pitchFamily="18" charset="0"/>
              </a:rPr>
              <a:t>changes</a:t>
            </a:r>
            <a:r>
              <a:rPr lang="en-US" sz="2000" spc="-13" dirty="0">
                <a:cs typeface="Times New Roman" panose="02020603050405020304" pitchFamily="18" charset="0"/>
              </a:rPr>
              <a:t> </a:t>
            </a:r>
            <a:r>
              <a:rPr lang="en-US" sz="2000" dirty="0">
                <a:cs typeface="Times New Roman" panose="02020603050405020304" pitchFamily="18" charset="0"/>
              </a:rPr>
              <a:t>significantly</a:t>
            </a:r>
            <a:r>
              <a:rPr lang="en-US" sz="2000" spc="-60" dirty="0">
                <a:cs typeface="Times New Roman" panose="02020603050405020304" pitchFamily="18" charset="0"/>
              </a:rPr>
              <a:t> </a:t>
            </a:r>
            <a:r>
              <a:rPr lang="en-US" sz="2000" dirty="0">
                <a:cs typeface="Times New Roman" panose="02020603050405020304" pitchFamily="18" charset="0"/>
              </a:rPr>
              <a:t>with</a:t>
            </a:r>
            <a:r>
              <a:rPr lang="en-US" sz="2000" spc="-40" dirty="0">
                <a:cs typeface="Times New Roman" panose="02020603050405020304" pitchFamily="18" charset="0"/>
              </a:rPr>
              <a:t> </a:t>
            </a:r>
            <a:r>
              <a:rPr lang="en-US" sz="2000" spc="-13" dirty="0">
                <a:cs typeface="Times New Roman" panose="02020603050405020304" pitchFamily="18" charset="0"/>
              </a:rPr>
              <a:t>altitude</a:t>
            </a:r>
            <a:endParaRPr lang="en-IN" sz="2000" dirty="0">
              <a:cs typeface="Times New Roman" panose="02020603050405020304" pitchFamily="18" charset="0"/>
            </a:endParaRPr>
          </a:p>
        </p:txBody>
      </p:sp>
    </p:spTree>
    <p:extLst>
      <p:ext uri="{BB962C8B-B14F-4D97-AF65-F5344CB8AC3E}">
        <p14:creationId xmlns:p14="http://schemas.microsoft.com/office/powerpoint/2010/main" val="3534140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E55FC-F6CC-0396-82EA-BE3C6BC21F09}"/>
              </a:ext>
            </a:extLst>
          </p:cNvPr>
          <p:cNvSpPr>
            <a:spLocks noGrp="1"/>
          </p:cNvSpPr>
          <p:nvPr>
            <p:ph type="title"/>
          </p:nvPr>
        </p:nvSpPr>
        <p:spPr/>
        <p:txBody>
          <a:bodyPr/>
          <a:lstStyle/>
          <a:p>
            <a:r>
              <a:rPr lang="en-IN" b="1" dirty="0"/>
              <a:t>Potentials of Wind Energy </a:t>
            </a:r>
            <a:endParaRPr lang="en-IN" dirty="0"/>
          </a:p>
        </p:txBody>
      </p:sp>
      <p:sp>
        <p:nvSpPr>
          <p:cNvPr id="3" name="Content Placeholder 2">
            <a:extLst>
              <a:ext uri="{FF2B5EF4-FFF2-40B4-BE49-F238E27FC236}">
                <a16:creationId xmlns:a16="http://schemas.microsoft.com/office/drawing/2014/main" id="{EF06249D-8D9E-E351-9E43-193D6B404CDE}"/>
              </a:ext>
            </a:extLst>
          </p:cNvPr>
          <p:cNvSpPr>
            <a:spLocks noGrp="1"/>
          </p:cNvSpPr>
          <p:nvPr>
            <p:ph idx="1"/>
          </p:nvPr>
        </p:nvSpPr>
        <p:spPr>
          <a:xfrm>
            <a:off x="838200" y="1590261"/>
            <a:ext cx="10515600" cy="4586702"/>
          </a:xfrm>
        </p:spPr>
        <p:txBody>
          <a:bodyPr>
            <a:normAutofit/>
          </a:bodyPr>
          <a:lstStyle/>
          <a:p>
            <a:r>
              <a:rPr lang="en-US" sz="2400" dirty="0"/>
              <a:t>India has a vast supply of renewable energy resources. India has one of the world’s largest programs for deployment of renewable energy products and systems 3,700 MW from renewable energy sources installed. </a:t>
            </a:r>
            <a:endParaRPr lang="en-IN" sz="2400" dirty="0"/>
          </a:p>
        </p:txBody>
      </p:sp>
      <p:pic>
        <p:nvPicPr>
          <p:cNvPr id="5" name="Picture 4">
            <a:extLst>
              <a:ext uri="{FF2B5EF4-FFF2-40B4-BE49-F238E27FC236}">
                <a16:creationId xmlns:a16="http://schemas.microsoft.com/office/drawing/2014/main" id="{BCAFF07C-A4D8-C0AD-6E04-8F15A8EB12AC}"/>
              </a:ext>
            </a:extLst>
          </p:cNvPr>
          <p:cNvPicPr>
            <a:picLocks noChangeAspect="1"/>
          </p:cNvPicPr>
          <p:nvPr/>
        </p:nvPicPr>
        <p:blipFill>
          <a:blip r:embed="rId2"/>
          <a:stretch>
            <a:fillRect/>
          </a:stretch>
        </p:blipFill>
        <p:spPr>
          <a:xfrm>
            <a:off x="3160643" y="2726630"/>
            <a:ext cx="7564125" cy="4031978"/>
          </a:xfrm>
          <a:prstGeom prst="rect">
            <a:avLst/>
          </a:prstGeom>
        </p:spPr>
      </p:pic>
    </p:spTree>
    <p:extLst>
      <p:ext uri="{BB962C8B-B14F-4D97-AF65-F5344CB8AC3E}">
        <p14:creationId xmlns:p14="http://schemas.microsoft.com/office/powerpoint/2010/main" val="3632043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BFADD9-3DF6-6D35-CDD8-C4B2D37EA2E2}"/>
              </a:ext>
            </a:extLst>
          </p:cNvPr>
          <p:cNvSpPr>
            <a:spLocks noGrp="1"/>
          </p:cNvSpPr>
          <p:nvPr>
            <p:ph type="title"/>
          </p:nvPr>
        </p:nvSpPr>
        <p:spPr/>
        <p:txBody>
          <a:bodyPr/>
          <a:lstStyle/>
          <a:p>
            <a:r>
              <a:rPr lang="en-IN" b="1" dirty="0">
                <a:latin typeface="+mn-lt"/>
              </a:rPr>
              <a:t>Advantages of Wind Power </a:t>
            </a:r>
            <a:endParaRPr lang="en-IN" dirty="0">
              <a:latin typeface="+mn-lt"/>
            </a:endParaRPr>
          </a:p>
        </p:txBody>
      </p:sp>
      <p:sp>
        <p:nvSpPr>
          <p:cNvPr id="6" name="Content Placeholder 5">
            <a:extLst>
              <a:ext uri="{FF2B5EF4-FFF2-40B4-BE49-F238E27FC236}">
                <a16:creationId xmlns:a16="http://schemas.microsoft.com/office/drawing/2014/main" id="{C9FF67D2-9CD8-44D3-0A14-61417F5F25A7}"/>
              </a:ext>
            </a:extLst>
          </p:cNvPr>
          <p:cNvSpPr>
            <a:spLocks noGrp="1"/>
          </p:cNvSpPr>
          <p:nvPr>
            <p:ph idx="1"/>
          </p:nvPr>
        </p:nvSpPr>
        <p:spPr>
          <a:xfrm>
            <a:off x="838200" y="1610138"/>
            <a:ext cx="10515600" cy="4721087"/>
          </a:xfrm>
        </p:spPr>
        <p:txBody>
          <a:bodyPr>
            <a:normAutofit/>
          </a:bodyPr>
          <a:lstStyle/>
          <a:p>
            <a:r>
              <a:rPr lang="en-US" sz="2000" dirty="0"/>
              <a:t>Wind power is an inexhaustible source of energy. </a:t>
            </a:r>
          </a:p>
          <a:p>
            <a:r>
              <a:rPr lang="en-US" sz="2000" dirty="0"/>
              <a:t>The wind is available freely and using modern technology it can be captured efficiently. </a:t>
            </a:r>
          </a:p>
          <a:p>
            <a:r>
              <a:rPr lang="en-US" sz="2000" dirty="0"/>
              <a:t>It does not create any type of environmental pollution. </a:t>
            </a:r>
          </a:p>
          <a:p>
            <a:r>
              <a:rPr lang="en-US" sz="2000" dirty="0"/>
              <a:t>The wind turbines require less space than the average power stations; thereby the land around wind turbines can be used for other useful purpose like farming etc. </a:t>
            </a:r>
          </a:p>
          <a:p>
            <a:r>
              <a:rPr lang="en-US" sz="2000" dirty="0"/>
              <a:t>When combined with solar electricity, it proves to be great for developed and developing countries to provide a stable and consistent supply of electricity. </a:t>
            </a:r>
          </a:p>
          <a:p>
            <a:r>
              <a:rPr lang="en-US" sz="2000" dirty="0"/>
              <a:t>Wind turbines can be used to produce electricity for remote areas, where other sources of energy are not available. </a:t>
            </a:r>
          </a:p>
          <a:p>
            <a:r>
              <a:rPr lang="en-US" sz="2000" dirty="0"/>
              <a:t>Wind energy can directly be used as mechanical energy. </a:t>
            </a:r>
          </a:p>
          <a:p>
            <a:r>
              <a:rPr lang="en-US" sz="2000" dirty="0"/>
              <a:t>Wind power is comparatively cost-effective among the available renewable sources of energy. </a:t>
            </a:r>
            <a:endParaRPr lang="en-IN" sz="2000" dirty="0"/>
          </a:p>
        </p:txBody>
      </p:sp>
    </p:spTree>
    <p:extLst>
      <p:ext uri="{BB962C8B-B14F-4D97-AF65-F5344CB8AC3E}">
        <p14:creationId xmlns:p14="http://schemas.microsoft.com/office/powerpoint/2010/main" val="228802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457F-818F-5423-F1C3-3BB2FE4BE17A}"/>
              </a:ext>
            </a:extLst>
          </p:cNvPr>
          <p:cNvSpPr>
            <a:spLocks noGrp="1"/>
          </p:cNvSpPr>
          <p:nvPr>
            <p:ph type="title"/>
          </p:nvPr>
        </p:nvSpPr>
        <p:spPr/>
        <p:txBody>
          <a:bodyPr/>
          <a:lstStyle/>
          <a:p>
            <a:r>
              <a:rPr lang="en-IN" b="1" dirty="0"/>
              <a:t>Disadvantages of Wind Power </a:t>
            </a:r>
            <a:endParaRPr lang="en-IN" dirty="0"/>
          </a:p>
        </p:txBody>
      </p:sp>
      <p:sp>
        <p:nvSpPr>
          <p:cNvPr id="3" name="Content Placeholder 2">
            <a:extLst>
              <a:ext uri="{FF2B5EF4-FFF2-40B4-BE49-F238E27FC236}">
                <a16:creationId xmlns:a16="http://schemas.microsoft.com/office/drawing/2014/main" id="{8C4F72CE-6590-3A1D-B96C-E13A68733375}"/>
              </a:ext>
            </a:extLst>
          </p:cNvPr>
          <p:cNvSpPr>
            <a:spLocks noGrp="1"/>
          </p:cNvSpPr>
          <p:nvPr>
            <p:ph idx="1"/>
          </p:nvPr>
        </p:nvSpPr>
        <p:spPr>
          <a:xfrm>
            <a:off x="838199" y="1550504"/>
            <a:ext cx="11009243" cy="5039139"/>
          </a:xfrm>
        </p:spPr>
        <p:txBody>
          <a:bodyPr>
            <a:normAutofit/>
          </a:bodyPr>
          <a:lstStyle/>
          <a:p>
            <a:r>
              <a:rPr lang="en-US" sz="2200" dirty="0"/>
              <a:t>The major disadvantage of wind power is the </a:t>
            </a:r>
            <a:r>
              <a:rPr lang="en-US" sz="2200" b="1" dirty="0"/>
              <a:t>unpredictability</a:t>
            </a:r>
            <a:r>
              <a:rPr lang="en-US" sz="2200" dirty="0"/>
              <a:t>. The winds are often uncertain and unpredictable and hence continuous supply of power cannot be obtained. </a:t>
            </a:r>
          </a:p>
          <a:p>
            <a:r>
              <a:rPr lang="en-US" sz="2200" dirty="0"/>
              <a:t>Only those areas are suitable for wind power where strong winds are expected for most of the time during a year. </a:t>
            </a:r>
          </a:p>
          <a:p>
            <a:r>
              <a:rPr lang="en-US" sz="2200" dirty="0"/>
              <a:t>Construction of wind farms generally requires large open spaces. </a:t>
            </a:r>
          </a:p>
          <a:p>
            <a:r>
              <a:rPr lang="en-US" sz="2200" dirty="0"/>
              <a:t>Most of the wind farms and wind turbines are located in remote areas where transmission lines are not available. Hence, it becomes a costly affair to lay long transmission networks to make use of the generated power. </a:t>
            </a:r>
          </a:p>
          <a:p>
            <a:r>
              <a:rPr lang="en-US" sz="2200" dirty="0"/>
              <a:t>Local wildlife and birds can get damaged due to wind blades. </a:t>
            </a:r>
          </a:p>
          <a:p>
            <a:r>
              <a:rPr lang="en-US" sz="2200" dirty="0"/>
              <a:t>Wind turbines create noise and disturbance in the nearby area. </a:t>
            </a:r>
          </a:p>
          <a:p>
            <a:r>
              <a:rPr lang="en-US" sz="2200" dirty="0"/>
              <a:t>The average efficiency of wind turbines is less as compared to conventional fossil fuel power plants. </a:t>
            </a:r>
          </a:p>
          <a:p>
            <a:r>
              <a:rPr lang="en-US" sz="2200" dirty="0"/>
              <a:t>The wear and tear of mechanical parts of wind turbines makes their maintenance costly. </a:t>
            </a:r>
            <a:endParaRPr lang="en-IN" sz="2200" dirty="0"/>
          </a:p>
        </p:txBody>
      </p:sp>
    </p:spTree>
    <p:extLst>
      <p:ext uri="{BB962C8B-B14F-4D97-AF65-F5344CB8AC3E}">
        <p14:creationId xmlns:p14="http://schemas.microsoft.com/office/powerpoint/2010/main" val="4014222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1306</Words>
  <Application>Microsoft Office PowerPoint</Application>
  <PresentationFormat>Widescreen</PresentationFormat>
  <Paragraphs>95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Module III Wind Energy</vt:lpstr>
      <vt:lpstr>Wind Energy: Sources</vt:lpstr>
      <vt:lpstr>Wind Energy: Sources</vt:lpstr>
      <vt:lpstr>Wind Energy: Sources</vt:lpstr>
      <vt:lpstr>Local Winds</vt:lpstr>
      <vt:lpstr>Evaluation of Wind Intensity</vt:lpstr>
      <vt:lpstr>Evaluation of Wind Intensity</vt:lpstr>
      <vt:lpstr>Evaluation of Wind Intensity</vt:lpstr>
      <vt:lpstr>Evaluation of Wind Intensity</vt:lpstr>
      <vt:lpstr>Topography</vt:lpstr>
      <vt:lpstr>Potentials of Wind Energy </vt:lpstr>
      <vt:lpstr>Advantages of Wind Power </vt:lpstr>
      <vt:lpstr>Disadvantages of Wind Power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2026-01-07T04:07:37Z</dcterms:created>
  <dcterms:modified xsi:type="dcterms:W3CDTF">2026-01-07T04:07:59Z</dcterms:modified>
</cp:coreProperties>
</file>