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91" r:id="rId3"/>
    <p:sldId id="384" r:id="rId4"/>
    <p:sldId id="386" r:id="rId5"/>
    <p:sldId id="387" r:id="rId6"/>
    <p:sldId id="388" r:id="rId7"/>
    <p:sldId id="382" r:id="rId8"/>
    <p:sldId id="381" r:id="rId9"/>
    <p:sldId id="389" r:id="rId10"/>
    <p:sldId id="289" r:id="rId11"/>
    <p:sldId id="288" r:id="rId12"/>
    <p:sldId id="377" r:id="rId13"/>
    <p:sldId id="3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57E8-E7AB-2C2D-6920-D424CF97D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B03E8-DEFA-513D-9CB2-B2B7C612E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5286F-17F9-9B7C-40DB-B184E2BF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96F22-1790-349B-AFB2-DB3EAE5B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71B91-B053-8D4C-26EA-D0DE6197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82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62D-1F36-EA94-C6FC-80B2E5A0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78B3D-3F9F-71C9-24AD-85A67C6A2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38132-7A17-8B5D-0438-F76E9ED9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2061D-0C82-6EFA-D9D8-D5D470AD7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64F6F-FAF7-0AF1-0F8F-2AF59873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72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479A-8CEC-4CDA-81E8-4F20FBEE7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666E0-33E8-3A07-1EF1-BC9DEA79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17866-6DC2-BC69-0E71-09A85928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C2A6E-DD24-CA20-2879-20D1A2133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832F-41A1-3FDF-C6A6-4D9938D6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94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C66A-9225-138A-709B-84015608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E96B3-4507-76A8-7DA7-76CEF470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F7303-D0C9-3156-686D-3997727C6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DF33B-09B4-F2D7-9E1B-1F4D5735F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28B09-F8C4-F588-DF18-B82215FF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7F801-8AEF-23D2-DC6D-2BE73BD2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539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3D5C-952B-AE42-861B-CF7B63F8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FF656-585A-8622-C3AD-1AAE67E95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EC1D4-49F0-4EEC-438C-E0E9C95FF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58BF-8447-C8A6-6E1B-E6D969509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B12D3-7E8B-746F-E284-A605F1A1A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2270FB-AB81-0201-518E-991565FAC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040F78-D00E-9923-36A1-DE12F9000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950AF-1EA7-975C-4267-18E747BB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06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6581-8872-FBC7-E03E-325196865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8BC481-7056-D9CA-0266-1EA14838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D085B-CB9D-72E8-D248-D4A6A9638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5ABE4-6A9A-7E89-8648-15FA5221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70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369AB-4ED2-EF12-FD0F-EF2B620C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4FD4D-8B38-4A52-9E1C-DB2ED673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639A5-F522-1BF1-C040-15A2FD30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5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FB17-C4AB-DC58-AFC7-451177BB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526FF-4E0B-4494-7763-6351525F7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CD107-8EF2-1EB8-8CF9-8EE63C87B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9DB5B-9D5C-8D2E-A143-7723BB995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69003-6DF6-533D-DD5F-74135C47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17ECC-BDF8-FDF5-CB27-A2FE9D74B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40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7F60-B17F-BCA5-860E-5E8E0047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5CAFBF-18FB-0C92-CC56-1C2524943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7933D-1268-48FB-EB29-30A8BF19F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1CB27-9CB0-DBEF-376A-71209DBB8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05CBA-CF89-7094-BAB5-7C85154E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7E66D-BA41-30E5-0588-3DE55F9D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418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BAAD-57C7-E04D-6CFA-0C64C8B69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8D4F4-4440-5761-1E18-5B06E4967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A0D6E-2AAA-C3DA-EBF1-3B0D4F58F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81A61-0C96-9698-A7CF-E189C281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BE134-0DCD-7F8D-613F-A2E4DD55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549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E8FF6-0295-9FCF-1AAB-C4C10A392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54C1E-1BAF-F6ED-5F0E-FA8ED87EF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2CC01-FB8A-7954-7907-EDB80AAA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D0FB5-9E54-9257-C592-B8B94F38C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353DF-6FFB-7D0D-1523-516914B8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7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B4B6-62BD-BA9B-D3E4-34CBCE39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2ACAA-9C66-D6C0-DC5E-8F07AC925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E8D41-8E6E-39AE-FFF4-D55FB6474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7F7DE-CBD3-4468-B569-7A7A8B387A1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D3CC8-780A-ED75-8317-F2810E8C8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7B805-011D-3CE5-9861-01740E29C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2117B-09B5-41D6-BBCA-CDA9C6B1ED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00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8665F-2706-267F-76D4-1011534F3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cs typeface="Times New Roman"/>
              </a:rPr>
              <a:t>Generators</a:t>
            </a:r>
            <a:r>
              <a:rPr lang="en-US" b="1" spc="-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and</a:t>
            </a:r>
            <a:r>
              <a:rPr lang="en-US" b="1" spc="-4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speed</a:t>
            </a:r>
            <a:r>
              <a:rPr lang="en-US" b="1" spc="-33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control</a:t>
            </a:r>
            <a:r>
              <a:rPr lang="en-US" b="1" spc="-13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used</a:t>
            </a:r>
            <a:r>
              <a:rPr lang="en-US" b="1" spc="-2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in</a:t>
            </a:r>
            <a:r>
              <a:rPr lang="en-US" b="1" spc="-4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wind</a:t>
            </a:r>
            <a:r>
              <a:rPr lang="en-US" b="1" spc="-53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power</a:t>
            </a:r>
            <a:r>
              <a:rPr lang="en-US" b="1" spc="-80" dirty="0">
                <a:cs typeface="Times New Roman"/>
              </a:rPr>
              <a:t> </a:t>
            </a:r>
            <a:r>
              <a:rPr lang="en-US" b="1" spc="-13" dirty="0">
                <a:cs typeface="Times New Roman"/>
              </a:rPr>
              <a:t>energy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2B0B-1C5D-9F39-554F-D6801C59C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3836"/>
          </a:xfrm>
        </p:spPr>
        <p:txBody>
          <a:bodyPr>
            <a:normAutofit/>
          </a:bodyPr>
          <a:lstStyle/>
          <a:p>
            <a:pPr marL="473275" indent="-456342">
              <a:buSzPct val="105882"/>
              <a:tabLst>
                <a:tab pos="473275" algn="l"/>
              </a:tabLst>
            </a:pPr>
            <a:r>
              <a:rPr lang="en-US" sz="2000" dirty="0">
                <a:cs typeface="Times New Roman"/>
              </a:rPr>
              <a:t>Small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turbines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are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equipped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with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DC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generators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up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few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kilowatts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</a:t>
            </a:r>
            <a:r>
              <a:rPr lang="en-US" sz="2000" spc="-13" dirty="0">
                <a:cs typeface="Times New Roman"/>
              </a:rPr>
              <a:t> capacity</a:t>
            </a:r>
            <a:endParaRPr lang="en-US" sz="2000" dirty="0">
              <a:cs typeface="Times New Roman"/>
            </a:endParaRPr>
          </a:p>
          <a:p>
            <a:pPr marL="544393" indent="-527460">
              <a:spcBef>
                <a:spcPts val="1367"/>
              </a:spcBef>
              <a:buSzPct val="105882"/>
              <a:tabLst>
                <a:tab pos="544393" algn="l"/>
              </a:tabLst>
            </a:pPr>
            <a:r>
              <a:rPr lang="en-US" sz="2000" dirty="0">
                <a:cs typeface="Times New Roman"/>
              </a:rPr>
              <a:t>Modern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turbine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systems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use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three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phase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AC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generators</a:t>
            </a:r>
            <a:endParaRPr lang="en-US" sz="2000" dirty="0">
              <a:cs typeface="Times New Roman"/>
            </a:endParaRPr>
          </a:p>
          <a:p>
            <a:pPr marL="544393" indent="-527460">
              <a:spcBef>
                <a:spcPts val="1359"/>
              </a:spcBef>
              <a:buSzPct val="105882"/>
              <a:tabLst>
                <a:tab pos="544393" algn="l"/>
              </a:tabLst>
            </a:pPr>
            <a:r>
              <a:rPr lang="en-US" sz="2000" dirty="0">
                <a:cs typeface="Times New Roman"/>
              </a:rPr>
              <a:t>The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common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types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AC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generator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spc="-33" dirty="0">
                <a:cs typeface="Times New Roman"/>
              </a:rPr>
              <a:t>are</a:t>
            </a:r>
            <a:endParaRPr lang="en-US" sz="2000" dirty="0">
              <a:cs typeface="Times New Roman"/>
            </a:endParaRPr>
          </a:p>
          <a:p>
            <a:pPr marL="930474" lvl="1" indent="-457200">
              <a:spcBef>
                <a:spcPts val="1359"/>
              </a:spcBef>
              <a:buSzPct val="105882"/>
              <a:buFont typeface="+mj-lt"/>
              <a:buAutoNum type="arabicPeriod"/>
              <a:tabLst>
                <a:tab pos="930463" algn="l"/>
              </a:tabLst>
            </a:pPr>
            <a:r>
              <a:rPr lang="en-US" sz="2000" b="1" spc="-13" dirty="0">
                <a:cs typeface="Times New Roman"/>
              </a:rPr>
              <a:t>Squirrel-</a:t>
            </a:r>
            <a:r>
              <a:rPr lang="en-US" sz="2000" b="1" dirty="0">
                <a:cs typeface="Times New Roman"/>
              </a:rPr>
              <a:t>Cage</a:t>
            </a:r>
            <a:r>
              <a:rPr lang="en-US" sz="2000" b="1" spc="-2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Induction</a:t>
            </a:r>
            <a:r>
              <a:rPr lang="en-US" sz="2000" b="1" spc="-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Generator</a:t>
            </a:r>
            <a:r>
              <a:rPr lang="en-US" sz="2000" b="1" spc="-47" dirty="0">
                <a:cs typeface="Times New Roman"/>
              </a:rPr>
              <a:t> </a:t>
            </a:r>
            <a:r>
              <a:rPr lang="en-US" sz="2000" b="1" spc="-13" dirty="0">
                <a:cs typeface="Times New Roman"/>
              </a:rPr>
              <a:t>(SCIG)</a:t>
            </a:r>
            <a:endParaRPr lang="en-US" sz="2000" b="1" dirty="0">
              <a:cs typeface="Times New Roman"/>
            </a:endParaRPr>
          </a:p>
          <a:p>
            <a:pPr marL="930474" lvl="1" indent="-457200">
              <a:spcBef>
                <a:spcPts val="1359"/>
              </a:spcBef>
              <a:buSzPct val="105882"/>
              <a:buFont typeface="+mj-lt"/>
              <a:buAutoNum type="arabicPeriod"/>
              <a:tabLst>
                <a:tab pos="930463" algn="l"/>
              </a:tabLst>
            </a:pPr>
            <a:r>
              <a:rPr lang="en-US" sz="2000" b="1" spc="-13" dirty="0">
                <a:cs typeface="Times New Roman"/>
              </a:rPr>
              <a:t>Wound-</a:t>
            </a:r>
            <a:r>
              <a:rPr lang="en-US" sz="2000" b="1" dirty="0">
                <a:cs typeface="Times New Roman"/>
              </a:rPr>
              <a:t>Rotor</a:t>
            </a:r>
            <a:r>
              <a:rPr lang="en-US" sz="2000" b="1" spc="-4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Induction</a:t>
            </a:r>
            <a:r>
              <a:rPr lang="en-US" sz="2000" b="1" spc="-13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Generator</a:t>
            </a:r>
            <a:r>
              <a:rPr lang="en-US" sz="2000" b="1" spc="-47" dirty="0">
                <a:cs typeface="Times New Roman"/>
              </a:rPr>
              <a:t> </a:t>
            </a:r>
            <a:r>
              <a:rPr lang="en-US" sz="2000" b="1" spc="-13" dirty="0">
                <a:cs typeface="Times New Roman"/>
              </a:rPr>
              <a:t>(WRIG)</a:t>
            </a:r>
            <a:endParaRPr lang="en-US" sz="2000" b="1" dirty="0">
              <a:cs typeface="Times New Roman"/>
            </a:endParaRPr>
          </a:p>
          <a:p>
            <a:pPr marL="930474" lvl="1" indent="-457200">
              <a:spcBef>
                <a:spcPts val="1359"/>
              </a:spcBef>
              <a:buSzPct val="105882"/>
              <a:buFont typeface="+mj-lt"/>
              <a:buAutoNum type="arabicPeriod"/>
              <a:tabLst>
                <a:tab pos="930463" algn="l"/>
              </a:tabLst>
            </a:pPr>
            <a:r>
              <a:rPr lang="en-US" sz="2000" b="1" spc="-13" dirty="0">
                <a:cs typeface="Times New Roman"/>
              </a:rPr>
              <a:t>Doubly-</a:t>
            </a:r>
            <a:r>
              <a:rPr lang="en-US" sz="2000" b="1" dirty="0">
                <a:cs typeface="Times New Roman"/>
              </a:rPr>
              <a:t>Fed</a:t>
            </a:r>
            <a:r>
              <a:rPr lang="en-US" sz="2000" b="1" spc="-2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Induction</a:t>
            </a:r>
            <a:r>
              <a:rPr lang="en-US" sz="2000" b="1" spc="-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Generator</a:t>
            </a:r>
            <a:r>
              <a:rPr lang="en-US" sz="2000" b="1" spc="-40" dirty="0">
                <a:cs typeface="Times New Roman"/>
              </a:rPr>
              <a:t> </a:t>
            </a:r>
            <a:r>
              <a:rPr lang="en-US" sz="2000" b="1" spc="-13" dirty="0">
                <a:cs typeface="Times New Roman"/>
              </a:rPr>
              <a:t>(DFIG)</a:t>
            </a:r>
            <a:endParaRPr lang="en-US" sz="2000" b="1" dirty="0">
              <a:cs typeface="Times New Roman"/>
            </a:endParaRPr>
          </a:p>
          <a:p>
            <a:pPr marL="930474" lvl="1" indent="-457200">
              <a:spcBef>
                <a:spcPts val="1359"/>
              </a:spcBef>
              <a:buSzPct val="105882"/>
              <a:buFont typeface="+mj-lt"/>
              <a:buAutoNum type="arabicPeriod"/>
              <a:tabLst>
                <a:tab pos="930463" algn="l"/>
              </a:tabLst>
            </a:pPr>
            <a:r>
              <a:rPr lang="en-US" sz="2000" b="1" dirty="0">
                <a:cs typeface="Times New Roman"/>
              </a:rPr>
              <a:t>Synchronous</a:t>
            </a:r>
            <a:r>
              <a:rPr lang="en-US" sz="2000" b="1" spc="-6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Generator</a:t>
            </a:r>
            <a:r>
              <a:rPr lang="en-US" sz="2000" b="1" spc="-80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(With</a:t>
            </a:r>
            <a:r>
              <a:rPr lang="en-US" sz="2000" b="1" spc="-2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external</a:t>
            </a:r>
            <a:r>
              <a:rPr lang="en-US" sz="2000" b="1" spc="-73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field</a:t>
            </a:r>
            <a:r>
              <a:rPr lang="en-US" sz="2000" b="1" spc="-27" dirty="0">
                <a:cs typeface="Times New Roman"/>
              </a:rPr>
              <a:t> </a:t>
            </a:r>
            <a:r>
              <a:rPr lang="en-US" sz="2000" b="1" spc="-13" dirty="0">
                <a:cs typeface="Times New Roman"/>
              </a:rPr>
              <a:t>excitation)</a:t>
            </a:r>
            <a:endParaRPr lang="en-US" sz="2000" b="1" dirty="0">
              <a:cs typeface="Times New Roman"/>
            </a:endParaRPr>
          </a:p>
          <a:p>
            <a:pPr marL="930474" lvl="1" indent="-457200">
              <a:spcBef>
                <a:spcPts val="1367"/>
              </a:spcBef>
              <a:buSzPct val="105882"/>
              <a:buFont typeface="+mj-lt"/>
              <a:buAutoNum type="arabicPeriod"/>
              <a:tabLst>
                <a:tab pos="930463" algn="l"/>
              </a:tabLst>
            </a:pPr>
            <a:r>
              <a:rPr lang="en-US" sz="2000" b="1" dirty="0">
                <a:cs typeface="Times New Roman"/>
              </a:rPr>
              <a:t>Permanent</a:t>
            </a:r>
            <a:r>
              <a:rPr lang="en-US" sz="2000" b="1" spc="-2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Magnet</a:t>
            </a:r>
            <a:r>
              <a:rPr lang="en-US" sz="2000" b="1" spc="-53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Synchronous</a:t>
            </a:r>
            <a:r>
              <a:rPr lang="en-US" sz="2000" b="1" spc="-47" dirty="0">
                <a:cs typeface="Times New Roman"/>
              </a:rPr>
              <a:t> </a:t>
            </a:r>
            <a:r>
              <a:rPr lang="en-US" sz="2000" b="1" dirty="0">
                <a:cs typeface="Times New Roman"/>
              </a:rPr>
              <a:t>generator</a:t>
            </a:r>
            <a:r>
              <a:rPr lang="en-US" sz="2000" b="1" spc="-33" dirty="0">
                <a:cs typeface="Times New Roman"/>
              </a:rPr>
              <a:t> </a:t>
            </a:r>
            <a:r>
              <a:rPr lang="en-US" sz="2000" b="1" spc="-13" dirty="0">
                <a:cs typeface="Times New Roman"/>
              </a:rPr>
              <a:t>(PMSG)</a:t>
            </a:r>
            <a:endParaRPr lang="en-US" sz="2000" b="1" dirty="0">
              <a:cs typeface="Times New Roman"/>
            </a:endParaRPr>
          </a:p>
          <a:p>
            <a:pPr marL="473275" marR="6773" indent="-457189">
              <a:lnSpc>
                <a:spcPts val="4080"/>
              </a:lnSpc>
              <a:spcBef>
                <a:spcPts val="133"/>
              </a:spcBef>
              <a:buSzPct val="105882"/>
              <a:tabLst>
                <a:tab pos="473275" algn="l"/>
              </a:tabLst>
            </a:pPr>
            <a:r>
              <a:rPr lang="en-US" sz="2000" dirty="0">
                <a:cs typeface="Times New Roman"/>
              </a:rPr>
              <a:t>Induction</a:t>
            </a:r>
            <a:r>
              <a:rPr lang="en-US" sz="2000" spc="49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generator</a:t>
            </a:r>
            <a:r>
              <a:rPr lang="en-US" sz="2000" spc="48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(IG)</a:t>
            </a:r>
            <a:r>
              <a:rPr lang="en-US" sz="2000" spc="48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has</a:t>
            </a:r>
            <a:r>
              <a:rPr lang="en-US" sz="2000" spc="49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been</a:t>
            </a:r>
            <a:r>
              <a:rPr lang="en-US" sz="2000" spc="50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extensively</a:t>
            </a:r>
            <a:r>
              <a:rPr lang="en-US" sz="2000" spc="50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used</a:t>
            </a:r>
            <a:r>
              <a:rPr lang="en-US" sz="2000" spc="50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</a:t>
            </a:r>
            <a:r>
              <a:rPr lang="en-US" sz="2000" spc="48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commercial</a:t>
            </a:r>
            <a:r>
              <a:rPr lang="en-US" sz="2000" spc="48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50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turbine</a:t>
            </a:r>
            <a:r>
              <a:rPr lang="en-US" sz="2000" spc="507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units </a:t>
            </a:r>
            <a:r>
              <a:rPr lang="en-US" sz="2000" dirty="0">
                <a:cs typeface="Times New Roman"/>
              </a:rPr>
              <a:t>because</a:t>
            </a:r>
            <a:r>
              <a:rPr lang="en-US" sz="2000" spc="-6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it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provides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some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degree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flexibility</a:t>
            </a:r>
            <a:r>
              <a:rPr lang="en-US" sz="2000" spc="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when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speed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is</a:t>
            </a:r>
            <a:r>
              <a:rPr lang="en-US" sz="2000" spc="-13" dirty="0">
                <a:cs typeface="Times New Roman"/>
              </a:rPr>
              <a:t> fluctuating.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75292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8854DA-A17A-CBFF-A448-F62EC8A8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13" dirty="0">
                <a:cs typeface="Times New Roman"/>
              </a:rPr>
              <a:t>Squirrel </a:t>
            </a:r>
            <a:r>
              <a:rPr lang="en-IN" b="1" dirty="0">
                <a:cs typeface="Times New Roman"/>
              </a:rPr>
              <a:t>Cage</a:t>
            </a:r>
            <a:r>
              <a:rPr lang="en-IN" b="1" spc="-33" dirty="0">
                <a:cs typeface="Times New Roman"/>
              </a:rPr>
              <a:t> </a:t>
            </a:r>
            <a:r>
              <a:rPr lang="en-IN" b="1" dirty="0">
                <a:cs typeface="Times New Roman"/>
              </a:rPr>
              <a:t>Induction</a:t>
            </a:r>
            <a:r>
              <a:rPr lang="en-IN" b="1" spc="-53" dirty="0">
                <a:cs typeface="Times New Roman"/>
              </a:rPr>
              <a:t> </a:t>
            </a:r>
            <a:r>
              <a:rPr lang="en-IN" b="1" dirty="0">
                <a:cs typeface="Times New Roman"/>
              </a:rPr>
              <a:t>Generator</a:t>
            </a:r>
            <a:r>
              <a:rPr lang="en-IN" b="1" spc="-33" dirty="0">
                <a:cs typeface="Times New Roman"/>
              </a:rPr>
              <a:t> </a:t>
            </a:r>
            <a:r>
              <a:rPr lang="en-IN" b="1" spc="-13" dirty="0">
                <a:cs typeface="Times New Roman"/>
              </a:rPr>
              <a:t>(SCIG)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B224C2-168A-9202-0CDC-418F8AC01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834" y="1690688"/>
            <a:ext cx="11327410" cy="4272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5D78-667E-5F74-71E4-0164701A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13" dirty="0">
                <a:cs typeface="Times New Roman"/>
              </a:rPr>
              <a:t>Structure of SCIG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06635-33D1-DBAA-A13C-754695C81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146851"/>
            <a:ext cx="5761384" cy="44825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1. Stator</a:t>
            </a:r>
          </a:p>
          <a:p>
            <a:r>
              <a:rPr lang="en-US" sz="2000" dirty="0"/>
              <a:t>Three-phase laminated core</a:t>
            </a:r>
          </a:p>
          <a:p>
            <a:r>
              <a:rPr lang="en-US" sz="2000" dirty="0"/>
              <a:t>Three-phase copper windings</a:t>
            </a:r>
          </a:p>
          <a:p>
            <a:r>
              <a:rPr lang="en-US" sz="2000" dirty="0"/>
              <a:t>Connected to grid or capacitor bank</a:t>
            </a:r>
          </a:p>
          <a:p>
            <a:r>
              <a:rPr lang="en-US" sz="2000" dirty="0"/>
              <a:t>Produces a rotating magnetic field when energized</a:t>
            </a:r>
          </a:p>
          <a:p>
            <a:pPr marL="0" indent="0">
              <a:buNone/>
            </a:pPr>
            <a:r>
              <a:rPr lang="en-US" sz="2400" b="1" dirty="0"/>
              <a:t>2. Rotor (Squirrel Cage Type)</a:t>
            </a:r>
          </a:p>
          <a:p>
            <a:r>
              <a:rPr lang="en-US" sz="2000" dirty="0"/>
              <a:t>Laminated iron rotor core</a:t>
            </a:r>
          </a:p>
          <a:p>
            <a:r>
              <a:rPr lang="en-US" sz="2000" dirty="0"/>
              <a:t>Aluminum or copper bars placed in rotor slots</a:t>
            </a:r>
          </a:p>
          <a:p>
            <a:r>
              <a:rPr lang="en-US" sz="2000" dirty="0"/>
              <a:t>End rings short-circuit rotor bars → forms a “cage”</a:t>
            </a:r>
          </a:p>
          <a:p>
            <a:r>
              <a:rPr lang="en-US" sz="2000" dirty="0"/>
              <a:t>No external rotor connections (simple and rugged)</a:t>
            </a:r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834FE-C9BE-D009-5020-E7D424DD6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8060" y="2146851"/>
            <a:ext cx="4505739" cy="4030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Shaft &amp; Bearings</a:t>
            </a:r>
          </a:p>
          <a:p>
            <a:pPr lvl="1"/>
            <a:r>
              <a:rPr lang="en-US" sz="2000" dirty="0"/>
              <a:t>Mechanical power input from turbine/engine</a:t>
            </a:r>
          </a:p>
          <a:p>
            <a:pPr lvl="1"/>
            <a:r>
              <a:rPr lang="en-US" sz="2000" dirty="0"/>
              <a:t>Smooth rotation with low friction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F0239-CB2A-3657-A87E-16DFAE9C298B}"/>
              </a:ext>
            </a:extLst>
          </p:cNvPr>
          <p:cNvSpPr txBox="1"/>
          <p:nvPr/>
        </p:nvSpPr>
        <p:spPr>
          <a:xfrm>
            <a:off x="838200" y="1500520"/>
            <a:ext cx="10383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SCIG is similar to a squirrel-cage induction motor. It mainly consists of: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FCA766-6B6B-D4DE-E35D-54BCBD92F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156" y="3846443"/>
            <a:ext cx="5522843" cy="301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45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17EE-509A-5C83-8B69-F12DBE13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Squirrel-cage induction motor as generator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DDFA0-52F3-897B-6667-37759D611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67615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0A0A0A"/>
                </a:solidFill>
              </a:rPr>
              <a:t>A SCIM becomes a generator by being driven mechanically </a:t>
            </a:r>
            <a:r>
              <a:rPr lang="en-US" altLang="en-US" sz="2400" i="1" dirty="0">
                <a:solidFill>
                  <a:srgbClr val="0A0A0A"/>
                </a:solidFill>
              </a:rPr>
              <a:t>faster</a:t>
            </a:r>
            <a:r>
              <a:rPr lang="en-US" altLang="en-US" sz="2400" dirty="0">
                <a:solidFill>
                  <a:srgbClr val="0A0A0A"/>
                </a:solidFill>
              </a:rPr>
              <a:t> than its synchronous speed, requiring external capacitors for reactive power (self-excitation) to establish a magnetic field, converting mechanical energy into electricity but needs grid or capacitor bank for excitation and can't self-start generation. </a:t>
            </a:r>
            <a:endParaRPr lang="en-US" alt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solidFill>
                  <a:srgbClr val="001D35"/>
                </a:solidFill>
              </a:rPr>
              <a:t>How it Works as a Generator:</a:t>
            </a:r>
            <a:endParaRPr lang="en-US" altLang="en-US" sz="2400" dirty="0"/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solidFill>
                  <a:srgbClr val="0A0A0A"/>
                </a:solidFill>
              </a:rPr>
              <a:t>Prime Mover:</a:t>
            </a:r>
            <a:r>
              <a:rPr lang="en-US" altLang="en-US" sz="2000" dirty="0">
                <a:solidFill>
                  <a:srgbClr val="0A0A0A"/>
                </a:solidFill>
              </a:rPr>
              <a:t> Mechanical energy from wind rotates the rotor faster than the magnetic field's synchronous speed (above synchronous speed), causing slip to become negative.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solidFill>
                  <a:srgbClr val="0A0A0A"/>
                </a:solidFill>
              </a:rPr>
              <a:t>Magnetic Field:</a:t>
            </a:r>
            <a:r>
              <a:rPr lang="en-US" altLang="en-US" sz="2000" dirty="0">
                <a:solidFill>
                  <a:srgbClr val="0A0A0A"/>
                </a:solidFill>
              </a:rPr>
              <a:t> The stator windings are connected to capacitors (or the grid) to provide the necessary reactive power (magnetizing current) to create the magnetic field.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solidFill>
                  <a:srgbClr val="0A0A0A"/>
                </a:solidFill>
              </a:rPr>
              <a:t>Induction:</a:t>
            </a:r>
            <a:r>
              <a:rPr lang="en-US" altLang="en-US" sz="2000" dirty="0">
                <a:solidFill>
                  <a:srgbClr val="0A0A0A"/>
                </a:solidFill>
              </a:rPr>
              <a:t> This rotating magnetic field cuts the rotor bars, inducing currents and generating a torque that opposes the rotation (generating torque).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solidFill>
                  <a:srgbClr val="0A0A0A"/>
                </a:solidFill>
              </a:rPr>
              <a:t>Output:</a:t>
            </a:r>
            <a:r>
              <a:rPr lang="en-US" altLang="en-US" sz="2000" dirty="0">
                <a:solidFill>
                  <a:srgbClr val="0A0A0A"/>
                </a:solidFill>
              </a:rPr>
              <a:t> The machine then produces three-phase AC power, typically with a sinusoidal waveform if designed well. 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51546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B78A-487C-AAB3-95F3-AA62004EF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Squirrel-cage induction motor as generator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E92367-7276-DFD1-A76D-E65A8C9B1D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8"/>
            <a:ext cx="8196471" cy="44218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070867-7B9E-45B9-C9CB-BC82AEE25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506" y="3257157"/>
            <a:ext cx="5152494" cy="163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44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FFA0-EBA7-E945-C78B-96C728B4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Squirrel-cage induction motor as generator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C7989C-03F2-D5DF-3289-E97BD5CF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1723"/>
            <a:ext cx="9389165" cy="515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02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9272-E595-3AB4-7575-F9779F96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13" dirty="0">
                <a:cs typeface="Times New Roman"/>
              </a:rPr>
              <a:t>Squirrel </a:t>
            </a:r>
            <a:r>
              <a:rPr lang="en-IN" b="1" dirty="0">
                <a:cs typeface="Times New Roman"/>
              </a:rPr>
              <a:t>Cage</a:t>
            </a:r>
            <a:r>
              <a:rPr lang="en-IN" b="1" spc="-33" dirty="0">
                <a:cs typeface="Times New Roman"/>
              </a:rPr>
              <a:t> </a:t>
            </a:r>
            <a:r>
              <a:rPr lang="en-IN" b="1" dirty="0">
                <a:cs typeface="Times New Roman"/>
              </a:rPr>
              <a:t>Induction</a:t>
            </a:r>
            <a:r>
              <a:rPr lang="en-IN" b="1" spc="-53" dirty="0">
                <a:cs typeface="Times New Roman"/>
              </a:rPr>
              <a:t> </a:t>
            </a:r>
            <a:r>
              <a:rPr lang="en-IN" b="1" dirty="0">
                <a:cs typeface="Times New Roman"/>
              </a:rPr>
              <a:t>Generator</a:t>
            </a:r>
            <a:r>
              <a:rPr lang="en-IN" b="1" spc="-33" dirty="0">
                <a:cs typeface="Times New Roman"/>
              </a:rPr>
              <a:t> </a:t>
            </a:r>
            <a:r>
              <a:rPr lang="en-IN" b="1" spc="-13" dirty="0">
                <a:cs typeface="Times New Roman"/>
              </a:rPr>
              <a:t>(SCIG)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2607-6249-B265-AC0E-EACA3148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40278" cy="4898955"/>
          </a:xfrm>
        </p:spPr>
        <p:txBody>
          <a:bodyPr>
            <a:normAutofit/>
          </a:bodyPr>
          <a:lstStyle/>
          <a:p>
            <a:r>
              <a:rPr lang="en-US" sz="2000" dirty="0"/>
              <a:t>This generator is simple in construction and coupled to the turbine through gear box. It is a constant speed generator.</a:t>
            </a:r>
          </a:p>
          <a:p>
            <a:r>
              <a:rPr lang="en-US" sz="2000" dirty="0">
                <a:cs typeface="Times New Roman"/>
              </a:rPr>
              <a:t>This</a:t>
            </a:r>
            <a:r>
              <a:rPr lang="en-US" sz="2000" spc="2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type</a:t>
            </a:r>
            <a:r>
              <a:rPr lang="en-US" sz="2000" spc="26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2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generator</a:t>
            </a:r>
            <a:r>
              <a:rPr lang="en-US" sz="2000" spc="2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can</a:t>
            </a:r>
            <a:r>
              <a:rPr lang="en-US" sz="2000" spc="272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be</a:t>
            </a:r>
            <a:r>
              <a:rPr lang="en-US" sz="2000" spc="2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</a:t>
            </a:r>
            <a:r>
              <a:rPr lang="en-US" sz="2000" spc="26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squirrel-</a:t>
            </a:r>
            <a:r>
              <a:rPr lang="en-US" sz="2000" dirty="0">
                <a:cs typeface="Times New Roman"/>
              </a:rPr>
              <a:t>cage</a:t>
            </a:r>
            <a:r>
              <a:rPr lang="en-US" sz="2000" spc="2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induction</a:t>
            </a:r>
            <a:r>
              <a:rPr lang="en-US" sz="2000" spc="2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or</a:t>
            </a:r>
            <a:r>
              <a:rPr lang="en-US" sz="2000" spc="2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</a:t>
            </a:r>
            <a:r>
              <a:rPr lang="en-US" sz="2000" spc="2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synchronous</a:t>
            </a:r>
            <a:r>
              <a:rPr lang="en-US" sz="2000" spc="2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or</a:t>
            </a:r>
            <a:r>
              <a:rPr lang="en-US" sz="2000" spc="26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wound </a:t>
            </a:r>
            <a:r>
              <a:rPr lang="en-US" sz="2000" dirty="0">
                <a:cs typeface="Times New Roman"/>
              </a:rPr>
              <a:t>rotor</a:t>
            </a:r>
            <a:r>
              <a:rPr lang="en-US" sz="2000" spc="47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generator</a:t>
            </a:r>
            <a:r>
              <a:rPr lang="en-US" sz="2000" spc="4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which</a:t>
            </a:r>
            <a:r>
              <a:rPr lang="en-US" sz="2000" spc="46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is</a:t>
            </a:r>
            <a:r>
              <a:rPr lang="en-US" sz="2000" spc="4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connected</a:t>
            </a:r>
            <a:r>
              <a:rPr lang="en-US" sz="2000" spc="47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4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47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grid</a:t>
            </a:r>
            <a:r>
              <a:rPr lang="en-US" sz="2000" spc="46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via</a:t>
            </a:r>
            <a:r>
              <a:rPr lang="en-US" sz="2000" spc="46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</a:t>
            </a:r>
            <a:r>
              <a:rPr lang="en-US" sz="2000" spc="473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back-to-</a:t>
            </a:r>
            <a:r>
              <a:rPr lang="en-US" sz="2000" dirty="0">
                <a:cs typeface="Times New Roman"/>
              </a:rPr>
              <a:t>back</a:t>
            </a:r>
            <a:r>
              <a:rPr lang="en-US" sz="2000" spc="46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voltage</a:t>
            </a:r>
            <a:r>
              <a:rPr lang="en-US" sz="2000" spc="473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source </a:t>
            </a:r>
            <a:r>
              <a:rPr lang="en-US" sz="2000" dirty="0">
                <a:cs typeface="Times New Roman"/>
              </a:rPr>
              <a:t>converter</a:t>
            </a:r>
            <a:r>
              <a:rPr lang="en-US" sz="2000" spc="-10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bridges</a:t>
            </a:r>
          </a:p>
          <a:p>
            <a:r>
              <a:rPr lang="en-US" sz="2000" dirty="0">
                <a:cs typeface="Times New Roman"/>
              </a:rPr>
              <a:t>A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synchronous</a:t>
            </a:r>
            <a:r>
              <a:rPr lang="en-US" sz="2000" spc="-6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generator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is</a:t>
            </a:r>
            <a:r>
              <a:rPr lang="en-US" sz="2000" spc="-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used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produce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variable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frequency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AC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power.</a:t>
            </a:r>
            <a:endParaRPr lang="en-US" sz="2000" dirty="0">
              <a:cs typeface="Times New Roman"/>
            </a:endParaRPr>
          </a:p>
          <a:p>
            <a:r>
              <a:rPr lang="en-US" sz="2000" dirty="0"/>
              <a:t>To compensate reactive power, capacitor bank is connected to cross-lines. This increases active power and also improves power factor.</a:t>
            </a:r>
          </a:p>
          <a:p>
            <a:r>
              <a:rPr lang="en-US" sz="2000" dirty="0">
                <a:cs typeface="Times New Roman"/>
              </a:rPr>
              <a:t>The</a:t>
            </a:r>
            <a:r>
              <a:rPr lang="en-US" sz="2000" spc="152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power</a:t>
            </a:r>
            <a:r>
              <a:rPr lang="en-US" sz="2000" spc="1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converter</a:t>
            </a:r>
            <a:r>
              <a:rPr lang="en-US" sz="2000" spc="1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connected</a:t>
            </a:r>
            <a:r>
              <a:rPr lang="en-US" sz="2000" spc="1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</a:t>
            </a:r>
            <a:r>
              <a:rPr lang="en-US" sz="2000" spc="1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series</a:t>
            </a:r>
            <a:r>
              <a:rPr lang="en-US" sz="2000" spc="1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with</a:t>
            </a:r>
            <a:r>
              <a:rPr lang="en-US" sz="2000" spc="152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16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152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turbine</a:t>
            </a:r>
            <a:r>
              <a:rPr lang="en-US" sz="2000" spc="152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generator</a:t>
            </a:r>
            <a:r>
              <a:rPr lang="en-US" sz="2000" spc="14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transforms </a:t>
            </a:r>
            <a:r>
              <a:rPr lang="en-US" sz="2000" dirty="0">
                <a:cs typeface="Times New Roman"/>
              </a:rPr>
              <a:t>this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variable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frequency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AC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power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into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fixed-</a:t>
            </a:r>
            <a:r>
              <a:rPr lang="en-US" sz="2000" dirty="0">
                <a:cs typeface="Times New Roman"/>
              </a:rPr>
              <a:t>frequency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AC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power</a:t>
            </a:r>
          </a:p>
          <a:p>
            <a:r>
              <a:rPr lang="en-US" sz="2000" dirty="0">
                <a:cs typeface="Times New Roman"/>
              </a:rPr>
              <a:t>As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 power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converter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has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convert all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 stator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power, the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converter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size </a:t>
            </a:r>
            <a:r>
              <a:rPr lang="en-US" sz="2000" spc="-13" dirty="0">
                <a:cs typeface="Times New Roman"/>
              </a:rPr>
              <a:t>depends </a:t>
            </a:r>
            <a:r>
              <a:rPr lang="en-US" sz="2000" dirty="0">
                <a:cs typeface="Times New Roman"/>
              </a:rPr>
              <a:t>on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stator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power</a:t>
            </a:r>
            <a:r>
              <a:rPr lang="en-US" sz="2000" spc="7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rating</a:t>
            </a:r>
            <a:endParaRPr lang="en-IN" sz="2000" dirty="0"/>
          </a:p>
          <a:p>
            <a:r>
              <a:rPr lang="en-US" sz="2000" dirty="0"/>
              <a:t>Output voltage from generator is stepped-up by step-up transformer to suit the connection to grid system.</a:t>
            </a:r>
          </a:p>
        </p:txBody>
      </p:sp>
    </p:spTree>
    <p:extLst>
      <p:ext uri="{BB962C8B-B14F-4D97-AF65-F5344CB8AC3E}">
        <p14:creationId xmlns:p14="http://schemas.microsoft.com/office/powerpoint/2010/main" val="106086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2704-8336-4CF7-7EC6-18887FF8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Advantages of SCIG 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A4A47-6A4B-6DF9-FC78-1532B24B3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Better wind energy utilization.</a:t>
            </a:r>
          </a:p>
          <a:p>
            <a:r>
              <a:rPr lang="en-US" sz="2400" dirty="0"/>
              <a:t>Reduces reactive power demand on self-excited capacitor bank.</a:t>
            </a:r>
          </a:p>
          <a:p>
            <a:r>
              <a:rPr lang="en-US" sz="2400" dirty="0"/>
              <a:t>Very simple in construction, robust size, rugged construction.</a:t>
            </a:r>
          </a:p>
          <a:p>
            <a:r>
              <a:rPr lang="en-US" sz="2400" dirty="0"/>
              <a:t>Cheaper in cost.</a:t>
            </a:r>
          </a:p>
          <a:p>
            <a:r>
              <a:rPr lang="en-US" sz="2400" dirty="0"/>
              <a:t>Rectifier can generate excitation current for generator.</a:t>
            </a:r>
          </a:p>
          <a:p>
            <a:r>
              <a:rPr lang="en-US" sz="2400" dirty="0"/>
              <a:t>Fast transient response.</a:t>
            </a:r>
          </a:p>
          <a:p>
            <a:r>
              <a:rPr lang="en-US" sz="2400" dirty="0"/>
              <a:t>Few parts, so reliable operation.</a:t>
            </a:r>
          </a:p>
          <a:p>
            <a:r>
              <a:rPr lang="en-US" sz="2400" dirty="0"/>
              <a:t>No frequency conversion, so no problem of current harmonics.</a:t>
            </a:r>
          </a:p>
        </p:txBody>
      </p:sp>
    </p:spTree>
    <p:extLst>
      <p:ext uri="{BB962C8B-B14F-4D97-AF65-F5344CB8AC3E}">
        <p14:creationId xmlns:p14="http://schemas.microsoft.com/office/powerpoint/2010/main" val="1358633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D298-2BCC-2C20-4B5B-A1AEF014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 of SCIG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34A4-8BE9-D18A-136A-6A1D55ED1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Noisy operation.</a:t>
            </a:r>
          </a:p>
          <a:p>
            <a:r>
              <a:rPr lang="en-US" sz="2400" dirty="0"/>
              <a:t>Power converter is costly.</a:t>
            </a:r>
          </a:p>
          <a:p>
            <a:r>
              <a:rPr lang="en-US" sz="2400" dirty="0"/>
              <a:t>It has very low efficiency.</a:t>
            </a:r>
          </a:p>
          <a:p>
            <a:r>
              <a:rPr lang="en-US" sz="2400" dirty="0"/>
              <a:t>Additional components such as reactive power compensator is required in the circuit.</a:t>
            </a:r>
          </a:p>
          <a:p>
            <a:r>
              <a:rPr lang="en-US" sz="2400" dirty="0"/>
              <a:t>For smooth grid connection, a soft starter is required.</a:t>
            </a:r>
          </a:p>
          <a:p>
            <a:r>
              <a:rPr lang="en-US" sz="2400" dirty="0"/>
              <a:t>Gear box maintenance is frequent, so cost increases.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09765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355" y="1938086"/>
            <a:ext cx="9377062" cy="390612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4E3B18-3C2F-AF89-8957-21F164367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/>
              </a:rPr>
              <a:t>Fixed</a:t>
            </a:r>
            <a:r>
              <a:rPr lang="en-US" b="1" spc="-33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speed</a:t>
            </a:r>
            <a:r>
              <a:rPr lang="en-US" b="1" spc="-2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with</a:t>
            </a:r>
            <a:r>
              <a:rPr lang="en-US" b="1" spc="-40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capacitor</a:t>
            </a:r>
            <a:r>
              <a:rPr lang="en-US" b="1" spc="-33" dirty="0">
                <a:cs typeface="Times New Roman"/>
              </a:rPr>
              <a:t> </a:t>
            </a:r>
            <a:r>
              <a:rPr lang="en-US" b="1" spc="-27" dirty="0">
                <a:cs typeface="Times New Roman"/>
              </a:rPr>
              <a:t>bank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3696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2B16CC-27FC-B321-EBC9-306BE85A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/>
              </a:rPr>
              <a:t>Fixed</a:t>
            </a:r>
            <a:r>
              <a:rPr lang="en-US" b="1" spc="-33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speed</a:t>
            </a:r>
            <a:r>
              <a:rPr lang="en-US" b="1" spc="-2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with</a:t>
            </a:r>
            <a:r>
              <a:rPr lang="en-US" b="1" spc="-40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capacitor</a:t>
            </a:r>
            <a:r>
              <a:rPr lang="en-US" b="1" spc="-33" dirty="0">
                <a:cs typeface="Times New Roman"/>
              </a:rPr>
              <a:t> </a:t>
            </a:r>
            <a:r>
              <a:rPr lang="en-US" b="1" spc="-27" dirty="0">
                <a:cs typeface="Times New Roman"/>
              </a:rPr>
              <a:t>bank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99D31A-532E-9B05-2F62-A834FE45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73275" marR="317492" indent="-457189">
              <a:lnSpc>
                <a:spcPct val="115100"/>
              </a:lnSpc>
              <a:spcBef>
                <a:spcPts val="967"/>
              </a:spcBef>
              <a:buChar char="●"/>
              <a:tabLst>
                <a:tab pos="473275" algn="l"/>
              </a:tabLst>
            </a:pPr>
            <a:r>
              <a:rPr lang="en-US" sz="2400" spc="-13" dirty="0">
                <a:cs typeface="Times New Roman"/>
              </a:rPr>
              <a:t>Fixed-</a:t>
            </a:r>
            <a:r>
              <a:rPr lang="en-US" sz="2400" dirty="0">
                <a:cs typeface="Times New Roman"/>
              </a:rPr>
              <a:t>Speed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Induction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Generator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(FSIG)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based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turbines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employ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squirrel-</a:t>
            </a:r>
            <a:r>
              <a:rPr lang="en-US" sz="2400" spc="-27" dirty="0">
                <a:cs typeface="Times New Roman"/>
              </a:rPr>
              <a:t>cage </a:t>
            </a:r>
            <a:r>
              <a:rPr lang="en-US" sz="2400" dirty="0">
                <a:cs typeface="Times New Roman"/>
              </a:rPr>
              <a:t>induction</a:t>
            </a:r>
            <a:r>
              <a:rPr lang="en-US" sz="2400" spc="-7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generator</a:t>
            </a:r>
            <a:r>
              <a:rPr lang="en-US" sz="2400" spc="-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(SCIG)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directly</a:t>
            </a:r>
            <a:r>
              <a:rPr lang="en-US" sz="2400" spc="-8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connected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spc="-27" dirty="0">
                <a:cs typeface="Times New Roman"/>
              </a:rPr>
              <a:t>grid</a:t>
            </a:r>
            <a:endParaRPr lang="en-US" sz="2400" dirty="0">
              <a:cs typeface="Times New Roman"/>
            </a:endParaRPr>
          </a:p>
          <a:p>
            <a:pPr marL="473275" marR="6773" indent="-457189">
              <a:lnSpc>
                <a:spcPct val="114999"/>
              </a:lnSpc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The</a:t>
            </a:r>
            <a:r>
              <a:rPr lang="en-US" sz="2400" spc="5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rotor</a:t>
            </a:r>
            <a:r>
              <a:rPr lang="en-US" sz="2400" spc="5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5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</a:t>
            </a:r>
            <a:r>
              <a:rPr lang="en-US" sz="2400" spc="53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fixed-</a:t>
            </a:r>
            <a:r>
              <a:rPr lang="en-US" sz="2400" dirty="0">
                <a:cs typeface="Times New Roman"/>
              </a:rPr>
              <a:t>speed</a:t>
            </a:r>
            <a:r>
              <a:rPr lang="en-US" sz="2400" spc="545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5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turbine</a:t>
            </a:r>
            <a:r>
              <a:rPr lang="en-US" sz="2400" spc="5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rotates</a:t>
            </a:r>
            <a:r>
              <a:rPr lang="en-US" sz="2400" spc="5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at</a:t>
            </a:r>
            <a:r>
              <a:rPr lang="en-US" sz="2400" spc="545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fixed</a:t>
            </a:r>
            <a:r>
              <a:rPr lang="en-US" sz="2400" spc="5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speed</a:t>
            </a:r>
            <a:r>
              <a:rPr lang="en-US" sz="2400" spc="5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determined</a:t>
            </a:r>
            <a:r>
              <a:rPr lang="en-US" sz="2400" spc="5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by</a:t>
            </a:r>
            <a:r>
              <a:rPr lang="en-US" sz="2400" spc="560" dirty="0">
                <a:cs typeface="Times New Roman"/>
              </a:rPr>
              <a:t> </a:t>
            </a:r>
            <a:r>
              <a:rPr lang="en-US" sz="2400" spc="-33" dirty="0">
                <a:cs typeface="Times New Roman"/>
              </a:rPr>
              <a:t>the </a:t>
            </a:r>
            <a:r>
              <a:rPr lang="en-US" sz="2400" dirty="0">
                <a:cs typeface="Times New Roman"/>
              </a:rPr>
              <a:t>frequency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grid.</a:t>
            </a:r>
            <a:endParaRPr lang="en-US" sz="2400" dirty="0">
              <a:cs typeface="Times New Roman"/>
            </a:endParaRPr>
          </a:p>
          <a:p>
            <a:pPr marL="473275" indent="-456342">
              <a:spcBef>
                <a:spcPts val="433"/>
              </a:spcBef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SCIG</a:t>
            </a:r>
            <a:r>
              <a:rPr lang="en-US" sz="2400" spc="-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always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draws</a:t>
            </a:r>
            <a:r>
              <a:rPr lang="en-US" sz="2400" spc="-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reactive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power from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 </a:t>
            </a:r>
            <a:r>
              <a:rPr lang="en-US" sz="2400" spc="-27" dirty="0">
                <a:cs typeface="Times New Roman"/>
              </a:rPr>
              <a:t>grid</a:t>
            </a:r>
            <a:endParaRPr lang="en-US" sz="2400" dirty="0">
              <a:cs typeface="Times New Roman"/>
            </a:endParaRPr>
          </a:p>
          <a:p>
            <a:pPr marL="473275" indent="-456342">
              <a:spcBef>
                <a:spcPts val="433"/>
              </a:spcBef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A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capacitor</a:t>
            </a:r>
            <a:r>
              <a:rPr lang="en-US" sz="2400" spc="-7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bank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is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used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provide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reactive</a:t>
            </a:r>
            <a:r>
              <a:rPr lang="en-US" sz="2400" spc="-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power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compensation</a:t>
            </a:r>
            <a:endParaRPr lang="en-US" sz="2400" dirty="0">
              <a:cs typeface="Times New Roman"/>
            </a:endParaRPr>
          </a:p>
          <a:p>
            <a:pPr marL="473275" indent="-456342">
              <a:spcBef>
                <a:spcPts val="433"/>
              </a:spcBef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It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is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typically</a:t>
            </a:r>
            <a:r>
              <a:rPr lang="en-US" sz="2400" spc="-8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achieved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by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continuously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switching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capacitor</a:t>
            </a:r>
            <a:r>
              <a:rPr lang="en-US" sz="2400" spc="-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banks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(5-25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steps) </a:t>
            </a:r>
            <a:r>
              <a:rPr lang="en-US" sz="2400" dirty="0">
                <a:cs typeface="Times New Roman"/>
              </a:rPr>
              <a:t>according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active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power </a:t>
            </a:r>
            <a:r>
              <a:rPr lang="en-US" sz="2400" spc="-13" dirty="0">
                <a:cs typeface="Times New Roman"/>
              </a:rPr>
              <a:t>generated.</a:t>
            </a:r>
            <a:endParaRPr lang="en-US" sz="2400" dirty="0">
              <a:cs typeface="Times New Roman"/>
            </a:endParaRPr>
          </a:p>
          <a:p>
            <a:pPr marL="473275" indent="-456342">
              <a:spcBef>
                <a:spcPts val="433"/>
              </a:spcBef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Smoother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grid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connection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was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achieved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by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soft-starter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11567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FBBE-8F98-FB54-453C-F596C445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/>
              </a:rPr>
              <a:t>Fixed</a:t>
            </a:r>
            <a:r>
              <a:rPr lang="en-US" b="1" spc="-33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speed</a:t>
            </a:r>
            <a:r>
              <a:rPr lang="en-US" b="1" spc="-2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with</a:t>
            </a:r>
            <a:r>
              <a:rPr lang="en-US" b="1" spc="-40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capacitor</a:t>
            </a:r>
            <a:r>
              <a:rPr lang="en-US" b="1" spc="-33" dirty="0">
                <a:cs typeface="Times New Roman"/>
              </a:rPr>
              <a:t> </a:t>
            </a:r>
            <a:r>
              <a:rPr lang="en-US" b="1" spc="-27" dirty="0">
                <a:cs typeface="Times New Roman"/>
              </a:rPr>
              <a:t>bank</a:t>
            </a:r>
            <a:endParaRPr lang="en-IN" dirty="0"/>
          </a:p>
        </p:txBody>
      </p:sp>
      <p:pic>
        <p:nvPicPr>
          <p:cNvPr id="4" name="object 3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1690688"/>
            <a:ext cx="8623852" cy="3338512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2304544" y="5379820"/>
            <a:ext cx="4324856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b="1" dirty="0">
                <a:cs typeface="Times New Roman"/>
              </a:rPr>
              <a:t>Simplified</a:t>
            </a:r>
            <a:r>
              <a:rPr sz="2400" b="1" spc="-47" dirty="0">
                <a:cs typeface="Times New Roman"/>
              </a:rPr>
              <a:t> </a:t>
            </a:r>
            <a:r>
              <a:rPr sz="2400" b="1" spc="-13" dirty="0">
                <a:cs typeface="Times New Roman"/>
              </a:rPr>
              <a:t>diagram</a:t>
            </a:r>
            <a:endParaRPr sz="24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5757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2877D-1E83-461D-571F-CFA18C975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/>
              </a:rPr>
              <a:t>Fixed</a:t>
            </a:r>
            <a:r>
              <a:rPr lang="en-US" b="1" spc="-33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speed</a:t>
            </a:r>
            <a:r>
              <a:rPr lang="en-US" b="1" spc="-2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with</a:t>
            </a:r>
            <a:r>
              <a:rPr lang="en-US" b="1" spc="-40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capacitor</a:t>
            </a:r>
            <a:r>
              <a:rPr lang="en-US" b="1" spc="-33" dirty="0">
                <a:cs typeface="Times New Roman"/>
              </a:rPr>
              <a:t> </a:t>
            </a:r>
            <a:r>
              <a:rPr lang="en-US" b="1" spc="-27" dirty="0">
                <a:cs typeface="Times New Roman"/>
              </a:rPr>
              <a:t>bank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E7C8A-AC74-99AD-1AFD-D252D2671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01130" cy="4351338"/>
          </a:xfrm>
        </p:spPr>
        <p:txBody>
          <a:bodyPr>
            <a:normAutofit/>
          </a:bodyPr>
          <a:lstStyle/>
          <a:p>
            <a:pPr marL="473275" marR="320879" indent="-457189">
              <a:lnSpc>
                <a:spcPct val="114999"/>
              </a:lnSpc>
              <a:spcBef>
                <a:spcPts val="133"/>
              </a:spcBef>
              <a:buFont typeface="Times New Roman"/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In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fixed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speed, the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fluctuations</a:t>
            </a:r>
            <a:r>
              <a:rPr lang="en-US" sz="2400" spc="-7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are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converted</a:t>
            </a:r>
            <a:r>
              <a:rPr lang="en-US" sz="2400" spc="-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into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mechanical</a:t>
            </a:r>
            <a:r>
              <a:rPr lang="en-US" sz="2400" spc="-8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fluctuations</a:t>
            </a:r>
            <a:r>
              <a:rPr lang="en-US" sz="2400" spc="-73" dirty="0">
                <a:cs typeface="Times New Roman"/>
              </a:rPr>
              <a:t> </a:t>
            </a:r>
            <a:r>
              <a:rPr lang="en-US" sz="2400" spc="-33" dirty="0">
                <a:cs typeface="Times New Roman"/>
              </a:rPr>
              <a:t>and </a:t>
            </a:r>
            <a:r>
              <a:rPr lang="en-US" sz="2400" dirty="0">
                <a:cs typeface="Times New Roman"/>
              </a:rPr>
              <a:t>further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into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electrical</a:t>
            </a:r>
            <a:r>
              <a:rPr lang="en-US" sz="2400" spc="-8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power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fluctuations</a:t>
            </a:r>
            <a:r>
              <a:rPr lang="en-US" sz="2400" spc="-7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that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leads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voltage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fluctuations.</a:t>
            </a:r>
            <a:endParaRPr lang="en-US" sz="2400" dirty="0">
              <a:cs typeface="Times New Roman"/>
            </a:endParaRPr>
          </a:p>
          <a:p>
            <a:pPr marL="473275" indent="-456342">
              <a:spcBef>
                <a:spcPts val="427"/>
              </a:spcBef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Because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 these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voltage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fluctuations,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fixed speed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 turbine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draws</a:t>
            </a:r>
            <a:r>
              <a:rPr lang="en-US" sz="2400" spc="-13" dirty="0">
                <a:cs typeface="Times New Roman"/>
              </a:rPr>
              <a:t> fluctuating </a:t>
            </a:r>
            <a:r>
              <a:rPr lang="en-US" sz="2400" dirty="0">
                <a:cs typeface="Times New Roman"/>
              </a:rPr>
              <a:t>reactive</a:t>
            </a:r>
            <a:r>
              <a:rPr lang="en-US" sz="2400" spc="-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power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from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utility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grid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(in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case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no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use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capacitor</a:t>
            </a:r>
            <a:r>
              <a:rPr lang="en-US" sz="2400" spc="-7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bank),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which </a:t>
            </a:r>
            <a:r>
              <a:rPr lang="en-US" sz="2400" dirty="0">
                <a:cs typeface="Times New Roman"/>
              </a:rPr>
              <a:t>increases</a:t>
            </a:r>
            <a:r>
              <a:rPr lang="en-US" sz="2400" spc="-8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both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voltage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fluctuations</a:t>
            </a:r>
            <a:r>
              <a:rPr lang="en-US" sz="2400" spc="-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line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losses</a:t>
            </a:r>
            <a:endParaRPr lang="en-US" sz="2400" dirty="0">
              <a:cs typeface="Times New Roman"/>
            </a:endParaRPr>
          </a:p>
          <a:p>
            <a:pPr marL="473275" indent="-456342">
              <a:spcBef>
                <a:spcPts val="433"/>
              </a:spcBef>
              <a:buChar char="●"/>
              <a:tabLst>
                <a:tab pos="473275" algn="l"/>
              </a:tabLst>
            </a:pPr>
            <a:r>
              <a:rPr lang="en-US" sz="2400" b="1" dirty="0">
                <a:cs typeface="Times New Roman"/>
              </a:rPr>
              <a:t>Advantages</a:t>
            </a:r>
            <a:r>
              <a:rPr lang="en-US" sz="2400" dirty="0">
                <a:cs typeface="Times New Roman"/>
              </a:rPr>
              <a:t>: Simplicity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-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low</a:t>
            </a:r>
            <a:r>
              <a:rPr lang="en-US" sz="2400" spc="-27" dirty="0">
                <a:cs typeface="Times New Roman"/>
              </a:rPr>
              <a:t> cost</a:t>
            </a:r>
            <a:endParaRPr lang="en-US" sz="2400" dirty="0">
              <a:cs typeface="Times New Roman"/>
            </a:endParaRPr>
          </a:p>
          <a:p>
            <a:pPr marL="473275" marR="6773" indent="-457189">
              <a:lnSpc>
                <a:spcPct val="114999"/>
              </a:lnSpc>
              <a:buChar char="●"/>
              <a:tabLst>
                <a:tab pos="473275" algn="l"/>
              </a:tabLst>
            </a:pPr>
            <a:r>
              <a:rPr lang="en-US" sz="2400" b="1" spc="-13" dirty="0">
                <a:cs typeface="Times New Roman"/>
              </a:rPr>
              <a:t>Disadvantages</a:t>
            </a:r>
            <a:r>
              <a:rPr lang="en-US" sz="2400" spc="-13" dirty="0">
                <a:cs typeface="Times New Roman"/>
              </a:rPr>
              <a:t>: the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requirement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stiff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grid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(fixed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voltage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frequency),</a:t>
            </a:r>
            <a:r>
              <a:rPr lang="en-US" sz="2400" spc="-8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robust </a:t>
            </a:r>
            <a:r>
              <a:rPr lang="en-US" sz="2400" dirty="0">
                <a:cs typeface="Times New Roman"/>
              </a:rPr>
              <a:t>mechanical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structure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is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required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support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high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mechanical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stress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caused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by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spc="-27" dirty="0">
                <a:cs typeface="Times New Roman"/>
              </a:rPr>
              <a:t>wind </a:t>
            </a:r>
            <a:r>
              <a:rPr lang="en-US" sz="2400" spc="-13" dirty="0">
                <a:cs typeface="Times New Roman"/>
              </a:rPr>
              <a:t>gusts.</a:t>
            </a:r>
            <a:endParaRPr lang="en-US" sz="24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7306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852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Generators and speed control used in wind power energy</vt:lpstr>
      <vt:lpstr>Squirrel Cage Induction Generator (SCIG)</vt:lpstr>
      <vt:lpstr>Structure of SCIG</vt:lpstr>
      <vt:lpstr>Squirrel-cage induction motor as generator</vt:lpstr>
      <vt:lpstr>Squirrel-cage induction motor as generator</vt:lpstr>
      <vt:lpstr>Squirrel-cage induction motor as generator</vt:lpstr>
      <vt:lpstr>Squirrel Cage Induction Generator (SCIG)</vt:lpstr>
      <vt:lpstr>Advantages of SCIG </vt:lpstr>
      <vt:lpstr>Disadvantages of SCIG</vt:lpstr>
      <vt:lpstr>Fixed speed with capacitor bank</vt:lpstr>
      <vt:lpstr>Fixed speed with capacitor bank</vt:lpstr>
      <vt:lpstr>Fixed speed with capacitor bank</vt:lpstr>
      <vt:lpstr>Fixed speed with capacitor bank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2026-01-16T05:46:24Z</dcterms:created>
  <dcterms:modified xsi:type="dcterms:W3CDTF">2026-01-16T05:47:05Z</dcterms:modified>
</cp:coreProperties>
</file>