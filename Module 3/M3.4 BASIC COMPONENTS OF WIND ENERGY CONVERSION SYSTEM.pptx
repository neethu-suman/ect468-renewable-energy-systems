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8" r:id="rId2"/>
    <p:sldId id="367" r:id="rId3"/>
    <p:sldId id="368" r:id="rId4"/>
    <p:sldId id="366" r:id="rId5"/>
    <p:sldId id="369" r:id="rId6"/>
    <p:sldId id="371" r:id="rId7"/>
    <p:sldId id="370" r:id="rId8"/>
    <p:sldId id="277" r:id="rId9"/>
    <p:sldId id="372" r:id="rId10"/>
    <p:sldId id="278" r:id="rId11"/>
    <p:sldId id="3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3B5B-562B-EE6D-E7E9-086D88C38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2C303-3643-2B4D-C696-5CE528B6F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C926-66D7-9292-B79A-6A66E586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EB86A-B198-1EE1-509F-E7E4CE39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5E11E-9531-C225-8CD2-3ACB470B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95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CFC-B9FA-098E-FE58-A83EEA94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F392E-EB34-4D6C-8C04-2812CB53C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0F152-33EA-0042-3245-EBC329728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551D5-7566-5035-BF49-FB2510DD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E4A66-FC50-AFB0-3B51-431F6843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15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EDD3-A9B7-D361-38F3-439EE2D3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F0873-71E8-0CCA-B594-229FBD945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034D6-06FC-A66C-1EF0-FA657C8C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CBEC-5365-D15E-7BAB-42CDBE35A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E322-EC41-1272-5A0C-C64AD924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1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2CD5-88E1-4C08-51D3-E748AAD17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A049-23A1-E3E7-BC3D-0C42AE744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0BD6B-7004-65F0-29E8-64CBAFE60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E2D1-5A6D-C29D-E7D2-05AE1251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F640F-C787-BA32-A535-7C8D379E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D19B7-DCCF-69D4-CB74-EB940D6AD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06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38CC-ED73-8C0E-B60D-1AE0A8BD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E880-0174-C785-5333-373F47B51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F076D-70D4-1F51-DA39-81FA6D5CE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D1C4A-D687-B522-EAC4-C7BDDF637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D4F51-3022-EEF6-D7C1-460073DA3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12C804-D674-799A-7E2B-82D6855A4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AFDA8B-937C-F19F-6801-369B3941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24EA8-8FA4-E430-16EB-F0748543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39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1E24-EDDA-6D98-62FE-89B3136B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3ABE8-2CB0-3398-D921-E9983F782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CC462-5924-AB13-D380-C0A8B6E7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065E3-7F3F-AA2C-737F-1147D340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152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DCE58-960C-1F0C-E2C3-3F8D6596A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BBD8F-FD33-5247-626E-21A4412C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64C37-604C-C1E0-B2E8-F9B6A1FE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84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4340-EF72-0C9E-D4E2-FFA41ACEF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55652-A0E5-46FC-A287-4A8BDBCA8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F2DBC-EFD2-5200-4048-129E1A2BD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F296F-0FD1-5449-B6DF-78449A06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10125-3F34-5D53-79D4-7868F1BC7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FFAC0-6F81-6043-E2D2-A37FA1F7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2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3BD1-EBF7-AC89-DB32-BFD6B6DF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AA831E-286D-6452-544C-0BE173D1B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9F2E-4B08-740A-9E39-000E49358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EB32D-8C2A-B48A-F861-303F9600C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31EED-36BE-296C-C653-39FA7921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6397A-4A3B-D049-CD37-FAC48937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97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C46B-45C3-74DA-CE20-03EA8058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4D410-E394-E3A3-72FF-FA4C38B6C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DA3E7-CF18-FB11-23C8-0258A419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CABB6-73CD-CC4C-1097-B61B60867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A1864-522A-D5CF-66EF-4038284B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64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528C1-A86D-8D6A-F288-7E5F10A713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CD4C8-A497-ED0C-7502-E6FA2E75D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EF0E1-44BC-BD5E-5B13-9ACDA6E0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027A4-80D3-A7CF-2537-E821D8DF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05B8E-0305-F8FD-1B9A-0D1E125F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86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E704F-DCC5-52D4-2A04-120C18B7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C29B5-6615-68E1-5A45-15EB37FC6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B3882-0F4B-2F33-A588-D00164E45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F607C-0A7D-48A3-853A-54F76CD4EF54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C2D2C-5ADA-0B30-7B7A-59ED6FAB8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AFC82-E624-74C1-CA37-D775000C6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86389-2CD3-427A-A383-570FAE68A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8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4CD86-C28B-927B-4D1E-B5B09E9E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COMPONENTS OF WIND ENERGY CONVERSION SYSTEM (WECS)</a:t>
            </a:r>
            <a:endParaRPr lang="en-IN" dirty="0"/>
          </a:p>
        </p:txBody>
      </p:sp>
      <p:pic>
        <p:nvPicPr>
          <p:cNvPr id="4" name="object 4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33537" y="1853406"/>
            <a:ext cx="8924925" cy="4295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1EF69-6445-BB58-7FA7-9F3CFB451677}"/>
              </a:ext>
            </a:extLst>
          </p:cNvPr>
          <p:cNvSpPr txBox="1"/>
          <p:nvPr/>
        </p:nvSpPr>
        <p:spPr>
          <a:xfrm>
            <a:off x="1100758" y="6311899"/>
            <a:ext cx="1034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5655" indent="-448722">
              <a:spcBef>
                <a:spcPts val="140"/>
              </a:spcBef>
              <a:buChar char="●"/>
              <a:tabLst>
                <a:tab pos="465655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A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wind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energy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conversion</a:t>
            </a:r>
            <a:r>
              <a:rPr lang="en-US" sz="1800" spc="-4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system</a:t>
            </a:r>
            <a:r>
              <a:rPr lang="en-US" sz="1800" spc="-2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converts</a:t>
            </a:r>
            <a:r>
              <a:rPr lang="en-US" sz="1800" spc="-2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wind</a:t>
            </a:r>
            <a:r>
              <a:rPr lang="en-US" sz="1800" spc="-4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energy</a:t>
            </a:r>
            <a:r>
              <a:rPr lang="en-US" sz="1800" spc="-4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into</a:t>
            </a:r>
            <a:r>
              <a:rPr lang="en-US" sz="1800" spc="-1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some</a:t>
            </a:r>
            <a:r>
              <a:rPr lang="en-US" sz="1800" spc="-3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form</a:t>
            </a:r>
            <a:r>
              <a:rPr lang="en-US" sz="1800" spc="-3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33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electrical</a:t>
            </a:r>
            <a:r>
              <a:rPr lang="en-US" sz="1800" spc="-47" dirty="0">
                <a:latin typeface="Times New Roman"/>
                <a:cs typeface="Times New Roman"/>
              </a:rPr>
              <a:t> </a:t>
            </a:r>
            <a:r>
              <a:rPr lang="en-US" sz="1800" spc="-13" dirty="0">
                <a:latin typeface="Times New Roman"/>
                <a:cs typeface="Times New Roman"/>
              </a:rPr>
              <a:t>energy.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8882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631A-9933-02B6-A5EE-B6A6B28A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COMPONENTS OF WIND ENERGY CONVERSION SYSTEM (WECS)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471D5-3FA6-1EBD-C55E-52CBE2937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Main power flow</a:t>
            </a:r>
          </a:p>
          <a:p>
            <a:r>
              <a:rPr lang="en-US" sz="2400" b="1" dirty="0"/>
              <a:t>Aero turbine:</a:t>
            </a:r>
            <a:r>
              <a:rPr lang="en-US" sz="2400" dirty="0"/>
              <a:t> Wind acts on the rotor blades of the aero turbine, converting wind kinetic energy into rotary mechanical energy (shaft torque and speed).​</a:t>
            </a:r>
          </a:p>
          <a:p>
            <a:r>
              <a:rPr lang="en-US" sz="2400" b="1" dirty="0"/>
              <a:t>Gearing: </a:t>
            </a:r>
            <a:r>
              <a:rPr lang="en-US" sz="2400" dirty="0"/>
              <a:t>A gearbox increases the low‑speed, high‑torque rotation from the turbine to a higher speed suitable for the generator.​</a:t>
            </a:r>
          </a:p>
          <a:p>
            <a:r>
              <a:rPr lang="en-US" sz="2400" b="1" dirty="0"/>
              <a:t>Coupling:</a:t>
            </a:r>
            <a:r>
              <a:rPr lang="en-US" sz="2400" dirty="0"/>
              <a:t> A mechanical coupling transmits the geared torque and speed to the electrical generator while accommodating minor misalignments and mechanical interface constraints.​</a:t>
            </a:r>
          </a:p>
          <a:p>
            <a:r>
              <a:rPr lang="en-US" sz="2400" b="1" dirty="0"/>
              <a:t>Electrical generator:</a:t>
            </a:r>
            <a:r>
              <a:rPr lang="en-US" sz="2400" dirty="0"/>
              <a:t> The generator converts incoming mechanical power into electrical power that is supplied to the load or utility grid.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1865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B231C-4EAC-A813-285D-91F53C5E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COMPONENTS OF WIND ENERGY CONVERSION SYSTEM (WECS)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99583-7352-D1F8-C6D3-0BFEF7414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Sensing and feedback paths</a:t>
            </a:r>
          </a:p>
          <a:p>
            <a:r>
              <a:rPr lang="en-US" sz="2400" b="1" dirty="0"/>
              <a:t>Wind speed and direction: </a:t>
            </a:r>
            <a:r>
              <a:rPr lang="en-US" sz="2400" dirty="0"/>
              <a:t>Wind speed is measured and fed to the controller; wind direction is used for yaw control so that the turbine faces the wind for maximum capture.​</a:t>
            </a:r>
          </a:p>
          <a:p>
            <a:r>
              <a:rPr lang="en-US" sz="2400" b="1" dirty="0"/>
              <a:t>Speed and torque: </a:t>
            </a:r>
            <a:r>
              <a:rPr lang="en-US" sz="2400" dirty="0"/>
              <a:t>Shaft speed and torque at the mechanical interface are sensed and sent to the controller to regulate operating point and protect against overspeed or overload.​</a:t>
            </a:r>
          </a:p>
          <a:p>
            <a:r>
              <a:rPr lang="en-US" sz="2400" b="1" dirty="0"/>
              <a:t>Generator variables: </a:t>
            </a:r>
            <a:r>
              <a:rPr lang="en-US" sz="2400" dirty="0"/>
              <a:t>Generator speed, electrical output power, and temperature are monitored and fed back to the controller for power regulation and thermal protection.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1021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4D5E-A35D-B158-2353-044550A0D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COMPONENTS OF WIND ENERGY CONVERSION SYSTEM (WECS)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2DA42-CBB7-C5F6-FBDA-73F564F39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Control actions</a:t>
            </a:r>
          </a:p>
          <a:p>
            <a:r>
              <a:rPr lang="en-US" sz="2400" b="1" dirty="0"/>
              <a:t>Pitch control: </a:t>
            </a:r>
            <a:r>
              <a:rPr lang="en-US" sz="2400" dirty="0"/>
              <a:t>The controller adjusts blade pitch angle to control captured power and rotor speed, limiting output in high winds and optimizing energy capture in normal winds.​</a:t>
            </a:r>
          </a:p>
          <a:p>
            <a:r>
              <a:rPr lang="en-US" sz="2400" b="1" dirty="0"/>
              <a:t>Yaw control: </a:t>
            </a:r>
            <a:r>
              <a:rPr lang="en-US" sz="2400" dirty="0"/>
              <a:t>The controller sends commands to the yaw drive so the nacelle (and thus the aero turbine) rotates about the tower axis to align with changing wind direction.​</a:t>
            </a:r>
          </a:p>
          <a:p>
            <a:r>
              <a:rPr lang="en-US" sz="2400" b="1" dirty="0"/>
              <a:t>Coupling and generator control: </a:t>
            </a:r>
            <a:r>
              <a:rPr lang="en-US" sz="2400" dirty="0"/>
              <a:t>Control signals to the coupling or drive train and generator (often via power electronics in practical systems) maintain desired speed, torque, and electrical output characteristics.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1563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A06E-FC38-C862-9923-7678C747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COMPONENTS OF WIND ENERGY CONVERSION SYSTEM (WECS)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CD52-CD4B-0486-BDAD-B73CAB30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Role of the controller</a:t>
            </a:r>
          </a:p>
          <a:p>
            <a:r>
              <a:rPr lang="en-US" sz="2400" dirty="0"/>
              <a:t>The controller acts as the brain of the WECS, processing sensor signals (wind speed, direction, shaft speed/torque, generator power and temperature) and issuing control signals for pitch, yaw, and generator operation.​</a:t>
            </a:r>
          </a:p>
          <a:p>
            <a:r>
              <a:rPr lang="en-US" sz="2400" dirty="0"/>
              <a:t>It ensures safe and efficient operation by optimizing power extraction under normal conditions and initiating protective actions (pitching out, yawing, braking or shutdown) during extreme wind or fault conditions.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4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9B28-D7CA-8DD4-95AB-CF4D878D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WECS</a:t>
            </a:r>
            <a:r>
              <a:rPr lang="en-US" b="1" spc="-4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based</a:t>
            </a:r>
            <a:r>
              <a:rPr lang="en-US" b="1" spc="-2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on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the rotational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speed</a:t>
            </a:r>
            <a:r>
              <a:rPr lang="en-US" b="1" spc="-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of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spc="-13" dirty="0">
                <a:latin typeface="Arial"/>
                <a:cs typeface="Arial"/>
              </a:rPr>
              <a:t>turbines</a:t>
            </a: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0DA75A1-81AC-28AA-9F06-EA4E5A27C02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85030" y="1914714"/>
            <a:ext cx="9300144" cy="42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39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BF8D-D4A6-6695-9CFB-E0870A33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/>
                <a:cs typeface="Arial"/>
              </a:rPr>
              <a:t>WECS</a:t>
            </a:r>
            <a:r>
              <a:rPr lang="en-US" b="1" spc="-4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based</a:t>
            </a:r>
            <a:r>
              <a:rPr lang="en-US" b="1" spc="-2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on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the rotational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speed</a:t>
            </a:r>
            <a:r>
              <a:rPr lang="en-US" b="1" spc="-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of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spc="-13" dirty="0">
                <a:latin typeface="Arial"/>
                <a:cs typeface="Arial"/>
              </a:rPr>
              <a:t>turbines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DAF01-0E8F-1B64-E4A1-8B350C256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3075" indent="-457200">
              <a:tabLst>
                <a:tab pos="625671" algn="l"/>
              </a:tabLst>
            </a:pPr>
            <a:r>
              <a:rPr lang="en-US" sz="2400" dirty="0">
                <a:solidFill>
                  <a:srgbClr val="202429"/>
                </a:solidFill>
                <a:cs typeface="Times New Roman"/>
              </a:rPr>
              <a:t>Output</a:t>
            </a:r>
            <a:r>
              <a:rPr lang="en-US" sz="2400" spc="20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can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be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adjusted</a:t>
            </a:r>
            <a:r>
              <a:rPr lang="en-US" sz="2400" spc="20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by</a:t>
            </a:r>
            <a:r>
              <a:rPr lang="en-US" sz="2400" spc="19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controlling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pitch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of</a:t>
            </a:r>
            <a:r>
              <a:rPr lang="en-US" sz="2400" spc="1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blade</a:t>
            </a:r>
            <a:r>
              <a:rPr lang="en-US" sz="2400" spc="20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and</a:t>
            </a:r>
            <a:r>
              <a:rPr lang="en-US" sz="2400" spc="1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sz="2400" spc="1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of</a:t>
            </a:r>
            <a:r>
              <a:rPr lang="en-US" sz="2400" spc="1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spc="-33" dirty="0">
                <a:solidFill>
                  <a:srgbClr val="202429"/>
                </a:solidFill>
                <a:cs typeface="Times New Roman"/>
              </a:rPr>
              <a:t>the </a:t>
            </a:r>
            <a:r>
              <a:rPr lang="en-US" sz="2400" spc="-13" dirty="0">
                <a:solidFill>
                  <a:srgbClr val="202429"/>
                </a:solidFill>
                <a:cs typeface="Times New Roman"/>
              </a:rPr>
              <a:t>generator</a:t>
            </a:r>
            <a:endParaRPr lang="en-US" sz="2400" dirty="0">
              <a:cs typeface="Times New Roman"/>
            </a:endParaRPr>
          </a:p>
          <a:p>
            <a:pPr marL="473075" indent="-457200">
              <a:spcBef>
                <a:spcPts val="1447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02429"/>
                </a:solidFill>
                <a:cs typeface="Times New Roman"/>
              </a:rPr>
              <a:t>Rotational</a:t>
            </a:r>
            <a:r>
              <a:rPr lang="en-US" sz="2400" spc="-7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sz="24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of</a:t>
            </a:r>
            <a:r>
              <a:rPr lang="en-US" sz="2400" spc="-6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turbine</a:t>
            </a:r>
            <a:r>
              <a:rPr lang="en-US" sz="2400" spc="-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can</a:t>
            </a:r>
            <a:r>
              <a:rPr lang="en-US" sz="2400" spc="-6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be</a:t>
            </a:r>
            <a:r>
              <a:rPr lang="en-US" sz="2400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02429"/>
                </a:solidFill>
                <a:cs typeface="Times New Roman"/>
              </a:rPr>
              <a:t>controlled</a:t>
            </a:r>
            <a:r>
              <a:rPr lang="en-US" sz="2400" spc="-6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400" spc="-33" dirty="0">
                <a:solidFill>
                  <a:srgbClr val="202429"/>
                </a:solidFill>
                <a:cs typeface="Times New Roman"/>
              </a:rPr>
              <a:t>by</a:t>
            </a:r>
            <a:endParaRPr lang="en-US" sz="2400" dirty="0">
              <a:cs typeface="Times New Roman"/>
            </a:endParaRPr>
          </a:p>
          <a:p>
            <a:pPr marL="930275" lvl="1" indent="-457200">
              <a:spcBef>
                <a:spcPts val="2493"/>
              </a:spcBef>
              <a:buClr>
                <a:srgbClr val="000000"/>
              </a:buClr>
              <a:buFont typeface="+mj-lt"/>
              <a:buAutoNum type="arabicPeriod"/>
              <a:tabLst>
                <a:tab pos="599425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Fixed-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Fixed-</a:t>
            </a:r>
            <a:r>
              <a:rPr lang="en-US" b="1" spc="-27" dirty="0">
                <a:solidFill>
                  <a:srgbClr val="202429"/>
                </a:solidFill>
                <a:cs typeface="Times New Roman"/>
              </a:rPr>
              <a:t>pitch</a:t>
            </a:r>
            <a:endParaRPr lang="en-US" b="1" dirty="0">
              <a:cs typeface="Times New Roman"/>
            </a:endParaRPr>
          </a:p>
          <a:p>
            <a:pPr marL="930275" lvl="1" indent="-457200">
              <a:spcBef>
                <a:spcPts val="2513"/>
              </a:spcBef>
              <a:buClr>
                <a:srgbClr val="000000"/>
              </a:buClr>
              <a:buFont typeface="+mj-lt"/>
              <a:buAutoNum type="arabicPeriod"/>
              <a:tabLst>
                <a:tab pos="599425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Fixed-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Variable-</a:t>
            </a:r>
            <a:r>
              <a:rPr lang="en-US" b="1" spc="-27" dirty="0">
                <a:solidFill>
                  <a:srgbClr val="202429"/>
                </a:solidFill>
                <a:cs typeface="Times New Roman"/>
              </a:rPr>
              <a:t>pitch</a:t>
            </a:r>
            <a:endParaRPr lang="en-US" b="1" dirty="0">
              <a:cs typeface="Times New Roman"/>
            </a:endParaRPr>
          </a:p>
          <a:p>
            <a:pPr marL="930275" lvl="1" indent="-457200">
              <a:spcBef>
                <a:spcPts val="2513"/>
              </a:spcBef>
              <a:buClr>
                <a:srgbClr val="000000"/>
              </a:buClr>
              <a:buFont typeface="+mj-lt"/>
              <a:buAutoNum type="arabicPeriod"/>
              <a:tabLst>
                <a:tab pos="599425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Variable-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Fixed-</a:t>
            </a:r>
            <a:r>
              <a:rPr lang="en-US" b="1" spc="-27" dirty="0">
                <a:solidFill>
                  <a:srgbClr val="202429"/>
                </a:solidFill>
                <a:cs typeface="Times New Roman"/>
              </a:rPr>
              <a:t>pitch</a:t>
            </a:r>
            <a:endParaRPr lang="en-US" b="1" dirty="0">
              <a:cs typeface="Times New Roman"/>
            </a:endParaRPr>
          </a:p>
          <a:p>
            <a:pPr marL="930275" lvl="1" indent="-457200">
              <a:spcBef>
                <a:spcPts val="2500"/>
              </a:spcBef>
              <a:buFont typeface="+mj-lt"/>
              <a:buAutoNum type="arabicPeriod"/>
              <a:tabLst>
                <a:tab pos="446182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Variable-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Variable-</a:t>
            </a:r>
            <a:r>
              <a:rPr lang="en-US" b="1" spc="-27" dirty="0">
                <a:solidFill>
                  <a:srgbClr val="202429"/>
                </a:solidFill>
                <a:cs typeface="Times New Roman"/>
              </a:rPr>
              <a:t>pitch</a:t>
            </a:r>
            <a:endParaRPr lang="en-US" b="1" dirty="0">
              <a:cs typeface="Times New Roman"/>
            </a:endParaRPr>
          </a:p>
          <a:p>
            <a:pPr marL="473075" indent="-457200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15682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34281" y="2288370"/>
            <a:ext cx="1985433" cy="337820"/>
          </a:xfrm>
          <a:custGeom>
            <a:avLst/>
            <a:gdLst/>
            <a:ahLst/>
            <a:cxnLst/>
            <a:rect l="l" t="t" r="r" b="b"/>
            <a:pathLst>
              <a:path w="1489075" h="253364">
                <a:moveTo>
                  <a:pt x="1202423" y="0"/>
                </a:moveTo>
                <a:lnTo>
                  <a:pt x="272796" y="0"/>
                </a:lnTo>
                <a:lnTo>
                  <a:pt x="216408" y="0"/>
                </a:lnTo>
                <a:lnTo>
                  <a:pt x="0" y="0"/>
                </a:lnTo>
                <a:lnTo>
                  <a:pt x="0" y="252984"/>
                </a:lnTo>
                <a:lnTo>
                  <a:pt x="216408" y="252984"/>
                </a:lnTo>
                <a:lnTo>
                  <a:pt x="272796" y="252984"/>
                </a:lnTo>
                <a:lnTo>
                  <a:pt x="1202423" y="252984"/>
                </a:lnTo>
                <a:lnTo>
                  <a:pt x="1202423" y="0"/>
                </a:lnTo>
                <a:close/>
              </a:path>
              <a:path w="1489075" h="253364">
                <a:moveTo>
                  <a:pt x="1488948" y="0"/>
                </a:moveTo>
                <a:lnTo>
                  <a:pt x="1257300" y="0"/>
                </a:lnTo>
                <a:lnTo>
                  <a:pt x="1202436" y="0"/>
                </a:lnTo>
                <a:lnTo>
                  <a:pt x="1202436" y="252984"/>
                </a:lnTo>
                <a:lnTo>
                  <a:pt x="1257300" y="252984"/>
                </a:lnTo>
                <a:lnTo>
                  <a:pt x="1488948" y="252984"/>
                </a:lnTo>
                <a:lnTo>
                  <a:pt x="14889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5927E0-1D99-F30B-3D9F-57D8E5EB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WECS</a:t>
            </a:r>
            <a:r>
              <a:rPr lang="en-US" b="1" spc="-4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based</a:t>
            </a:r>
            <a:r>
              <a:rPr lang="en-US" b="1" spc="-2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on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the rotational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speed</a:t>
            </a:r>
            <a:r>
              <a:rPr lang="en-US" b="1" spc="-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of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spc="-13" dirty="0">
                <a:latin typeface="Arial"/>
                <a:cs typeface="Arial"/>
              </a:rPr>
              <a:t>turbines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76995-6B99-D313-C3D7-19BCDE958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79426" cy="4525479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027"/>
              </a:spcBef>
              <a:buClr>
                <a:srgbClr val="202429"/>
              </a:buClr>
              <a:buAutoNum type="arabicPeriod"/>
              <a:tabLst>
                <a:tab pos="623978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Fixed-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fixed-pitch</a:t>
            </a:r>
            <a:r>
              <a:rPr lang="en-US" b="1" spc="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(FS-</a:t>
            </a:r>
            <a:r>
              <a:rPr lang="en-US" b="1" spc="-33" dirty="0">
                <a:solidFill>
                  <a:srgbClr val="202429"/>
                </a:solidFill>
                <a:cs typeface="Times New Roman"/>
              </a:rPr>
              <a:t>FP)</a:t>
            </a:r>
          </a:p>
          <a:p>
            <a:pPr marL="0" indent="0">
              <a:spcBef>
                <a:spcPts val="1027"/>
              </a:spcBef>
              <a:buClr>
                <a:srgbClr val="202429"/>
              </a:buClr>
              <a:buNone/>
              <a:tabLst>
                <a:tab pos="623978" algn="l"/>
              </a:tabLst>
            </a:pPr>
            <a:endParaRPr lang="en-US" sz="2600" dirty="0">
              <a:cs typeface="Times New Roman"/>
            </a:endParaRPr>
          </a:p>
          <a:p>
            <a:pPr marL="625671" lvl="1" indent="-422476">
              <a:spcBef>
                <a:spcPts val="893"/>
              </a:spcBef>
              <a:tabLst>
                <a:tab pos="536575" algn="l"/>
              </a:tabLst>
            </a:pPr>
            <a:r>
              <a:rPr lang="en-US" sz="2000" dirty="0">
                <a:solidFill>
                  <a:srgbClr val="202429"/>
                </a:solidFill>
                <a:cs typeface="Times New Roman"/>
              </a:rPr>
              <a:t>In</a:t>
            </a:r>
            <a:r>
              <a:rPr lang="en-US" sz="2000" spc="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this</a:t>
            </a:r>
            <a:r>
              <a:rPr lang="en-US" sz="2000" spc="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design,</a:t>
            </a:r>
            <a:r>
              <a:rPr lang="en-US" sz="2000" spc="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turbine’s</a:t>
            </a:r>
            <a:r>
              <a:rPr lang="en-US" sz="2000" spc="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generator</a:t>
            </a:r>
            <a:r>
              <a:rPr lang="en-US" sz="2000" spc="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is</a:t>
            </a:r>
            <a:r>
              <a:rPr lang="en-US" sz="2000" spc="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directly</a:t>
            </a:r>
            <a:r>
              <a:rPr lang="en-US" sz="2000" spc="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coupled</a:t>
            </a:r>
            <a:r>
              <a:rPr lang="en-US" sz="2000" spc="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to</a:t>
            </a:r>
            <a:r>
              <a:rPr lang="en-US" sz="2000" spc="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z="2000" spc="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grid,</a:t>
            </a:r>
            <a:r>
              <a:rPr lang="en-US" sz="2000" spc="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causing</a:t>
            </a:r>
            <a:r>
              <a:rPr lang="en-US" sz="2000" spc="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generator</a:t>
            </a:r>
            <a:r>
              <a:rPr lang="en-US" sz="2000" spc="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sz="2000" spc="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to</a:t>
            </a:r>
            <a:r>
              <a:rPr lang="en-US" sz="2000" spc="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lock</a:t>
            </a:r>
            <a:r>
              <a:rPr lang="en-US" sz="2000" spc="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to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z="2000" spc="-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line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frequency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and</a:t>
            </a:r>
            <a:r>
              <a:rPr lang="en-US" sz="2000" spc="-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fix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rotational</a:t>
            </a:r>
            <a:r>
              <a:rPr lang="en-US" sz="2000" spc="-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speed.</a:t>
            </a:r>
            <a:endParaRPr lang="en-US" sz="2000" dirty="0">
              <a:cs typeface="Times New Roman"/>
            </a:endParaRPr>
          </a:p>
          <a:p>
            <a:pPr marL="625671" lvl="1" indent="-422476">
              <a:spcBef>
                <a:spcPts val="900"/>
              </a:spcBef>
              <a:tabLst>
                <a:tab pos="536575" algn="l"/>
              </a:tabLst>
            </a:pPr>
            <a:r>
              <a:rPr lang="en-US" sz="2000" dirty="0">
                <a:solidFill>
                  <a:srgbClr val="202429"/>
                </a:solidFill>
                <a:cs typeface="Times New Roman"/>
              </a:rPr>
              <a:t>In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this</a:t>
            </a:r>
            <a:r>
              <a:rPr lang="en-US" sz="20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configuration</a:t>
            </a:r>
            <a:r>
              <a:rPr lang="en-US" sz="2000" spc="-7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performance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cannot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be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improved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with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active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control.</a:t>
            </a:r>
            <a:endParaRPr lang="en-US" sz="2000" dirty="0">
              <a:cs typeface="Times New Roman"/>
            </a:endParaRPr>
          </a:p>
          <a:p>
            <a:pPr marL="625671" lvl="1" indent="-422476">
              <a:spcBef>
                <a:spcPts val="893"/>
              </a:spcBef>
              <a:tabLst>
                <a:tab pos="536575" algn="l"/>
              </a:tabLst>
            </a:pPr>
            <a:r>
              <a:rPr lang="en-US" sz="2000" dirty="0">
                <a:solidFill>
                  <a:srgbClr val="202429"/>
                </a:solidFill>
                <a:cs typeface="Times New Roman"/>
              </a:rPr>
              <a:t>These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turbines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are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regulated</a:t>
            </a:r>
            <a:r>
              <a:rPr lang="en-US" sz="20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using</a:t>
            </a:r>
            <a:r>
              <a:rPr lang="en-US" sz="2000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passive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stall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methods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at</a:t>
            </a:r>
            <a:r>
              <a:rPr lang="en-US" sz="2000" spc="-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high</a:t>
            </a:r>
            <a:r>
              <a:rPr lang="en-US" sz="2000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speeds.</a:t>
            </a:r>
            <a:endParaRPr lang="en-US" sz="2000" dirty="0">
              <a:cs typeface="Times New Roman"/>
            </a:endParaRPr>
          </a:p>
          <a:p>
            <a:pPr marL="626518" marR="6773" lvl="1" indent="-423323">
              <a:lnSpc>
                <a:spcPts val="3147"/>
              </a:lnSpc>
              <a:spcBef>
                <a:spcPts val="247"/>
              </a:spcBef>
              <a:tabLst>
                <a:tab pos="536575" algn="l"/>
              </a:tabLst>
            </a:pPr>
            <a:r>
              <a:rPr lang="en-US" sz="2000" dirty="0">
                <a:solidFill>
                  <a:srgbClr val="202429"/>
                </a:solidFill>
                <a:cs typeface="Times New Roman"/>
              </a:rPr>
              <a:t>From</a:t>
            </a:r>
            <a:r>
              <a:rPr lang="en-US" sz="2000" spc="19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2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figure,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it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is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seen</a:t>
            </a:r>
            <a:r>
              <a:rPr lang="en-US" sz="2000" spc="2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that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2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actual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z="2000" spc="2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does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not</a:t>
            </a:r>
            <a:r>
              <a:rPr lang="en-US" sz="2000" spc="2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match</a:t>
            </a:r>
            <a:r>
              <a:rPr lang="en-US" sz="2000" spc="2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2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ideal</a:t>
            </a:r>
            <a:r>
              <a:rPr lang="en-US" sz="2000" spc="2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power,</a:t>
            </a:r>
            <a:r>
              <a:rPr lang="en-US" sz="2000" spc="2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implying</a:t>
            </a:r>
            <a:r>
              <a:rPr lang="en-US" sz="2000" spc="2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that</a:t>
            </a:r>
            <a:r>
              <a:rPr lang="en-US" sz="2000" spc="2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there</a:t>
            </a:r>
            <a:r>
              <a:rPr lang="en-US" sz="2000" spc="2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is</a:t>
            </a:r>
            <a:r>
              <a:rPr lang="en-US" sz="2000" spc="2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lower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energy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capture.</a:t>
            </a:r>
            <a:endParaRPr lang="en-US" sz="2000" dirty="0">
              <a:cs typeface="Times New Roman"/>
            </a:endParaRPr>
          </a:p>
          <a:p>
            <a:pPr marL="625671" lvl="1" indent="-422476">
              <a:spcBef>
                <a:spcPts val="633"/>
              </a:spcBef>
              <a:tabLst>
                <a:tab pos="536575" algn="l"/>
              </a:tabLst>
            </a:pPr>
            <a:r>
              <a:rPr lang="en-US" sz="2000" dirty="0">
                <a:solidFill>
                  <a:srgbClr val="202429"/>
                </a:solidFill>
                <a:cs typeface="Times New Roman"/>
              </a:rPr>
              <a:t>Turbine</a:t>
            </a:r>
            <a:r>
              <a:rPr lang="en-US" sz="2000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operates</a:t>
            </a:r>
            <a:r>
              <a:rPr lang="en-US" sz="20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at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maximum</a:t>
            </a:r>
            <a:r>
              <a:rPr lang="en-US" sz="2000" spc="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efficiency</a:t>
            </a:r>
            <a:r>
              <a:rPr lang="en-US" sz="20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only</a:t>
            </a:r>
            <a:r>
              <a:rPr lang="en-US" sz="20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at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one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in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low-speed</a:t>
            </a:r>
            <a:r>
              <a:rPr lang="en-US" sz="2000" spc="-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region</a:t>
            </a:r>
            <a:endParaRPr lang="en-US" sz="2000" dirty="0">
              <a:cs typeface="Times New Roman"/>
            </a:endParaRPr>
          </a:p>
          <a:p>
            <a:pPr marL="625671" lvl="1" indent="-422476">
              <a:spcBef>
                <a:spcPts val="893"/>
              </a:spcBef>
              <a:tabLst>
                <a:tab pos="536575" algn="l"/>
              </a:tabLst>
            </a:pP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rated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of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turbine</a:t>
            </a:r>
            <a:r>
              <a:rPr lang="en-US" sz="2000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is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achieved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only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at</a:t>
            </a:r>
            <a:r>
              <a:rPr lang="en-US" sz="2000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one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z="2000" spc="-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sz="2000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(poor</a:t>
            </a:r>
            <a:r>
              <a:rPr lang="en-US" sz="2000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z="2000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202429"/>
                </a:solidFill>
                <a:cs typeface="Times New Roman"/>
              </a:rPr>
              <a:t>regulation)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27175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7354-9DBB-9BA2-A6E0-50438D86E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WECS</a:t>
            </a:r>
            <a:r>
              <a:rPr lang="en-US" b="1" spc="-4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based</a:t>
            </a:r>
            <a:r>
              <a:rPr lang="en-US" b="1" spc="-2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on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the rotational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speed</a:t>
            </a:r>
            <a:r>
              <a:rPr lang="en-US" b="1" spc="-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of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spc="-13" dirty="0">
                <a:latin typeface="Arial"/>
                <a:cs typeface="Arial"/>
              </a:rPr>
              <a:t>turbines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E5CB9-E59D-3391-17ED-D0DCCCA2F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6935" indent="0">
              <a:spcBef>
                <a:spcPts val="900"/>
              </a:spcBef>
              <a:buNone/>
              <a:tabLst>
                <a:tab pos="349665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2. Fixed-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6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variable-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pitch</a:t>
            </a:r>
            <a:r>
              <a:rPr lang="en-US" b="1" spc="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(FS-</a:t>
            </a:r>
            <a:r>
              <a:rPr lang="en-US" b="1" spc="-33" dirty="0">
                <a:solidFill>
                  <a:srgbClr val="202429"/>
                </a:solidFill>
                <a:cs typeface="Times New Roman"/>
              </a:rPr>
              <a:t>VP)</a:t>
            </a:r>
          </a:p>
          <a:p>
            <a:pPr marL="16935" indent="0">
              <a:spcBef>
                <a:spcPts val="900"/>
              </a:spcBef>
              <a:buNone/>
              <a:tabLst>
                <a:tab pos="349665" algn="l"/>
              </a:tabLst>
            </a:pPr>
            <a:endParaRPr lang="en-US" dirty="0">
              <a:cs typeface="Times New Roman"/>
            </a:endParaRPr>
          </a:p>
          <a:p>
            <a:pPr marL="626518" marR="8466" lvl="1" indent="-423323">
              <a:lnSpc>
                <a:spcPct val="140000"/>
              </a:lnSpc>
              <a:tabLst>
                <a:tab pos="626518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This</a:t>
            </a:r>
            <a:r>
              <a:rPr lang="en-US" spc="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configuration</a:t>
            </a:r>
            <a:r>
              <a:rPr lang="en-US" spc="10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operates</a:t>
            </a:r>
            <a:r>
              <a:rPr lang="en-US" spc="9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at</a:t>
            </a:r>
            <a:r>
              <a:rPr lang="en-US" spc="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</a:t>
            </a:r>
            <a:r>
              <a:rPr lang="en-US" spc="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fixed</a:t>
            </a:r>
            <a:r>
              <a:rPr lang="en-US" spc="9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pitch</a:t>
            </a:r>
            <a:r>
              <a:rPr lang="en-US" spc="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angle</a:t>
            </a:r>
            <a:r>
              <a:rPr lang="en-US" spc="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below</a:t>
            </a:r>
            <a:r>
              <a:rPr lang="en-US" spc="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rated</a:t>
            </a:r>
            <a:r>
              <a:rPr lang="en-US" spc="9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pc="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spc="9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and</a:t>
            </a:r>
            <a:r>
              <a:rPr lang="en-US" spc="8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continuously</a:t>
            </a:r>
            <a:r>
              <a:rPr lang="en-US" spc="6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adjusts</a:t>
            </a:r>
            <a:r>
              <a:rPr lang="en-US" spc="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8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angle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above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rated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speed</a:t>
            </a:r>
            <a:endParaRPr lang="en-US" dirty="0">
              <a:cs typeface="Times New Roman"/>
            </a:endParaRPr>
          </a:p>
          <a:p>
            <a:pPr marL="625671" lvl="1" indent="-422476">
              <a:spcBef>
                <a:spcPts val="893"/>
              </a:spcBef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fixed-speed</a:t>
            </a:r>
            <a:r>
              <a:rPr lang="en-US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operation</a:t>
            </a:r>
            <a:r>
              <a:rPr lang="en-US" spc="-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implies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maximum</a:t>
            </a:r>
            <a:r>
              <a:rPr lang="en-US" spc="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output</a:t>
            </a:r>
            <a:r>
              <a:rPr lang="en-US" spc="-7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power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at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one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speed.</a:t>
            </a:r>
            <a:endParaRPr lang="en-US" dirty="0">
              <a:cs typeface="Times New Roman"/>
            </a:endParaRPr>
          </a:p>
          <a:p>
            <a:pPr marL="625671" lvl="1" indent="-422476">
              <a:spcBef>
                <a:spcPts val="900"/>
              </a:spcBef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Below</a:t>
            </a:r>
            <a:r>
              <a:rPr lang="en-US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rated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speed,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FS-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VP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turbine</a:t>
            </a:r>
            <a:r>
              <a:rPr lang="en-US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has a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near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optimum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efficiency</a:t>
            </a:r>
            <a:endParaRPr lang="en-US" dirty="0">
              <a:cs typeface="Times New Roman"/>
            </a:endParaRPr>
          </a:p>
          <a:p>
            <a:pPr marL="625671" lvl="1" indent="-422476">
              <a:spcBef>
                <a:spcPts val="900"/>
              </a:spcBef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Exceeding</a:t>
            </a:r>
            <a:r>
              <a:rPr lang="en-US" spc="-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rated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wind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speed,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the</a:t>
            </a:r>
            <a:r>
              <a:rPr lang="en-US" spc="-2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pitch</a:t>
            </a:r>
            <a:r>
              <a:rPr lang="en-US" spc="-47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angles</a:t>
            </a:r>
            <a:r>
              <a:rPr lang="en-US" spc="-3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are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continuously</a:t>
            </a:r>
            <a:r>
              <a:rPr lang="en-US" spc="-5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changed,</a:t>
            </a:r>
            <a:r>
              <a:rPr lang="en-US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providing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little</a:t>
            </a:r>
            <a:r>
              <a:rPr lang="en-US" spc="-6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to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no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loss</a:t>
            </a:r>
            <a:r>
              <a:rPr lang="en-US" spc="-4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dirty="0">
                <a:solidFill>
                  <a:srgbClr val="202429"/>
                </a:solidFill>
                <a:cs typeface="Times New Roman"/>
              </a:rPr>
              <a:t>in</a:t>
            </a:r>
            <a:r>
              <a:rPr lang="en-US" spc="-20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spc="-13" dirty="0">
                <a:solidFill>
                  <a:srgbClr val="202429"/>
                </a:solidFill>
                <a:cs typeface="Times New Roman"/>
              </a:rPr>
              <a:t>power.</a:t>
            </a:r>
            <a:endParaRPr lang="en-US" dirty="0">
              <a:cs typeface="Times New Roman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3072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BC4ABB-4DA3-BE5D-EA35-38367346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WECS</a:t>
            </a:r>
            <a:r>
              <a:rPr lang="en-US" b="1" spc="-4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based</a:t>
            </a:r>
            <a:r>
              <a:rPr lang="en-US" b="1" spc="-2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on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the rotational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speed</a:t>
            </a:r>
            <a:r>
              <a:rPr lang="en-US" b="1" spc="-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of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spc="-13" dirty="0">
                <a:latin typeface="Arial"/>
                <a:cs typeface="Arial"/>
              </a:rPr>
              <a:t>turbines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A3E2D-ECBB-3125-CC93-C80F0B5E8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0339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spc="-33" dirty="0"/>
              <a:t>3. </a:t>
            </a:r>
            <a:r>
              <a:rPr lang="en-IN" b="1" spc="-13" dirty="0">
                <a:solidFill>
                  <a:srgbClr val="202429"/>
                </a:solidFill>
              </a:rPr>
              <a:t>Variable-</a:t>
            </a:r>
            <a:r>
              <a:rPr lang="en-IN" b="1" dirty="0">
                <a:solidFill>
                  <a:srgbClr val="202429"/>
                </a:solidFill>
              </a:rPr>
              <a:t>speed</a:t>
            </a:r>
            <a:r>
              <a:rPr lang="en-IN" b="1" spc="13" dirty="0">
                <a:solidFill>
                  <a:srgbClr val="202429"/>
                </a:solidFill>
              </a:rPr>
              <a:t> </a:t>
            </a:r>
            <a:r>
              <a:rPr lang="en-IN" b="1" spc="-13" dirty="0">
                <a:solidFill>
                  <a:srgbClr val="202429"/>
                </a:solidFill>
              </a:rPr>
              <a:t>fixed-</a:t>
            </a:r>
            <a:r>
              <a:rPr lang="en-IN" b="1" dirty="0">
                <a:solidFill>
                  <a:srgbClr val="202429"/>
                </a:solidFill>
              </a:rPr>
              <a:t>pitch</a:t>
            </a:r>
            <a:r>
              <a:rPr lang="en-IN" b="1" spc="-13" dirty="0">
                <a:solidFill>
                  <a:srgbClr val="202429"/>
                </a:solidFill>
              </a:rPr>
              <a:t> (VS-</a:t>
            </a:r>
            <a:r>
              <a:rPr lang="en-IN" b="1" spc="-33" dirty="0">
                <a:solidFill>
                  <a:srgbClr val="202429"/>
                </a:solidFill>
              </a:rPr>
              <a:t>FP)</a:t>
            </a:r>
          </a:p>
          <a:p>
            <a:pPr marL="0" indent="0">
              <a:buNone/>
            </a:pPr>
            <a:endParaRPr lang="en-IN" b="1" spc="-33" dirty="0">
              <a:solidFill>
                <a:srgbClr val="202429"/>
              </a:solidFill>
            </a:endParaRPr>
          </a:p>
          <a:p>
            <a:pPr marL="625671" marR="10160" lvl="1" indent="-422476">
              <a:spcBef>
                <a:spcPts val="133"/>
              </a:spcBef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Continuously adjusts the rotor speed relative to the wind speed by controlling the synchronous speed of the generator.</a:t>
            </a:r>
          </a:p>
          <a:p>
            <a:pPr marL="625671" lvl="1" indent="-422476">
              <a:spcBef>
                <a:spcPts val="1200"/>
              </a:spcBef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Fixed-pitch relies heavily on the blade design to limit power through passive stalling.</a:t>
            </a:r>
          </a:p>
          <a:p>
            <a:pPr marL="625671" marR="6773" lvl="1" indent="-422476"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power efficiency is maximized at low wind speeds, and rated turbine power is attained only at one wind speed.</a:t>
            </a:r>
          </a:p>
          <a:p>
            <a:pPr marL="625671" lvl="1" indent="-422476">
              <a:spcBef>
                <a:spcPts val="1200"/>
              </a:spcBef>
              <a:tabLst>
                <a:tab pos="625671" algn="l"/>
              </a:tabLst>
            </a:pPr>
            <a:r>
              <a:rPr lang="en-US" dirty="0">
                <a:solidFill>
                  <a:srgbClr val="202429"/>
                </a:solidFill>
                <a:cs typeface="Times New Roman"/>
              </a:rPr>
              <a:t>In lower wind speed cases, VS-FP can capture more energy and improve power quality.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2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917FB-5CD3-4595-87BC-28A02F3E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/>
                <a:cs typeface="Arial"/>
              </a:rPr>
              <a:t>WECS</a:t>
            </a:r>
            <a:r>
              <a:rPr lang="en-US" b="1" spc="-4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based</a:t>
            </a:r>
            <a:r>
              <a:rPr lang="en-US" b="1" spc="-27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on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the rotational</a:t>
            </a:r>
            <a:r>
              <a:rPr lang="en-US" b="1" spc="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speed</a:t>
            </a:r>
            <a:r>
              <a:rPr lang="en-US" b="1" spc="-2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of</a:t>
            </a:r>
            <a:r>
              <a:rPr lang="en-US" b="1" spc="-33" dirty="0">
                <a:latin typeface="Arial"/>
                <a:cs typeface="Arial"/>
              </a:rPr>
              <a:t> </a:t>
            </a:r>
            <a:r>
              <a:rPr lang="en-US" b="1" spc="-13" dirty="0">
                <a:latin typeface="Arial"/>
                <a:cs typeface="Arial"/>
              </a:rPr>
              <a:t>turbines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92551-F2F0-0B4A-E149-54805DD11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03195" indent="0">
              <a:spcBef>
                <a:spcPts val="1127"/>
              </a:spcBef>
              <a:buNone/>
              <a:tabLst>
                <a:tab pos="625671" algn="l"/>
              </a:tabLst>
            </a:pP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4. Variable-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speed</a:t>
            </a:r>
            <a:r>
              <a:rPr lang="en-US" b="1" spc="13" dirty="0">
                <a:solidFill>
                  <a:srgbClr val="202429"/>
                </a:solidFill>
                <a:cs typeface="Times New Roman"/>
              </a:rPr>
              <a:t>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variable-</a:t>
            </a:r>
            <a:r>
              <a:rPr lang="en-US" b="1" dirty="0">
                <a:solidFill>
                  <a:srgbClr val="202429"/>
                </a:solidFill>
                <a:cs typeface="Times New Roman"/>
              </a:rPr>
              <a:t>pitch </a:t>
            </a:r>
            <a:r>
              <a:rPr lang="en-US" b="1" spc="-13" dirty="0">
                <a:solidFill>
                  <a:srgbClr val="202429"/>
                </a:solidFill>
                <a:cs typeface="Times New Roman"/>
              </a:rPr>
              <a:t>(VS-</a:t>
            </a:r>
            <a:r>
              <a:rPr lang="en-US" b="1" spc="-33" dirty="0">
                <a:solidFill>
                  <a:srgbClr val="202429"/>
                </a:solidFill>
                <a:cs typeface="Times New Roman"/>
              </a:rPr>
              <a:t>VP)</a:t>
            </a:r>
          </a:p>
          <a:p>
            <a:pPr marL="203195" indent="0">
              <a:spcBef>
                <a:spcPts val="1127"/>
              </a:spcBef>
              <a:buNone/>
              <a:tabLst>
                <a:tab pos="625671" algn="l"/>
              </a:tabLst>
            </a:pPr>
            <a:endParaRPr lang="en-US" dirty="0">
              <a:solidFill>
                <a:srgbClr val="202429"/>
              </a:solidFill>
              <a:cs typeface="Times New Roman"/>
            </a:endParaRPr>
          </a:p>
          <a:p>
            <a:pPr marL="660395" indent="-457200">
              <a:spcBef>
                <a:spcPts val="1127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02429"/>
                </a:solidFill>
                <a:cs typeface="Times New Roman"/>
              </a:rPr>
              <a:t>It is a derivation of VS-FP and FS-VP.</a:t>
            </a:r>
          </a:p>
          <a:p>
            <a:pPr marL="660395" indent="-457200">
              <a:spcBef>
                <a:spcPts val="1127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02429"/>
                </a:solidFill>
                <a:cs typeface="Times New Roman"/>
              </a:rPr>
              <a:t>Below the rated wind speed, VS-FP is used to maximize energy capture and increase power quality.</a:t>
            </a:r>
          </a:p>
          <a:p>
            <a:pPr marL="660395" indent="-457200">
              <a:spcBef>
                <a:spcPts val="1120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02429"/>
                </a:solidFill>
                <a:cs typeface="Times New Roman"/>
              </a:rPr>
              <a:t>Above the rated wind speed, FS-VP permit efficient power regulation at the rated power.</a:t>
            </a:r>
          </a:p>
          <a:p>
            <a:pPr marL="660395" indent="-457200">
              <a:spcBef>
                <a:spcPts val="1120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02429"/>
                </a:solidFill>
                <a:cs typeface="Times New Roman"/>
              </a:rPr>
              <a:t>VS-VP is the only control strategy that theoretically achieves the ideal power curve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4338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870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BASIC COMPONENTS OF WIND ENERGY CONVERSION SYSTEM (WECS)</vt:lpstr>
      <vt:lpstr>BASIC COMPONENTS OF WIND ENERGY CONVERSION SYSTEM (WECS)</vt:lpstr>
      <vt:lpstr>BASIC COMPONENTS OF WIND ENERGY CONVERSION SYSTEM (WECS)</vt:lpstr>
      <vt:lpstr>BASIC COMPONENTS OF WIND ENERGY CONVERSION SYSTEM (WECS)</vt:lpstr>
      <vt:lpstr>BASIC COMPONENTS OF WIND ENERGY CONVERSION SYSTEM (WECS)</vt:lpstr>
      <vt:lpstr>WECS based on the rotational speed of turbines</vt:lpstr>
      <vt:lpstr>WECS based on the rotational speed of turbines</vt:lpstr>
      <vt:lpstr>WECS based on the rotational speed of turbines</vt:lpstr>
      <vt:lpstr>WECS based on the rotational speed of turbines</vt:lpstr>
      <vt:lpstr>WECS based on the rotational speed of turbines</vt:lpstr>
      <vt:lpstr>WECS based on the rotational speed of turbines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2026-01-14T03:58:16Z</dcterms:created>
  <dcterms:modified xsi:type="dcterms:W3CDTF">2026-01-14T03:59:07Z</dcterms:modified>
</cp:coreProperties>
</file>