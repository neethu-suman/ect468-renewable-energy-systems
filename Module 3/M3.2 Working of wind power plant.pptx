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2" r:id="rId2"/>
    <p:sldId id="347" r:id="rId3"/>
    <p:sldId id="346" r:id="rId4"/>
    <p:sldId id="332" r:id="rId5"/>
    <p:sldId id="333" r:id="rId6"/>
    <p:sldId id="334" r:id="rId7"/>
    <p:sldId id="336" r:id="rId8"/>
    <p:sldId id="335" r:id="rId9"/>
    <p:sldId id="337" r:id="rId10"/>
    <p:sldId id="33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2AB66-D469-5019-A4BE-C27B49195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F9B6D-62C5-A6E2-9A71-8464A75D1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314F8-25AB-57CC-C694-8473746E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5E38-38FC-474A-8AB3-846C75DDA70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A8995-9B98-1822-5949-0E82D5DCC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9F4DF-E815-EA3D-A290-15810053F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A686-54BD-4791-BA17-6B2E5C418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291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5EAED-8985-3F17-AA6A-4E2F83FB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1C57A-C69A-7EC8-703B-4F72B62A7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4AE4D-690C-10F7-D47F-A97CF819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5E38-38FC-474A-8AB3-846C75DDA70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C2712-3A51-CB13-AE96-BC7B7D4E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E52CB-94CF-F599-9358-5AE04E76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A686-54BD-4791-BA17-6B2E5C418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794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8DC18-4C7F-662D-45EF-D37252377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C3C3B-5BEE-2AB2-AF03-54AC38595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22666-12E8-687A-A2C2-17AEB487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5E38-38FC-474A-8AB3-846C75DDA70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144A4-E286-ED36-B5B1-C288BE249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E1864-8B65-9F57-F8A4-B5A6B1FA9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A686-54BD-4791-BA17-6B2E5C418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87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11E4-E0D2-3556-F600-F0ACD39A8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3C3DF-CCD6-92E6-EEDC-8804ADEB11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FE0A7-A270-E0F3-0C62-AEC13854A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2CB9E-DEF3-1F2C-B09D-2F141ECB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5E38-38FC-474A-8AB3-846C75DDA70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7288D-E502-F757-CA01-037230DE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A630A-D569-0A4D-269D-6C02A2D2B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A686-54BD-4791-BA17-6B2E5C418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918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B6D0-25CA-4C74-B5B8-CEF92C4CD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1A3D0-3236-D49D-B908-C4CDBBD4C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9467E-A0D8-C264-98B7-17A20C8A1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BCAFD-C090-EE38-C13A-066A44324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9B215-09BC-B840-B2B5-DDE6ECFBB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E4BE89-45A5-2587-D454-5860DF41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5E38-38FC-474A-8AB3-846C75DDA70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C68829-E146-AB5C-D724-0A5FD4062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79FFEB-1FD7-8529-DB91-36A2D38E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A686-54BD-4791-BA17-6B2E5C418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89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E2C70-0D12-3C91-7E60-3F3D24D0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62F873-CB42-4D7D-4642-9E9AE2B5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5E38-38FC-474A-8AB3-846C75DDA70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987818-273C-39FE-BD37-1CE7CDC10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97D61-04A4-85EC-EEF1-2A0E1E5C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A686-54BD-4791-BA17-6B2E5C418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10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0531F0-DF34-E6B6-33D5-9A7B737D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5E38-38FC-474A-8AB3-846C75DDA70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DA0CC-336B-7C47-435F-AEAE7C8A5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357D3-B96C-0DE2-2C3A-92A96114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A686-54BD-4791-BA17-6B2E5C418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16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25D0-5403-95DE-F006-5A53CEDC9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5E88F-E02B-08B5-FB34-B9246B910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8B002-CD7F-941C-999D-58EF6027F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FC18C-F0F7-3538-F296-7815568A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5E38-38FC-474A-8AB3-846C75DDA70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823BF-A323-8F8F-9405-83035B87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7E0A6-EE5E-642C-E3F1-FE114C123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A686-54BD-4791-BA17-6B2E5C418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403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ACBD-5AB2-30CA-520C-170DB6840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EC78E-18E7-2463-4BCC-3E55C3CD6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85882-4B66-EC00-D694-111E0A4C8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5B510-4783-4EDF-1C89-961C16FC7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5E38-38FC-474A-8AB3-846C75DDA70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35C9E0-3482-638F-AC10-BA7F5BDB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ECECC-46FC-61DA-1005-6442C743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A686-54BD-4791-BA17-6B2E5C418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854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672E-54ED-34EF-28B2-A0E06C32F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3B7A5-DE97-36DC-202E-FFFF0BB1A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97C62-0152-0603-8A0D-50016470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5E38-38FC-474A-8AB3-846C75DDA70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F7BF6-8AEE-1F8D-A283-4BD058D6A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5344F-9E9D-0196-ADE8-2D45E5D2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A686-54BD-4791-BA17-6B2E5C418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25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AD39F-C20B-0088-3C89-B4A48BAEB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2A255-ADEA-ECCA-CAB8-EA76E0262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354A2-FD35-2A1B-DE17-001EE45E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B5E38-38FC-474A-8AB3-846C75DDA70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250D1-AD39-11FD-3353-24D20ED96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96A8F-037D-7AD6-1E10-CC43E97B6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A686-54BD-4791-BA17-6B2E5C418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3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4961EF-1975-B141-7C00-93C11B37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4BF38-13B0-0FFF-5836-B28D814C4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DD719-8FFF-6D1D-578D-D38550AFC7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B5E38-38FC-474A-8AB3-846C75DDA701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2C1DA-0FB3-D148-0DBC-35228FBAC7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73E5A-E080-AF50-848D-68243C89D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9A686-54BD-4791-BA17-6B2E5C418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44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8503B-F2BB-2A74-8B09-654D0EE3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Wind Turbine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CBCD2-2DA5-DC1A-BC05-933BDDB8E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wind turbine is a rotating machine which converts the kinetic energy in wind into mechanical energy. Then the mechanical energy is then converted to electricity, the machine is called a wind generator, wind turbine, wind power unit (WPU), wind energy converter (WEC), or aerogenerator. </a:t>
            </a:r>
          </a:p>
          <a:p>
            <a:r>
              <a:rPr lang="en-US" sz="2400" dirty="0"/>
              <a:t>The wind turbines are machines having a rotor with three propeller blades. These blades are explicitly arranged in a horizontal way to push wind for generating electricity. </a:t>
            </a:r>
          </a:p>
          <a:p>
            <a:r>
              <a:rPr lang="en-US" sz="2400" dirty="0"/>
              <a:t>Wind turbines are placed in those areas having high speeds of wind, to spin the blades much faster for the rotor to transmit the electricity produced to a generator. Finally, the electricity produced is supplied to different stations through the grid.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40926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ind power components">
            <a:extLst>
              <a:ext uri="{FF2B5EF4-FFF2-40B4-BE49-F238E27FC236}">
                <a16:creationId xmlns:a16="http://schemas.microsoft.com/office/drawing/2014/main" id="{8239A8BE-3230-6C38-7C95-EBCD1D4A4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974" y="417444"/>
            <a:ext cx="9700591" cy="666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5912F6-AC72-4661-C0C2-E69C7C3AD61F}"/>
              </a:ext>
            </a:extLst>
          </p:cNvPr>
          <p:cNvSpPr txBox="1"/>
          <p:nvPr/>
        </p:nvSpPr>
        <p:spPr>
          <a:xfrm>
            <a:off x="5110370" y="575678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+mn-lt"/>
                <a:cs typeface="Times New Roman" panose="02020603050405020304" pitchFamily="18" charset="0"/>
              </a:rPr>
              <a:t>Wind turbine components 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688347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onents of a wind turbines">
            <a:extLst>
              <a:ext uri="{FF2B5EF4-FFF2-40B4-BE49-F238E27FC236}">
                <a16:creationId xmlns:a16="http://schemas.microsoft.com/office/drawing/2014/main" id="{07FEA316-7307-DB9C-E32A-B77E475CD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30" y="890381"/>
            <a:ext cx="7292628" cy="575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0EA7F0A-9A24-F713-597B-56CEBBDDC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258" y="721415"/>
            <a:ext cx="4804742" cy="584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44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D1D4-82FA-029A-D64C-8B26D568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  <a:cs typeface="Times New Roman" panose="02020603050405020304" pitchFamily="18" charset="0"/>
              </a:rPr>
              <a:t>Wind turbine components </a:t>
            </a:r>
            <a:endParaRPr lang="en-IN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844F22-749A-8722-2734-52EAFA6A9B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80322"/>
            <a:ext cx="5950226" cy="5029199"/>
          </a:xfrm>
        </p:spPr>
        <p:txBody>
          <a:bodyPr>
            <a:noAutofit/>
          </a:bodyPr>
          <a:lstStyle/>
          <a:p>
            <a:pPr marL="16933" indent="0">
              <a:spcBef>
                <a:spcPts val="1153"/>
              </a:spcBef>
              <a:buNone/>
              <a:tabLst>
                <a:tab pos="457189" algn="l"/>
              </a:tabLst>
            </a:pPr>
            <a:r>
              <a:rPr lang="en-US" sz="2400" dirty="0">
                <a:cs typeface="Times New Roman" panose="02020603050405020304" pitchFamily="18" charset="0"/>
              </a:rPr>
              <a:t>The major components of a turbine are: </a:t>
            </a:r>
          </a:p>
          <a:p>
            <a:pPr marL="457189" indent="-440256">
              <a:spcBef>
                <a:spcPts val="1153"/>
              </a:spcBef>
              <a:buFont typeface="Times New Roman"/>
              <a:buChar char="●"/>
              <a:tabLst>
                <a:tab pos="457189" algn="l"/>
              </a:tabLst>
            </a:pPr>
            <a:r>
              <a:rPr lang="en-US" sz="2000" b="1" dirty="0">
                <a:cs typeface="Times New Roman" panose="02020603050405020304" pitchFamily="18" charset="0"/>
              </a:rPr>
              <a:t>Tower</a:t>
            </a:r>
            <a:r>
              <a:rPr lang="en-US" sz="2000" b="1" spc="-73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is</a:t>
            </a:r>
            <a:r>
              <a:rPr lang="en-US" sz="2000" spc="-2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the</a:t>
            </a:r>
            <a:r>
              <a:rPr lang="en-US" sz="2000" spc="-33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physical</a:t>
            </a:r>
            <a:r>
              <a:rPr lang="en-US" sz="2000" spc="-7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structure</a:t>
            </a:r>
            <a:r>
              <a:rPr lang="en-US" sz="2000" spc="7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that</a:t>
            </a:r>
            <a:r>
              <a:rPr lang="en-US" sz="2000" spc="-13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holds</a:t>
            </a:r>
            <a:r>
              <a:rPr lang="en-US" sz="2000" spc="-47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the</a:t>
            </a:r>
            <a:r>
              <a:rPr lang="en-US" sz="2000" spc="-33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wind</a:t>
            </a:r>
            <a:r>
              <a:rPr lang="en-US" sz="2000" spc="-33" dirty="0">
                <a:cs typeface="Times New Roman" panose="02020603050405020304" pitchFamily="18" charset="0"/>
              </a:rPr>
              <a:t> </a:t>
            </a:r>
            <a:r>
              <a:rPr lang="en-US" sz="2000" spc="-13" dirty="0">
                <a:cs typeface="Times New Roman" panose="02020603050405020304" pitchFamily="18" charset="0"/>
              </a:rPr>
              <a:t>turbine</a:t>
            </a:r>
            <a:endParaRPr lang="en-US" sz="2000" dirty="0">
              <a:cs typeface="Times New Roman" panose="02020603050405020304" pitchFamily="18" charset="0"/>
            </a:endParaRPr>
          </a:p>
          <a:p>
            <a:pPr marL="457189" marR="6773" indent="-441102">
              <a:lnSpc>
                <a:spcPts val="3587"/>
              </a:lnSpc>
              <a:spcBef>
                <a:spcPts val="292"/>
              </a:spcBef>
              <a:buFont typeface="Times New Roman"/>
              <a:buChar char="●"/>
              <a:tabLst>
                <a:tab pos="457189" algn="l"/>
              </a:tabLst>
            </a:pPr>
            <a:r>
              <a:rPr lang="en-US" sz="2000" b="1" dirty="0">
                <a:cs typeface="Times New Roman" panose="02020603050405020304" pitchFamily="18" charset="0"/>
              </a:rPr>
              <a:t>Blades</a:t>
            </a:r>
            <a:r>
              <a:rPr lang="en-US" sz="2000" b="1" spc="152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are</a:t>
            </a:r>
            <a:r>
              <a:rPr lang="en-US" sz="2000" spc="147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physical</a:t>
            </a:r>
            <a:r>
              <a:rPr lang="en-US" sz="2000" spc="16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structures,</a:t>
            </a:r>
            <a:r>
              <a:rPr lang="en-US" sz="2000" spc="16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which</a:t>
            </a:r>
            <a:r>
              <a:rPr lang="en-US" sz="2000" spc="167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are</a:t>
            </a:r>
            <a:r>
              <a:rPr lang="en-US" sz="2000" spc="152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aerodynamically</a:t>
            </a:r>
            <a:r>
              <a:rPr lang="en-US" sz="2000" spc="167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optimized</a:t>
            </a:r>
            <a:r>
              <a:rPr lang="en-US" sz="2000" spc="16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to</a:t>
            </a:r>
            <a:r>
              <a:rPr lang="en-US" sz="2000" spc="173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capture</a:t>
            </a:r>
            <a:r>
              <a:rPr lang="en-US" sz="2000" spc="16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the</a:t>
            </a:r>
            <a:r>
              <a:rPr lang="en-US" sz="2000" spc="193" dirty="0">
                <a:cs typeface="Times New Roman" panose="02020603050405020304" pitchFamily="18" charset="0"/>
              </a:rPr>
              <a:t> </a:t>
            </a:r>
            <a:r>
              <a:rPr lang="en-US" sz="2000" spc="-13" dirty="0">
                <a:cs typeface="Times New Roman" panose="02020603050405020304" pitchFamily="18" charset="0"/>
              </a:rPr>
              <a:t>maximum </a:t>
            </a:r>
            <a:r>
              <a:rPr lang="en-US" sz="2000" dirty="0">
                <a:cs typeface="Times New Roman" panose="02020603050405020304" pitchFamily="18" charset="0"/>
              </a:rPr>
              <a:t>power</a:t>
            </a:r>
            <a:r>
              <a:rPr lang="en-US" sz="2000" spc="-4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from</a:t>
            </a:r>
            <a:r>
              <a:rPr lang="en-US" sz="2000" spc="-33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the</a:t>
            </a:r>
            <a:r>
              <a:rPr lang="en-US" sz="2000" spc="-33" dirty="0">
                <a:cs typeface="Times New Roman" panose="02020603050405020304" pitchFamily="18" charset="0"/>
              </a:rPr>
              <a:t> </a:t>
            </a:r>
            <a:r>
              <a:rPr lang="en-US" sz="2000" spc="-27" dirty="0">
                <a:cs typeface="Times New Roman" panose="02020603050405020304" pitchFamily="18" charset="0"/>
              </a:rPr>
              <a:t>wind</a:t>
            </a:r>
            <a:endParaRPr lang="en-US" sz="2000" dirty="0">
              <a:cs typeface="Times New Roman" panose="02020603050405020304" pitchFamily="18" charset="0"/>
            </a:endParaRPr>
          </a:p>
          <a:p>
            <a:pPr marL="457189" marR="8466" indent="-441102">
              <a:lnSpc>
                <a:spcPts val="3587"/>
              </a:lnSpc>
              <a:buFont typeface="Times New Roman"/>
              <a:buChar char="●"/>
              <a:tabLst>
                <a:tab pos="457189" algn="l"/>
              </a:tabLst>
            </a:pPr>
            <a:r>
              <a:rPr lang="en-US" sz="2000" b="1" dirty="0">
                <a:cs typeface="Times New Roman" panose="02020603050405020304" pitchFamily="18" charset="0"/>
              </a:rPr>
              <a:t>Nacelle</a:t>
            </a:r>
            <a:r>
              <a:rPr lang="en-US" sz="2000" b="1" spc="52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is</a:t>
            </a:r>
            <a:r>
              <a:rPr lang="en-US" sz="2000" spc="527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the</a:t>
            </a:r>
            <a:r>
              <a:rPr lang="en-US" sz="2000" spc="527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enclosure</a:t>
            </a:r>
            <a:r>
              <a:rPr lang="en-US" sz="2000" spc="527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of</a:t>
            </a:r>
            <a:r>
              <a:rPr lang="en-US" sz="2000" spc="527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the</a:t>
            </a:r>
            <a:r>
              <a:rPr lang="en-US" sz="2000" spc="513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wind</a:t>
            </a:r>
            <a:r>
              <a:rPr lang="en-US" sz="2000" spc="52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turbine</a:t>
            </a:r>
            <a:r>
              <a:rPr lang="en-US" sz="2000" spc="513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generator,</a:t>
            </a:r>
            <a:r>
              <a:rPr lang="en-US" sz="2000" spc="52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gearbox</a:t>
            </a:r>
            <a:r>
              <a:rPr lang="en-US" sz="2000" spc="527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and</a:t>
            </a:r>
            <a:r>
              <a:rPr lang="en-US" sz="2000" spc="52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internal</a:t>
            </a:r>
            <a:r>
              <a:rPr lang="en-US" sz="2000" spc="540" dirty="0">
                <a:cs typeface="Times New Roman" panose="02020603050405020304" pitchFamily="18" charset="0"/>
              </a:rPr>
              <a:t> </a:t>
            </a:r>
            <a:r>
              <a:rPr lang="en-US" sz="2000" spc="-13" dirty="0">
                <a:cs typeface="Times New Roman" panose="02020603050405020304" pitchFamily="18" charset="0"/>
              </a:rPr>
              <a:t>equipment. It </a:t>
            </a:r>
            <a:r>
              <a:rPr lang="en-US" sz="2000" dirty="0">
                <a:cs typeface="Times New Roman" panose="02020603050405020304" pitchFamily="18" charset="0"/>
              </a:rPr>
              <a:t>protects</a:t>
            </a:r>
            <a:r>
              <a:rPr lang="en-US" sz="2000" spc="-47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the</a:t>
            </a:r>
            <a:r>
              <a:rPr lang="en-US" sz="2000" spc="-6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turbine‘s</a:t>
            </a:r>
            <a:r>
              <a:rPr lang="en-US" sz="2000" spc="-33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internal</a:t>
            </a:r>
            <a:r>
              <a:rPr lang="en-US" sz="2000" spc="-47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components</a:t>
            </a:r>
            <a:r>
              <a:rPr lang="en-US" sz="2000" spc="-2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from</a:t>
            </a:r>
            <a:r>
              <a:rPr lang="en-US" sz="2000" spc="-53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the</a:t>
            </a:r>
            <a:r>
              <a:rPr lang="en-US" sz="2000" spc="-67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surrounding</a:t>
            </a:r>
            <a:r>
              <a:rPr lang="en-US" sz="2000" spc="-53" dirty="0">
                <a:cs typeface="Times New Roman" panose="02020603050405020304" pitchFamily="18" charset="0"/>
              </a:rPr>
              <a:t> </a:t>
            </a:r>
            <a:r>
              <a:rPr lang="en-US" sz="2000" spc="-13" dirty="0">
                <a:cs typeface="Times New Roman" panose="02020603050405020304" pitchFamily="18" charset="0"/>
              </a:rPr>
              <a:t>environment</a:t>
            </a:r>
            <a:endParaRPr lang="en-US" sz="2000" dirty="0"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7A6B7E-036E-CDD4-4ECA-1596C465376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945" y="644352"/>
            <a:ext cx="4804742" cy="584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5B034C-14EC-5CE5-3C49-03DB9DEEA37D}"/>
              </a:ext>
            </a:extLst>
          </p:cNvPr>
          <p:cNvCxnSpPr>
            <a:cxnSpLocks/>
          </p:cNvCxnSpPr>
          <p:nvPr/>
        </p:nvCxnSpPr>
        <p:spPr>
          <a:xfrm flipV="1">
            <a:off x="7106478" y="2703444"/>
            <a:ext cx="665922" cy="57646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550D2B7-B886-CBCA-AFBC-9E15920DCB25}"/>
              </a:ext>
            </a:extLst>
          </p:cNvPr>
          <p:cNvSpPr txBox="1"/>
          <p:nvPr/>
        </p:nvSpPr>
        <p:spPr>
          <a:xfrm>
            <a:off x="6331226" y="3429000"/>
            <a:ext cx="1550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Rotor</a:t>
            </a:r>
            <a:r>
              <a:rPr lang="en-US" sz="2000" b="1" spc="30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hub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112189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0F9200-D049-0927-3088-871B25F88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  <a:cs typeface="Times New Roman" panose="02020603050405020304" pitchFamily="18" charset="0"/>
              </a:rPr>
              <a:t>Wind turbine components </a:t>
            </a:r>
            <a:endParaRPr lang="en-IN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15927C-6ECF-B5D5-1C99-717955923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48"/>
            <a:ext cx="10515600" cy="5118652"/>
          </a:xfrm>
        </p:spPr>
        <p:txBody>
          <a:bodyPr>
            <a:noAutofit/>
          </a:bodyPr>
          <a:lstStyle/>
          <a:p>
            <a:pPr marL="447675" indent="-358775">
              <a:spcBef>
                <a:spcPts val="727"/>
              </a:spcBef>
              <a:tabLst>
                <a:tab pos="457189" algn="l"/>
              </a:tabLst>
            </a:pPr>
            <a:r>
              <a:rPr lang="en-US" sz="2000" b="1" dirty="0">
                <a:cs typeface="Times New Roman"/>
              </a:rPr>
              <a:t>Rotor</a:t>
            </a:r>
            <a:r>
              <a:rPr lang="en-US" sz="2000" b="1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is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rotating part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of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wind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turbine.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It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transfers</a:t>
            </a:r>
            <a:r>
              <a:rPr lang="en-US" sz="2000" spc="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energy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in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wind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shaft.</a:t>
            </a:r>
            <a:endParaRPr lang="en-US" sz="2000" dirty="0">
              <a:cs typeface="Times New Roman"/>
            </a:endParaRPr>
          </a:p>
          <a:p>
            <a:pPr marL="447675" marR="8466" indent="-358775">
              <a:lnSpc>
                <a:spcPct val="140000"/>
              </a:lnSpc>
              <a:tabLst>
                <a:tab pos="457189" algn="l"/>
              </a:tabLst>
            </a:pPr>
            <a:r>
              <a:rPr lang="en-US" sz="2000" b="1" dirty="0">
                <a:cs typeface="Times New Roman"/>
              </a:rPr>
              <a:t>Rotor</a:t>
            </a:r>
            <a:r>
              <a:rPr lang="en-US" sz="2000" b="1" spc="300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hub</a:t>
            </a:r>
            <a:r>
              <a:rPr lang="en-US" sz="2000" b="1" spc="29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holds</a:t>
            </a:r>
            <a:r>
              <a:rPr lang="en-US" sz="2000" spc="3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30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wind</a:t>
            </a:r>
            <a:r>
              <a:rPr lang="en-US" sz="2000" spc="3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turbine</a:t>
            </a:r>
            <a:r>
              <a:rPr lang="en-US" sz="2000" spc="3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blades</a:t>
            </a:r>
            <a:r>
              <a:rPr lang="en-US" sz="2000" spc="305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while</a:t>
            </a:r>
            <a:r>
              <a:rPr lang="en-US" sz="2000" spc="3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connected</a:t>
            </a:r>
            <a:r>
              <a:rPr lang="en-US" sz="2000" spc="3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3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30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gearbox</a:t>
            </a:r>
            <a:r>
              <a:rPr lang="en-US" sz="2000" spc="3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via</a:t>
            </a:r>
            <a:r>
              <a:rPr lang="en-US" sz="2000" spc="29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313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low-speed shaft.</a:t>
            </a:r>
            <a:endParaRPr lang="en-US" sz="2000" dirty="0">
              <a:cs typeface="Times New Roman"/>
            </a:endParaRPr>
          </a:p>
          <a:p>
            <a:pPr marL="447675" marR="6773" indent="-358775">
              <a:lnSpc>
                <a:spcPct val="140000"/>
              </a:lnSpc>
              <a:spcBef>
                <a:spcPts val="7"/>
              </a:spcBef>
              <a:tabLst>
                <a:tab pos="457189" algn="l"/>
              </a:tabLst>
            </a:pPr>
            <a:r>
              <a:rPr lang="en-US" sz="2000" b="1" dirty="0">
                <a:cs typeface="Times New Roman"/>
              </a:rPr>
              <a:t>Pitch</a:t>
            </a:r>
            <a:r>
              <a:rPr lang="en-US" sz="2000" b="1" spc="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is</a:t>
            </a:r>
            <a:r>
              <a:rPr lang="en-US" sz="2000" spc="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7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mechanism</a:t>
            </a:r>
            <a:r>
              <a:rPr lang="en-US" sz="2000" spc="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of</a:t>
            </a:r>
            <a:r>
              <a:rPr lang="en-US" sz="2000" spc="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adjusting</a:t>
            </a:r>
            <a:r>
              <a:rPr lang="en-US" sz="2000" spc="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angle</a:t>
            </a:r>
            <a:r>
              <a:rPr lang="en-US" sz="2000" spc="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of</a:t>
            </a:r>
            <a:r>
              <a:rPr lang="en-US" sz="2000" spc="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attack</a:t>
            </a:r>
            <a:r>
              <a:rPr lang="en-US" sz="2000" spc="6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of</a:t>
            </a:r>
            <a:r>
              <a:rPr lang="en-US" sz="2000" spc="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rotor</a:t>
            </a:r>
            <a:r>
              <a:rPr lang="en-US" sz="2000" spc="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blades.</a:t>
            </a:r>
            <a:r>
              <a:rPr lang="en-US" sz="2000" spc="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Blades</a:t>
            </a:r>
            <a:r>
              <a:rPr lang="en-US" sz="2000" spc="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are</a:t>
            </a:r>
            <a:r>
              <a:rPr lang="en-US" sz="2000" spc="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turned</a:t>
            </a:r>
            <a:r>
              <a:rPr lang="en-US" sz="2000" spc="33" dirty="0">
                <a:cs typeface="Times New Roman"/>
              </a:rPr>
              <a:t> </a:t>
            </a:r>
            <a:r>
              <a:rPr lang="en-US" sz="2000" spc="-33" dirty="0">
                <a:cs typeface="Times New Roman"/>
              </a:rPr>
              <a:t>in </a:t>
            </a:r>
            <a:r>
              <a:rPr lang="en-US" sz="2000" dirty="0">
                <a:cs typeface="Times New Roman"/>
              </a:rPr>
              <a:t>their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longitudinal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axis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change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angle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of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attack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according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wind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directions</a:t>
            </a:r>
          </a:p>
          <a:p>
            <a:pPr marL="447675" marR="6773" indent="-358775">
              <a:lnSpc>
                <a:spcPct val="140000"/>
              </a:lnSpc>
              <a:spcBef>
                <a:spcPts val="7"/>
              </a:spcBef>
              <a:tabLst>
                <a:tab pos="457189" algn="l"/>
              </a:tabLst>
            </a:pPr>
            <a:endParaRPr lang="en-US" sz="2000" dirty="0">
              <a:cs typeface="Times New Roman"/>
            </a:endParaRPr>
          </a:p>
          <a:p>
            <a:pPr marL="447675" indent="-358775">
              <a:spcBef>
                <a:spcPts val="1027"/>
              </a:spcBef>
              <a:tabLst>
                <a:tab pos="457189" algn="l"/>
              </a:tabLst>
            </a:pPr>
            <a:endParaRPr lang="en-IN" dirty="0"/>
          </a:p>
        </p:txBody>
      </p:sp>
      <p:pic>
        <p:nvPicPr>
          <p:cNvPr id="2" name="object 4">
            <a:extLst>
              <a:ext uri="{FF2B5EF4-FFF2-40B4-BE49-F238E27FC236}">
                <a16:creationId xmlns:a16="http://schemas.microsoft.com/office/drawing/2014/main" id="{71505E58-6A4E-8BB9-2BFE-5461606D7A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9556" y="3747516"/>
            <a:ext cx="2216426" cy="31104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28D3C4-19B7-C2B6-040C-2C4BFEA3B443}"/>
              </a:ext>
            </a:extLst>
          </p:cNvPr>
          <p:cNvSpPr txBox="1"/>
          <p:nvPr/>
        </p:nvSpPr>
        <p:spPr>
          <a:xfrm>
            <a:off x="838200" y="3838161"/>
            <a:ext cx="6526696" cy="265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75" indent="-358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cs typeface="Times New Roman" panose="02020603050405020304" pitchFamily="18" charset="0"/>
              </a:rPr>
              <a:t>Yaw </a:t>
            </a:r>
            <a:r>
              <a:rPr lang="en-US" sz="2000" dirty="0">
                <a:cs typeface="Times New Roman" panose="02020603050405020304" pitchFamily="18" charset="0"/>
              </a:rPr>
              <a:t>is the horizontal moving part of the turbine. It turns clockwise or anticlockwise to face the wind. It has two main parts </a:t>
            </a:r>
          </a:p>
          <a:p>
            <a:pPr marL="904875" lvl="2" indent="-358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Times New Roman" panose="02020603050405020304" pitchFamily="18" charset="0"/>
              </a:rPr>
              <a:t>Yaw drive motor rotates the nacelle as it has to face in the direction of the wind to extract the maximum energy from wind </a:t>
            </a:r>
          </a:p>
          <a:p>
            <a:pPr marL="904875" lvl="2" indent="-358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>
                <a:cs typeface="Times New Roman" panose="02020603050405020304" pitchFamily="18" charset="0"/>
              </a:rPr>
              <a:t>Yaw </a:t>
            </a:r>
            <a:r>
              <a:rPr lang="en-US" sz="2000" dirty="0">
                <a:cs typeface="Times New Roman" panose="02020603050405020304" pitchFamily="18" charset="0"/>
              </a:rPr>
              <a:t>motor is used to move the yaw</a:t>
            </a:r>
            <a:endParaRPr lang="en-IN" sz="2000" dirty="0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3C9DD7F7-373A-EADB-D8AB-F1EF639064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87665" y="3894137"/>
            <a:ext cx="1983718" cy="290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537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49086-9368-C3D1-3F50-D269EBD7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Wind turbine components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9D6C0-E3C2-DB00-DC7B-E1C478C0D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027"/>
              </a:spcBef>
              <a:tabLst>
                <a:tab pos="457189" algn="l"/>
              </a:tabLst>
            </a:pPr>
            <a:r>
              <a:rPr lang="en-US" sz="2000" b="1" dirty="0">
                <a:cs typeface="Times New Roman"/>
              </a:rPr>
              <a:t>Shaft</a:t>
            </a:r>
            <a:r>
              <a:rPr lang="en-US" sz="2000" b="1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is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divided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into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spc="-27" dirty="0">
                <a:cs typeface="Times New Roman"/>
              </a:rPr>
              <a:t>two.</a:t>
            </a:r>
            <a:endParaRPr lang="en-US" sz="2000" dirty="0">
              <a:cs typeface="Times New Roman"/>
            </a:endParaRPr>
          </a:p>
          <a:p>
            <a:pPr marL="685800" lvl="3">
              <a:spcBef>
                <a:spcPts val="1020"/>
              </a:spcBef>
              <a:tabLst>
                <a:tab pos="761981" algn="l"/>
              </a:tabLst>
            </a:pPr>
            <a:r>
              <a:rPr lang="en-US" sz="2000" spc="-13" dirty="0">
                <a:cs typeface="Times New Roman"/>
              </a:rPr>
              <a:t>Low-</a:t>
            </a:r>
            <a:r>
              <a:rPr lang="en-US" sz="2000" dirty="0">
                <a:cs typeface="Times New Roman"/>
              </a:rPr>
              <a:t>speed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shaft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transfers</a:t>
            </a:r>
            <a:r>
              <a:rPr lang="en-US" sz="2000" spc="-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mechanical</a:t>
            </a:r>
            <a:r>
              <a:rPr lang="en-US" sz="2000" spc="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energy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from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rotor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gearbox,</a:t>
            </a:r>
            <a:endParaRPr lang="en-US" sz="2000" dirty="0">
              <a:cs typeface="Times New Roman"/>
            </a:endParaRPr>
          </a:p>
          <a:p>
            <a:pPr marL="685800" lvl="3">
              <a:spcBef>
                <a:spcPts val="1027"/>
              </a:spcBef>
              <a:tabLst>
                <a:tab pos="761981" algn="l"/>
              </a:tabLst>
            </a:pPr>
            <a:r>
              <a:rPr lang="en-US" sz="2000" spc="-13" dirty="0">
                <a:cs typeface="Times New Roman"/>
              </a:rPr>
              <a:t>High-</a:t>
            </a:r>
            <a:r>
              <a:rPr lang="en-US" sz="2000" dirty="0">
                <a:cs typeface="Times New Roman"/>
              </a:rPr>
              <a:t>speed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shaft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transfers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mechanical</a:t>
            </a:r>
            <a:r>
              <a:rPr lang="en-US" sz="2000" spc="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energy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from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gearbox</a:t>
            </a:r>
            <a:r>
              <a:rPr lang="en-US" sz="2000" spc="-6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generator.</a:t>
            </a:r>
            <a:endParaRPr lang="en-US" sz="2000" b="1" dirty="0">
              <a:cs typeface="Times New Roman" panose="02020603050405020304" pitchFamily="18" charset="0"/>
            </a:endParaRPr>
          </a:p>
          <a:p>
            <a:r>
              <a:rPr lang="en-US" sz="2000" b="1" dirty="0">
                <a:cs typeface="Times New Roman" panose="02020603050405020304" pitchFamily="18" charset="0"/>
              </a:rPr>
              <a:t>Gearbox </a:t>
            </a:r>
            <a:r>
              <a:rPr lang="en-US" sz="2000" dirty="0">
                <a:cs typeface="Times New Roman" panose="02020603050405020304" pitchFamily="18" charset="0"/>
              </a:rPr>
              <a:t>is a mechanical component that is used to increase or decrease the rotational speed of generator </a:t>
            </a:r>
          </a:p>
          <a:p>
            <a:r>
              <a:rPr lang="en-US" sz="2000" b="1" dirty="0">
                <a:cs typeface="Times New Roman" panose="02020603050405020304" pitchFamily="18" charset="0"/>
              </a:rPr>
              <a:t>Generator </a:t>
            </a:r>
            <a:r>
              <a:rPr lang="en-US" sz="2000" dirty="0">
                <a:cs typeface="Times New Roman" panose="02020603050405020304" pitchFamily="18" charset="0"/>
              </a:rPr>
              <a:t>is the component that converts the mechanical energy from the rotor to electrical energy </a:t>
            </a:r>
          </a:p>
          <a:p>
            <a:r>
              <a:rPr lang="en-US" sz="2000" b="1" dirty="0">
                <a:cs typeface="Times New Roman" panose="02020603050405020304" pitchFamily="18" charset="0"/>
              </a:rPr>
              <a:t>Controller </a:t>
            </a:r>
            <a:r>
              <a:rPr lang="en-US" sz="2000" dirty="0">
                <a:cs typeface="Times New Roman" panose="02020603050405020304" pitchFamily="18" charset="0"/>
              </a:rPr>
              <a:t>is the brain of the wind turbine. It monitors constantly the condition of the wind turbine and controls the pitch and yaw systems to extract optimum power from the wind. </a:t>
            </a:r>
          </a:p>
          <a:p>
            <a:r>
              <a:rPr lang="en-US" sz="2000" b="1" dirty="0">
                <a:cs typeface="Times New Roman" panose="02020603050405020304" pitchFamily="18" charset="0"/>
              </a:rPr>
              <a:t>Wind vane </a:t>
            </a:r>
            <a:r>
              <a:rPr lang="en-US" sz="2000" dirty="0">
                <a:cs typeface="Times New Roman" panose="02020603050405020304" pitchFamily="18" charset="0"/>
              </a:rPr>
              <a:t>is a type of sensor that is used to measure the wind direction </a:t>
            </a:r>
          </a:p>
          <a:p>
            <a:r>
              <a:rPr lang="en-US" sz="2000" b="1" dirty="0">
                <a:cs typeface="Times New Roman" panose="02020603050405020304" pitchFamily="18" charset="0"/>
              </a:rPr>
              <a:t>Anemometer </a:t>
            </a:r>
            <a:r>
              <a:rPr lang="en-US" sz="2000" dirty="0">
                <a:cs typeface="Times New Roman" panose="02020603050405020304" pitchFamily="18" charset="0"/>
              </a:rPr>
              <a:t>is a type of sensor that is used to measure the wind speed. </a:t>
            </a:r>
          </a:p>
          <a:p>
            <a:endParaRPr lang="en-US" sz="2000" dirty="0">
              <a:cs typeface="Times New Roman" panose="02020603050405020304" pitchFamily="18" charset="0"/>
            </a:endParaRPr>
          </a:p>
          <a:p>
            <a:endParaRPr lang="en-IN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227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7466-83A8-75AF-CDB9-5C314AC4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of wind power plant </a:t>
            </a:r>
            <a:endParaRPr lang="en-IN" dirty="0"/>
          </a:p>
        </p:txBody>
      </p:sp>
      <p:pic>
        <p:nvPicPr>
          <p:cNvPr id="4" name="object 4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60782" y="1763334"/>
            <a:ext cx="9644270" cy="472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579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61E92-1F41-DCD4-3DFE-FD97F31DB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of wind power plant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64C3C-6880-EFD9-278F-11F06439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850217" cy="4802187"/>
          </a:xfrm>
        </p:spPr>
        <p:txBody>
          <a:bodyPr>
            <a:normAutofit/>
          </a:bodyPr>
          <a:lstStyle/>
          <a:p>
            <a:pPr marL="457189" indent="-440256">
              <a:spcBef>
                <a:spcPts val="513"/>
              </a:spcBef>
              <a:buAutoNum type="arabicPeriod"/>
              <a:tabLst>
                <a:tab pos="457189" algn="l"/>
              </a:tabLst>
            </a:pPr>
            <a:r>
              <a:rPr lang="en-US" sz="2400" dirty="0">
                <a:cs typeface="Times New Roman"/>
              </a:rPr>
              <a:t>Wind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(moving</a:t>
            </a:r>
            <a:r>
              <a:rPr lang="en-US" sz="2400" spc="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air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that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contains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kinetic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energy)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blows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toward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turbine's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rotor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blades</a:t>
            </a:r>
            <a:endParaRPr lang="en-US" sz="2400" dirty="0">
              <a:cs typeface="Times New Roman"/>
            </a:endParaRPr>
          </a:p>
          <a:p>
            <a:pPr marL="457189" marR="7620" indent="-441102">
              <a:lnSpc>
                <a:spcPct val="114999"/>
              </a:lnSpc>
              <a:buAutoNum type="arabicPeriod"/>
              <a:tabLst>
                <a:tab pos="457189" algn="l"/>
              </a:tabLst>
            </a:pPr>
            <a:r>
              <a:rPr lang="en-US" sz="2400" dirty="0">
                <a:cs typeface="Times New Roman"/>
              </a:rPr>
              <a:t>The</a:t>
            </a:r>
            <a:r>
              <a:rPr lang="en-US" sz="2400" spc="2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rotors</a:t>
            </a:r>
            <a:r>
              <a:rPr lang="en-US" sz="2400" spc="2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spin</a:t>
            </a:r>
            <a:r>
              <a:rPr lang="en-US" sz="2400" spc="2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around,</a:t>
            </a:r>
            <a:r>
              <a:rPr lang="en-US" sz="2400" spc="2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capturing</a:t>
            </a:r>
            <a:r>
              <a:rPr lang="en-US" sz="2400" spc="2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some</a:t>
            </a:r>
            <a:r>
              <a:rPr lang="en-US" sz="2400" spc="2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2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2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kinetic</a:t>
            </a:r>
            <a:r>
              <a:rPr lang="en-US" sz="2400" spc="2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energy</a:t>
            </a:r>
            <a:r>
              <a:rPr lang="en-US" sz="2400" spc="2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from</a:t>
            </a:r>
            <a:r>
              <a:rPr lang="en-US" sz="2400" spc="2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2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wind,</a:t>
            </a:r>
            <a:r>
              <a:rPr lang="en-US" sz="2400" spc="2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and</a:t>
            </a:r>
            <a:r>
              <a:rPr lang="en-US" sz="2400" spc="2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turning</a:t>
            </a:r>
            <a:r>
              <a:rPr lang="en-US" sz="2400" spc="260" dirty="0">
                <a:cs typeface="Times New Roman"/>
              </a:rPr>
              <a:t> </a:t>
            </a:r>
            <a:r>
              <a:rPr lang="en-US" sz="2400" spc="-33" dirty="0">
                <a:cs typeface="Times New Roman"/>
              </a:rPr>
              <a:t>the </a:t>
            </a:r>
            <a:r>
              <a:rPr lang="en-US" sz="2400" dirty="0">
                <a:cs typeface="Times New Roman"/>
              </a:rPr>
              <a:t>central</a:t>
            </a:r>
            <a:r>
              <a:rPr lang="en-US" sz="2400" spc="-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drive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shaft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that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supports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spc="-27" dirty="0">
                <a:cs typeface="Times New Roman"/>
              </a:rPr>
              <a:t>them</a:t>
            </a:r>
            <a:endParaRPr lang="en-US" sz="2400" dirty="0">
              <a:cs typeface="Times New Roman"/>
            </a:endParaRPr>
          </a:p>
          <a:p>
            <a:pPr marL="457189" indent="-440256">
              <a:spcBef>
                <a:spcPts val="387"/>
              </a:spcBef>
              <a:buAutoNum type="arabicPeriod"/>
              <a:tabLst>
                <a:tab pos="457189" algn="l"/>
              </a:tabLst>
            </a:pPr>
            <a:r>
              <a:rPr lang="en-US" sz="2400" dirty="0">
                <a:cs typeface="Times New Roman"/>
              </a:rPr>
              <a:t>The</a:t>
            </a:r>
            <a:r>
              <a:rPr lang="en-US" sz="2400" spc="10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rotor</a:t>
            </a:r>
            <a:r>
              <a:rPr lang="en-US" sz="2400" spc="1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blades</a:t>
            </a:r>
            <a:r>
              <a:rPr lang="en-US" sz="2400" spc="1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can</a:t>
            </a:r>
            <a:r>
              <a:rPr lang="en-US" sz="2400" spc="1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swivel</a:t>
            </a:r>
            <a:r>
              <a:rPr lang="en-US" sz="2400" spc="1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on</a:t>
            </a:r>
            <a:r>
              <a:rPr lang="en-US" sz="2400" spc="10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1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hub</a:t>
            </a:r>
            <a:r>
              <a:rPr lang="en-US" sz="2400" spc="10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at</a:t>
            </a:r>
            <a:r>
              <a:rPr lang="en-US" sz="2400" spc="10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1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front</a:t>
            </a:r>
            <a:r>
              <a:rPr lang="en-US" sz="2400" spc="1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so</a:t>
            </a:r>
            <a:r>
              <a:rPr lang="en-US" sz="2400" spc="10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they</a:t>
            </a:r>
            <a:r>
              <a:rPr lang="en-US" sz="2400" spc="1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meet</a:t>
            </a:r>
            <a:r>
              <a:rPr lang="en-US" sz="2400" spc="10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1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wind</a:t>
            </a:r>
            <a:r>
              <a:rPr lang="en-US" sz="2400" spc="1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at</a:t>
            </a:r>
            <a:r>
              <a:rPr lang="en-US" sz="2400" spc="1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1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best</a:t>
            </a:r>
            <a:r>
              <a:rPr lang="en-US" sz="2400" spc="1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angle</a:t>
            </a:r>
            <a:r>
              <a:rPr lang="en-US" sz="2400" spc="127" dirty="0">
                <a:cs typeface="Times New Roman"/>
              </a:rPr>
              <a:t> </a:t>
            </a:r>
            <a:r>
              <a:rPr lang="en-US" sz="2400" spc="-33" dirty="0">
                <a:cs typeface="Times New Roman"/>
              </a:rPr>
              <a:t>(or </a:t>
            </a:r>
            <a:r>
              <a:rPr lang="en-US" sz="2400" dirty="0">
                <a:cs typeface="Times New Roman"/>
              </a:rPr>
              <a:t>"pitch")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for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harvesting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energy.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This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is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called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pitch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control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mechanism.</a:t>
            </a:r>
            <a:endParaRPr lang="en-US" sz="2400" dirty="0">
              <a:cs typeface="Times New Roman"/>
            </a:endParaRPr>
          </a:p>
          <a:p>
            <a:pPr marL="457189" marR="6773" indent="-441102">
              <a:lnSpc>
                <a:spcPct val="114999"/>
              </a:lnSpc>
              <a:buAutoNum type="arabicPeriod" startAt="4"/>
              <a:tabLst>
                <a:tab pos="457189" algn="l"/>
              </a:tabLst>
            </a:pPr>
            <a:r>
              <a:rPr lang="en-US" sz="2400" dirty="0">
                <a:cs typeface="Times New Roman"/>
              </a:rPr>
              <a:t>Inside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nacelle,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gearbox</a:t>
            </a:r>
            <a:r>
              <a:rPr lang="en-US" sz="2400" spc="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converts</a:t>
            </a:r>
            <a:r>
              <a:rPr lang="en-US" sz="2400" spc="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 </a:t>
            </a:r>
            <a:r>
              <a:rPr lang="en-US" sz="2400" spc="-13" dirty="0">
                <a:cs typeface="Times New Roman"/>
              </a:rPr>
              <a:t>low-</a:t>
            </a:r>
            <a:r>
              <a:rPr lang="en-US" sz="2400" dirty="0">
                <a:cs typeface="Times New Roman"/>
              </a:rPr>
              <a:t>speed rotation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drive</a:t>
            </a:r>
            <a:r>
              <a:rPr lang="en-US" sz="2400" spc="-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shaft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into</a:t>
            </a:r>
            <a:r>
              <a:rPr lang="en-US" sz="2400" spc="-13" dirty="0">
                <a:cs typeface="Times New Roman"/>
              </a:rPr>
              <a:t> high-speed </a:t>
            </a:r>
            <a:r>
              <a:rPr lang="en-US" sz="2400" dirty="0">
                <a:cs typeface="Times New Roman"/>
              </a:rPr>
              <a:t>rotation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fast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enough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drive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generator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efficiently</a:t>
            </a:r>
            <a:endParaRPr lang="en-US" sz="2400" dirty="0">
              <a:cs typeface="Times New Roman"/>
            </a:endParaRPr>
          </a:p>
          <a:p>
            <a:pPr marL="457189" indent="-440256">
              <a:spcBef>
                <a:spcPts val="387"/>
              </a:spcBef>
              <a:buAutoNum type="arabicPeriod" startAt="4"/>
              <a:tabLst>
                <a:tab pos="457189" algn="l"/>
              </a:tabLst>
            </a:pPr>
            <a:r>
              <a:rPr lang="en-US" sz="2400" dirty="0">
                <a:cs typeface="Times New Roman"/>
              </a:rPr>
              <a:t>The</a:t>
            </a:r>
            <a:r>
              <a:rPr lang="en-US" sz="2400" spc="2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generator,</a:t>
            </a:r>
            <a:r>
              <a:rPr lang="en-US" sz="2400" spc="2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immediately</a:t>
            </a:r>
            <a:r>
              <a:rPr lang="en-US" sz="2400" spc="2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behind</a:t>
            </a:r>
            <a:r>
              <a:rPr lang="en-US" sz="2400" spc="2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2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gearbox,</a:t>
            </a:r>
            <a:r>
              <a:rPr lang="en-US" sz="2400" spc="2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takes</a:t>
            </a:r>
            <a:r>
              <a:rPr lang="en-US" sz="2400" spc="2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kinetic</a:t>
            </a:r>
            <a:r>
              <a:rPr lang="en-US" sz="2400" spc="2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energy</a:t>
            </a:r>
            <a:r>
              <a:rPr lang="en-US" sz="2400" spc="2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from</a:t>
            </a:r>
            <a:r>
              <a:rPr lang="en-US" sz="2400" spc="19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2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spinning</a:t>
            </a:r>
            <a:r>
              <a:rPr lang="en-US" sz="2400" spc="240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drive </a:t>
            </a:r>
            <a:r>
              <a:rPr lang="en-US" sz="2400" dirty="0">
                <a:cs typeface="Times New Roman"/>
              </a:rPr>
              <a:t>shaft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and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turns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it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into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electrical</a:t>
            </a:r>
            <a:r>
              <a:rPr lang="en-US" sz="2400" spc="27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energy</a:t>
            </a:r>
            <a:endParaRPr lang="en-US" sz="24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34057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2EF8-F7AE-B501-E6D1-67AD7699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of wind power plant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48711-DD6B-28B4-D903-17804DB83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4163" marR="6773" indent="-266700">
              <a:lnSpc>
                <a:spcPts val="2293"/>
              </a:lnSpc>
              <a:spcBef>
                <a:spcPts val="300"/>
              </a:spcBef>
              <a:buSzPct val="96666"/>
              <a:buFont typeface="Times New Roman"/>
              <a:buAutoNum type="arabicPeriod" startAt="6"/>
              <a:tabLst>
                <a:tab pos="303098" algn="l"/>
              </a:tabLst>
            </a:pPr>
            <a:r>
              <a:rPr lang="en-US" sz="2400" dirty="0">
                <a:cs typeface="Times New Roman"/>
              </a:rPr>
              <a:t>Anemometers</a:t>
            </a:r>
            <a:r>
              <a:rPr lang="en-US" sz="2400" spc="2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(automatic</a:t>
            </a:r>
            <a:r>
              <a:rPr lang="en-US" sz="2400" spc="2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speed</a:t>
            </a:r>
            <a:r>
              <a:rPr lang="en-US" sz="2400" spc="2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measuring</a:t>
            </a:r>
            <a:r>
              <a:rPr lang="en-US" sz="2400" spc="2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devices)</a:t>
            </a:r>
            <a:r>
              <a:rPr lang="en-US" sz="2400" spc="2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and</a:t>
            </a:r>
            <a:r>
              <a:rPr lang="en-US" sz="2400" spc="2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wind</a:t>
            </a:r>
            <a:r>
              <a:rPr lang="en-US" sz="2400" spc="2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vanes</a:t>
            </a:r>
            <a:r>
              <a:rPr lang="en-US" sz="2400" spc="2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on</a:t>
            </a:r>
            <a:r>
              <a:rPr lang="en-US" sz="2400" spc="2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20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back</a:t>
            </a:r>
            <a:r>
              <a:rPr lang="en-US" sz="2400" spc="2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2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2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nacelle</a:t>
            </a:r>
            <a:r>
              <a:rPr lang="en-US" sz="2400" spc="220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provide </a:t>
            </a:r>
            <a:r>
              <a:rPr lang="en-US" sz="2400" dirty="0">
                <a:cs typeface="Times New Roman"/>
              </a:rPr>
              <a:t>measurements of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wind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speed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and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direction.</a:t>
            </a:r>
            <a:endParaRPr lang="en-US" sz="2400" dirty="0">
              <a:cs typeface="Times New Roman"/>
            </a:endParaRPr>
          </a:p>
          <a:p>
            <a:pPr marL="284163" marR="8466" indent="-266700" algn="just">
              <a:lnSpc>
                <a:spcPct val="95100"/>
              </a:lnSpc>
              <a:spcBef>
                <a:spcPts val="1520"/>
              </a:spcBef>
              <a:buSzPct val="96666"/>
              <a:buAutoNum type="arabicPeriod" startAt="6"/>
              <a:tabLst>
                <a:tab pos="292939" algn="l"/>
              </a:tabLst>
            </a:pPr>
            <a:r>
              <a:rPr lang="en-US" sz="2400" dirty="0">
                <a:cs typeface="Times New Roman"/>
              </a:rPr>
              <a:t>Using</a:t>
            </a:r>
            <a:r>
              <a:rPr lang="en-US" sz="2400" spc="152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these</a:t>
            </a:r>
            <a:r>
              <a:rPr lang="en-US" sz="2400" spc="1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measurements,</a:t>
            </a:r>
            <a:r>
              <a:rPr lang="en-US" sz="2400" spc="152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1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entire</a:t>
            </a:r>
            <a:r>
              <a:rPr lang="en-US" sz="2400" spc="1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top</a:t>
            </a:r>
            <a:r>
              <a:rPr lang="en-US" sz="2400" spc="1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part</a:t>
            </a:r>
            <a:r>
              <a:rPr lang="en-US" sz="2400" spc="152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152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1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turbine</a:t>
            </a:r>
            <a:r>
              <a:rPr lang="en-US" sz="2400" spc="1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(the</a:t>
            </a:r>
            <a:r>
              <a:rPr lang="en-US" sz="2400" spc="1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rotors</a:t>
            </a:r>
            <a:r>
              <a:rPr lang="en-US" sz="2400" spc="1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and</a:t>
            </a:r>
            <a:r>
              <a:rPr lang="en-US" sz="2400" spc="1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nacelle)</a:t>
            </a:r>
            <a:r>
              <a:rPr lang="en-US" sz="2400" spc="152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can</a:t>
            </a:r>
            <a:r>
              <a:rPr lang="en-US" sz="2400" spc="1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be</a:t>
            </a:r>
            <a:r>
              <a:rPr lang="en-US" sz="2400" spc="1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rotated</a:t>
            </a:r>
            <a:r>
              <a:rPr lang="en-US" sz="2400" spc="152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by</a:t>
            </a:r>
            <a:r>
              <a:rPr lang="en-US" sz="2400" spc="140" dirty="0">
                <a:cs typeface="Times New Roman"/>
              </a:rPr>
              <a:t> </a:t>
            </a:r>
            <a:r>
              <a:rPr lang="en-US" sz="2400" spc="-67" dirty="0">
                <a:cs typeface="Times New Roman"/>
              </a:rPr>
              <a:t>a </a:t>
            </a:r>
            <a:r>
              <a:rPr lang="en-US" sz="2400" dirty="0">
                <a:cs typeface="Times New Roman"/>
              </a:rPr>
              <a:t>yaw</a:t>
            </a:r>
            <a:r>
              <a:rPr lang="en-US" sz="2400" spc="2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motor,</a:t>
            </a:r>
            <a:r>
              <a:rPr lang="en-US" sz="2400" spc="2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mounted</a:t>
            </a:r>
            <a:r>
              <a:rPr lang="en-US" sz="2400" spc="28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between</a:t>
            </a:r>
            <a:r>
              <a:rPr lang="en-US" sz="2400" spc="2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2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nacelle</a:t>
            </a:r>
            <a:r>
              <a:rPr lang="en-US" sz="2400" spc="2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and</a:t>
            </a:r>
            <a:r>
              <a:rPr lang="en-US" sz="2400" spc="2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2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tower,</a:t>
            </a:r>
            <a:r>
              <a:rPr lang="en-US" sz="2400" spc="2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so</a:t>
            </a:r>
            <a:r>
              <a:rPr lang="en-US" sz="2400" spc="2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it</a:t>
            </a:r>
            <a:r>
              <a:rPr lang="en-US" sz="2400" spc="2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faces</a:t>
            </a:r>
            <a:r>
              <a:rPr lang="en-US" sz="2400" spc="2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directly</a:t>
            </a:r>
            <a:r>
              <a:rPr lang="en-US" sz="2400" spc="2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into</a:t>
            </a:r>
            <a:r>
              <a:rPr lang="en-US" sz="2400" spc="2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2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oncoming</a:t>
            </a:r>
            <a:r>
              <a:rPr lang="en-US" sz="2400" spc="2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wind</a:t>
            </a:r>
            <a:r>
              <a:rPr lang="en-US" sz="2400" spc="267" dirty="0">
                <a:cs typeface="Times New Roman"/>
              </a:rPr>
              <a:t> </a:t>
            </a:r>
            <a:r>
              <a:rPr lang="en-US" sz="2400" spc="-33" dirty="0">
                <a:cs typeface="Times New Roman"/>
              </a:rPr>
              <a:t>and </a:t>
            </a:r>
            <a:r>
              <a:rPr lang="en-US" sz="2400" dirty="0">
                <a:cs typeface="Times New Roman"/>
              </a:rPr>
              <a:t>captures</a:t>
            </a:r>
            <a:r>
              <a:rPr lang="en-US" sz="2400" spc="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maximum</a:t>
            </a:r>
            <a:r>
              <a:rPr lang="en-US" sz="2400" spc="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amount</a:t>
            </a:r>
            <a:r>
              <a:rPr lang="en-US" sz="2400" spc="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energy.</a:t>
            </a:r>
            <a:r>
              <a:rPr lang="en-US" sz="2400" spc="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If</a:t>
            </a:r>
            <a:r>
              <a:rPr lang="en-US" sz="2400" spc="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it</a:t>
            </a:r>
            <a:r>
              <a:rPr lang="en-US" sz="2400" spc="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is</a:t>
            </a:r>
            <a:r>
              <a:rPr lang="en-US" sz="2400" spc="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too</a:t>
            </a:r>
            <a:r>
              <a:rPr lang="en-US" sz="2400" spc="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windy</a:t>
            </a:r>
            <a:r>
              <a:rPr lang="en-US" sz="2400" spc="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or</a:t>
            </a:r>
            <a:r>
              <a:rPr lang="en-US" sz="2400" spc="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turbulent,</a:t>
            </a:r>
            <a:r>
              <a:rPr lang="en-US" sz="2400" spc="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brakes</a:t>
            </a:r>
            <a:r>
              <a:rPr lang="en-US" sz="2400" spc="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are</a:t>
            </a:r>
            <a:r>
              <a:rPr lang="en-US" sz="2400" spc="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applied</a:t>
            </a:r>
            <a:r>
              <a:rPr lang="en-US" sz="2400" spc="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</a:t>
            </a:r>
            <a:r>
              <a:rPr lang="en-US" sz="2400" spc="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stop</a:t>
            </a:r>
            <a:r>
              <a:rPr lang="en-US" sz="2400" spc="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33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rotors </a:t>
            </a:r>
            <a:r>
              <a:rPr lang="en-US" sz="2400" dirty="0">
                <a:cs typeface="Times New Roman"/>
              </a:rPr>
              <a:t>from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turning</a:t>
            </a:r>
            <a:endParaRPr lang="en-US" sz="2400" dirty="0">
              <a:cs typeface="Times New Roman"/>
            </a:endParaRPr>
          </a:p>
          <a:p>
            <a:pPr marL="284163" indent="-266700">
              <a:lnSpc>
                <a:spcPts val="2347"/>
              </a:lnSpc>
              <a:spcBef>
                <a:spcPts val="1473"/>
              </a:spcBef>
              <a:buSzPct val="96666"/>
              <a:buAutoNum type="arabicPeriod" startAt="6"/>
              <a:tabLst>
                <a:tab pos="284473" algn="l"/>
              </a:tabLst>
            </a:pPr>
            <a:r>
              <a:rPr lang="en-US" sz="2400" dirty="0">
                <a:cs typeface="Times New Roman"/>
              </a:rPr>
              <a:t>The</a:t>
            </a:r>
            <a:r>
              <a:rPr lang="en-US" sz="2400" spc="8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electric</a:t>
            </a:r>
            <a:r>
              <a:rPr lang="en-US" sz="2400" spc="8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current</a:t>
            </a:r>
            <a:r>
              <a:rPr lang="en-US" sz="2400" spc="10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produced</a:t>
            </a:r>
            <a:r>
              <a:rPr lang="en-US" sz="2400" spc="10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by</a:t>
            </a:r>
            <a:r>
              <a:rPr lang="en-US" sz="2400" spc="8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8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generator</a:t>
            </a:r>
            <a:r>
              <a:rPr lang="en-US" sz="2400" spc="10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flows</a:t>
            </a:r>
            <a:r>
              <a:rPr lang="en-US" sz="2400" spc="9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through</a:t>
            </a:r>
            <a:r>
              <a:rPr lang="en-US" sz="2400" spc="10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</a:t>
            </a:r>
            <a:r>
              <a:rPr lang="en-US" sz="2400" spc="8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cable</a:t>
            </a:r>
            <a:r>
              <a:rPr lang="en-US" sz="2400" spc="8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running</a:t>
            </a:r>
            <a:r>
              <a:rPr lang="en-US" sz="2400" spc="10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down</a:t>
            </a:r>
            <a:r>
              <a:rPr lang="en-US" sz="2400" spc="9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through</a:t>
            </a:r>
            <a:r>
              <a:rPr lang="en-US" sz="2400" spc="10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inside</a:t>
            </a:r>
            <a:r>
              <a:rPr lang="en-US" sz="2400" spc="87" dirty="0">
                <a:cs typeface="Times New Roman"/>
              </a:rPr>
              <a:t> </a:t>
            </a:r>
            <a:r>
              <a:rPr lang="en-US" sz="2400" spc="-33" dirty="0">
                <a:cs typeface="Times New Roman"/>
              </a:rPr>
              <a:t>of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turbine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tower.</a:t>
            </a:r>
          </a:p>
          <a:p>
            <a:pPr marL="284163" indent="-266700">
              <a:lnSpc>
                <a:spcPts val="2347"/>
              </a:lnSpc>
              <a:spcBef>
                <a:spcPts val="1473"/>
              </a:spcBef>
              <a:buSzPct val="96666"/>
              <a:buAutoNum type="arabicPeriod" startAt="6"/>
              <a:tabLst>
                <a:tab pos="284473" algn="l"/>
              </a:tabLst>
            </a:pPr>
            <a:r>
              <a:rPr lang="en-US" sz="2400" dirty="0">
                <a:cs typeface="Times New Roman"/>
              </a:rPr>
              <a:t>A</a:t>
            </a:r>
            <a:r>
              <a:rPr lang="en-US" sz="2400" spc="207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step-</a:t>
            </a:r>
            <a:r>
              <a:rPr lang="en-US" sz="2400" dirty="0">
                <a:cs typeface="Times New Roman"/>
              </a:rPr>
              <a:t>up</a:t>
            </a:r>
            <a:r>
              <a:rPr lang="en-US" sz="2400" spc="20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transformer</a:t>
            </a:r>
            <a:r>
              <a:rPr lang="en-US" sz="2400" spc="2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converts</a:t>
            </a:r>
            <a:r>
              <a:rPr lang="en-US" sz="2400" spc="2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19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electricity</a:t>
            </a:r>
            <a:r>
              <a:rPr lang="en-US" sz="2400" spc="2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</a:t>
            </a:r>
            <a:r>
              <a:rPr lang="en-US" sz="2400" spc="2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about</a:t>
            </a:r>
            <a:r>
              <a:rPr lang="en-US" sz="2400" spc="20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50</a:t>
            </a:r>
            <a:r>
              <a:rPr lang="en-US" sz="2400" spc="20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times</a:t>
            </a:r>
            <a:r>
              <a:rPr lang="en-US" sz="2400" spc="2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higher</a:t>
            </a:r>
            <a:r>
              <a:rPr lang="en-US" sz="2400" spc="2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voltage</a:t>
            </a:r>
            <a:r>
              <a:rPr lang="en-US" sz="2400" spc="2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so</a:t>
            </a:r>
            <a:r>
              <a:rPr lang="en-US" sz="2400" spc="20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it</a:t>
            </a:r>
            <a:r>
              <a:rPr lang="en-US" sz="2400" spc="2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can</a:t>
            </a:r>
            <a:r>
              <a:rPr lang="en-US" sz="2400" spc="20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be</a:t>
            </a:r>
            <a:r>
              <a:rPr lang="en-US" sz="2400" spc="207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transmitted </a:t>
            </a:r>
            <a:r>
              <a:rPr lang="en-US" sz="2400" dirty="0">
                <a:cs typeface="Times New Roman"/>
              </a:rPr>
              <a:t>efficiently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power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spc="-27" dirty="0">
                <a:cs typeface="Times New Roman"/>
              </a:rPr>
              <a:t>grid</a:t>
            </a:r>
            <a:endParaRPr lang="en-US" sz="24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0724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2EF8-F7AE-B501-E6D1-67AD7699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of wind power plant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48711-DD6B-28B4-D903-17804DB83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4509" indent="-514350">
              <a:lnSpc>
                <a:spcPts val="2347"/>
              </a:lnSpc>
              <a:spcBef>
                <a:spcPts val="1413"/>
              </a:spcBef>
              <a:buSzPct val="96666"/>
              <a:buFont typeface="+mj-lt"/>
              <a:buAutoNum type="arabicPeriod" startAt="10"/>
              <a:tabLst>
                <a:tab pos="333578" algn="l"/>
              </a:tabLst>
            </a:pPr>
            <a:r>
              <a:rPr lang="en-US" dirty="0">
                <a:cs typeface="Times New Roman"/>
              </a:rPr>
              <a:t>The</a:t>
            </a:r>
            <a:r>
              <a:rPr lang="en-US" spc="393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consumer</a:t>
            </a:r>
            <a:r>
              <a:rPr lang="en-US" spc="413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enjoy</a:t>
            </a:r>
            <a:r>
              <a:rPr lang="en-US" spc="400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clean,</a:t>
            </a:r>
            <a:r>
              <a:rPr lang="en-US" spc="400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green</a:t>
            </a:r>
            <a:r>
              <a:rPr lang="en-US" spc="407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energy:</a:t>
            </a:r>
            <a:r>
              <a:rPr lang="en-US" spc="400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the</a:t>
            </a:r>
            <a:r>
              <a:rPr lang="en-US" spc="400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turbine</a:t>
            </a:r>
            <a:r>
              <a:rPr lang="en-US" spc="380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has</a:t>
            </a:r>
            <a:r>
              <a:rPr lang="en-US" spc="413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produced</a:t>
            </a:r>
            <a:r>
              <a:rPr lang="en-US" spc="413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no</a:t>
            </a:r>
            <a:r>
              <a:rPr lang="en-US" spc="387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greenhouse</a:t>
            </a:r>
            <a:r>
              <a:rPr lang="en-US" spc="413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gas</a:t>
            </a:r>
            <a:r>
              <a:rPr lang="en-US" spc="407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emissions</a:t>
            </a:r>
            <a:r>
              <a:rPr lang="en-US" spc="413" dirty="0">
                <a:cs typeface="Times New Roman"/>
              </a:rPr>
              <a:t> </a:t>
            </a:r>
            <a:r>
              <a:rPr lang="en-US" spc="-33" dirty="0">
                <a:cs typeface="Times New Roman"/>
              </a:rPr>
              <a:t>or </a:t>
            </a:r>
            <a:r>
              <a:rPr lang="en-US" dirty="0">
                <a:cs typeface="Times New Roman"/>
              </a:rPr>
              <a:t>pollution</a:t>
            </a:r>
            <a:r>
              <a:rPr lang="en-US" spc="-53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as</a:t>
            </a:r>
            <a:r>
              <a:rPr lang="en-US" spc="7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it</a:t>
            </a:r>
            <a:r>
              <a:rPr lang="en-US" spc="-27" dirty="0">
                <a:cs typeface="Times New Roman"/>
              </a:rPr>
              <a:t> </a:t>
            </a:r>
            <a:r>
              <a:rPr lang="en-US" spc="-13" dirty="0">
                <a:cs typeface="Times New Roman"/>
              </a:rPr>
              <a:t>operates.</a:t>
            </a:r>
            <a:endParaRPr lang="en-US" dirty="0">
              <a:cs typeface="Times New Roman"/>
            </a:endParaRPr>
          </a:p>
          <a:p>
            <a:pPr marL="525356" marR="6773" indent="-514350">
              <a:lnSpc>
                <a:spcPts val="2293"/>
              </a:lnSpc>
              <a:spcBef>
                <a:spcPts val="1633"/>
              </a:spcBef>
              <a:buSzPct val="96666"/>
              <a:buFont typeface="+mj-lt"/>
              <a:buAutoNum type="arabicPeriod" startAt="10"/>
              <a:tabLst>
                <a:tab pos="335272" algn="l"/>
              </a:tabLst>
            </a:pPr>
            <a:r>
              <a:rPr lang="en-US" dirty="0">
                <a:cs typeface="Times New Roman"/>
              </a:rPr>
              <a:t>Wind</a:t>
            </a:r>
            <a:r>
              <a:rPr lang="en-US" spc="80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carries</a:t>
            </a:r>
            <a:r>
              <a:rPr lang="en-US" spc="73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on</a:t>
            </a:r>
            <a:r>
              <a:rPr lang="en-US" spc="80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blowing</a:t>
            </a:r>
            <a:r>
              <a:rPr lang="en-US" spc="93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past</a:t>
            </a:r>
            <a:r>
              <a:rPr lang="en-US" spc="93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the</a:t>
            </a:r>
            <a:r>
              <a:rPr lang="en-US" spc="80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turbine,</a:t>
            </a:r>
            <a:r>
              <a:rPr lang="en-US" spc="80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but</a:t>
            </a:r>
            <a:r>
              <a:rPr lang="en-US" spc="93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with</a:t>
            </a:r>
            <a:r>
              <a:rPr lang="en-US" spc="93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less</a:t>
            </a:r>
            <a:r>
              <a:rPr lang="en-US" spc="87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speed</a:t>
            </a:r>
            <a:r>
              <a:rPr lang="en-US" spc="93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and</a:t>
            </a:r>
            <a:r>
              <a:rPr lang="en-US" spc="87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energy</a:t>
            </a:r>
            <a:r>
              <a:rPr lang="en-US" spc="87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and</a:t>
            </a:r>
            <a:r>
              <a:rPr lang="en-US" spc="93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more</a:t>
            </a:r>
            <a:r>
              <a:rPr lang="en-US" spc="80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turbulence</a:t>
            </a:r>
            <a:r>
              <a:rPr lang="en-US" spc="80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(since</a:t>
            </a:r>
            <a:r>
              <a:rPr lang="en-US" spc="80" dirty="0">
                <a:cs typeface="Times New Roman"/>
              </a:rPr>
              <a:t> </a:t>
            </a:r>
            <a:r>
              <a:rPr lang="en-US" spc="-33" dirty="0">
                <a:cs typeface="Times New Roman"/>
              </a:rPr>
              <a:t>the </a:t>
            </a:r>
            <a:r>
              <a:rPr lang="en-US" dirty="0">
                <a:cs typeface="Times New Roman"/>
              </a:rPr>
              <a:t>turbine</a:t>
            </a:r>
            <a:r>
              <a:rPr lang="en-US" spc="-60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has</a:t>
            </a:r>
            <a:r>
              <a:rPr lang="en-US" spc="-7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disrupted</a:t>
            </a:r>
            <a:r>
              <a:rPr lang="en-US" spc="-47" dirty="0">
                <a:cs typeface="Times New Roman"/>
              </a:rPr>
              <a:t> </a:t>
            </a:r>
            <a:r>
              <a:rPr lang="en-US" dirty="0">
                <a:cs typeface="Times New Roman"/>
              </a:rPr>
              <a:t>its</a:t>
            </a:r>
            <a:r>
              <a:rPr lang="en-US" spc="-27" dirty="0">
                <a:cs typeface="Times New Roman"/>
              </a:rPr>
              <a:t> </a:t>
            </a:r>
            <a:r>
              <a:rPr lang="en-US" spc="-13" dirty="0">
                <a:cs typeface="Times New Roman"/>
              </a:rPr>
              <a:t>flow).</a:t>
            </a:r>
            <a:endParaRPr lang="en-US" dirty="0">
              <a:cs typeface="Times New Roman"/>
            </a:endParaRPr>
          </a:p>
          <a:p>
            <a:pPr marL="514350" indent="-514350">
              <a:buFont typeface="+mj-lt"/>
              <a:buAutoNum type="arabicPeriod" startAt="10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16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Wind Turbine </vt:lpstr>
      <vt:lpstr>PowerPoint Presentation</vt:lpstr>
      <vt:lpstr>PowerPoint Presentation</vt:lpstr>
      <vt:lpstr>Wind turbine components </vt:lpstr>
      <vt:lpstr>Wind turbine components </vt:lpstr>
      <vt:lpstr>Wind turbine components </vt:lpstr>
      <vt:lpstr>Working of wind power plant </vt:lpstr>
      <vt:lpstr>Working of wind power plant </vt:lpstr>
      <vt:lpstr>Working of wind power plant </vt:lpstr>
      <vt:lpstr>Working of wind power plant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2026-01-07T04:08:16Z</dcterms:created>
  <dcterms:modified xsi:type="dcterms:W3CDTF">2026-01-07T04:08:47Z</dcterms:modified>
</cp:coreProperties>
</file>