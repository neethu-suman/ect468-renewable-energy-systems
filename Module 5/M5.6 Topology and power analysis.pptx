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9" r:id="rId3"/>
    <p:sldId id="365" r:id="rId4"/>
    <p:sldId id="366" r:id="rId5"/>
    <p:sldId id="367" r:id="rId6"/>
    <p:sldId id="368" r:id="rId7"/>
    <p:sldId id="360" r:id="rId8"/>
    <p:sldId id="3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FD797-F45E-3695-8417-BB88D0B39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FD353-4779-FA9C-30B0-96077A736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F4703-7EA3-D572-0234-EB5A992E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9C441-2DD5-970D-BB4A-3C26474D1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BAD7E-547E-7A61-0C01-C2BC900D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40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D6B4-9C83-5B3E-9310-F9661F34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2A3EA-B994-685A-2E2A-3F68EDEB1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17A0E-17C2-72B2-2B5C-2E9F221C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9673C-6BFD-ADEA-DE1F-65D3DC96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B0554-4A01-480B-CEE4-6D27A31C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40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B1E9-8B04-A0E7-54FD-4613FF5F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082A3-F774-0EC4-5CB4-09AB9A390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C1B7B-A454-D41A-10D0-34FB1DBB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3C191-0FCE-DE65-7E97-904A1DC94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25B7F-C2C2-A56C-AC49-D5DB43BC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1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A756-8C19-0251-2758-097BB238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18D2A-3B29-6D2D-48D2-99EA75E8E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9B25E-04E2-A44A-F60A-A33874757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84153-1697-6A9E-C4B7-FE130C94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6F34A-E7F4-CFD5-C396-6F3EA450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F2B7C-9F95-0BD1-CD70-81A05221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66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5C73-EC04-010B-4428-F1E3075F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0D080-032A-1213-AE47-3E373BFD0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902CF-6159-6C9C-9A1E-4DCCE3211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58A6A8-362A-AABB-059B-A975A5351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99F0C-6B22-3281-F113-3F292BFD8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B23AD-43B4-7351-4663-D5021BA71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B5DBBD-488D-707E-F7C3-D7B47CB1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C1053-5388-BFCD-35AE-63AF92C6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976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4A03-755A-AAB4-AE33-8B73DE52B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64C17-E44D-A015-D1B1-5306E451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71EF1-3E76-7E4B-5C2F-8ADF9EE7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C3D94-5D1D-6B98-40BE-5B245058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87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9A01F-DF15-9D18-0DB6-DC9BBDFE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C91FDF-1437-FC20-4049-3971CACB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5AB9E-D8BF-00F2-EB05-8C1C0F3F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982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B35E-1744-85F2-26AA-9162EED43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932E6-99CA-85A3-A19C-6F8E116CC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7BCAB-93B4-FB6E-9743-C38D9D5A4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D5D30-6519-7F6C-D92F-B7F3196B5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5539A-CBBF-ED0D-356C-BC01B059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2A542-9232-5F01-787C-36390214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22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DA4C-9C12-2A05-54C1-3BADDE47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68DB2-3C10-1858-390A-3BA92F64B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09E83-4A0B-5573-B294-D68919C12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E7E2B-5B15-2FE5-8CCF-A3B5FBA1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726B9-6E17-C175-75BF-3BA4AF1D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ED6D3-3A89-C777-9949-2AFD79C3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90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A253-BA7F-939C-4386-7E0421A9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F8C0D-53EF-5AEC-29CA-193584A6C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63884-7EE1-E0CA-64F7-728ED832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5CEA3-57B6-B3F1-2F6A-CE4C06BC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FA6B-93DE-DF76-DD7A-2D3683AA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64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038AF-A017-CCE0-DB1F-AFB5E14DF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B25FC-8923-8D0F-6F7B-4262621FA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043D7-E8A1-8EF7-EE4E-E1318973B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179D8-0853-E887-5B36-8D6AF26A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0B5B1-B5C3-6DCD-FDC3-FFB809B9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6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7D1A4-9B03-1F19-03C3-2EB7594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CC7AF-B1D1-3D0D-88A1-281782E8C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17F44-4D55-CBC3-00BC-03B3FE1B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94732-0C2B-4E17-BC00-B2D5E64E8BB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FB89B-4687-A34D-B29E-B88F13FB4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3E4CB-CDD8-1C13-8DFB-87E405477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E785A-1170-4017-884D-337AB99FA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26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6DD79-BF1F-F385-ED70-7CA8BD9A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5386"/>
          </a:xfrm>
        </p:spPr>
        <p:txBody>
          <a:bodyPr>
            <a:normAutofit/>
          </a:bodyPr>
          <a:lstStyle/>
          <a:p>
            <a:r>
              <a:rPr lang="en-US" dirty="0"/>
              <a:t>New trends for smart grids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EA3E36-5B5B-9AFF-212A-11A7B72F82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4387" y="1509066"/>
            <a:ext cx="1094199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of Renewable Energy: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Smart grids support solar and wind energy integration for cleaner power generation.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Metering Infrastructure (AMI):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Smart meters enable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two-way communication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between utilities and consumers for real-time monitoring and billing.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Energy Storage Systems: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Batteries store excess renewable energy and supply it during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peak demand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power outages.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Electric Vehicle (EV) Integration: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Smart grids manage EV charging loads and support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Vehicle-to-Grid (V2G)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technology.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/>
              <a:t>Artificial Intelligence &amp; Data Analytics:</a:t>
            </a:r>
            <a:r>
              <a:rPr lang="en-US" altLang="en-US" sz="2200" dirty="0"/>
              <a:t> Used for </a:t>
            </a:r>
            <a:r>
              <a:rPr lang="en-US" altLang="en-US" sz="2200" b="1" dirty="0"/>
              <a:t>load forecasting, fault detection, and efficient grid management</a:t>
            </a:r>
            <a:r>
              <a:rPr lang="en-US" altLang="en-US" sz="22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/>
              <a:t>Cybersecurity:</a:t>
            </a:r>
            <a:r>
              <a:rPr lang="en-US" altLang="en-US" sz="2200" dirty="0"/>
              <a:t> Protects smart grid communication networks from </a:t>
            </a:r>
            <a:r>
              <a:rPr lang="en-US" altLang="en-US" sz="2200" b="1" dirty="0"/>
              <a:t>cyber attacks and data breaches</a:t>
            </a:r>
            <a:r>
              <a:rPr lang="en-US" altLang="en-US" sz="22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/>
              <a:t>Microgrids &amp; Distributed Generation:</a:t>
            </a:r>
            <a:r>
              <a:rPr lang="en-US" altLang="en-US" sz="2200" dirty="0"/>
              <a:t> Localized power systems that can operate </a:t>
            </a:r>
            <a:r>
              <a:rPr lang="en-US" altLang="en-US" sz="2200" b="1" dirty="0"/>
              <a:t>independently or with the main grid</a:t>
            </a:r>
            <a:r>
              <a:rPr lang="en-US" altLang="en-US" sz="2200" dirty="0"/>
              <a:t>, improving reliability.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3511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DEDF-30BC-9884-AF3E-7AE701D0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3B43-2D11-9D2A-B181-BF87C2AF9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Logical topology</a:t>
            </a:r>
          </a:p>
          <a:p>
            <a:pPr lvl="1"/>
            <a:r>
              <a:rPr lang="en-US" dirty="0"/>
              <a:t>In practice, multiple power and communication lines can exist among the nodes, so that the physical topology can form a mesh network</a:t>
            </a:r>
          </a:p>
          <a:p>
            <a:pPr lvl="1"/>
            <a:r>
              <a:rPr lang="en-US" dirty="0"/>
              <a:t>For example, a power utility is linked to multiple substations, while the substations belong to a single power utility</a:t>
            </a:r>
          </a:p>
          <a:p>
            <a:pPr lvl="1"/>
            <a:r>
              <a:rPr lang="en-US" dirty="0"/>
              <a:t>Smart grids can use two separate lines: the power line and the communication line. </a:t>
            </a:r>
          </a:p>
          <a:p>
            <a:pPr lvl="1"/>
            <a:r>
              <a:rPr lang="en-US" dirty="0"/>
              <a:t>The two lines logically form the same topology, which is the tree-like topology.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91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BAB6-B0AF-AA19-8738-25FCF7ACB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80" y="696312"/>
            <a:ext cx="2573521" cy="1325563"/>
          </a:xfrm>
        </p:spPr>
        <p:txBody>
          <a:bodyPr/>
          <a:lstStyle/>
          <a:p>
            <a:r>
              <a:rPr lang="en-US" dirty="0"/>
              <a:t>Topology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501317-95DA-EDE3-2B87-A4FDF61E9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3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2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E780-4666-7E5D-0731-E697A5DFB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2AA4-72D2-0ED6-F9B8-99AD6284D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Generation Layer – Power Utility (Provider)</a:t>
            </a:r>
          </a:p>
          <a:p>
            <a:pPr lvl="1"/>
            <a:r>
              <a:rPr lang="en-US" dirty="0"/>
              <a:t>The power plant generates electricity.</a:t>
            </a:r>
          </a:p>
          <a:p>
            <a:pPr lvl="1"/>
            <a:r>
              <a:rPr lang="en-US" dirty="0"/>
              <a:t>Its function include produce electrical energy, send power to transmission lines </a:t>
            </a:r>
          </a:p>
          <a:p>
            <a:pPr lvl="1"/>
            <a:r>
              <a:rPr lang="en-US" dirty="0"/>
              <a:t>Power then moves through high-voltage transmission lines.</a:t>
            </a:r>
          </a:p>
          <a:p>
            <a:r>
              <a:rPr lang="en-US" b="1" dirty="0"/>
              <a:t>Transmission Layer – Transmission Units</a:t>
            </a:r>
          </a:p>
          <a:p>
            <a:pPr lvl="1"/>
            <a:r>
              <a:rPr lang="en-US" dirty="0"/>
              <a:t>This layer contains: </a:t>
            </a:r>
            <a:r>
              <a:rPr lang="en-US" b="1" dirty="0"/>
              <a:t>Transmission towers, High-voltage transmission lines, Communication routers/switches. </a:t>
            </a:r>
            <a:endParaRPr lang="en-US" dirty="0"/>
          </a:p>
          <a:p>
            <a:pPr lvl="1"/>
            <a:r>
              <a:rPr lang="en-US" dirty="0"/>
              <a:t>This unit transport electricity over </a:t>
            </a:r>
            <a:r>
              <a:rPr lang="en-US" b="1" dirty="0"/>
              <a:t>long distances</a:t>
            </a:r>
            <a:r>
              <a:rPr lang="en-US" dirty="0"/>
              <a:t> from power plants to substations and uses </a:t>
            </a:r>
            <a:r>
              <a:rPr lang="en-US" b="1" dirty="0"/>
              <a:t>high voltage</a:t>
            </a:r>
            <a:r>
              <a:rPr lang="en-US" dirty="0"/>
              <a:t> to reduce power loss.</a:t>
            </a:r>
          </a:p>
          <a:p>
            <a:pPr lvl="1"/>
            <a:r>
              <a:rPr lang="en-US" dirty="0"/>
              <a:t>The routers/switches allow </a:t>
            </a:r>
            <a:r>
              <a:rPr lang="en-US" b="1" dirty="0"/>
              <a:t>monitoring and control of the power grid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594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8E1C-114C-5345-C038-576FE4DB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1F949-0254-C48C-69AF-BB1F67F25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IN" b="1" dirty="0"/>
              <a:t>Substations</a:t>
            </a:r>
          </a:p>
          <a:p>
            <a:pPr lvl="1"/>
            <a:r>
              <a:rPr lang="en-US" dirty="0"/>
              <a:t>Step down voltage (e.g., from 400 kV to 33 kV or 11 kV).</a:t>
            </a:r>
          </a:p>
          <a:p>
            <a:pPr lvl="1"/>
            <a:r>
              <a:rPr lang="en-US" dirty="0"/>
              <a:t>Control switching operations and monitor power flow.</a:t>
            </a:r>
          </a:p>
          <a:p>
            <a:pPr lvl="1"/>
            <a:r>
              <a:rPr lang="en-US" dirty="0"/>
              <a:t>They act as a bridge between transmission and distribution networks.</a:t>
            </a:r>
          </a:p>
          <a:p>
            <a:r>
              <a:rPr lang="en-US" b="1" dirty="0"/>
              <a:t>Distribution Layer – Distributors / Aggregators</a:t>
            </a:r>
          </a:p>
          <a:p>
            <a:pPr lvl="1"/>
            <a:r>
              <a:rPr lang="en-US" dirty="0"/>
              <a:t>This layer sends power from substations to local areas.</a:t>
            </a:r>
          </a:p>
          <a:p>
            <a:pPr lvl="1"/>
            <a:r>
              <a:rPr lang="en-US" dirty="0"/>
              <a:t>Components: Distribution transformers, Aggregators, Communication routers</a:t>
            </a:r>
          </a:p>
          <a:p>
            <a:pPr lvl="1"/>
            <a:r>
              <a:rPr lang="en-US" dirty="0"/>
              <a:t>Its functions include deliver electricity to residential and commercial areas., collect data from smart meters and devices.</a:t>
            </a:r>
          </a:p>
          <a:p>
            <a:pPr lvl="1"/>
            <a:r>
              <a:rPr lang="en-US" dirty="0"/>
              <a:t>The communication network allows load monitoring, fault detection and demand management.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672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28170-E6D6-E94F-398A-761DC3B2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Topology analysis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6119D-F97F-04AF-704B-F820D6971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Consumption Layer – Customers</a:t>
            </a:r>
          </a:p>
          <a:p>
            <a:pPr lvl="1"/>
            <a:r>
              <a:rPr lang="en-US" dirty="0"/>
              <a:t>At the bottom are </a:t>
            </a:r>
            <a:r>
              <a:rPr lang="en-US" b="1" dirty="0"/>
              <a:t>end users</a:t>
            </a:r>
            <a:r>
              <a:rPr lang="en-US" dirty="0"/>
              <a:t>: Houses, Commercial buildings, Industries</a:t>
            </a:r>
          </a:p>
          <a:p>
            <a:pPr lvl="1"/>
            <a:r>
              <a:rPr lang="en-US" dirty="0"/>
              <a:t>They </a:t>
            </a:r>
            <a:r>
              <a:rPr lang="en-US" b="1" dirty="0"/>
              <a:t>consume electricity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 a </a:t>
            </a:r>
            <a:r>
              <a:rPr lang="en-US" b="1" dirty="0"/>
              <a:t>smart grid</a:t>
            </a:r>
            <a:r>
              <a:rPr lang="en-US" dirty="0"/>
              <a:t>, customers may also: 	</a:t>
            </a:r>
          </a:p>
          <a:p>
            <a:pPr lvl="2"/>
            <a:r>
              <a:rPr lang="en-US" dirty="0"/>
              <a:t>Send usage data back to the utility</a:t>
            </a:r>
          </a:p>
          <a:p>
            <a:pPr lvl="2"/>
            <a:r>
              <a:rPr lang="en-US" dirty="0"/>
              <a:t>Participate in </a:t>
            </a:r>
            <a:r>
              <a:rPr lang="en-US" b="1" dirty="0"/>
              <a:t>demand response</a:t>
            </a:r>
            <a:endParaRPr lang="en-US" dirty="0"/>
          </a:p>
          <a:p>
            <a:pPr lvl="2"/>
            <a:r>
              <a:rPr lang="en-US" dirty="0"/>
              <a:t>Generate power (solar panels)</a:t>
            </a:r>
          </a:p>
          <a:p>
            <a:r>
              <a:rPr lang="en-US" b="1" dirty="0"/>
              <a:t>Communication Network c</a:t>
            </a:r>
            <a:r>
              <a:rPr lang="en-US" dirty="0"/>
              <a:t>onnect </a:t>
            </a:r>
            <a:r>
              <a:rPr lang="en-US" b="1" dirty="0"/>
              <a:t>power plants, substations, distribution units, and customers. It e</a:t>
            </a:r>
            <a:r>
              <a:rPr lang="en-US" dirty="0"/>
              <a:t>nable real-time monitoring, smart metering, fault detection and grid automation. This is what makes the grid a </a:t>
            </a:r>
            <a:r>
              <a:rPr lang="en-US" b="1" dirty="0"/>
              <a:t>Smart Grid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23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FBBA-3A95-FAF2-9BB3-12320484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flow analysis.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4EC44-BA22-8053-2D91-86A4CEFD0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Power flow analysis is the study used to determine the voltage magnitude, voltage angle, real power (P), and reactive power (Q) at different buses in a power system under steady-state conditions. </a:t>
            </a:r>
          </a:p>
          <a:p>
            <a:r>
              <a:rPr lang="en-US" sz="2400" dirty="0"/>
              <a:t>It helps to understand how electrical power flows from generation through transmission and distribution to consumers.</a:t>
            </a:r>
          </a:p>
          <a:p>
            <a:r>
              <a:rPr lang="en-US" sz="2400" dirty="0"/>
              <a:t>The main objectives of power flow analysis are to determine power flow in transmission lines, voltage levels at buses, and power losses in the system. </a:t>
            </a:r>
          </a:p>
          <a:p>
            <a:r>
              <a:rPr lang="en-US" sz="2400" dirty="0"/>
              <a:t>This information is essential for power system planning, operation, and control.</a:t>
            </a:r>
          </a:p>
        </p:txBody>
      </p:sp>
    </p:spTree>
    <p:extLst>
      <p:ext uri="{BB962C8B-B14F-4D97-AF65-F5344CB8AC3E}">
        <p14:creationId xmlns:p14="http://schemas.microsoft.com/office/powerpoint/2010/main" val="319231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FBBA-3A95-FAF2-9BB3-12320484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flow analysis.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4EC44-BA22-8053-2D91-86A4CEFD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812" y="1690688"/>
            <a:ext cx="10515600" cy="46094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load flow studies, buses in the power system are classified into three types:</a:t>
            </a:r>
          </a:p>
          <a:p>
            <a:pPr lvl="1"/>
            <a:r>
              <a:rPr lang="en-US" b="1" dirty="0"/>
              <a:t>Slack (Reference) Bus </a:t>
            </a:r>
            <a:r>
              <a:rPr lang="en-US" dirty="0"/>
              <a:t>– Voltage magnitude and angle are specified; it balances system power losses.</a:t>
            </a:r>
          </a:p>
          <a:p>
            <a:pPr lvl="1"/>
            <a:r>
              <a:rPr lang="en-US" b="1" dirty="0"/>
              <a:t>PV (Generator) Bus</a:t>
            </a:r>
            <a:r>
              <a:rPr lang="en-US" dirty="0"/>
              <a:t> – Real power and voltage magnitude are specified; reactive power is calculated.</a:t>
            </a:r>
          </a:p>
          <a:p>
            <a:pPr lvl="1"/>
            <a:r>
              <a:rPr lang="en-US" b="1" dirty="0"/>
              <a:t>PQ (Load) Bus</a:t>
            </a:r>
            <a:r>
              <a:rPr lang="en-US" dirty="0"/>
              <a:t> – Real and reactive power are specified; voltage magnitude and angle are calculated.</a:t>
            </a:r>
          </a:p>
          <a:p>
            <a:r>
              <a:rPr lang="en-US" dirty="0"/>
              <a:t>Common methods used for power flow analysis include </a:t>
            </a:r>
            <a:r>
              <a:rPr lang="en-US" b="1" dirty="0"/>
              <a:t>Gauss–Seidel method, Newton–Raphson method, and Fast Decoupled Load Flow method</a:t>
            </a:r>
            <a:r>
              <a:rPr lang="en-US" dirty="0"/>
              <a:t>.</a:t>
            </a:r>
          </a:p>
          <a:p>
            <a:r>
              <a:rPr lang="en-US" dirty="0"/>
              <a:t>Thus, power flow analysis is an important tool used to ensure </a:t>
            </a:r>
            <a:r>
              <a:rPr lang="en-US" b="1" dirty="0"/>
              <a:t>efficient, reliable, and stable operation of power systems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92103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723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New trends for smart grids</vt:lpstr>
      <vt:lpstr>Topology analysis</vt:lpstr>
      <vt:lpstr>Topology analysis</vt:lpstr>
      <vt:lpstr>Topology analysis</vt:lpstr>
      <vt:lpstr>Topology analysis</vt:lpstr>
      <vt:lpstr>Topology analysis</vt:lpstr>
      <vt:lpstr>Power flow analysis.</vt:lpstr>
      <vt:lpstr>Power flow analysis.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2026-03-13T03:47:03Z</dcterms:created>
  <dcterms:modified xsi:type="dcterms:W3CDTF">2026-03-13T03:48:28Z</dcterms:modified>
</cp:coreProperties>
</file>