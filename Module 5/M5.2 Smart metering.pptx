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38" r:id="rId2"/>
    <p:sldId id="339" r:id="rId3"/>
    <p:sldId id="269" r:id="rId4"/>
    <p:sldId id="270" r:id="rId5"/>
    <p:sldId id="340" r:id="rId6"/>
    <p:sldId id="341" r:id="rId7"/>
    <p:sldId id="342" r:id="rId8"/>
    <p:sldId id="271" r:id="rId9"/>
    <p:sldId id="272" r:id="rId10"/>
    <p:sldId id="273" r:id="rId11"/>
    <p:sldId id="274" r:id="rId12"/>
    <p:sldId id="315" r:id="rId13"/>
    <p:sldId id="275" r:id="rId14"/>
    <p:sldId id="276" r:id="rId15"/>
    <p:sldId id="277" r:id="rId16"/>
    <p:sldId id="278" r:id="rId17"/>
    <p:sldId id="279" r:id="rId18"/>
    <p:sldId id="343" r:id="rId19"/>
    <p:sldId id="344" r:id="rId20"/>
    <p:sldId id="345" r:id="rId21"/>
    <p:sldId id="352"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7" d="100"/>
          <a:sy n="77" d="100"/>
        </p:scale>
        <p:origin x="83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46E020-4B41-7F26-79CF-E0802492B11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0161F9E-679A-338D-16A5-9E1A489B552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19EDEBD-92B4-FF09-F484-4A4CC5BB9DF3}"/>
              </a:ext>
            </a:extLst>
          </p:cNvPr>
          <p:cNvSpPr>
            <a:spLocks noGrp="1"/>
          </p:cNvSpPr>
          <p:nvPr>
            <p:ph type="dt" sz="half" idx="10"/>
          </p:nvPr>
        </p:nvSpPr>
        <p:spPr/>
        <p:txBody>
          <a:bodyPr/>
          <a:lstStyle/>
          <a:p>
            <a:fld id="{55112B46-918B-455C-B132-A6C54D641FD3}" type="datetimeFigureOut">
              <a:rPr lang="en-IN" smtClean="0"/>
              <a:t>13-03-2026</a:t>
            </a:fld>
            <a:endParaRPr lang="en-IN"/>
          </a:p>
        </p:txBody>
      </p:sp>
      <p:sp>
        <p:nvSpPr>
          <p:cNvPr id="5" name="Footer Placeholder 4">
            <a:extLst>
              <a:ext uri="{FF2B5EF4-FFF2-40B4-BE49-F238E27FC236}">
                <a16:creationId xmlns:a16="http://schemas.microsoft.com/office/drawing/2014/main" id="{41CECF2B-3E73-463A-F54C-BF9E0F37C99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A64091B-D02E-5BF3-05FC-F35B71D5154C}"/>
              </a:ext>
            </a:extLst>
          </p:cNvPr>
          <p:cNvSpPr>
            <a:spLocks noGrp="1"/>
          </p:cNvSpPr>
          <p:nvPr>
            <p:ph type="sldNum" sz="quarter" idx="12"/>
          </p:nvPr>
        </p:nvSpPr>
        <p:spPr/>
        <p:txBody>
          <a:bodyPr/>
          <a:lstStyle/>
          <a:p>
            <a:fld id="{498CAC5B-CD9E-438E-96A7-57D31D5F722C}" type="slidenum">
              <a:rPr lang="en-IN" smtClean="0"/>
              <a:t>‹#›</a:t>
            </a:fld>
            <a:endParaRPr lang="en-IN"/>
          </a:p>
        </p:txBody>
      </p:sp>
    </p:spTree>
    <p:extLst>
      <p:ext uri="{BB962C8B-B14F-4D97-AF65-F5344CB8AC3E}">
        <p14:creationId xmlns:p14="http://schemas.microsoft.com/office/powerpoint/2010/main" val="17143954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448C1-F652-B8A2-D4B6-3195D12768D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C87AE58-3A3C-E15C-059A-29237D2108E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F0E0D92-FFFA-FB8B-2D98-C7DD181AB9CA}"/>
              </a:ext>
            </a:extLst>
          </p:cNvPr>
          <p:cNvSpPr>
            <a:spLocks noGrp="1"/>
          </p:cNvSpPr>
          <p:nvPr>
            <p:ph type="dt" sz="half" idx="10"/>
          </p:nvPr>
        </p:nvSpPr>
        <p:spPr/>
        <p:txBody>
          <a:bodyPr/>
          <a:lstStyle/>
          <a:p>
            <a:fld id="{55112B46-918B-455C-B132-A6C54D641FD3}" type="datetimeFigureOut">
              <a:rPr lang="en-IN" smtClean="0"/>
              <a:t>13-03-2026</a:t>
            </a:fld>
            <a:endParaRPr lang="en-IN"/>
          </a:p>
        </p:txBody>
      </p:sp>
      <p:sp>
        <p:nvSpPr>
          <p:cNvPr id="5" name="Footer Placeholder 4">
            <a:extLst>
              <a:ext uri="{FF2B5EF4-FFF2-40B4-BE49-F238E27FC236}">
                <a16:creationId xmlns:a16="http://schemas.microsoft.com/office/drawing/2014/main" id="{28C3D156-08CA-4135-6295-BCD58023006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E99D797-D4F6-11C4-2506-3D18CDF2D911}"/>
              </a:ext>
            </a:extLst>
          </p:cNvPr>
          <p:cNvSpPr>
            <a:spLocks noGrp="1"/>
          </p:cNvSpPr>
          <p:nvPr>
            <p:ph type="sldNum" sz="quarter" idx="12"/>
          </p:nvPr>
        </p:nvSpPr>
        <p:spPr/>
        <p:txBody>
          <a:bodyPr/>
          <a:lstStyle/>
          <a:p>
            <a:fld id="{498CAC5B-CD9E-438E-96A7-57D31D5F722C}" type="slidenum">
              <a:rPr lang="en-IN" smtClean="0"/>
              <a:t>‹#›</a:t>
            </a:fld>
            <a:endParaRPr lang="en-IN"/>
          </a:p>
        </p:txBody>
      </p:sp>
    </p:spTree>
    <p:extLst>
      <p:ext uri="{BB962C8B-B14F-4D97-AF65-F5344CB8AC3E}">
        <p14:creationId xmlns:p14="http://schemas.microsoft.com/office/powerpoint/2010/main" val="24128181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45168-455D-0C49-6AF0-EF3ECD0A4E0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9CBC386-6438-667A-CEED-4377A14E0CB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8601184-9C9C-B818-F236-9FAA90D0E6F3}"/>
              </a:ext>
            </a:extLst>
          </p:cNvPr>
          <p:cNvSpPr>
            <a:spLocks noGrp="1"/>
          </p:cNvSpPr>
          <p:nvPr>
            <p:ph type="dt" sz="half" idx="10"/>
          </p:nvPr>
        </p:nvSpPr>
        <p:spPr/>
        <p:txBody>
          <a:bodyPr/>
          <a:lstStyle/>
          <a:p>
            <a:fld id="{55112B46-918B-455C-B132-A6C54D641FD3}" type="datetimeFigureOut">
              <a:rPr lang="en-IN" smtClean="0"/>
              <a:t>13-03-2026</a:t>
            </a:fld>
            <a:endParaRPr lang="en-IN"/>
          </a:p>
        </p:txBody>
      </p:sp>
      <p:sp>
        <p:nvSpPr>
          <p:cNvPr id="5" name="Footer Placeholder 4">
            <a:extLst>
              <a:ext uri="{FF2B5EF4-FFF2-40B4-BE49-F238E27FC236}">
                <a16:creationId xmlns:a16="http://schemas.microsoft.com/office/drawing/2014/main" id="{63A26A3C-91F5-FDAE-5B3A-93A8193D930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76F0C11-0C65-9C90-8764-698B66042D06}"/>
              </a:ext>
            </a:extLst>
          </p:cNvPr>
          <p:cNvSpPr>
            <a:spLocks noGrp="1"/>
          </p:cNvSpPr>
          <p:nvPr>
            <p:ph type="sldNum" sz="quarter" idx="12"/>
          </p:nvPr>
        </p:nvSpPr>
        <p:spPr/>
        <p:txBody>
          <a:bodyPr/>
          <a:lstStyle/>
          <a:p>
            <a:fld id="{498CAC5B-CD9E-438E-96A7-57D31D5F722C}" type="slidenum">
              <a:rPr lang="en-IN" smtClean="0"/>
              <a:t>‹#›</a:t>
            </a:fld>
            <a:endParaRPr lang="en-IN"/>
          </a:p>
        </p:txBody>
      </p:sp>
    </p:spTree>
    <p:extLst>
      <p:ext uri="{BB962C8B-B14F-4D97-AF65-F5344CB8AC3E}">
        <p14:creationId xmlns:p14="http://schemas.microsoft.com/office/powerpoint/2010/main" val="8529257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02846B-F6A9-DD19-BEE9-9C4F154E68C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BDEB54D-7AEF-FE38-72D0-73AC71C7D70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1F2455E-74DA-E834-0487-EAD87751C65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CAF0D71-235C-A1E0-1A01-02DAE7D06C6E}"/>
              </a:ext>
            </a:extLst>
          </p:cNvPr>
          <p:cNvSpPr>
            <a:spLocks noGrp="1"/>
          </p:cNvSpPr>
          <p:nvPr>
            <p:ph type="dt" sz="half" idx="10"/>
          </p:nvPr>
        </p:nvSpPr>
        <p:spPr/>
        <p:txBody>
          <a:bodyPr/>
          <a:lstStyle/>
          <a:p>
            <a:fld id="{55112B46-918B-455C-B132-A6C54D641FD3}" type="datetimeFigureOut">
              <a:rPr lang="en-IN" smtClean="0"/>
              <a:t>13-03-2026</a:t>
            </a:fld>
            <a:endParaRPr lang="en-IN"/>
          </a:p>
        </p:txBody>
      </p:sp>
      <p:sp>
        <p:nvSpPr>
          <p:cNvPr id="6" name="Footer Placeholder 5">
            <a:extLst>
              <a:ext uri="{FF2B5EF4-FFF2-40B4-BE49-F238E27FC236}">
                <a16:creationId xmlns:a16="http://schemas.microsoft.com/office/drawing/2014/main" id="{3D23A643-5A0C-AB82-AF3E-9B7951F4936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D702F11-CC6B-0853-CFA5-1A0B6EE9D957}"/>
              </a:ext>
            </a:extLst>
          </p:cNvPr>
          <p:cNvSpPr>
            <a:spLocks noGrp="1"/>
          </p:cNvSpPr>
          <p:nvPr>
            <p:ph type="sldNum" sz="quarter" idx="12"/>
          </p:nvPr>
        </p:nvSpPr>
        <p:spPr/>
        <p:txBody>
          <a:bodyPr/>
          <a:lstStyle/>
          <a:p>
            <a:fld id="{498CAC5B-CD9E-438E-96A7-57D31D5F722C}" type="slidenum">
              <a:rPr lang="en-IN" smtClean="0"/>
              <a:t>‹#›</a:t>
            </a:fld>
            <a:endParaRPr lang="en-IN"/>
          </a:p>
        </p:txBody>
      </p:sp>
    </p:spTree>
    <p:extLst>
      <p:ext uri="{BB962C8B-B14F-4D97-AF65-F5344CB8AC3E}">
        <p14:creationId xmlns:p14="http://schemas.microsoft.com/office/powerpoint/2010/main" val="6519228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5D9672-5C51-0F3E-E2F1-6AEAEEE6BC5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1E02020-20C9-F5D4-876A-AD1B50848EF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AC717B8-B1DD-9BAB-04B4-503FB7D47E7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AEED77A-0214-A0F7-3432-7A24DE1F6F3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52032BC-BC40-8881-6D5E-D75B7BF09D8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42706D1-6C29-89C7-2FD0-EB950E5AB897}"/>
              </a:ext>
            </a:extLst>
          </p:cNvPr>
          <p:cNvSpPr>
            <a:spLocks noGrp="1"/>
          </p:cNvSpPr>
          <p:nvPr>
            <p:ph type="dt" sz="half" idx="10"/>
          </p:nvPr>
        </p:nvSpPr>
        <p:spPr/>
        <p:txBody>
          <a:bodyPr/>
          <a:lstStyle/>
          <a:p>
            <a:fld id="{55112B46-918B-455C-B132-A6C54D641FD3}" type="datetimeFigureOut">
              <a:rPr lang="en-IN" smtClean="0"/>
              <a:t>13-03-2026</a:t>
            </a:fld>
            <a:endParaRPr lang="en-IN"/>
          </a:p>
        </p:txBody>
      </p:sp>
      <p:sp>
        <p:nvSpPr>
          <p:cNvPr id="8" name="Footer Placeholder 7">
            <a:extLst>
              <a:ext uri="{FF2B5EF4-FFF2-40B4-BE49-F238E27FC236}">
                <a16:creationId xmlns:a16="http://schemas.microsoft.com/office/drawing/2014/main" id="{64AED973-48D5-7034-6DBD-16A7D8C21DA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337BEB8-9F59-00A8-4D34-9E444F96159B}"/>
              </a:ext>
            </a:extLst>
          </p:cNvPr>
          <p:cNvSpPr>
            <a:spLocks noGrp="1"/>
          </p:cNvSpPr>
          <p:nvPr>
            <p:ph type="sldNum" sz="quarter" idx="12"/>
          </p:nvPr>
        </p:nvSpPr>
        <p:spPr/>
        <p:txBody>
          <a:bodyPr/>
          <a:lstStyle/>
          <a:p>
            <a:fld id="{498CAC5B-CD9E-438E-96A7-57D31D5F722C}" type="slidenum">
              <a:rPr lang="en-IN" smtClean="0"/>
              <a:t>‹#›</a:t>
            </a:fld>
            <a:endParaRPr lang="en-IN"/>
          </a:p>
        </p:txBody>
      </p:sp>
    </p:spTree>
    <p:extLst>
      <p:ext uri="{BB962C8B-B14F-4D97-AF65-F5344CB8AC3E}">
        <p14:creationId xmlns:p14="http://schemas.microsoft.com/office/powerpoint/2010/main" val="18584872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6A106-1A6A-77B6-3522-D59492723B2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A284D46-C054-16B9-69FB-F31FA29D024A}"/>
              </a:ext>
            </a:extLst>
          </p:cNvPr>
          <p:cNvSpPr>
            <a:spLocks noGrp="1"/>
          </p:cNvSpPr>
          <p:nvPr>
            <p:ph type="dt" sz="half" idx="10"/>
          </p:nvPr>
        </p:nvSpPr>
        <p:spPr/>
        <p:txBody>
          <a:bodyPr/>
          <a:lstStyle/>
          <a:p>
            <a:fld id="{55112B46-918B-455C-B132-A6C54D641FD3}" type="datetimeFigureOut">
              <a:rPr lang="en-IN" smtClean="0"/>
              <a:t>13-03-2026</a:t>
            </a:fld>
            <a:endParaRPr lang="en-IN"/>
          </a:p>
        </p:txBody>
      </p:sp>
      <p:sp>
        <p:nvSpPr>
          <p:cNvPr id="4" name="Footer Placeholder 3">
            <a:extLst>
              <a:ext uri="{FF2B5EF4-FFF2-40B4-BE49-F238E27FC236}">
                <a16:creationId xmlns:a16="http://schemas.microsoft.com/office/drawing/2014/main" id="{B354EBFB-65F4-1446-2CCC-DE5E5430226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72134F7-2463-B2BA-B5DE-C0E33D32B535}"/>
              </a:ext>
            </a:extLst>
          </p:cNvPr>
          <p:cNvSpPr>
            <a:spLocks noGrp="1"/>
          </p:cNvSpPr>
          <p:nvPr>
            <p:ph type="sldNum" sz="quarter" idx="12"/>
          </p:nvPr>
        </p:nvSpPr>
        <p:spPr/>
        <p:txBody>
          <a:bodyPr/>
          <a:lstStyle/>
          <a:p>
            <a:fld id="{498CAC5B-CD9E-438E-96A7-57D31D5F722C}" type="slidenum">
              <a:rPr lang="en-IN" smtClean="0"/>
              <a:t>‹#›</a:t>
            </a:fld>
            <a:endParaRPr lang="en-IN"/>
          </a:p>
        </p:txBody>
      </p:sp>
    </p:spTree>
    <p:extLst>
      <p:ext uri="{BB962C8B-B14F-4D97-AF65-F5344CB8AC3E}">
        <p14:creationId xmlns:p14="http://schemas.microsoft.com/office/powerpoint/2010/main" val="28413573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E9B9594-7330-4369-8938-5D66D91E0988}"/>
              </a:ext>
            </a:extLst>
          </p:cNvPr>
          <p:cNvSpPr>
            <a:spLocks noGrp="1"/>
          </p:cNvSpPr>
          <p:nvPr>
            <p:ph type="dt" sz="half" idx="10"/>
          </p:nvPr>
        </p:nvSpPr>
        <p:spPr/>
        <p:txBody>
          <a:bodyPr/>
          <a:lstStyle/>
          <a:p>
            <a:fld id="{55112B46-918B-455C-B132-A6C54D641FD3}" type="datetimeFigureOut">
              <a:rPr lang="en-IN" smtClean="0"/>
              <a:t>13-03-2026</a:t>
            </a:fld>
            <a:endParaRPr lang="en-IN"/>
          </a:p>
        </p:txBody>
      </p:sp>
      <p:sp>
        <p:nvSpPr>
          <p:cNvPr id="3" name="Footer Placeholder 2">
            <a:extLst>
              <a:ext uri="{FF2B5EF4-FFF2-40B4-BE49-F238E27FC236}">
                <a16:creationId xmlns:a16="http://schemas.microsoft.com/office/drawing/2014/main" id="{1EBEEAF4-40F3-E8B6-ED15-667C9EF5A7F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B5AFCB0-583A-1FEB-F79B-E794B359D712}"/>
              </a:ext>
            </a:extLst>
          </p:cNvPr>
          <p:cNvSpPr>
            <a:spLocks noGrp="1"/>
          </p:cNvSpPr>
          <p:nvPr>
            <p:ph type="sldNum" sz="quarter" idx="12"/>
          </p:nvPr>
        </p:nvSpPr>
        <p:spPr/>
        <p:txBody>
          <a:bodyPr/>
          <a:lstStyle/>
          <a:p>
            <a:fld id="{498CAC5B-CD9E-438E-96A7-57D31D5F722C}" type="slidenum">
              <a:rPr lang="en-IN" smtClean="0"/>
              <a:t>‹#›</a:t>
            </a:fld>
            <a:endParaRPr lang="en-IN"/>
          </a:p>
        </p:txBody>
      </p:sp>
    </p:spTree>
    <p:extLst>
      <p:ext uri="{BB962C8B-B14F-4D97-AF65-F5344CB8AC3E}">
        <p14:creationId xmlns:p14="http://schemas.microsoft.com/office/powerpoint/2010/main" val="33141781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7D9C5B-1B93-2A96-7A5E-6797523F2FC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CBD74D8-EB9A-BEE0-9A37-C55A3867033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01E95ED-0104-D789-75FF-0098FAE37BD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D3A9D0F-D243-D134-AB5D-A7F8943D97CC}"/>
              </a:ext>
            </a:extLst>
          </p:cNvPr>
          <p:cNvSpPr>
            <a:spLocks noGrp="1"/>
          </p:cNvSpPr>
          <p:nvPr>
            <p:ph type="dt" sz="half" idx="10"/>
          </p:nvPr>
        </p:nvSpPr>
        <p:spPr/>
        <p:txBody>
          <a:bodyPr/>
          <a:lstStyle/>
          <a:p>
            <a:fld id="{55112B46-918B-455C-B132-A6C54D641FD3}" type="datetimeFigureOut">
              <a:rPr lang="en-IN" smtClean="0"/>
              <a:t>13-03-2026</a:t>
            </a:fld>
            <a:endParaRPr lang="en-IN"/>
          </a:p>
        </p:txBody>
      </p:sp>
      <p:sp>
        <p:nvSpPr>
          <p:cNvPr id="6" name="Footer Placeholder 5">
            <a:extLst>
              <a:ext uri="{FF2B5EF4-FFF2-40B4-BE49-F238E27FC236}">
                <a16:creationId xmlns:a16="http://schemas.microsoft.com/office/drawing/2014/main" id="{F0881E1B-A2BD-62C4-0C63-DF170A65E52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929BA84-7E6C-B649-BD67-067C7CA097AB}"/>
              </a:ext>
            </a:extLst>
          </p:cNvPr>
          <p:cNvSpPr>
            <a:spLocks noGrp="1"/>
          </p:cNvSpPr>
          <p:nvPr>
            <p:ph type="sldNum" sz="quarter" idx="12"/>
          </p:nvPr>
        </p:nvSpPr>
        <p:spPr/>
        <p:txBody>
          <a:bodyPr/>
          <a:lstStyle/>
          <a:p>
            <a:fld id="{498CAC5B-CD9E-438E-96A7-57D31D5F722C}" type="slidenum">
              <a:rPr lang="en-IN" smtClean="0"/>
              <a:t>‹#›</a:t>
            </a:fld>
            <a:endParaRPr lang="en-IN"/>
          </a:p>
        </p:txBody>
      </p:sp>
    </p:spTree>
    <p:extLst>
      <p:ext uri="{BB962C8B-B14F-4D97-AF65-F5344CB8AC3E}">
        <p14:creationId xmlns:p14="http://schemas.microsoft.com/office/powerpoint/2010/main" val="21793997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F6825-279A-069F-73B6-3C691F2F79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3B58CE2-5DF1-F264-FC01-8C29D165C19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368AF1E-987F-910B-E34E-14919AF40E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923D98A-6A60-6261-0E1F-2EAFBB660082}"/>
              </a:ext>
            </a:extLst>
          </p:cNvPr>
          <p:cNvSpPr>
            <a:spLocks noGrp="1"/>
          </p:cNvSpPr>
          <p:nvPr>
            <p:ph type="dt" sz="half" idx="10"/>
          </p:nvPr>
        </p:nvSpPr>
        <p:spPr/>
        <p:txBody>
          <a:bodyPr/>
          <a:lstStyle/>
          <a:p>
            <a:fld id="{55112B46-918B-455C-B132-A6C54D641FD3}" type="datetimeFigureOut">
              <a:rPr lang="en-IN" smtClean="0"/>
              <a:t>13-03-2026</a:t>
            </a:fld>
            <a:endParaRPr lang="en-IN"/>
          </a:p>
        </p:txBody>
      </p:sp>
      <p:sp>
        <p:nvSpPr>
          <p:cNvPr id="6" name="Footer Placeholder 5">
            <a:extLst>
              <a:ext uri="{FF2B5EF4-FFF2-40B4-BE49-F238E27FC236}">
                <a16:creationId xmlns:a16="http://schemas.microsoft.com/office/drawing/2014/main" id="{B5C791CB-B5F9-22FD-B43C-CD8D44C1A61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E9D544A-4E18-7C4C-1F77-27728887C1AC}"/>
              </a:ext>
            </a:extLst>
          </p:cNvPr>
          <p:cNvSpPr>
            <a:spLocks noGrp="1"/>
          </p:cNvSpPr>
          <p:nvPr>
            <p:ph type="sldNum" sz="quarter" idx="12"/>
          </p:nvPr>
        </p:nvSpPr>
        <p:spPr/>
        <p:txBody>
          <a:bodyPr/>
          <a:lstStyle/>
          <a:p>
            <a:fld id="{498CAC5B-CD9E-438E-96A7-57D31D5F722C}" type="slidenum">
              <a:rPr lang="en-IN" smtClean="0"/>
              <a:t>‹#›</a:t>
            </a:fld>
            <a:endParaRPr lang="en-IN"/>
          </a:p>
        </p:txBody>
      </p:sp>
    </p:spTree>
    <p:extLst>
      <p:ext uri="{BB962C8B-B14F-4D97-AF65-F5344CB8AC3E}">
        <p14:creationId xmlns:p14="http://schemas.microsoft.com/office/powerpoint/2010/main" val="39204939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30B6E-AE12-D9BA-927A-3335351CCA5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DFFBEBD-A5BB-4FD2-4FC9-981BAA5B251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2A0A5EC-4C4B-6E87-DE4D-A4F2BFD9EA3D}"/>
              </a:ext>
            </a:extLst>
          </p:cNvPr>
          <p:cNvSpPr>
            <a:spLocks noGrp="1"/>
          </p:cNvSpPr>
          <p:nvPr>
            <p:ph type="dt" sz="half" idx="10"/>
          </p:nvPr>
        </p:nvSpPr>
        <p:spPr/>
        <p:txBody>
          <a:bodyPr/>
          <a:lstStyle/>
          <a:p>
            <a:fld id="{55112B46-918B-455C-B132-A6C54D641FD3}" type="datetimeFigureOut">
              <a:rPr lang="en-IN" smtClean="0"/>
              <a:t>13-03-2026</a:t>
            </a:fld>
            <a:endParaRPr lang="en-IN"/>
          </a:p>
        </p:txBody>
      </p:sp>
      <p:sp>
        <p:nvSpPr>
          <p:cNvPr id="5" name="Footer Placeholder 4">
            <a:extLst>
              <a:ext uri="{FF2B5EF4-FFF2-40B4-BE49-F238E27FC236}">
                <a16:creationId xmlns:a16="http://schemas.microsoft.com/office/drawing/2014/main" id="{F3995DFB-6E70-6D58-E89F-2577DE4B857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758CAC6-9EE8-3709-03EB-C776BF5CD300}"/>
              </a:ext>
            </a:extLst>
          </p:cNvPr>
          <p:cNvSpPr>
            <a:spLocks noGrp="1"/>
          </p:cNvSpPr>
          <p:nvPr>
            <p:ph type="sldNum" sz="quarter" idx="12"/>
          </p:nvPr>
        </p:nvSpPr>
        <p:spPr/>
        <p:txBody>
          <a:bodyPr/>
          <a:lstStyle/>
          <a:p>
            <a:fld id="{498CAC5B-CD9E-438E-96A7-57D31D5F722C}" type="slidenum">
              <a:rPr lang="en-IN" smtClean="0"/>
              <a:t>‹#›</a:t>
            </a:fld>
            <a:endParaRPr lang="en-IN"/>
          </a:p>
        </p:txBody>
      </p:sp>
    </p:spTree>
    <p:extLst>
      <p:ext uri="{BB962C8B-B14F-4D97-AF65-F5344CB8AC3E}">
        <p14:creationId xmlns:p14="http://schemas.microsoft.com/office/powerpoint/2010/main" val="27611156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3FEBBB7-AC17-9645-6D01-335E8D19A67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3B9E667-DAF5-2CD5-F086-480C0B02B88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4BFB8D0-EEDF-23C9-724E-A886F42F2873}"/>
              </a:ext>
            </a:extLst>
          </p:cNvPr>
          <p:cNvSpPr>
            <a:spLocks noGrp="1"/>
          </p:cNvSpPr>
          <p:nvPr>
            <p:ph type="dt" sz="half" idx="10"/>
          </p:nvPr>
        </p:nvSpPr>
        <p:spPr/>
        <p:txBody>
          <a:bodyPr/>
          <a:lstStyle/>
          <a:p>
            <a:fld id="{55112B46-918B-455C-B132-A6C54D641FD3}" type="datetimeFigureOut">
              <a:rPr lang="en-IN" smtClean="0"/>
              <a:t>13-03-2026</a:t>
            </a:fld>
            <a:endParaRPr lang="en-IN"/>
          </a:p>
        </p:txBody>
      </p:sp>
      <p:sp>
        <p:nvSpPr>
          <p:cNvPr id="5" name="Footer Placeholder 4">
            <a:extLst>
              <a:ext uri="{FF2B5EF4-FFF2-40B4-BE49-F238E27FC236}">
                <a16:creationId xmlns:a16="http://schemas.microsoft.com/office/drawing/2014/main" id="{04C1378F-EFBF-AE05-ADD4-8A1D5654BEC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B8F1FD5-AD7C-7FEA-734D-3192DCF32C23}"/>
              </a:ext>
            </a:extLst>
          </p:cNvPr>
          <p:cNvSpPr>
            <a:spLocks noGrp="1"/>
          </p:cNvSpPr>
          <p:nvPr>
            <p:ph type="sldNum" sz="quarter" idx="12"/>
          </p:nvPr>
        </p:nvSpPr>
        <p:spPr/>
        <p:txBody>
          <a:bodyPr/>
          <a:lstStyle/>
          <a:p>
            <a:fld id="{498CAC5B-CD9E-438E-96A7-57D31D5F722C}" type="slidenum">
              <a:rPr lang="en-IN" smtClean="0"/>
              <a:t>‹#›</a:t>
            </a:fld>
            <a:endParaRPr lang="en-IN"/>
          </a:p>
        </p:txBody>
      </p:sp>
    </p:spTree>
    <p:extLst>
      <p:ext uri="{BB962C8B-B14F-4D97-AF65-F5344CB8AC3E}">
        <p14:creationId xmlns:p14="http://schemas.microsoft.com/office/powerpoint/2010/main" val="14311869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8EF6CDA-82C9-3879-C1A7-6F62D86708B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81FCAC2-9E83-DA24-DD51-60EC3B3FDF6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31549F8-36F6-6FB8-5B05-9132E6D5FA0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5112B46-918B-455C-B132-A6C54D641FD3}" type="datetimeFigureOut">
              <a:rPr lang="en-IN" smtClean="0"/>
              <a:t>13-03-2026</a:t>
            </a:fld>
            <a:endParaRPr lang="en-IN"/>
          </a:p>
        </p:txBody>
      </p:sp>
      <p:sp>
        <p:nvSpPr>
          <p:cNvPr id="5" name="Footer Placeholder 4">
            <a:extLst>
              <a:ext uri="{FF2B5EF4-FFF2-40B4-BE49-F238E27FC236}">
                <a16:creationId xmlns:a16="http://schemas.microsoft.com/office/drawing/2014/main" id="{BC0492CD-E145-06A5-B418-AF2080B340F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808A793-FF97-64D8-CB3D-7862E317357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98CAC5B-CD9E-438E-96A7-57D31D5F722C}" type="slidenum">
              <a:rPr lang="en-IN" smtClean="0"/>
              <a:t>‹#›</a:t>
            </a:fld>
            <a:endParaRPr lang="en-IN"/>
          </a:p>
        </p:txBody>
      </p:sp>
    </p:spTree>
    <p:extLst>
      <p:ext uri="{BB962C8B-B14F-4D97-AF65-F5344CB8AC3E}">
        <p14:creationId xmlns:p14="http://schemas.microsoft.com/office/powerpoint/2010/main" val="18461278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1365924" y="1026161"/>
            <a:ext cx="10021111" cy="5831839"/>
          </a:xfrm>
          <a:prstGeom prst="rect">
            <a:avLst/>
          </a:prstGeom>
        </p:spPr>
      </p:pic>
      <p:sp>
        <p:nvSpPr>
          <p:cNvPr id="4" name="Title 3">
            <a:extLst>
              <a:ext uri="{FF2B5EF4-FFF2-40B4-BE49-F238E27FC236}">
                <a16:creationId xmlns:a16="http://schemas.microsoft.com/office/drawing/2014/main" id="{661A14A8-98F5-CF49-2894-D0719D98ED58}"/>
              </a:ext>
            </a:extLst>
          </p:cNvPr>
          <p:cNvSpPr>
            <a:spLocks noGrp="1"/>
          </p:cNvSpPr>
          <p:nvPr>
            <p:ph type="title"/>
          </p:nvPr>
        </p:nvSpPr>
        <p:spPr>
          <a:xfrm>
            <a:off x="838200" y="365126"/>
            <a:ext cx="10515600" cy="850832"/>
          </a:xfrm>
        </p:spPr>
        <p:txBody>
          <a:bodyPr/>
          <a:lstStyle/>
          <a:p>
            <a:pPr algn="ctr"/>
            <a:r>
              <a:rPr lang="en-IN" b="1" dirty="0">
                <a:latin typeface="Times New Roman"/>
                <a:cs typeface="Times New Roman"/>
              </a:rPr>
              <a:t>Evolution</a:t>
            </a:r>
            <a:r>
              <a:rPr lang="en-IN" b="1" spc="-60" dirty="0">
                <a:latin typeface="Times New Roman"/>
                <a:cs typeface="Times New Roman"/>
              </a:rPr>
              <a:t> </a:t>
            </a:r>
            <a:r>
              <a:rPr lang="en-IN" b="1" dirty="0">
                <a:latin typeface="Times New Roman"/>
                <a:cs typeface="Times New Roman"/>
              </a:rPr>
              <a:t>of</a:t>
            </a:r>
            <a:r>
              <a:rPr lang="en-IN" b="1" spc="-27" dirty="0">
                <a:latin typeface="Times New Roman"/>
                <a:cs typeface="Times New Roman"/>
              </a:rPr>
              <a:t> </a:t>
            </a:r>
            <a:r>
              <a:rPr lang="en-IN" b="1" dirty="0">
                <a:latin typeface="Times New Roman"/>
                <a:cs typeface="Times New Roman"/>
              </a:rPr>
              <a:t>electricity</a:t>
            </a:r>
            <a:r>
              <a:rPr lang="en-IN" b="1" spc="-80" dirty="0">
                <a:latin typeface="Times New Roman"/>
                <a:cs typeface="Times New Roman"/>
              </a:rPr>
              <a:t> </a:t>
            </a:r>
            <a:r>
              <a:rPr lang="en-IN" b="1" spc="-13" dirty="0">
                <a:latin typeface="Times New Roman"/>
                <a:cs typeface="Times New Roman"/>
              </a:rPr>
              <a:t>metering</a:t>
            </a: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01903" y="1251711"/>
            <a:ext cx="10296144" cy="455574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376058" y="496324"/>
            <a:ext cx="3578350" cy="570242"/>
          </a:xfrm>
          <a:prstGeom prst="rect">
            <a:avLst/>
          </a:prstGeom>
        </p:spPr>
        <p:txBody>
          <a:bodyPr vert="horz" wrap="square" lIns="0" tIns="16087" rIns="0" bIns="0" rtlCol="0" anchor="ctr">
            <a:spAutoFit/>
          </a:bodyPr>
          <a:lstStyle/>
          <a:p>
            <a:pPr marL="16933">
              <a:lnSpc>
                <a:spcPct val="100000"/>
              </a:lnSpc>
              <a:spcBef>
                <a:spcPts val="127"/>
              </a:spcBef>
            </a:pPr>
            <a:r>
              <a:rPr sz="3600" b="1" dirty="0">
                <a:latin typeface="Times New Roman"/>
                <a:cs typeface="Times New Roman"/>
              </a:rPr>
              <a:t>Smart</a:t>
            </a:r>
            <a:r>
              <a:rPr sz="3600" b="1" spc="-73" dirty="0">
                <a:latin typeface="Times New Roman"/>
                <a:cs typeface="Times New Roman"/>
              </a:rPr>
              <a:t> </a:t>
            </a:r>
            <a:r>
              <a:rPr sz="3600" b="1" spc="-13" dirty="0">
                <a:latin typeface="Times New Roman"/>
                <a:cs typeface="Times New Roman"/>
              </a:rPr>
              <a:t>meter</a:t>
            </a:r>
            <a:endParaRPr sz="3600" dirty="0">
              <a:latin typeface="Times New Roman"/>
              <a:cs typeface="Times New Roman"/>
            </a:endParaRPr>
          </a:p>
        </p:txBody>
      </p:sp>
      <p:sp>
        <p:nvSpPr>
          <p:cNvPr id="3" name="object 3"/>
          <p:cNvSpPr txBox="1"/>
          <p:nvPr/>
        </p:nvSpPr>
        <p:spPr>
          <a:xfrm>
            <a:off x="629920" y="1242399"/>
            <a:ext cx="11257280" cy="2351840"/>
          </a:xfrm>
          <a:prstGeom prst="rect">
            <a:avLst/>
          </a:prstGeom>
        </p:spPr>
        <p:txBody>
          <a:bodyPr vert="horz" wrap="square" lIns="0" tIns="16933" rIns="0" bIns="0" rtlCol="0">
            <a:spAutoFit/>
          </a:bodyPr>
          <a:lstStyle/>
          <a:p>
            <a:pPr marL="473275" marR="825479" indent="-457189">
              <a:lnSpc>
                <a:spcPct val="114999"/>
              </a:lnSpc>
              <a:spcBef>
                <a:spcPts val="133"/>
              </a:spcBef>
              <a:buChar char="●"/>
              <a:tabLst>
                <a:tab pos="473275" algn="l"/>
              </a:tabLst>
            </a:pPr>
            <a:r>
              <a:rPr sz="2200" dirty="0">
                <a:cs typeface="Times New Roman"/>
              </a:rPr>
              <a:t>Smart</a:t>
            </a:r>
            <a:r>
              <a:rPr sz="2200" spc="-13" dirty="0">
                <a:cs typeface="Times New Roman"/>
              </a:rPr>
              <a:t> </a:t>
            </a:r>
            <a:r>
              <a:rPr sz="2200" dirty="0">
                <a:cs typeface="Times New Roman"/>
              </a:rPr>
              <a:t>meter</a:t>
            </a:r>
            <a:r>
              <a:rPr sz="2200" spc="-33" dirty="0">
                <a:cs typeface="Times New Roman"/>
              </a:rPr>
              <a:t> </a:t>
            </a:r>
            <a:r>
              <a:rPr sz="2200" dirty="0">
                <a:cs typeface="Times New Roman"/>
              </a:rPr>
              <a:t>is</a:t>
            </a:r>
            <a:r>
              <a:rPr sz="2200" spc="-33" dirty="0">
                <a:cs typeface="Times New Roman"/>
              </a:rPr>
              <a:t> </a:t>
            </a:r>
            <a:r>
              <a:rPr sz="2200" dirty="0">
                <a:cs typeface="Times New Roman"/>
              </a:rPr>
              <a:t>an</a:t>
            </a:r>
            <a:r>
              <a:rPr sz="2200" spc="-20" dirty="0">
                <a:cs typeface="Times New Roman"/>
              </a:rPr>
              <a:t> </a:t>
            </a:r>
            <a:r>
              <a:rPr sz="2200" dirty="0">
                <a:cs typeface="Times New Roman"/>
              </a:rPr>
              <a:t>electricity</a:t>
            </a:r>
            <a:r>
              <a:rPr sz="2200" spc="-67" dirty="0">
                <a:cs typeface="Times New Roman"/>
              </a:rPr>
              <a:t> </a:t>
            </a:r>
            <a:r>
              <a:rPr sz="2200" dirty="0">
                <a:cs typeface="Times New Roman"/>
              </a:rPr>
              <a:t>meter</a:t>
            </a:r>
            <a:r>
              <a:rPr sz="2200" spc="-33" dirty="0">
                <a:cs typeface="Times New Roman"/>
              </a:rPr>
              <a:t> </a:t>
            </a:r>
            <a:r>
              <a:rPr sz="2200" dirty="0">
                <a:cs typeface="Times New Roman"/>
              </a:rPr>
              <a:t>that</a:t>
            </a:r>
            <a:r>
              <a:rPr sz="2200" spc="-33" dirty="0">
                <a:cs typeface="Times New Roman"/>
              </a:rPr>
              <a:t> </a:t>
            </a:r>
            <a:r>
              <a:rPr sz="2200" dirty="0">
                <a:cs typeface="Times New Roman"/>
              </a:rPr>
              <a:t>has</a:t>
            </a:r>
            <a:r>
              <a:rPr sz="2200" spc="-33" dirty="0">
                <a:cs typeface="Times New Roman"/>
              </a:rPr>
              <a:t> </a:t>
            </a:r>
            <a:r>
              <a:rPr sz="2200" dirty="0">
                <a:cs typeface="Times New Roman"/>
              </a:rPr>
              <a:t>metering</a:t>
            </a:r>
            <a:r>
              <a:rPr sz="2200" spc="-40" dirty="0">
                <a:cs typeface="Times New Roman"/>
              </a:rPr>
              <a:t> </a:t>
            </a:r>
            <a:r>
              <a:rPr sz="2200" dirty="0">
                <a:cs typeface="Times New Roman"/>
              </a:rPr>
              <a:t>as</a:t>
            </a:r>
            <a:r>
              <a:rPr sz="2200" spc="-27" dirty="0">
                <a:cs typeface="Times New Roman"/>
              </a:rPr>
              <a:t> </a:t>
            </a:r>
            <a:r>
              <a:rPr sz="2200" dirty="0">
                <a:cs typeface="Times New Roman"/>
              </a:rPr>
              <a:t>well</a:t>
            </a:r>
            <a:r>
              <a:rPr sz="2200" spc="-27" dirty="0">
                <a:cs typeface="Times New Roman"/>
              </a:rPr>
              <a:t> </a:t>
            </a:r>
            <a:r>
              <a:rPr sz="2200" dirty="0">
                <a:cs typeface="Times New Roman"/>
              </a:rPr>
              <a:t>as</a:t>
            </a:r>
            <a:r>
              <a:rPr sz="2200" spc="-40" dirty="0">
                <a:cs typeface="Times New Roman"/>
              </a:rPr>
              <a:t> </a:t>
            </a:r>
            <a:r>
              <a:rPr sz="2200" spc="-13" dirty="0">
                <a:cs typeface="Times New Roman"/>
              </a:rPr>
              <a:t>communication</a:t>
            </a:r>
            <a:r>
              <a:rPr lang="en-IN" sz="2200" spc="-13" dirty="0">
                <a:cs typeface="Times New Roman"/>
              </a:rPr>
              <a:t> </a:t>
            </a:r>
            <a:r>
              <a:rPr sz="2200" spc="-13" dirty="0">
                <a:cs typeface="Times New Roman"/>
              </a:rPr>
              <a:t>abilities</a:t>
            </a:r>
            <a:endParaRPr sz="2200" dirty="0">
              <a:cs typeface="Times New Roman"/>
            </a:endParaRPr>
          </a:p>
          <a:p>
            <a:pPr marL="548626" indent="-531693">
              <a:spcBef>
                <a:spcPts val="427"/>
              </a:spcBef>
              <a:buChar char="●"/>
              <a:tabLst>
                <a:tab pos="548626" algn="l"/>
              </a:tabLst>
            </a:pPr>
            <a:r>
              <a:rPr sz="2200" dirty="0">
                <a:cs typeface="Times New Roman"/>
              </a:rPr>
              <a:t>It</a:t>
            </a:r>
            <a:r>
              <a:rPr sz="2200" spc="-13" dirty="0">
                <a:cs typeface="Times New Roman"/>
              </a:rPr>
              <a:t> </a:t>
            </a:r>
            <a:r>
              <a:rPr sz="2200" dirty="0">
                <a:cs typeface="Times New Roman"/>
              </a:rPr>
              <a:t>has</a:t>
            </a:r>
            <a:r>
              <a:rPr sz="2200" spc="-33" dirty="0">
                <a:cs typeface="Times New Roman"/>
              </a:rPr>
              <a:t> </a:t>
            </a:r>
            <a:r>
              <a:rPr sz="2200" dirty="0">
                <a:cs typeface="Times New Roman"/>
              </a:rPr>
              <a:t>two</a:t>
            </a:r>
            <a:r>
              <a:rPr sz="2200" spc="-20" dirty="0">
                <a:cs typeface="Times New Roman"/>
              </a:rPr>
              <a:t> </a:t>
            </a:r>
            <a:r>
              <a:rPr sz="2200" dirty="0">
                <a:cs typeface="Times New Roman"/>
              </a:rPr>
              <a:t>key</a:t>
            </a:r>
            <a:r>
              <a:rPr sz="2200" spc="-40" dirty="0">
                <a:cs typeface="Times New Roman"/>
              </a:rPr>
              <a:t> </a:t>
            </a:r>
            <a:r>
              <a:rPr sz="2200" dirty="0">
                <a:cs typeface="Times New Roman"/>
              </a:rPr>
              <a:t>functions</a:t>
            </a:r>
            <a:r>
              <a:rPr sz="2200" spc="-33" dirty="0">
                <a:cs typeface="Times New Roman"/>
              </a:rPr>
              <a:t> </a:t>
            </a:r>
            <a:r>
              <a:rPr sz="2200" dirty="0">
                <a:cs typeface="Times New Roman"/>
              </a:rPr>
              <a:t>to</a:t>
            </a:r>
            <a:r>
              <a:rPr sz="2200" spc="-33" dirty="0">
                <a:cs typeface="Times New Roman"/>
              </a:rPr>
              <a:t> </a:t>
            </a:r>
            <a:r>
              <a:rPr sz="2200" spc="-13" dirty="0">
                <a:cs typeface="Times New Roman"/>
              </a:rPr>
              <a:t>perform:</a:t>
            </a:r>
            <a:endParaRPr sz="2200" dirty="0">
              <a:cs typeface="Times New Roman"/>
            </a:endParaRPr>
          </a:p>
          <a:p>
            <a:pPr marL="473275" marR="6773" lvl="1" indent="361518">
              <a:lnSpc>
                <a:spcPct val="114999"/>
              </a:lnSpc>
              <a:spcBef>
                <a:spcPts val="1607"/>
              </a:spcBef>
              <a:buAutoNum type="romanLcParenBoth"/>
              <a:tabLst>
                <a:tab pos="834792" algn="l"/>
              </a:tabLst>
            </a:pPr>
            <a:r>
              <a:rPr sz="2200" dirty="0">
                <a:cs typeface="Times New Roman"/>
              </a:rPr>
              <a:t>for</a:t>
            </a:r>
            <a:r>
              <a:rPr sz="2200" spc="-27" dirty="0">
                <a:cs typeface="Times New Roman"/>
              </a:rPr>
              <a:t> </a:t>
            </a:r>
            <a:r>
              <a:rPr sz="2200" dirty="0">
                <a:cs typeface="Times New Roman"/>
              </a:rPr>
              <a:t>providing</a:t>
            </a:r>
            <a:r>
              <a:rPr sz="2200" spc="-53" dirty="0">
                <a:cs typeface="Times New Roman"/>
              </a:rPr>
              <a:t> </a:t>
            </a:r>
            <a:r>
              <a:rPr sz="2200" dirty="0">
                <a:cs typeface="Times New Roman"/>
              </a:rPr>
              <a:t>data</a:t>
            </a:r>
            <a:r>
              <a:rPr sz="2200" spc="-33" dirty="0">
                <a:cs typeface="Times New Roman"/>
              </a:rPr>
              <a:t> </a:t>
            </a:r>
            <a:r>
              <a:rPr sz="2200" dirty="0">
                <a:cs typeface="Times New Roman"/>
              </a:rPr>
              <a:t>on</a:t>
            </a:r>
            <a:r>
              <a:rPr sz="2200" spc="-27" dirty="0">
                <a:cs typeface="Times New Roman"/>
              </a:rPr>
              <a:t> </a:t>
            </a:r>
            <a:r>
              <a:rPr sz="2200" dirty="0">
                <a:cs typeface="Times New Roman"/>
              </a:rPr>
              <a:t>energy</a:t>
            </a:r>
            <a:r>
              <a:rPr sz="2200" spc="-53" dirty="0">
                <a:cs typeface="Times New Roman"/>
              </a:rPr>
              <a:t> </a:t>
            </a:r>
            <a:r>
              <a:rPr sz="2200" dirty="0">
                <a:cs typeface="Times New Roman"/>
              </a:rPr>
              <a:t>usage</a:t>
            </a:r>
            <a:r>
              <a:rPr sz="2200" spc="-13" dirty="0">
                <a:cs typeface="Times New Roman"/>
              </a:rPr>
              <a:t> </a:t>
            </a:r>
            <a:r>
              <a:rPr sz="2200" dirty="0">
                <a:cs typeface="Times New Roman"/>
              </a:rPr>
              <a:t>to</a:t>
            </a:r>
            <a:r>
              <a:rPr sz="2200" spc="-47" dirty="0">
                <a:cs typeface="Times New Roman"/>
              </a:rPr>
              <a:t> </a:t>
            </a:r>
            <a:r>
              <a:rPr sz="2200" dirty="0">
                <a:cs typeface="Times New Roman"/>
              </a:rPr>
              <a:t>consumers</a:t>
            </a:r>
            <a:r>
              <a:rPr sz="2200" spc="-33" dirty="0">
                <a:cs typeface="Times New Roman"/>
              </a:rPr>
              <a:t> </a:t>
            </a:r>
            <a:r>
              <a:rPr sz="2200" dirty="0">
                <a:cs typeface="Times New Roman"/>
              </a:rPr>
              <a:t>to</a:t>
            </a:r>
            <a:r>
              <a:rPr sz="2200" spc="-40" dirty="0">
                <a:cs typeface="Times New Roman"/>
              </a:rPr>
              <a:t> </a:t>
            </a:r>
            <a:r>
              <a:rPr sz="2200" dirty="0">
                <a:cs typeface="Times New Roman"/>
              </a:rPr>
              <a:t>help</a:t>
            </a:r>
            <a:r>
              <a:rPr sz="2200" spc="-47" dirty="0">
                <a:cs typeface="Times New Roman"/>
              </a:rPr>
              <a:t> </a:t>
            </a:r>
            <a:r>
              <a:rPr sz="2200" dirty="0">
                <a:cs typeface="Times New Roman"/>
              </a:rPr>
              <a:t>control</a:t>
            </a:r>
            <a:r>
              <a:rPr sz="2200" spc="-47" dirty="0">
                <a:cs typeface="Times New Roman"/>
              </a:rPr>
              <a:t> </a:t>
            </a:r>
            <a:r>
              <a:rPr sz="2200" dirty="0">
                <a:cs typeface="Times New Roman"/>
              </a:rPr>
              <a:t>over</a:t>
            </a:r>
            <a:r>
              <a:rPr sz="2200" spc="-20" dirty="0">
                <a:cs typeface="Times New Roman"/>
              </a:rPr>
              <a:t> </a:t>
            </a:r>
            <a:r>
              <a:rPr sz="2200" spc="-13" dirty="0">
                <a:cs typeface="Times New Roman"/>
              </a:rPr>
              <a:t>consumption </a:t>
            </a:r>
            <a:r>
              <a:rPr sz="2200" dirty="0">
                <a:cs typeface="Times New Roman"/>
              </a:rPr>
              <a:t>and</a:t>
            </a:r>
            <a:r>
              <a:rPr sz="2200" spc="-20" dirty="0">
                <a:cs typeface="Times New Roman"/>
              </a:rPr>
              <a:t> </a:t>
            </a:r>
            <a:r>
              <a:rPr sz="2200" spc="-27" dirty="0">
                <a:cs typeface="Times New Roman"/>
              </a:rPr>
              <a:t>cost</a:t>
            </a:r>
            <a:endParaRPr sz="2200" dirty="0">
              <a:cs typeface="Times New Roman"/>
            </a:endParaRPr>
          </a:p>
          <a:p>
            <a:pPr marL="473275" marR="166789" lvl="1" indent="446182">
              <a:lnSpc>
                <a:spcPct val="114999"/>
              </a:lnSpc>
              <a:spcBef>
                <a:spcPts val="1600"/>
              </a:spcBef>
              <a:buAutoNum type="romanLcParenBoth"/>
              <a:tabLst>
                <a:tab pos="919457" algn="l"/>
              </a:tabLst>
            </a:pPr>
            <a:r>
              <a:rPr sz="2200" dirty="0">
                <a:cs typeface="Times New Roman"/>
              </a:rPr>
              <a:t>for</a:t>
            </a:r>
            <a:r>
              <a:rPr sz="2200" spc="-33" dirty="0">
                <a:cs typeface="Times New Roman"/>
              </a:rPr>
              <a:t> </a:t>
            </a:r>
            <a:r>
              <a:rPr sz="2200" dirty="0">
                <a:cs typeface="Times New Roman"/>
              </a:rPr>
              <a:t>sending</a:t>
            </a:r>
            <a:r>
              <a:rPr sz="2200" spc="-33" dirty="0">
                <a:cs typeface="Times New Roman"/>
              </a:rPr>
              <a:t> </a:t>
            </a:r>
            <a:r>
              <a:rPr sz="2200" dirty="0">
                <a:cs typeface="Times New Roman"/>
              </a:rPr>
              <a:t>data</a:t>
            </a:r>
            <a:r>
              <a:rPr sz="2200" spc="-27" dirty="0">
                <a:cs typeface="Times New Roman"/>
              </a:rPr>
              <a:t> </a:t>
            </a:r>
            <a:r>
              <a:rPr sz="2200" dirty="0">
                <a:cs typeface="Times New Roman"/>
              </a:rPr>
              <a:t>to</a:t>
            </a:r>
            <a:r>
              <a:rPr sz="2200" spc="-33" dirty="0">
                <a:cs typeface="Times New Roman"/>
              </a:rPr>
              <a:t> </a:t>
            </a:r>
            <a:r>
              <a:rPr sz="2200" dirty="0">
                <a:cs typeface="Times New Roman"/>
              </a:rPr>
              <a:t>the</a:t>
            </a:r>
            <a:r>
              <a:rPr sz="2200" spc="-27" dirty="0">
                <a:cs typeface="Times New Roman"/>
              </a:rPr>
              <a:t> </a:t>
            </a:r>
            <a:r>
              <a:rPr sz="2200" dirty="0">
                <a:cs typeface="Times New Roman"/>
              </a:rPr>
              <a:t>utility</a:t>
            </a:r>
            <a:r>
              <a:rPr sz="2200" spc="-40" dirty="0">
                <a:cs typeface="Times New Roman"/>
              </a:rPr>
              <a:t> </a:t>
            </a:r>
            <a:r>
              <a:rPr sz="2200" dirty="0">
                <a:cs typeface="Times New Roman"/>
              </a:rPr>
              <a:t>for</a:t>
            </a:r>
            <a:r>
              <a:rPr sz="2200" spc="-33" dirty="0">
                <a:cs typeface="Times New Roman"/>
              </a:rPr>
              <a:t> </a:t>
            </a:r>
            <a:r>
              <a:rPr sz="2200" spc="-13" dirty="0">
                <a:cs typeface="Times New Roman"/>
              </a:rPr>
              <a:t>peak-</a:t>
            </a:r>
            <a:r>
              <a:rPr sz="2200" dirty="0">
                <a:cs typeface="Times New Roman"/>
              </a:rPr>
              <a:t>load</a:t>
            </a:r>
            <a:r>
              <a:rPr sz="2200" spc="-33" dirty="0">
                <a:cs typeface="Times New Roman"/>
              </a:rPr>
              <a:t> </a:t>
            </a:r>
            <a:r>
              <a:rPr sz="2200" dirty="0">
                <a:cs typeface="Times New Roman"/>
              </a:rPr>
              <a:t>requirements,</a:t>
            </a:r>
            <a:r>
              <a:rPr sz="2200" spc="-40" dirty="0">
                <a:cs typeface="Times New Roman"/>
              </a:rPr>
              <a:t> </a:t>
            </a:r>
            <a:r>
              <a:rPr sz="2200" dirty="0">
                <a:cs typeface="Times New Roman"/>
              </a:rPr>
              <a:t>load</a:t>
            </a:r>
            <a:r>
              <a:rPr sz="2200" spc="-33" dirty="0">
                <a:cs typeface="Times New Roman"/>
              </a:rPr>
              <a:t> </a:t>
            </a:r>
            <a:r>
              <a:rPr sz="2200" dirty="0">
                <a:cs typeface="Times New Roman"/>
              </a:rPr>
              <a:t>factor</a:t>
            </a:r>
            <a:r>
              <a:rPr sz="2200" spc="-40" dirty="0">
                <a:cs typeface="Times New Roman"/>
              </a:rPr>
              <a:t> </a:t>
            </a:r>
            <a:r>
              <a:rPr sz="2200" dirty="0">
                <a:cs typeface="Times New Roman"/>
              </a:rPr>
              <a:t>control</a:t>
            </a:r>
            <a:r>
              <a:rPr sz="2200" spc="-27" dirty="0">
                <a:cs typeface="Times New Roman"/>
              </a:rPr>
              <a:t> </a:t>
            </a:r>
            <a:r>
              <a:rPr sz="2200" spc="-33" dirty="0">
                <a:cs typeface="Times New Roman"/>
              </a:rPr>
              <a:t>and </a:t>
            </a:r>
            <a:r>
              <a:rPr sz="2200" dirty="0">
                <a:cs typeface="Times New Roman"/>
              </a:rPr>
              <a:t>to</a:t>
            </a:r>
            <a:r>
              <a:rPr sz="2200" spc="-40" dirty="0">
                <a:cs typeface="Times New Roman"/>
              </a:rPr>
              <a:t> </a:t>
            </a:r>
            <a:r>
              <a:rPr sz="2200" dirty="0">
                <a:cs typeface="Times New Roman"/>
              </a:rPr>
              <a:t>develop</a:t>
            </a:r>
            <a:r>
              <a:rPr sz="2200" spc="-33" dirty="0">
                <a:cs typeface="Times New Roman"/>
              </a:rPr>
              <a:t> </a:t>
            </a:r>
            <a:r>
              <a:rPr sz="2200" dirty="0">
                <a:cs typeface="Times New Roman"/>
              </a:rPr>
              <a:t>pricing</a:t>
            </a:r>
            <a:r>
              <a:rPr sz="2200" spc="-47" dirty="0">
                <a:cs typeface="Times New Roman"/>
              </a:rPr>
              <a:t> </a:t>
            </a:r>
            <a:r>
              <a:rPr sz="2200" dirty="0">
                <a:cs typeface="Times New Roman"/>
              </a:rPr>
              <a:t>strategies</a:t>
            </a:r>
            <a:r>
              <a:rPr sz="2200" spc="-53" dirty="0">
                <a:cs typeface="Times New Roman"/>
              </a:rPr>
              <a:t> </a:t>
            </a:r>
            <a:r>
              <a:rPr sz="2200" dirty="0">
                <a:cs typeface="Times New Roman"/>
              </a:rPr>
              <a:t>on</a:t>
            </a:r>
            <a:r>
              <a:rPr sz="2200" spc="-13" dirty="0">
                <a:cs typeface="Times New Roman"/>
              </a:rPr>
              <a:t> </a:t>
            </a:r>
            <a:r>
              <a:rPr sz="2200" dirty="0">
                <a:cs typeface="Times New Roman"/>
              </a:rPr>
              <a:t>the</a:t>
            </a:r>
            <a:r>
              <a:rPr sz="2200" spc="-33" dirty="0">
                <a:cs typeface="Times New Roman"/>
              </a:rPr>
              <a:t> </a:t>
            </a:r>
            <a:r>
              <a:rPr sz="2200" dirty="0">
                <a:cs typeface="Times New Roman"/>
              </a:rPr>
              <a:t>basis</a:t>
            </a:r>
            <a:r>
              <a:rPr sz="2200" spc="-33" dirty="0">
                <a:cs typeface="Times New Roman"/>
              </a:rPr>
              <a:t> </a:t>
            </a:r>
            <a:r>
              <a:rPr sz="2200" dirty="0">
                <a:cs typeface="Times New Roman"/>
              </a:rPr>
              <a:t>of</a:t>
            </a:r>
            <a:r>
              <a:rPr sz="2200" spc="-13" dirty="0">
                <a:cs typeface="Times New Roman"/>
              </a:rPr>
              <a:t> </a:t>
            </a:r>
            <a:r>
              <a:rPr sz="2200" dirty="0">
                <a:cs typeface="Times New Roman"/>
              </a:rPr>
              <a:t>consumption</a:t>
            </a:r>
            <a:r>
              <a:rPr sz="2200" spc="-33" dirty="0">
                <a:cs typeface="Times New Roman"/>
              </a:rPr>
              <a:t> </a:t>
            </a:r>
            <a:r>
              <a:rPr sz="2200" spc="-13" dirty="0">
                <a:cs typeface="Times New Roman"/>
              </a:rPr>
              <a:t>information</a:t>
            </a:r>
            <a:endParaRPr sz="2200" dirty="0">
              <a:cs typeface="Times New Roman"/>
            </a:endParaRPr>
          </a:p>
        </p:txBody>
      </p:sp>
      <p:pic>
        <p:nvPicPr>
          <p:cNvPr id="4" name="object 4"/>
          <p:cNvPicPr/>
          <p:nvPr/>
        </p:nvPicPr>
        <p:blipFill>
          <a:blip r:embed="rId2" cstate="print"/>
          <a:stretch>
            <a:fillRect/>
          </a:stretch>
        </p:blipFill>
        <p:spPr>
          <a:xfrm>
            <a:off x="1051165" y="3770071"/>
            <a:ext cx="9156175" cy="2172207"/>
          </a:xfrm>
          <a:prstGeom prst="rect">
            <a:avLst/>
          </a:prstGeom>
        </p:spPr>
      </p:pic>
      <p:sp>
        <p:nvSpPr>
          <p:cNvPr id="5" name="object 5"/>
          <p:cNvSpPr txBox="1"/>
          <p:nvPr/>
        </p:nvSpPr>
        <p:spPr>
          <a:xfrm>
            <a:off x="3975697" y="6118111"/>
            <a:ext cx="3124200" cy="304421"/>
          </a:xfrm>
          <a:prstGeom prst="rect">
            <a:avLst/>
          </a:prstGeom>
        </p:spPr>
        <p:txBody>
          <a:bodyPr vert="horz" wrap="square" lIns="0" tIns="16933" rIns="0" bIns="0" rtlCol="0">
            <a:spAutoFit/>
          </a:bodyPr>
          <a:lstStyle/>
          <a:p>
            <a:pPr marL="16933">
              <a:spcBef>
                <a:spcPts val="133"/>
              </a:spcBef>
            </a:pPr>
            <a:r>
              <a:rPr sz="1867" b="1" dirty="0">
                <a:latin typeface="Times New Roman"/>
                <a:cs typeface="Times New Roman"/>
              </a:rPr>
              <a:t>Block</a:t>
            </a:r>
            <a:r>
              <a:rPr sz="1867" b="1" spc="-33" dirty="0">
                <a:latin typeface="Times New Roman"/>
                <a:cs typeface="Times New Roman"/>
              </a:rPr>
              <a:t> </a:t>
            </a:r>
            <a:r>
              <a:rPr sz="1867" b="1" dirty="0">
                <a:latin typeface="Times New Roman"/>
                <a:cs typeface="Times New Roman"/>
              </a:rPr>
              <a:t>diagram</a:t>
            </a:r>
            <a:r>
              <a:rPr sz="1867" b="1" spc="-60" dirty="0">
                <a:latin typeface="Times New Roman"/>
                <a:cs typeface="Times New Roman"/>
              </a:rPr>
              <a:t> </a:t>
            </a:r>
            <a:r>
              <a:rPr sz="1867" b="1" dirty="0">
                <a:latin typeface="Times New Roman"/>
                <a:cs typeface="Times New Roman"/>
              </a:rPr>
              <a:t>of</a:t>
            </a:r>
            <a:r>
              <a:rPr sz="1867" b="1" spc="-20" dirty="0">
                <a:latin typeface="Times New Roman"/>
                <a:cs typeface="Times New Roman"/>
              </a:rPr>
              <a:t> </a:t>
            </a:r>
            <a:r>
              <a:rPr sz="1867" b="1" dirty="0">
                <a:latin typeface="Times New Roman"/>
                <a:cs typeface="Times New Roman"/>
              </a:rPr>
              <a:t>Smart</a:t>
            </a:r>
            <a:r>
              <a:rPr sz="1867" b="1" spc="-27" dirty="0">
                <a:latin typeface="Times New Roman"/>
                <a:cs typeface="Times New Roman"/>
              </a:rPr>
              <a:t> meter</a:t>
            </a:r>
            <a:endParaRPr sz="1867">
              <a:latin typeface="Times New Roman"/>
              <a:cs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67219" y="888530"/>
            <a:ext cx="10806853" cy="5217304"/>
          </a:xfrm>
          <a:prstGeom prst="rect">
            <a:avLst/>
          </a:prstGeom>
        </p:spPr>
        <p:txBody>
          <a:bodyPr vert="horz" wrap="square" lIns="0" tIns="16933" rIns="0" bIns="0" rtlCol="0">
            <a:spAutoFit/>
          </a:bodyPr>
          <a:lstStyle/>
          <a:p>
            <a:pPr marL="16933">
              <a:spcBef>
                <a:spcPts val="133"/>
              </a:spcBef>
            </a:pPr>
            <a:r>
              <a:rPr sz="2400" b="1" dirty="0">
                <a:latin typeface="Times New Roman"/>
                <a:cs typeface="Times New Roman"/>
              </a:rPr>
              <a:t>Signal</a:t>
            </a:r>
            <a:r>
              <a:rPr sz="2400" b="1" spc="-27" dirty="0">
                <a:latin typeface="Times New Roman"/>
                <a:cs typeface="Times New Roman"/>
              </a:rPr>
              <a:t> </a:t>
            </a:r>
            <a:r>
              <a:rPr sz="2400" b="1" spc="-13" dirty="0">
                <a:latin typeface="Times New Roman"/>
                <a:cs typeface="Times New Roman"/>
              </a:rPr>
              <a:t>Acquisition</a:t>
            </a:r>
            <a:endParaRPr sz="2400" dirty="0">
              <a:latin typeface="Times New Roman"/>
              <a:cs typeface="Times New Roman"/>
            </a:endParaRPr>
          </a:p>
          <a:p>
            <a:pPr marL="625671" marR="201502" indent="-457189">
              <a:lnSpc>
                <a:spcPct val="114999"/>
              </a:lnSpc>
              <a:spcBef>
                <a:spcPts val="1600"/>
              </a:spcBef>
              <a:buChar char="●"/>
              <a:tabLst>
                <a:tab pos="625671" algn="l"/>
              </a:tabLst>
            </a:pPr>
            <a:r>
              <a:rPr sz="2400" dirty="0">
                <a:latin typeface="Times New Roman"/>
                <a:cs typeface="Times New Roman"/>
              </a:rPr>
              <a:t>A</a:t>
            </a:r>
            <a:r>
              <a:rPr sz="2400" spc="-27" dirty="0">
                <a:latin typeface="Times New Roman"/>
                <a:cs typeface="Times New Roman"/>
              </a:rPr>
              <a:t> </a:t>
            </a:r>
            <a:r>
              <a:rPr sz="2400" dirty="0">
                <a:latin typeface="Times New Roman"/>
                <a:cs typeface="Times New Roman"/>
              </a:rPr>
              <a:t>core</a:t>
            </a:r>
            <a:r>
              <a:rPr sz="2400" spc="-33" dirty="0">
                <a:latin typeface="Times New Roman"/>
                <a:cs typeface="Times New Roman"/>
              </a:rPr>
              <a:t> </a:t>
            </a:r>
            <a:r>
              <a:rPr sz="2400" dirty="0">
                <a:latin typeface="Times New Roman"/>
                <a:cs typeface="Times New Roman"/>
              </a:rPr>
              <a:t>function</a:t>
            </a:r>
            <a:r>
              <a:rPr sz="2400" spc="-47" dirty="0">
                <a:latin typeface="Times New Roman"/>
                <a:cs typeface="Times New Roman"/>
              </a:rPr>
              <a:t> </a:t>
            </a:r>
            <a:r>
              <a:rPr sz="2400" dirty="0">
                <a:latin typeface="Times New Roman"/>
                <a:cs typeface="Times New Roman"/>
              </a:rPr>
              <a:t>of</a:t>
            </a:r>
            <a:r>
              <a:rPr sz="2400" spc="-20" dirty="0">
                <a:latin typeface="Times New Roman"/>
                <a:cs typeface="Times New Roman"/>
              </a:rPr>
              <a:t> </a:t>
            </a:r>
            <a:r>
              <a:rPr sz="2400" dirty="0">
                <a:latin typeface="Times New Roman"/>
                <a:cs typeface="Times New Roman"/>
              </a:rPr>
              <a:t>the</a:t>
            </a:r>
            <a:r>
              <a:rPr sz="2400" spc="-33" dirty="0">
                <a:latin typeface="Times New Roman"/>
                <a:cs typeface="Times New Roman"/>
              </a:rPr>
              <a:t> </a:t>
            </a:r>
            <a:r>
              <a:rPr sz="2400" dirty="0">
                <a:latin typeface="Times New Roman"/>
                <a:cs typeface="Times New Roman"/>
              </a:rPr>
              <a:t>smart</a:t>
            </a:r>
            <a:r>
              <a:rPr sz="2400" spc="-27" dirty="0">
                <a:latin typeface="Times New Roman"/>
                <a:cs typeface="Times New Roman"/>
              </a:rPr>
              <a:t> </a:t>
            </a:r>
            <a:r>
              <a:rPr sz="2400" dirty="0">
                <a:latin typeface="Times New Roman"/>
                <a:cs typeface="Times New Roman"/>
              </a:rPr>
              <a:t>meter</a:t>
            </a:r>
            <a:r>
              <a:rPr sz="2400" spc="-20" dirty="0">
                <a:latin typeface="Times New Roman"/>
                <a:cs typeface="Times New Roman"/>
              </a:rPr>
              <a:t> </a:t>
            </a:r>
            <a:r>
              <a:rPr sz="2400" dirty="0">
                <a:latin typeface="Times New Roman"/>
                <a:cs typeface="Times New Roman"/>
              </a:rPr>
              <a:t>is</a:t>
            </a:r>
            <a:r>
              <a:rPr sz="2400" spc="-40" dirty="0">
                <a:latin typeface="Times New Roman"/>
                <a:cs typeface="Times New Roman"/>
              </a:rPr>
              <a:t> </a:t>
            </a:r>
            <a:r>
              <a:rPr sz="2400" dirty="0">
                <a:latin typeface="Times New Roman"/>
                <a:cs typeface="Times New Roman"/>
              </a:rPr>
              <a:t>to</a:t>
            </a:r>
            <a:r>
              <a:rPr sz="2400" spc="-33" dirty="0">
                <a:latin typeface="Times New Roman"/>
                <a:cs typeface="Times New Roman"/>
              </a:rPr>
              <a:t> </a:t>
            </a:r>
            <a:r>
              <a:rPr sz="2400" dirty="0">
                <a:latin typeface="Times New Roman"/>
                <a:cs typeface="Times New Roman"/>
              </a:rPr>
              <a:t>acquire</a:t>
            </a:r>
            <a:r>
              <a:rPr sz="2400" spc="-47" dirty="0">
                <a:latin typeface="Times New Roman"/>
                <a:cs typeface="Times New Roman"/>
              </a:rPr>
              <a:t> </a:t>
            </a:r>
            <a:r>
              <a:rPr sz="2400" dirty="0">
                <a:latin typeface="Times New Roman"/>
                <a:cs typeface="Times New Roman"/>
              </a:rPr>
              <a:t>system</a:t>
            </a:r>
            <a:r>
              <a:rPr sz="2400" spc="-40" dirty="0">
                <a:latin typeface="Times New Roman"/>
                <a:cs typeface="Times New Roman"/>
              </a:rPr>
              <a:t> </a:t>
            </a:r>
            <a:r>
              <a:rPr sz="2400" dirty="0">
                <a:latin typeface="Times New Roman"/>
                <a:cs typeface="Times New Roman"/>
              </a:rPr>
              <a:t>parameters</a:t>
            </a:r>
            <a:r>
              <a:rPr sz="2400" spc="-67" dirty="0">
                <a:latin typeface="Times New Roman"/>
                <a:cs typeface="Times New Roman"/>
              </a:rPr>
              <a:t> </a:t>
            </a:r>
            <a:r>
              <a:rPr sz="2400" dirty="0">
                <a:latin typeface="Times New Roman"/>
                <a:cs typeface="Times New Roman"/>
              </a:rPr>
              <a:t>accurately</a:t>
            </a:r>
            <a:r>
              <a:rPr sz="2400" spc="-47" dirty="0">
                <a:latin typeface="Times New Roman"/>
                <a:cs typeface="Times New Roman"/>
              </a:rPr>
              <a:t> </a:t>
            </a:r>
            <a:r>
              <a:rPr sz="2400" spc="-33" dirty="0">
                <a:latin typeface="Times New Roman"/>
                <a:cs typeface="Times New Roman"/>
              </a:rPr>
              <a:t>and </a:t>
            </a:r>
            <a:r>
              <a:rPr sz="2400" dirty="0">
                <a:latin typeface="Times New Roman"/>
                <a:cs typeface="Times New Roman"/>
              </a:rPr>
              <a:t>continuously</a:t>
            </a:r>
            <a:r>
              <a:rPr sz="2400" spc="-60" dirty="0">
                <a:latin typeface="Times New Roman"/>
                <a:cs typeface="Times New Roman"/>
              </a:rPr>
              <a:t> </a:t>
            </a:r>
            <a:r>
              <a:rPr sz="2400" dirty="0">
                <a:latin typeface="Times New Roman"/>
                <a:cs typeface="Times New Roman"/>
              </a:rPr>
              <a:t>for</a:t>
            </a:r>
            <a:r>
              <a:rPr sz="2400" spc="-20" dirty="0">
                <a:latin typeface="Times New Roman"/>
                <a:cs typeface="Times New Roman"/>
              </a:rPr>
              <a:t> </a:t>
            </a:r>
            <a:r>
              <a:rPr sz="2400" dirty="0">
                <a:latin typeface="Times New Roman"/>
                <a:cs typeface="Times New Roman"/>
              </a:rPr>
              <a:t>subsequent</a:t>
            </a:r>
            <a:r>
              <a:rPr sz="2400" spc="-40" dirty="0">
                <a:latin typeface="Times New Roman"/>
                <a:cs typeface="Times New Roman"/>
              </a:rPr>
              <a:t> </a:t>
            </a:r>
            <a:r>
              <a:rPr sz="2400" dirty="0">
                <a:latin typeface="Times New Roman"/>
                <a:cs typeface="Times New Roman"/>
              </a:rPr>
              <a:t>computation</a:t>
            </a:r>
            <a:r>
              <a:rPr sz="2400" spc="-40" dirty="0">
                <a:latin typeface="Times New Roman"/>
                <a:cs typeface="Times New Roman"/>
              </a:rPr>
              <a:t> </a:t>
            </a:r>
            <a:r>
              <a:rPr sz="2400" dirty="0">
                <a:latin typeface="Times New Roman"/>
                <a:cs typeface="Times New Roman"/>
              </a:rPr>
              <a:t>and</a:t>
            </a:r>
            <a:r>
              <a:rPr sz="2400" spc="-47" dirty="0">
                <a:latin typeface="Times New Roman"/>
                <a:cs typeface="Times New Roman"/>
              </a:rPr>
              <a:t> </a:t>
            </a:r>
            <a:r>
              <a:rPr sz="2400" spc="-13" dirty="0">
                <a:latin typeface="Times New Roman"/>
                <a:cs typeface="Times New Roman"/>
              </a:rPr>
              <a:t>communication.</a:t>
            </a:r>
            <a:endParaRPr sz="2400" dirty="0">
              <a:latin typeface="Times New Roman"/>
              <a:cs typeface="Times New Roman"/>
            </a:endParaRPr>
          </a:p>
          <a:p>
            <a:pPr marL="625671" indent="-456342">
              <a:spcBef>
                <a:spcPts val="427"/>
              </a:spcBef>
              <a:buChar char="●"/>
              <a:tabLst>
                <a:tab pos="625671" algn="l"/>
              </a:tabLst>
            </a:pPr>
            <a:r>
              <a:rPr sz="2400" dirty="0">
                <a:latin typeface="Times New Roman"/>
                <a:cs typeface="Times New Roman"/>
              </a:rPr>
              <a:t>The</a:t>
            </a:r>
            <a:r>
              <a:rPr sz="2400" spc="-67" dirty="0">
                <a:latin typeface="Times New Roman"/>
                <a:cs typeface="Times New Roman"/>
              </a:rPr>
              <a:t> </a:t>
            </a:r>
            <a:r>
              <a:rPr sz="2400" dirty="0">
                <a:latin typeface="Times New Roman"/>
                <a:cs typeface="Times New Roman"/>
              </a:rPr>
              <a:t>fundamental</a:t>
            </a:r>
            <a:r>
              <a:rPr sz="2400" spc="-73" dirty="0">
                <a:latin typeface="Times New Roman"/>
                <a:cs typeface="Times New Roman"/>
              </a:rPr>
              <a:t> </a:t>
            </a:r>
            <a:r>
              <a:rPr sz="2400" dirty="0">
                <a:latin typeface="Times New Roman"/>
                <a:cs typeface="Times New Roman"/>
              </a:rPr>
              <a:t>electrical</a:t>
            </a:r>
            <a:r>
              <a:rPr sz="2400" spc="-87" dirty="0">
                <a:latin typeface="Times New Roman"/>
                <a:cs typeface="Times New Roman"/>
              </a:rPr>
              <a:t> </a:t>
            </a:r>
            <a:r>
              <a:rPr sz="2400" dirty="0">
                <a:latin typeface="Times New Roman"/>
                <a:cs typeface="Times New Roman"/>
              </a:rPr>
              <a:t>parameters</a:t>
            </a:r>
            <a:r>
              <a:rPr sz="2400" spc="-73" dirty="0">
                <a:latin typeface="Times New Roman"/>
                <a:cs typeface="Times New Roman"/>
              </a:rPr>
              <a:t> </a:t>
            </a:r>
            <a:r>
              <a:rPr sz="2400" dirty="0">
                <a:latin typeface="Times New Roman"/>
                <a:cs typeface="Times New Roman"/>
              </a:rPr>
              <a:t>required</a:t>
            </a:r>
            <a:r>
              <a:rPr sz="2400" spc="-80" dirty="0">
                <a:latin typeface="Times New Roman"/>
                <a:cs typeface="Times New Roman"/>
              </a:rPr>
              <a:t> </a:t>
            </a:r>
            <a:r>
              <a:rPr sz="2400" spc="-33" dirty="0">
                <a:latin typeface="Times New Roman"/>
                <a:cs typeface="Times New Roman"/>
              </a:rPr>
              <a:t>are</a:t>
            </a:r>
            <a:endParaRPr sz="2400" dirty="0">
              <a:latin typeface="Times New Roman"/>
              <a:cs typeface="Times New Roman"/>
            </a:endParaRPr>
          </a:p>
          <a:p>
            <a:pPr marL="1387652" lvl="1" indent="-457189">
              <a:spcBef>
                <a:spcPts val="433"/>
              </a:spcBef>
              <a:buChar char="●"/>
              <a:tabLst>
                <a:tab pos="1387652" algn="l"/>
              </a:tabLst>
            </a:pPr>
            <a:r>
              <a:rPr sz="2400" dirty="0">
                <a:latin typeface="Times New Roman"/>
                <a:cs typeface="Times New Roman"/>
              </a:rPr>
              <a:t>magnitude</a:t>
            </a:r>
            <a:r>
              <a:rPr sz="2400" spc="-40" dirty="0">
                <a:latin typeface="Times New Roman"/>
                <a:cs typeface="Times New Roman"/>
              </a:rPr>
              <a:t> </a:t>
            </a:r>
            <a:r>
              <a:rPr sz="2400" dirty="0">
                <a:latin typeface="Times New Roman"/>
                <a:cs typeface="Times New Roman"/>
              </a:rPr>
              <a:t>and</a:t>
            </a:r>
            <a:r>
              <a:rPr sz="2400" spc="-47" dirty="0">
                <a:latin typeface="Times New Roman"/>
                <a:cs typeface="Times New Roman"/>
              </a:rPr>
              <a:t> </a:t>
            </a:r>
            <a:r>
              <a:rPr sz="2400" dirty="0">
                <a:latin typeface="Times New Roman"/>
                <a:cs typeface="Times New Roman"/>
              </a:rPr>
              <a:t>frequency</a:t>
            </a:r>
            <a:r>
              <a:rPr sz="2400" spc="-47" dirty="0">
                <a:latin typeface="Times New Roman"/>
                <a:cs typeface="Times New Roman"/>
              </a:rPr>
              <a:t> </a:t>
            </a:r>
            <a:r>
              <a:rPr sz="2400" dirty="0">
                <a:latin typeface="Times New Roman"/>
                <a:cs typeface="Times New Roman"/>
              </a:rPr>
              <a:t>of</a:t>
            </a:r>
            <a:r>
              <a:rPr sz="2400" spc="-47" dirty="0">
                <a:latin typeface="Times New Roman"/>
                <a:cs typeface="Times New Roman"/>
              </a:rPr>
              <a:t> </a:t>
            </a:r>
            <a:r>
              <a:rPr sz="2400" dirty="0">
                <a:latin typeface="Times New Roman"/>
                <a:cs typeface="Times New Roman"/>
              </a:rPr>
              <a:t>the</a:t>
            </a:r>
            <a:r>
              <a:rPr sz="2400" spc="-40" dirty="0">
                <a:latin typeface="Times New Roman"/>
                <a:cs typeface="Times New Roman"/>
              </a:rPr>
              <a:t> </a:t>
            </a:r>
            <a:r>
              <a:rPr sz="2400" spc="-13" dirty="0">
                <a:latin typeface="Times New Roman"/>
                <a:cs typeface="Times New Roman"/>
              </a:rPr>
              <a:t>voltage</a:t>
            </a:r>
            <a:endParaRPr sz="2400" dirty="0">
              <a:latin typeface="Times New Roman"/>
              <a:cs typeface="Times New Roman"/>
            </a:endParaRPr>
          </a:p>
          <a:p>
            <a:pPr marL="1387652" lvl="1" indent="-457189">
              <a:spcBef>
                <a:spcPts val="433"/>
              </a:spcBef>
              <a:buChar char="●"/>
              <a:tabLst>
                <a:tab pos="1387652" algn="l"/>
              </a:tabLst>
            </a:pPr>
            <a:r>
              <a:rPr sz="2400" dirty="0">
                <a:latin typeface="Times New Roman"/>
                <a:cs typeface="Times New Roman"/>
              </a:rPr>
              <a:t>magnitude</a:t>
            </a:r>
            <a:r>
              <a:rPr sz="2400" spc="-40" dirty="0">
                <a:latin typeface="Times New Roman"/>
                <a:cs typeface="Times New Roman"/>
              </a:rPr>
              <a:t> </a:t>
            </a:r>
            <a:r>
              <a:rPr sz="2400" dirty="0">
                <a:latin typeface="Times New Roman"/>
                <a:cs typeface="Times New Roman"/>
              </a:rPr>
              <a:t>and</a:t>
            </a:r>
            <a:r>
              <a:rPr sz="2400" spc="-40" dirty="0">
                <a:latin typeface="Times New Roman"/>
                <a:cs typeface="Times New Roman"/>
              </a:rPr>
              <a:t> </a:t>
            </a:r>
            <a:r>
              <a:rPr sz="2400" dirty="0">
                <a:latin typeface="Times New Roman"/>
                <a:cs typeface="Times New Roman"/>
              </a:rPr>
              <a:t>phase</a:t>
            </a:r>
            <a:r>
              <a:rPr sz="2400" spc="-33" dirty="0">
                <a:latin typeface="Times New Roman"/>
                <a:cs typeface="Times New Roman"/>
              </a:rPr>
              <a:t> </a:t>
            </a:r>
            <a:r>
              <a:rPr sz="2400" dirty="0">
                <a:latin typeface="Times New Roman"/>
                <a:cs typeface="Times New Roman"/>
              </a:rPr>
              <a:t>displacement</a:t>
            </a:r>
            <a:r>
              <a:rPr sz="2400" spc="-47" dirty="0">
                <a:latin typeface="Times New Roman"/>
                <a:cs typeface="Times New Roman"/>
              </a:rPr>
              <a:t> </a:t>
            </a:r>
            <a:r>
              <a:rPr sz="2400" dirty="0">
                <a:latin typeface="Times New Roman"/>
                <a:cs typeface="Times New Roman"/>
              </a:rPr>
              <a:t>(relative</a:t>
            </a:r>
            <a:r>
              <a:rPr sz="2400" spc="-53" dirty="0">
                <a:latin typeface="Times New Roman"/>
                <a:cs typeface="Times New Roman"/>
              </a:rPr>
              <a:t> </a:t>
            </a:r>
            <a:r>
              <a:rPr sz="2400" dirty="0">
                <a:latin typeface="Times New Roman"/>
                <a:cs typeface="Times New Roman"/>
              </a:rPr>
              <a:t>to</a:t>
            </a:r>
            <a:r>
              <a:rPr sz="2400" spc="-40" dirty="0">
                <a:latin typeface="Times New Roman"/>
                <a:cs typeface="Times New Roman"/>
              </a:rPr>
              <a:t> </a:t>
            </a:r>
            <a:r>
              <a:rPr sz="2400" dirty="0">
                <a:latin typeface="Times New Roman"/>
                <a:cs typeface="Times New Roman"/>
              </a:rPr>
              <a:t>the</a:t>
            </a:r>
            <a:r>
              <a:rPr sz="2400" spc="-33" dirty="0">
                <a:latin typeface="Times New Roman"/>
                <a:cs typeface="Times New Roman"/>
              </a:rPr>
              <a:t> </a:t>
            </a:r>
            <a:r>
              <a:rPr sz="2400" dirty="0">
                <a:latin typeface="Times New Roman"/>
                <a:cs typeface="Times New Roman"/>
              </a:rPr>
              <a:t>voltage)</a:t>
            </a:r>
            <a:r>
              <a:rPr sz="2400" spc="-53" dirty="0">
                <a:latin typeface="Times New Roman"/>
                <a:cs typeface="Times New Roman"/>
              </a:rPr>
              <a:t> </a:t>
            </a:r>
            <a:r>
              <a:rPr sz="2400" dirty="0">
                <a:latin typeface="Times New Roman"/>
                <a:cs typeface="Times New Roman"/>
              </a:rPr>
              <a:t>of</a:t>
            </a:r>
            <a:r>
              <a:rPr sz="2400" spc="-27" dirty="0">
                <a:latin typeface="Times New Roman"/>
                <a:cs typeface="Times New Roman"/>
              </a:rPr>
              <a:t> </a:t>
            </a:r>
            <a:r>
              <a:rPr sz="2400" spc="-13" dirty="0">
                <a:latin typeface="Times New Roman"/>
                <a:cs typeface="Times New Roman"/>
              </a:rPr>
              <a:t>current.</a:t>
            </a:r>
            <a:endParaRPr sz="2400" dirty="0">
              <a:latin typeface="Times New Roman"/>
              <a:cs typeface="Times New Roman"/>
            </a:endParaRPr>
          </a:p>
          <a:p>
            <a:pPr marL="625671" marR="488514" indent="-457189">
              <a:lnSpc>
                <a:spcPct val="114999"/>
              </a:lnSpc>
              <a:buChar char="●"/>
              <a:tabLst>
                <a:tab pos="625671" algn="l"/>
              </a:tabLst>
            </a:pPr>
            <a:r>
              <a:rPr sz="2400" dirty="0">
                <a:latin typeface="Times New Roman"/>
                <a:cs typeface="Times New Roman"/>
              </a:rPr>
              <a:t>Other</a:t>
            </a:r>
            <a:r>
              <a:rPr sz="2400" spc="-47" dirty="0">
                <a:latin typeface="Times New Roman"/>
                <a:cs typeface="Times New Roman"/>
              </a:rPr>
              <a:t> </a:t>
            </a:r>
            <a:r>
              <a:rPr sz="2400" dirty="0">
                <a:latin typeface="Times New Roman"/>
                <a:cs typeface="Times New Roman"/>
              </a:rPr>
              <a:t>parameters</a:t>
            </a:r>
            <a:r>
              <a:rPr sz="2400" spc="-53" dirty="0">
                <a:latin typeface="Times New Roman"/>
                <a:cs typeface="Times New Roman"/>
              </a:rPr>
              <a:t> </a:t>
            </a:r>
            <a:r>
              <a:rPr sz="2400" dirty="0">
                <a:latin typeface="Times New Roman"/>
                <a:cs typeface="Times New Roman"/>
              </a:rPr>
              <a:t>such</a:t>
            </a:r>
            <a:r>
              <a:rPr sz="2400" spc="-27" dirty="0">
                <a:latin typeface="Times New Roman"/>
                <a:cs typeface="Times New Roman"/>
              </a:rPr>
              <a:t> </a:t>
            </a:r>
            <a:r>
              <a:rPr sz="2400" dirty="0">
                <a:latin typeface="Times New Roman"/>
                <a:cs typeface="Times New Roman"/>
              </a:rPr>
              <a:t>as</a:t>
            </a:r>
            <a:r>
              <a:rPr sz="2400" spc="-47" dirty="0">
                <a:latin typeface="Times New Roman"/>
                <a:cs typeface="Times New Roman"/>
              </a:rPr>
              <a:t> </a:t>
            </a:r>
            <a:r>
              <a:rPr sz="2400" dirty="0">
                <a:latin typeface="Times New Roman"/>
                <a:cs typeface="Times New Roman"/>
              </a:rPr>
              <a:t>the</a:t>
            </a:r>
            <a:r>
              <a:rPr sz="2400" spc="-40" dirty="0">
                <a:latin typeface="Times New Roman"/>
                <a:cs typeface="Times New Roman"/>
              </a:rPr>
              <a:t> </a:t>
            </a:r>
            <a:r>
              <a:rPr sz="2400" dirty="0">
                <a:latin typeface="Times New Roman"/>
                <a:cs typeface="Times New Roman"/>
              </a:rPr>
              <a:t>power</a:t>
            </a:r>
            <a:r>
              <a:rPr sz="2400" spc="-47" dirty="0">
                <a:latin typeface="Times New Roman"/>
                <a:cs typeface="Times New Roman"/>
              </a:rPr>
              <a:t> </a:t>
            </a:r>
            <a:r>
              <a:rPr sz="2400" dirty="0">
                <a:latin typeface="Times New Roman"/>
                <a:cs typeface="Times New Roman"/>
              </a:rPr>
              <a:t>factor,</a:t>
            </a:r>
            <a:r>
              <a:rPr sz="2400" spc="-53" dirty="0">
                <a:latin typeface="Times New Roman"/>
                <a:cs typeface="Times New Roman"/>
              </a:rPr>
              <a:t> </a:t>
            </a:r>
            <a:r>
              <a:rPr sz="2400" dirty="0">
                <a:latin typeface="Times New Roman"/>
                <a:cs typeface="Times New Roman"/>
              </a:rPr>
              <a:t>the</a:t>
            </a:r>
            <a:r>
              <a:rPr sz="2400" spc="-40" dirty="0">
                <a:latin typeface="Times New Roman"/>
                <a:cs typeface="Times New Roman"/>
              </a:rPr>
              <a:t> </a:t>
            </a:r>
            <a:r>
              <a:rPr sz="2400" dirty="0">
                <a:latin typeface="Times New Roman"/>
                <a:cs typeface="Times New Roman"/>
              </a:rPr>
              <a:t>active/reactive</a:t>
            </a:r>
            <a:r>
              <a:rPr sz="2400" spc="-80" dirty="0">
                <a:latin typeface="Times New Roman"/>
                <a:cs typeface="Times New Roman"/>
              </a:rPr>
              <a:t> </a:t>
            </a:r>
            <a:r>
              <a:rPr sz="2400" dirty="0">
                <a:latin typeface="Times New Roman"/>
                <a:cs typeface="Times New Roman"/>
              </a:rPr>
              <a:t>power,</a:t>
            </a:r>
            <a:r>
              <a:rPr sz="2400" spc="-33" dirty="0">
                <a:latin typeface="Times New Roman"/>
                <a:cs typeface="Times New Roman"/>
              </a:rPr>
              <a:t> </a:t>
            </a:r>
            <a:r>
              <a:rPr sz="2400" dirty="0">
                <a:latin typeface="Times New Roman"/>
                <a:cs typeface="Times New Roman"/>
              </a:rPr>
              <a:t>and</a:t>
            </a:r>
            <a:r>
              <a:rPr sz="2400" spc="-47" dirty="0">
                <a:latin typeface="Times New Roman"/>
                <a:cs typeface="Times New Roman"/>
              </a:rPr>
              <a:t> </a:t>
            </a:r>
            <a:r>
              <a:rPr sz="2400" spc="-13" dirty="0">
                <a:latin typeface="Times New Roman"/>
                <a:cs typeface="Times New Roman"/>
              </a:rPr>
              <a:t>Total </a:t>
            </a:r>
            <a:r>
              <a:rPr sz="2400" dirty="0">
                <a:latin typeface="Times New Roman"/>
                <a:cs typeface="Times New Roman"/>
              </a:rPr>
              <a:t>Harmonic</a:t>
            </a:r>
            <a:r>
              <a:rPr sz="2400" spc="-53" dirty="0">
                <a:latin typeface="Times New Roman"/>
                <a:cs typeface="Times New Roman"/>
              </a:rPr>
              <a:t> </a:t>
            </a:r>
            <a:r>
              <a:rPr sz="2400" dirty="0">
                <a:latin typeface="Times New Roman"/>
                <a:cs typeface="Times New Roman"/>
              </a:rPr>
              <a:t>Distortion</a:t>
            </a:r>
            <a:r>
              <a:rPr sz="2400" spc="-60" dirty="0">
                <a:latin typeface="Times New Roman"/>
                <a:cs typeface="Times New Roman"/>
              </a:rPr>
              <a:t> </a:t>
            </a:r>
            <a:r>
              <a:rPr sz="2400" dirty="0">
                <a:latin typeface="Times New Roman"/>
                <a:cs typeface="Times New Roman"/>
              </a:rPr>
              <a:t>(THD)</a:t>
            </a:r>
            <a:r>
              <a:rPr sz="2400" spc="-40" dirty="0">
                <a:latin typeface="Times New Roman"/>
                <a:cs typeface="Times New Roman"/>
              </a:rPr>
              <a:t> </a:t>
            </a:r>
            <a:r>
              <a:rPr sz="2400" dirty="0">
                <a:latin typeface="Times New Roman"/>
                <a:cs typeface="Times New Roman"/>
              </a:rPr>
              <a:t>are</a:t>
            </a:r>
            <a:r>
              <a:rPr sz="2400" spc="-47" dirty="0">
                <a:latin typeface="Times New Roman"/>
                <a:cs typeface="Times New Roman"/>
              </a:rPr>
              <a:t> </a:t>
            </a:r>
            <a:r>
              <a:rPr sz="2400" dirty="0">
                <a:latin typeface="Times New Roman"/>
                <a:cs typeface="Times New Roman"/>
              </a:rPr>
              <a:t>computed</a:t>
            </a:r>
            <a:r>
              <a:rPr sz="2400" spc="-60" dirty="0">
                <a:latin typeface="Times New Roman"/>
                <a:cs typeface="Times New Roman"/>
              </a:rPr>
              <a:t> </a:t>
            </a:r>
            <a:r>
              <a:rPr sz="2400" dirty="0">
                <a:latin typeface="Times New Roman"/>
                <a:cs typeface="Times New Roman"/>
              </a:rPr>
              <a:t>using</a:t>
            </a:r>
            <a:r>
              <a:rPr sz="2400" spc="-40" dirty="0">
                <a:latin typeface="Times New Roman"/>
                <a:cs typeface="Times New Roman"/>
              </a:rPr>
              <a:t> </a:t>
            </a:r>
            <a:r>
              <a:rPr sz="2400" dirty="0">
                <a:latin typeface="Times New Roman"/>
                <a:cs typeface="Times New Roman"/>
              </a:rPr>
              <a:t>these</a:t>
            </a:r>
            <a:r>
              <a:rPr sz="2400" spc="-53" dirty="0">
                <a:latin typeface="Times New Roman"/>
                <a:cs typeface="Times New Roman"/>
              </a:rPr>
              <a:t> </a:t>
            </a:r>
            <a:r>
              <a:rPr sz="2400" dirty="0">
                <a:latin typeface="Times New Roman"/>
                <a:cs typeface="Times New Roman"/>
              </a:rPr>
              <a:t>fundamental</a:t>
            </a:r>
            <a:r>
              <a:rPr sz="2400" spc="-60" dirty="0">
                <a:latin typeface="Times New Roman"/>
                <a:cs typeface="Times New Roman"/>
              </a:rPr>
              <a:t> </a:t>
            </a:r>
            <a:r>
              <a:rPr sz="2400" spc="-13" dirty="0">
                <a:latin typeface="Times New Roman"/>
                <a:cs typeface="Times New Roman"/>
              </a:rPr>
              <a:t>quantities.</a:t>
            </a:r>
            <a:endParaRPr sz="2400" dirty="0">
              <a:latin typeface="Times New Roman"/>
              <a:cs typeface="Times New Roman"/>
            </a:endParaRPr>
          </a:p>
          <a:p>
            <a:pPr marL="625671" marR="6773" indent="-457189">
              <a:lnSpc>
                <a:spcPct val="114999"/>
              </a:lnSpc>
              <a:buChar char="●"/>
              <a:tabLst>
                <a:tab pos="625671" algn="l"/>
              </a:tabLst>
            </a:pPr>
            <a:r>
              <a:rPr sz="2400" dirty="0">
                <a:latin typeface="Times New Roman"/>
                <a:cs typeface="Times New Roman"/>
              </a:rPr>
              <a:t>Current</a:t>
            </a:r>
            <a:r>
              <a:rPr sz="2400" spc="-33" dirty="0">
                <a:latin typeface="Times New Roman"/>
                <a:cs typeface="Times New Roman"/>
              </a:rPr>
              <a:t> </a:t>
            </a:r>
            <a:r>
              <a:rPr sz="2400" dirty="0">
                <a:latin typeface="Times New Roman"/>
                <a:cs typeface="Times New Roman"/>
              </a:rPr>
              <a:t>and</a:t>
            </a:r>
            <a:r>
              <a:rPr sz="2400" spc="-40" dirty="0">
                <a:latin typeface="Times New Roman"/>
                <a:cs typeface="Times New Roman"/>
              </a:rPr>
              <a:t> </a:t>
            </a:r>
            <a:r>
              <a:rPr sz="2400" dirty="0">
                <a:latin typeface="Times New Roman"/>
                <a:cs typeface="Times New Roman"/>
              </a:rPr>
              <a:t>voltage</a:t>
            </a:r>
            <a:r>
              <a:rPr sz="2400" spc="-47" dirty="0">
                <a:latin typeface="Times New Roman"/>
                <a:cs typeface="Times New Roman"/>
              </a:rPr>
              <a:t> </a:t>
            </a:r>
            <a:r>
              <a:rPr sz="2400" dirty="0">
                <a:latin typeface="Times New Roman"/>
                <a:cs typeface="Times New Roman"/>
              </a:rPr>
              <a:t>sensors</a:t>
            </a:r>
            <a:r>
              <a:rPr sz="2400" spc="-33" dirty="0">
                <a:latin typeface="Times New Roman"/>
                <a:cs typeface="Times New Roman"/>
              </a:rPr>
              <a:t> </a:t>
            </a:r>
            <a:r>
              <a:rPr sz="2400" dirty="0">
                <a:latin typeface="Times New Roman"/>
                <a:cs typeface="Times New Roman"/>
              </a:rPr>
              <a:t>measure</a:t>
            </a:r>
            <a:r>
              <a:rPr sz="2400" spc="-13" dirty="0">
                <a:latin typeface="Times New Roman"/>
                <a:cs typeface="Times New Roman"/>
              </a:rPr>
              <a:t> </a:t>
            </a:r>
            <a:r>
              <a:rPr sz="2400" dirty="0">
                <a:latin typeface="Times New Roman"/>
                <a:cs typeface="Times New Roman"/>
              </a:rPr>
              <a:t>the</a:t>
            </a:r>
            <a:r>
              <a:rPr sz="2400" spc="-33" dirty="0">
                <a:latin typeface="Times New Roman"/>
                <a:cs typeface="Times New Roman"/>
              </a:rPr>
              <a:t> </a:t>
            </a:r>
            <a:r>
              <a:rPr sz="2400" dirty="0">
                <a:latin typeface="Times New Roman"/>
                <a:cs typeface="Times New Roman"/>
              </a:rPr>
              <a:t>current</a:t>
            </a:r>
            <a:r>
              <a:rPr sz="2400" spc="-40" dirty="0">
                <a:latin typeface="Times New Roman"/>
                <a:cs typeface="Times New Roman"/>
              </a:rPr>
              <a:t> </a:t>
            </a:r>
            <a:r>
              <a:rPr sz="2400" dirty="0">
                <a:latin typeface="Times New Roman"/>
                <a:cs typeface="Times New Roman"/>
              </a:rPr>
              <a:t>into</a:t>
            </a:r>
            <a:r>
              <a:rPr sz="2400" spc="-40" dirty="0">
                <a:latin typeface="Times New Roman"/>
                <a:cs typeface="Times New Roman"/>
              </a:rPr>
              <a:t> </a:t>
            </a:r>
            <a:r>
              <a:rPr sz="2400" dirty="0">
                <a:latin typeface="Times New Roman"/>
                <a:cs typeface="Times New Roman"/>
              </a:rPr>
              <a:t>the</a:t>
            </a:r>
            <a:r>
              <a:rPr sz="2400" spc="-33" dirty="0">
                <a:latin typeface="Times New Roman"/>
                <a:cs typeface="Times New Roman"/>
              </a:rPr>
              <a:t> </a:t>
            </a:r>
            <a:r>
              <a:rPr sz="2400" dirty="0">
                <a:latin typeface="Times New Roman"/>
                <a:cs typeface="Times New Roman"/>
              </a:rPr>
              <a:t>load</a:t>
            </a:r>
            <a:r>
              <a:rPr sz="2400" spc="-40" dirty="0">
                <a:latin typeface="Times New Roman"/>
                <a:cs typeface="Times New Roman"/>
              </a:rPr>
              <a:t> </a:t>
            </a:r>
            <a:r>
              <a:rPr sz="2400" dirty="0">
                <a:latin typeface="Times New Roman"/>
                <a:cs typeface="Times New Roman"/>
              </a:rPr>
              <a:t>and</a:t>
            </a:r>
            <a:r>
              <a:rPr sz="2400" spc="-40" dirty="0">
                <a:latin typeface="Times New Roman"/>
                <a:cs typeface="Times New Roman"/>
              </a:rPr>
              <a:t> </a:t>
            </a:r>
            <a:r>
              <a:rPr sz="2400" dirty="0">
                <a:latin typeface="Times New Roman"/>
                <a:cs typeface="Times New Roman"/>
              </a:rPr>
              <a:t>the</a:t>
            </a:r>
            <a:r>
              <a:rPr sz="2400" spc="-33" dirty="0">
                <a:latin typeface="Times New Roman"/>
                <a:cs typeface="Times New Roman"/>
              </a:rPr>
              <a:t> </a:t>
            </a:r>
            <a:r>
              <a:rPr sz="2400" dirty="0">
                <a:latin typeface="Times New Roman"/>
                <a:cs typeface="Times New Roman"/>
              </a:rPr>
              <a:t>voltage</a:t>
            </a:r>
            <a:r>
              <a:rPr sz="2400" spc="-40" dirty="0">
                <a:latin typeface="Times New Roman"/>
                <a:cs typeface="Times New Roman"/>
              </a:rPr>
              <a:t> </a:t>
            </a:r>
            <a:r>
              <a:rPr sz="2400" dirty="0">
                <a:latin typeface="Times New Roman"/>
                <a:cs typeface="Times New Roman"/>
              </a:rPr>
              <a:t>at</a:t>
            </a:r>
            <a:r>
              <a:rPr sz="2400" spc="-33" dirty="0">
                <a:latin typeface="Times New Roman"/>
                <a:cs typeface="Times New Roman"/>
              </a:rPr>
              <a:t> the </a:t>
            </a:r>
            <a:r>
              <a:rPr sz="2400" dirty="0">
                <a:latin typeface="Times New Roman"/>
                <a:cs typeface="Times New Roman"/>
              </a:rPr>
              <a:t>point</a:t>
            </a:r>
            <a:r>
              <a:rPr sz="2400" spc="-20" dirty="0">
                <a:latin typeface="Times New Roman"/>
                <a:cs typeface="Times New Roman"/>
              </a:rPr>
              <a:t> </a:t>
            </a:r>
            <a:r>
              <a:rPr sz="2400" dirty="0">
                <a:latin typeface="Times New Roman"/>
                <a:cs typeface="Times New Roman"/>
              </a:rPr>
              <a:t>of</a:t>
            </a:r>
            <a:r>
              <a:rPr sz="2400" spc="-20" dirty="0">
                <a:latin typeface="Times New Roman"/>
                <a:cs typeface="Times New Roman"/>
              </a:rPr>
              <a:t> </a:t>
            </a:r>
            <a:r>
              <a:rPr sz="2400" spc="-13" dirty="0">
                <a:latin typeface="Times New Roman"/>
                <a:cs typeface="Times New Roman"/>
              </a:rPr>
              <a:t>supply</a:t>
            </a:r>
            <a:endParaRPr sz="2400" dirty="0">
              <a:latin typeface="Times New Roman"/>
              <a:cs typeface="Times New Roman"/>
            </a:endParaRPr>
          </a:p>
          <a:p>
            <a:pPr marL="1465543" marR="71965" lvl="1" indent="-458035">
              <a:lnSpc>
                <a:spcPct val="114999"/>
              </a:lnSpc>
              <a:buChar char="●"/>
              <a:tabLst>
                <a:tab pos="1465543" algn="l"/>
                <a:tab pos="1540048" algn="l"/>
              </a:tabLst>
            </a:pPr>
            <a:r>
              <a:rPr sz="2400" dirty="0">
                <a:latin typeface="Times New Roman"/>
                <a:cs typeface="Times New Roman"/>
              </a:rPr>
              <a:t>	</a:t>
            </a:r>
            <a:r>
              <a:rPr sz="2400" dirty="0">
                <a:solidFill>
                  <a:srgbClr val="212121"/>
                </a:solidFill>
                <a:latin typeface="Times New Roman"/>
                <a:cs typeface="Times New Roman"/>
              </a:rPr>
              <a:t>typically</a:t>
            </a:r>
            <a:r>
              <a:rPr sz="2400" spc="-60" dirty="0">
                <a:solidFill>
                  <a:srgbClr val="212121"/>
                </a:solidFill>
                <a:latin typeface="Times New Roman"/>
                <a:cs typeface="Times New Roman"/>
              </a:rPr>
              <a:t> </a:t>
            </a:r>
            <a:r>
              <a:rPr sz="2400" dirty="0">
                <a:solidFill>
                  <a:srgbClr val="212121"/>
                </a:solidFill>
                <a:latin typeface="Times New Roman"/>
                <a:cs typeface="Times New Roman"/>
              </a:rPr>
              <a:t>using</a:t>
            </a:r>
            <a:r>
              <a:rPr sz="2400" spc="-20" dirty="0">
                <a:solidFill>
                  <a:srgbClr val="212121"/>
                </a:solidFill>
                <a:latin typeface="Times New Roman"/>
                <a:cs typeface="Times New Roman"/>
              </a:rPr>
              <a:t> </a:t>
            </a:r>
            <a:r>
              <a:rPr sz="2400" dirty="0">
                <a:solidFill>
                  <a:srgbClr val="212121"/>
                </a:solidFill>
                <a:latin typeface="Times New Roman"/>
                <a:cs typeface="Times New Roman"/>
              </a:rPr>
              <a:t>a</a:t>
            </a:r>
            <a:r>
              <a:rPr sz="2400" spc="7" dirty="0">
                <a:solidFill>
                  <a:srgbClr val="212121"/>
                </a:solidFill>
                <a:latin typeface="Times New Roman"/>
                <a:cs typeface="Times New Roman"/>
              </a:rPr>
              <a:t> </a:t>
            </a:r>
            <a:r>
              <a:rPr sz="2400" spc="-13" dirty="0">
                <a:solidFill>
                  <a:srgbClr val="212121"/>
                </a:solidFill>
                <a:latin typeface="Times New Roman"/>
                <a:cs typeface="Times New Roman"/>
              </a:rPr>
              <a:t>current-</a:t>
            </a:r>
            <a:r>
              <a:rPr sz="2400" dirty="0">
                <a:solidFill>
                  <a:srgbClr val="212121"/>
                </a:solidFill>
                <a:latin typeface="Times New Roman"/>
                <a:cs typeface="Times New Roman"/>
              </a:rPr>
              <a:t>sensing</a:t>
            </a:r>
            <a:r>
              <a:rPr sz="2400" spc="-33" dirty="0">
                <a:solidFill>
                  <a:srgbClr val="212121"/>
                </a:solidFill>
                <a:latin typeface="Times New Roman"/>
                <a:cs typeface="Times New Roman"/>
              </a:rPr>
              <a:t> </a:t>
            </a:r>
            <a:r>
              <a:rPr sz="2400" dirty="0">
                <a:solidFill>
                  <a:srgbClr val="212121"/>
                </a:solidFill>
                <a:latin typeface="Times New Roman"/>
                <a:cs typeface="Times New Roman"/>
              </a:rPr>
              <a:t>shunt</a:t>
            </a:r>
            <a:r>
              <a:rPr sz="2400" spc="-7" dirty="0">
                <a:solidFill>
                  <a:srgbClr val="212121"/>
                </a:solidFill>
                <a:latin typeface="Times New Roman"/>
                <a:cs typeface="Times New Roman"/>
              </a:rPr>
              <a:t> </a:t>
            </a:r>
            <a:r>
              <a:rPr sz="2400" dirty="0">
                <a:solidFill>
                  <a:srgbClr val="212121"/>
                </a:solidFill>
                <a:latin typeface="Times New Roman"/>
                <a:cs typeface="Times New Roman"/>
              </a:rPr>
              <a:t>resistor</a:t>
            </a:r>
            <a:r>
              <a:rPr sz="2400" spc="-20" dirty="0">
                <a:solidFill>
                  <a:srgbClr val="212121"/>
                </a:solidFill>
                <a:latin typeface="Times New Roman"/>
                <a:cs typeface="Times New Roman"/>
              </a:rPr>
              <a:t> </a:t>
            </a:r>
            <a:r>
              <a:rPr sz="2400" dirty="0">
                <a:solidFill>
                  <a:srgbClr val="212121"/>
                </a:solidFill>
                <a:latin typeface="Times New Roman"/>
                <a:cs typeface="Times New Roman"/>
              </a:rPr>
              <a:t>on</a:t>
            </a:r>
            <a:r>
              <a:rPr sz="2400" spc="-20" dirty="0">
                <a:solidFill>
                  <a:srgbClr val="212121"/>
                </a:solidFill>
                <a:latin typeface="Times New Roman"/>
                <a:cs typeface="Times New Roman"/>
              </a:rPr>
              <a:t> </a:t>
            </a:r>
            <a:r>
              <a:rPr sz="2400" dirty="0">
                <a:solidFill>
                  <a:srgbClr val="212121"/>
                </a:solidFill>
                <a:latin typeface="Times New Roman"/>
                <a:cs typeface="Times New Roman"/>
              </a:rPr>
              <a:t>the</a:t>
            </a:r>
            <a:r>
              <a:rPr sz="2400" spc="-20" dirty="0">
                <a:solidFill>
                  <a:srgbClr val="212121"/>
                </a:solidFill>
                <a:latin typeface="Times New Roman"/>
                <a:cs typeface="Times New Roman"/>
              </a:rPr>
              <a:t> </a:t>
            </a:r>
            <a:r>
              <a:rPr sz="2400" dirty="0">
                <a:solidFill>
                  <a:srgbClr val="212121"/>
                </a:solidFill>
                <a:latin typeface="Times New Roman"/>
                <a:cs typeface="Times New Roman"/>
              </a:rPr>
              <a:t>current</a:t>
            </a:r>
            <a:r>
              <a:rPr sz="2400" spc="-13" dirty="0">
                <a:solidFill>
                  <a:srgbClr val="212121"/>
                </a:solidFill>
                <a:latin typeface="Times New Roman"/>
                <a:cs typeface="Times New Roman"/>
              </a:rPr>
              <a:t> </a:t>
            </a:r>
            <a:r>
              <a:rPr sz="2400" dirty="0">
                <a:solidFill>
                  <a:srgbClr val="212121"/>
                </a:solidFill>
                <a:latin typeface="Times New Roman"/>
                <a:cs typeface="Times New Roman"/>
              </a:rPr>
              <a:t>input</a:t>
            </a:r>
            <a:r>
              <a:rPr sz="2400" spc="-13" dirty="0">
                <a:solidFill>
                  <a:srgbClr val="212121"/>
                </a:solidFill>
                <a:latin typeface="Times New Roman"/>
                <a:cs typeface="Times New Roman"/>
              </a:rPr>
              <a:t> channel </a:t>
            </a:r>
            <a:r>
              <a:rPr sz="2400" dirty="0">
                <a:solidFill>
                  <a:srgbClr val="212121"/>
                </a:solidFill>
                <a:latin typeface="Times New Roman"/>
                <a:cs typeface="Times New Roman"/>
              </a:rPr>
              <a:t>and</a:t>
            </a:r>
            <a:r>
              <a:rPr sz="2400" spc="-33" dirty="0">
                <a:solidFill>
                  <a:srgbClr val="212121"/>
                </a:solidFill>
                <a:latin typeface="Times New Roman"/>
                <a:cs typeface="Times New Roman"/>
              </a:rPr>
              <a:t> </a:t>
            </a:r>
            <a:r>
              <a:rPr sz="2400" dirty="0">
                <a:solidFill>
                  <a:srgbClr val="212121"/>
                </a:solidFill>
                <a:latin typeface="Times New Roman"/>
                <a:cs typeface="Times New Roman"/>
              </a:rPr>
              <a:t>a</a:t>
            </a:r>
            <a:r>
              <a:rPr sz="2400" spc="-27" dirty="0">
                <a:solidFill>
                  <a:srgbClr val="212121"/>
                </a:solidFill>
                <a:latin typeface="Times New Roman"/>
                <a:cs typeface="Times New Roman"/>
              </a:rPr>
              <a:t> </a:t>
            </a:r>
            <a:r>
              <a:rPr sz="2400" dirty="0">
                <a:solidFill>
                  <a:srgbClr val="212121"/>
                </a:solidFill>
                <a:latin typeface="Times New Roman"/>
                <a:cs typeface="Times New Roman"/>
              </a:rPr>
              <a:t>resistive</a:t>
            </a:r>
            <a:r>
              <a:rPr sz="2400" spc="-27" dirty="0">
                <a:solidFill>
                  <a:srgbClr val="212121"/>
                </a:solidFill>
                <a:latin typeface="Times New Roman"/>
                <a:cs typeface="Times New Roman"/>
              </a:rPr>
              <a:t> </a:t>
            </a:r>
            <a:r>
              <a:rPr sz="2400" dirty="0">
                <a:solidFill>
                  <a:srgbClr val="212121"/>
                </a:solidFill>
                <a:latin typeface="Times New Roman"/>
                <a:cs typeface="Times New Roman"/>
              </a:rPr>
              <a:t>voltage</a:t>
            </a:r>
            <a:r>
              <a:rPr sz="2400" spc="-33" dirty="0">
                <a:solidFill>
                  <a:srgbClr val="212121"/>
                </a:solidFill>
                <a:latin typeface="Times New Roman"/>
                <a:cs typeface="Times New Roman"/>
              </a:rPr>
              <a:t> </a:t>
            </a:r>
            <a:r>
              <a:rPr sz="2400" dirty="0">
                <a:solidFill>
                  <a:srgbClr val="212121"/>
                </a:solidFill>
                <a:latin typeface="Times New Roman"/>
                <a:cs typeface="Times New Roman"/>
              </a:rPr>
              <a:t>divider</a:t>
            </a:r>
            <a:r>
              <a:rPr sz="2400" spc="-33" dirty="0">
                <a:solidFill>
                  <a:srgbClr val="212121"/>
                </a:solidFill>
                <a:latin typeface="Times New Roman"/>
                <a:cs typeface="Times New Roman"/>
              </a:rPr>
              <a:t> </a:t>
            </a:r>
            <a:r>
              <a:rPr sz="2400" dirty="0">
                <a:solidFill>
                  <a:srgbClr val="212121"/>
                </a:solidFill>
                <a:latin typeface="Times New Roman"/>
                <a:cs typeface="Times New Roman"/>
              </a:rPr>
              <a:t>on</a:t>
            </a:r>
            <a:r>
              <a:rPr sz="2400" spc="-33" dirty="0">
                <a:solidFill>
                  <a:srgbClr val="212121"/>
                </a:solidFill>
                <a:latin typeface="Times New Roman"/>
                <a:cs typeface="Times New Roman"/>
              </a:rPr>
              <a:t> </a:t>
            </a:r>
            <a:r>
              <a:rPr sz="2400" dirty="0">
                <a:solidFill>
                  <a:srgbClr val="212121"/>
                </a:solidFill>
                <a:latin typeface="Times New Roman"/>
                <a:cs typeface="Times New Roman"/>
              </a:rPr>
              <a:t>the</a:t>
            </a:r>
            <a:r>
              <a:rPr sz="2400" spc="-20" dirty="0">
                <a:solidFill>
                  <a:srgbClr val="212121"/>
                </a:solidFill>
                <a:latin typeface="Times New Roman"/>
                <a:cs typeface="Times New Roman"/>
              </a:rPr>
              <a:t> </a:t>
            </a:r>
            <a:r>
              <a:rPr sz="2400" dirty="0">
                <a:solidFill>
                  <a:srgbClr val="212121"/>
                </a:solidFill>
                <a:latin typeface="Times New Roman"/>
                <a:cs typeface="Times New Roman"/>
              </a:rPr>
              <a:t>voltage</a:t>
            </a:r>
            <a:r>
              <a:rPr sz="2400" spc="-40" dirty="0">
                <a:solidFill>
                  <a:srgbClr val="212121"/>
                </a:solidFill>
                <a:latin typeface="Times New Roman"/>
                <a:cs typeface="Times New Roman"/>
              </a:rPr>
              <a:t> </a:t>
            </a:r>
            <a:r>
              <a:rPr sz="2400" dirty="0">
                <a:solidFill>
                  <a:srgbClr val="212121"/>
                </a:solidFill>
                <a:latin typeface="Times New Roman"/>
                <a:cs typeface="Times New Roman"/>
              </a:rPr>
              <a:t>input</a:t>
            </a:r>
            <a:r>
              <a:rPr sz="2400" spc="-27" dirty="0">
                <a:solidFill>
                  <a:srgbClr val="212121"/>
                </a:solidFill>
                <a:latin typeface="Times New Roman"/>
                <a:cs typeface="Times New Roman"/>
              </a:rPr>
              <a:t> </a:t>
            </a:r>
            <a:r>
              <a:rPr sz="2400" spc="-13" dirty="0">
                <a:solidFill>
                  <a:srgbClr val="212121"/>
                </a:solidFill>
                <a:latin typeface="Times New Roman"/>
                <a:cs typeface="Times New Roman"/>
              </a:rPr>
              <a:t>channel</a:t>
            </a:r>
            <a:endParaRPr sz="2400" dirty="0">
              <a:latin typeface="Times New Roman"/>
              <a:cs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19430" y="520230"/>
            <a:ext cx="11153140" cy="5631777"/>
          </a:xfrm>
          <a:prstGeom prst="rect">
            <a:avLst/>
          </a:prstGeom>
        </p:spPr>
        <p:txBody>
          <a:bodyPr vert="horz" wrap="square" lIns="0" tIns="16933" rIns="0" bIns="0" rtlCol="0">
            <a:spAutoFit/>
          </a:bodyPr>
          <a:lstStyle/>
          <a:p>
            <a:pPr marL="16933" algn="just">
              <a:spcBef>
                <a:spcPts val="133"/>
              </a:spcBef>
            </a:pPr>
            <a:r>
              <a:rPr sz="2400" b="1" dirty="0">
                <a:solidFill>
                  <a:srgbClr val="212121"/>
                </a:solidFill>
                <a:latin typeface="Times New Roman"/>
                <a:cs typeface="Times New Roman"/>
              </a:rPr>
              <a:t>Signal</a:t>
            </a:r>
            <a:r>
              <a:rPr sz="2400" b="1" spc="-33" dirty="0">
                <a:solidFill>
                  <a:srgbClr val="212121"/>
                </a:solidFill>
                <a:latin typeface="Times New Roman"/>
                <a:cs typeface="Times New Roman"/>
              </a:rPr>
              <a:t> </a:t>
            </a:r>
            <a:r>
              <a:rPr sz="2400" b="1" spc="-13" dirty="0">
                <a:solidFill>
                  <a:srgbClr val="212121"/>
                </a:solidFill>
                <a:latin typeface="Times New Roman"/>
                <a:cs typeface="Times New Roman"/>
              </a:rPr>
              <a:t>Conditioning</a:t>
            </a:r>
            <a:endParaRPr sz="2400" dirty="0">
              <a:latin typeface="Times New Roman"/>
              <a:cs typeface="Times New Roman"/>
            </a:endParaRPr>
          </a:p>
          <a:p>
            <a:pPr marL="626518" marR="7620" indent="-445336" algn="just">
              <a:lnSpc>
                <a:spcPct val="114999"/>
              </a:lnSpc>
              <a:spcBef>
                <a:spcPts val="1600"/>
              </a:spcBef>
              <a:buChar char="●"/>
              <a:tabLst>
                <a:tab pos="626518" algn="l"/>
              </a:tabLst>
            </a:pPr>
            <a:r>
              <a:rPr sz="2400" dirty="0">
                <a:solidFill>
                  <a:srgbClr val="212121"/>
                </a:solidFill>
                <a:latin typeface="Times New Roman"/>
                <a:cs typeface="Times New Roman"/>
              </a:rPr>
              <a:t>The</a:t>
            </a:r>
            <a:r>
              <a:rPr sz="2400" spc="-27" dirty="0">
                <a:solidFill>
                  <a:srgbClr val="212121"/>
                </a:solidFill>
                <a:latin typeface="Times New Roman"/>
                <a:cs typeface="Times New Roman"/>
              </a:rPr>
              <a:t> </a:t>
            </a:r>
            <a:r>
              <a:rPr sz="2400" dirty="0">
                <a:solidFill>
                  <a:srgbClr val="212121"/>
                </a:solidFill>
                <a:latin typeface="Times New Roman"/>
                <a:cs typeface="Times New Roman"/>
              </a:rPr>
              <a:t>signal</a:t>
            </a:r>
            <a:r>
              <a:rPr sz="2400" spc="-40" dirty="0">
                <a:solidFill>
                  <a:srgbClr val="212121"/>
                </a:solidFill>
                <a:latin typeface="Times New Roman"/>
                <a:cs typeface="Times New Roman"/>
              </a:rPr>
              <a:t> </a:t>
            </a:r>
            <a:r>
              <a:rPr sz="2400" dirty="0">
                <a:solidFill>
                  <a:srgbClr val="212121"/>
                </a:solidFill>
                <a:latin typeface="Times New Roman"/>
                <a:cs typeface="Times New Roman"/>
              </a:rPr>
              <a:t>conditioning</a:t>
            </a:r>
            <a:r>
              <a:rPr sz="2400" spc="-53" dirty="0">
                <a:solidFill>
                  <a:srgbClr val="212121"/>
                </a:solidFill>
                <a:latin typeface="Times New Roman"/>
                <a:cs typeface="Times New Roman"/>
              </a:rPr>
              <a:t> </a:t>
            </a:r>
            <a:r>
              <a:rPr sz="2400" dirty="0">
                <a:solidFill>
                  <a:srgbClr val="212121"/>
                </a:solidFill>
                <a:latin typeface="Times New Roman"/>
                <a:cs typeface="Times New Roman"/>
              </a:rPr>
              <a:t>stage</a:t>
            </a:r>
            <a:r>
              <a:rPr sz="2400" spc="-40" dirty="0">
                <a:solidFill>
                  <a:srgbClr val="212121"/>
                </a:solidFill>
                <a:latin typeface="Times New Roman"/>
                <a:cs typeface="Times New Roman"/>
              </a:rPr>
              <a:t> </a:t>
            </a:r>
            <a:r>
              <a:rPr sz="2400" dirty="0">
                <a:solidFill>
                  <a:srgbClr val="212121"/>
                </a:solidFill>
                <a:latin typeface="Times New Roman"/>
                <a:cs typeface="Times New Roman"/>
              </a:rPr>
              <a:t>involves</a:t>
            </a:r>
            <a:r>
              <a:rPr sz="2400" spc="-33" dirty="0">
                <a:solidFill>
                  <a:srgbClr val="212121"/>
                </a:solidFill>
                <a:latin typeface="Times New Roman"/>
                <a:cs typeface="Times New Roman"/>
              </a:rPr>
              <a:t> </a:t>
            </a:r>
            <a:r>
              <a:rPr sz="2400" dirty="0">
                <a:solidFill>
                  <a:srgbClr val="212121"/>
                </a:solidFill>
                <a:latin typeface="Times New Roman"/>
                <a:cs typeface="Times New Roman"/>
              </a:rPr>
              <a:t>the</a:t>
            </a:r>
            <a:r>
              <a:rPr sz="2400" spc="-27" dirty="0">
                <a:solidFill>
                  <a:srgbClr val="212121"/>
                </a:solidFill>
                <a:latin typeface="Times New Roman"/>
                <a:cs typeface="Times New Roman"/>
              </a:rPr>
              <a:t> </a:t>
            </a:r>
            <a:r>
              <a:rPr sz="2400" dirty="0">
                <a:solidFill>
                  <a:srgbClr val="212121"/>
                </a:solidFill>
                <a:latin typeface="Times New Roman"/>
                <a:cs typeface="Times New Roman"/>
              </a:rPr>
              <a:t>preparation</a:t>
            </a:r>
            <a:r>
              <a:rPr sz="2400" spc="-47" dirty="0">
                <a:solidFill>
                  <a:srgbClr val="212121"/>
                </a:solidFill>
                <a:latin typeface="Times New Roman"/>
                <a:cs typeface="Times New Roman"/>
              </a:rPr>
              <a:t> </a:t>
            </a:r>
            <a:r>
              <a:rPr sz="2400" dirty="0">
                <a:solidFill>
                  <a:srgbClr val="212121"/>
                </a:solidFill>
                <a:latin typeface="Times New Roman"/>
                <a:cs typeface="Times New Roman"/>
              </a:rPr>
              <a:t>of</a:t>
            </a:r>
            <a:r>
              <a:rPr sz="2400" spc="-27" dirty="0">
                <a:solidFill>
                  <a:srgbClr val="212121"/>
                </a:solidFill>
                <a:latin typeface="Times New Roman"/>
                <a:cs typeface="Times New Roman"/>
              </a:rPr>
              <a:t> </a:t>
            </a:r>
            <a:r>
              <a:rPr sz="2400" dirty="0">
                <a:solidFill>
                  <a:srgbClr val="212121"/>
                </a:solidFill>
                <a:latin typeface="Times New Roman"/>
                <a:cs typeface="Times New Roman"/>
              </a:rPr>
              <a:t>the</a:t>
            </a:r>
            <a:r>
              <a:rPr sz="2400" spc="-40" dirty="0">
                <a:solidFill>
                  <a:srgbClr val="212121"/>
                </a:solidFill>
                <a:latin typeface="Times New Roman"/>
                <a:cs typeface="Times New Roman"/>
              </a:rPr>
              <a:t> </a:t>
            </a:r>
            <a:r>
              <a:rPr sz="2400" dirty="0">
                <a:solidFill>
                  <a:srgbClr val="212121"/>
                </a:solidFill>
                <a:latin typeface="Times New Roman"/>
                <a:cs typeface="Times New Roman"/>
              </a:rPr>
              <a:t>input</a:t>
            </a:r>
            <a:r>
              <a:rPr sz="2400" spc="-20" dirty="0">
                <a:solidFill>
                  <a:srgbClr val="212121"/>
                </a:solidFill>
                <a:latin typeface="Times New Roman"/>
                <a:cs typeface="Times New Roman"/>
              </a:rPr>
              <a:t> </a:t>
            </a:r>
            <a:r>
              <a:rPr sz="2400" dirty="0">
                <a:solidFill>
                  <a:srgbClr val="212121"/>
                </a:solidFill>
                <a:latin typeface="Times New Roman"/>
                <a:cs typeface="Times New Roman"/>
              </a:rPr>
              <a:t>signals</a:t>
            </a:r>
            <a:r>
              <a:rPr sz="2400" spc="-40" dirty="0">
                <a:solidFill>
                  <a:srgbClr val="212121"/>
                </a:solidFill>
                <a:latin typeface="Times New Roman"/>
                <a:cs typeface="Times New Roman"/>
              </a:rPr>
              <a:t> </a:t>
            </a:r>
            <a:r>
              <a:rPr sz="2400" dirty="0">
                <a:solidFill>
                  <a:srgbClr val="212121"/>
                </a:solidFill>
                <a:latin typeface="Times New Roman"/>
                <a:cs typeface="Times New Roman"/>
              </a:rPr>
              <a:t>for</a:t>
            </a:r>
            <a:r>
              <a:rPr sz="2400" spc="-47" dirty="0">
                <a:solidFill>
                  <a:srgbClr val="212121"/>
                </a:solidFill>
                <a:latin typeface="Times New Roman"/>
                <a:cs typeface="Times New Roman"/>
              </a:rPr>
              <a:t> </a:t>
            </a:r>
            <a:r>
              <a:rPr sz="2400" dirty="0">
                <a:solidFill>
                  <a:srgbClr val="212121"/>
                </a:solidFill>
                <a:latin typeface="Times New Roman"/>
                <a:cs typeface="Times New Roman"/>
              </a:rPr>
              <a:t>the</a:t>
            </a:r>
            <a:r>
              <a:rPr sz="2400" spc="-40" dirty="0">
                <a:solidFill>
                  <a:srgbClr val="212121"/>
                </a:solidFill>
                <a:latin typeface="Times New Roman"/>
                <a:cs typeface="Times New Roman"/>
              </a:rPr>
              <a:t> </a:t>
            </a:r>
            <a:r>
              <a:rPr sz="2400" spc="-27" dirty="0">
                <a:solidFill>
                  <a:srgbClr val="212121"/>
                </a:solidFill>
                <a:latin typeface="Times New Roman"/>
                <a:cs typeface="Times New Roman"/>
              </a:rPr>
              <a:t>next </a:t>
            </a:r>
            <a:r>
              <a:rPr sz="2400" dirty="0">
                <a:solidFill>
                  <a:srgbClr val="212121"/>
                </a:solidFill>
                <a:latin typeface="Times New Roman"/>
                <a:cs typeface="Times New Roman"/>
              </a:rPr>
              <a:t>step</a:t>
            </a:r>
            <a:r>
              <a:rPr sz="2400" spc="-40" dirty="0">
                <a:solidFill>
                  <a:srgbClr val="212121"/>
                </a:solidFill>
                <a:latin typeface="Times New Roman"/>
                <a:cs typeface="Times New Roman"/>
              </a:rPr>
              <a:t> </a:t>
            </a:r>
            <a:r>
              <a:rPr sz="2400" dirty="0">
                <a:solidFill>
                  <a:srgbClr val="212121"/>
                </a:solidFill>
                <a:latin typeface="Times New Roman"/>
                <a:cs typeface="Times New Roman"/>
              </a:rPr>
              <a:t>in</a:t>
            </a:r>
            <a:r>
              <a:rPr sz="2400" spc="-33" dirty="0">
                <a:solidFill>
                  <a:srgbClr val="212121"/>
                </a:solidFill>
                <a:latin typeface="Times New Roman"/>
                <a:cs typeface="Times New Roman"/>
              </a:rPr>
              <a:t> </a:t>
            </a:r>
            <a:r>
              <a:rPr sz="2400" dirty="0">
                <a:solidFill>
                  <a:srgbClr val="212121"/>
                </a:solidFill>
                <a:latin typeface="Times New Roman"/>
                <a:cs typeface="Times New Roman"/>
              </a:rPr>
              <a:t>the</a:t>
            </a:r>
            <a:r>
              <a:rPr sz="2400" spc="-27" dirty="0">
                <a:solidFill>
                  <a:srgbClr val="212121"/>
                </a:solidFill>
                <a:latin typeface="Times New Roman"/>
                <a:cs typeface="Times New Roman"/>
              </a:rPr>
              <a:t> </a:t>
            </a:r>
            <a:r>
              <a:rPr sz="2400" dirty="0">
                <a:solidFill>
                  <a:srgbClr val="212121"/>
                </a:solidFill>
                <a:latin typeface="Times New Roman"/>
                <a:cs typeface="Times New Roman"/>
              </a:rPr>
              <a:t>process,</a:t>
            </a:r>
            <a:r>
              <a:rPr sz="2400" spc="-27" dirty="0">
                <a:solidFill>
                  <a:srgbClr val="212121"/>
                </a:solidFill>
                <a:latin typeface="Times New Roman"/>
                <a:cs typeface="Times New Roman"/>
              </a:rPr>
              <a:t> ADC.</a:t>
            </a:r>
            <a:endParaRPr sz="2400" dirty="0">
              <a:latin typeface="Times New Roman"/>
              <a:cs typeface="Times New Roman"/>
            </a:endParaRPr>
          </a:p>
          <a:p>
            <a:pPr marL="626518" marR="6773" indent="-445336" algn="just">
              <a:lnSpc>
                <a:spcPct val="114999"/>
              </a:lnSpc>
              <a:buChar char="●"/>
              <a:tabLst>
                <a:tab pos="626518" algn="l"/>
              </a:tabLst>
            </a:pPr>
            <a:r>
              <a:rPr sz="2400" dirty="0">
                <a:solidFill>
                  <a:srgbClr val="212121"/>
                </a:solidFill>
                <a:latin typeface="Times New Roman"/>
                <a:cs typeface="Times New Roman"/>
              </a:rPr>
              <a:t>The</a:t>
            </a:r>
            <a:r>
              <a:rPr sz="2400" spc="440" dirty="0">
                <a:solidFill>
                  <a:srgbClr val="212121"/>
                </a:solidFill>
                <a:latin typeface="Times New Roman"/>
                <a:cs typeface="Times New Roman"/>
              </a:rPr>
              <a:t>    </a:t>
            </a:r>
            <a:r>
              <a:rPr sz="2400" dirty="0">
                <a:solidFill>
                  <a:srgbClr val="212121"/>
                </a:solidFill>
                <a:latin typeface="Times New Roman"/>
                <a:cs typeface="Times New Roman"/>
              </a:rPr>
              <a:t>signal</a:t>
            </a:r>
            <a:r>
              <a:rPr sz="2400" spc="440" dirty="0">
                <a:solidFill>
                  <a:srgbClr val="212121"/>
                </a:solidFill>
                <a:latin typeface="Times New Roman"/>
                <a:cs typeface="Times New Roman"/>
              </a:rPr>
              <a:t>    </a:t>
            </a:r>
            <a:r>
              <a:rPr sz="2400" dirty="0">
                <a:solidFill>
                  <a:srgbClr val="212121"/>
                </a:solidFill>
                <a:latin typeface="Times New Roman"/>
                <a:cs typeface="Times New Roman"/>
              </a:rPr>
              <a:t>conditioning</a:t>
            </a:r>
            <a:r>
              <a:rPr sz="2400" spc="440" dirty="0">
                <a:solidFill>
                  <a:srgbClr val="212121"/>
                </a:solidFill>
                <a:latin typeface="Times New Roman"/>
                <a:cs typeface="Times New Roman"/>
              </a:rPr>
              <a:t>    </a:t>
            </a:r>
            <a:r>
              <a:rPr sz="2400" dirty="0">
                <a:solidFill>
                  <a:srgbClr val="212121"/>
                </a:solidFill>
                <a:latin typeface="Times New Roman"/>
                <a:cs typeface="Times New Roman"/>
              </a:rPr>
              <a:t>stage</a:t>
            </a:r>
            <a:r>
              <a:rPr sz="2400" spc="440" dirty="0">
                <a:solidFill>
                  <a:srgbClr val="212121"/>
                </a:solidFill>
                <a:latin typeface="Times New Roman"/>
                <a:cs typeface="Times New Roman"/>
              </a:rPr>
              <a:t>    </a:t>
            </a:r>
            <a:r>
              <a:rPr sz="2400" dirty="0">
                <a:solidFill>
                  <a:srgbClr val="212121"/>
                </a:solidFill>
                <a:latin typeface="Times New Roman"/>
                <a:cs typeface="Times New Roman"/>
              </a:rPr>
              <a:t>may</a:t>
            </a:r>
            <a:r>
              <a:rPr sz="2400" spc="440" dirty="0">
                <a:solidFill>
                  <a:srgbClr val="212121"/>
                </a:solidFill>
                <a:latin typeface="Times New Roman"/>
                <a:cs typeface="Times New Roman"/>
              </a:rPr>
              <a:t>    </a:t>
            </a:r>
            <a:r>
              <a:rPr sz="2400" dirty="0">
                <a:solidFill>
                  <a:srgbClr val="212121"/>
                </a:solidFill>
                <a:latin typeface="Times New Roman"/>
                <a:cs typeface="Times New Roman"/>
              </a:rPr>
              <a:t>include</a:t>
            </a:r>
            <a:r>
              <a:rPr sz="2400" spc="440" dirty="0">
                <a:solidFill>
                  <a:srgbClr val="212121"/>
                </a:solidFill>
                <a:latin typeface="Times New Roman"/>
                <a:cs typeface="Times New Roman"/>
              </a:rPr>
              <a:t>    </a:t>
            </a:r>
            <a:r>
              <a:rPr sz="2400" spc="-13" dirty="0">
                <a:solidFill>
                  <a:srgbClr val="212121"/>
                </a:solidFill>
                <a:latin typeface="Times New Roman"/>
                <a:cs typeface="Times New Roman"/>
              </a:rPr>
              <a:t>addition/subtraction, </a:t>
            </a:r>
            <a:r>
              <a:rPr sz="2400" dirty="0">
                <a:solidFill>
                  <a:srgbClr val="212121"/>
                </a:solidFill>
                <a:latin typeface="Times New Roman"/>
                <a:cs typeface="Times New Roman"/>
              </a:rPr>
              <a:t>attenuation/amplification</a:t>
            </a:r>
            <a:r>
              <a:rPr sz="2400" spc="220" dirty="0">
                <a:solidFill>
                  <a:srgbClr val="212121"/>
                </a:solidFill>
                <a:latin typeface="Times New Roman"/>
                <a:cs typeface="Times New Roman"/>
              </a:rPr>
              <a:t> </a:t>
            </a:r>
            <a:r>
              <a:rPr sz="2400" dirty="0">
                <a:solidFill>
                  <a:srgbClr val="212121"/>
                </a:solidFill>
                <a:latin typeface="Times New Roman"/>
                <a:cs typeface="Times New Roman"/>
              </a:rPr>
              <a:t>and</a:t>
            </a:r>
            <a:r>
              <a:rPr sz="2400" spc="220" dirty="0">
                <a:solidFill>
                  <a:srgbClr val="212121"/>
                </a:solidFill>
                <a:latin typeface="Times New Roman"/>
                <a:cs typeface="Times New Roman"/>
              </a:rPr>
              <a:t> </a:t>
            </a:r>
            <a:r>
              <a:rPr sz="2400" dirty="0">
                <a:solidFill>
                  <a:srgbClr val="212121"/>
                </a:solidFill>
                <a:latin typeface="Times New Roman"/>
                <a:cs typeface="Times New Roman"/>
              </a:rPr>
              <a:t>filtering</a:t>
            </a:r>
            <a:r>
              <a:rPr sz="2400" spc="220" dirty="0">
                <a:solidFill>
                  <a:srgbClr val="212121"/>
                </a:solidFill>
                <a:latin typeface="Times New Roman"/>
                <a:cs typeface="Times New Roman"/>
              </a:rPr>
              <a:t> </a:t>
            </a:r>
            <a:r>
              <a:rPr sz="2400" dirty="0">
                <a:solidFill>
                  <a:srgbClr val="212121"/>
                </a:solidFill>
                <a:latin typeface="Times New Roman"/>
                <a:cs typeface="Times New Roman"/>
              </a:rPr>
              <a:t>such</a:t>
            </a:r>
            <a:r>
              <a:rPr sz="2400" spc="220" dirty="0">
                <a:solidFill>
                  <a:srgbClr val="212121"/>
                </a:solidFill>
                <a:latin typeface="Times New Roman"/>
                <a:cs typeface="Times New Roman"/>
              </a:rPr>
              <a:t> </a:t>
            </a:r>
            <a:r>
              <a:rPr sz="2400" dirty="0">
                <a:solidFill>
                  <a:srgbClr val="212121"/>
                </a:solidFill>
                <a:latin typeface="Times New Roman"/>
                <a:cs typeface="Times New Roman"/>
              </a:rPr>
              <a:t>that</a:t>
            </a:r>
            <a:r>
              <a:rPr sz="2400" spc="207" dirty="0">
                <a:solidFill>
                  <a:srgbClr val="212121"/>
                </a:solidFill>
                <a:latin typeface="Times New Roman"/>
                <a:cs typeface="Times New Roman"/>
              </a:rPr>
              <a:t> </a:t>
            </a:r>
            <a:r>
              <a:rPr sz="2400" dirty="0">
                <a:solidFill>
                  <a:srgbClr val="212121"/>
                </a:solidFill>
                <a:latin typeface="Times New Roman"/>
                <a:cs typeface="Times New Roman"/>
              </a:rPr>
              <a:t>its</a:t>
            </a:r>
            <a:r>
              <a:rPr sz="2400" spc="233" dirty="0">
                <a:solidFill>
                  <a:srgbClr val="212121"/>
                </a:solidFill>
                <a:latin typeface="Times New Roman"/>
                <a:cs typeface="Times New Roman"/>
              </a:rPr>
              <a:t> </a:t>
            </a:r>
            <a:r>
              <a:rPr sz="2400" dirty="0">
                <a:solidFill>
                  <a:srgbClr val="212121"/>
                </a:solidFill>
                <a:latin typeface="Times New Roman"/>
                <a:cs typeface="Times New Roman"/>
              </a:rPr>
              <a:t>maximum</a:t>
            </a:r>
            <a:r>
              <a:rPr sz="2400" spc="227" dirty="0">
                <a:solidFill>
                  <a:srgbClr val="212121"/>
                </a:solidFill>
                <a:latin typeface="Times New Roman"/>
                <a:cs typeface="Times New Roman"/>
              </a:rPr>
              <a:t> </a:t>
            </a:r>
            <a:r>
              <a:rPr sz="2400" dirty="0">
                <a:solidFill>
                  <a:srgbClr val="212121"/>
                </a:solidFill>
                <a:latin typeface="Times New Roman"/>
                <a:cs typeface="Times New Roman"/>
              </a:rPr>
              <a:t>magnitude</a:t>
            </a:r>
            <a:r>
              <a:rPr sz="2400" spc="227" dirty="0">
                <a:solidFill>
                  <a:srgbClr val="212121"/>
                </a:solidFill>
                <a:latin typeface="Times New Roman"/>
                <a:cs typeface="Times New Roman"/>
              </a:rPr>
              <a:t> </a:t>
            </a:r>
            <a:r>
              <a:rPr sz="2400" dirty="0">
                <a:solidFill>
                  <a:srgbClr val="212121"/>
                </a:solidFill>
                <a:latin typeface="Times New Roman"/>
                <a:cs typeface="Times New Roman"/>
              </a:rPr>
              <a:t>lies</a:t>
            </a:r>
            <a:r>
              <a:rPr sz="2400" spc="227" dirty="0">
                <a:solidFill>
                  <a:srgbClr val="212121"/>
                </a:solidFill>
                <a:latin typeface="Times New Roman"/>
                <a:cs typeface="Times New Roman"/>
              </a:rPr>
              <a:t> </a:t>
            </a:r>
            <a:r>
              <a:rPr sz="2400" spc="-13" dirty="0">
                <a:solidFill>
                  <a:srgbClr val="212121"/>
                </a:solidFill>
                <a:latin typeface="Times New Roman"/>
                <a:cs typeface="Times New Roman"/>
              </a:rPr>
              <a:t>within </a:t>
            </a:r>
            <a:r>
              <a:rPr sz="2400" dirty="0">
                <a:solidFill>
                  <a:srgbClr val="212121"/>
                </a:solidFill>
                <a:latin typeface="Times New Roman"/>
                <a:cs typeface="Times New Roman"/>
              </a:rPr>
              <a:t>the</a:t>
            </a:r>
            <a:r>
              <a:rPr sz="2400" spc="-27" dirty="0">
                <a:solidFill>
                  <a:srgbClr val="212121"/>
                </a:solidFill>
                <a:latin typeface="Times New Roman"/>
                <a:cs typeface="Times New Roman"/>
              </a:rPr>
              <a:t> </a:t>
            </a:r>
            <a:r>
              <a:rPr sz="2400" dirty="0">
                <a:solidFill>
                  <a:srgbClr val="212121"/>
                </a:solidFill>
                <a:latin typeface="Times New Roman"/>
                <a:cs typeface="Times New Roman"/>
              </a:rPr>
              <a:t>limits</a:t>
            </a:r>
            <a:r>
              <a:rPr sz="2400" spc="-33" dirty="0">
                <a:solidFill>
                  <a:srgbClr val="212121"/>
                </a:solidFill>
                <a:latin typeface="Times New Roman"/>
                <a:cs typeface="Times New Roman"/>
              </a:rPr>
              <a:t> </a:t>
            </a:r>
            <a:r>
              <a:rPr sz="2400" dirty="0">
                <a:solidFill>
                  <a:srgbClr val="212121"/>
                </a:solidFill>
                <a:latin typeface="Times New Roman"/>
                <a:cs typeface="Times New Roman"/>
              </a:rPr>
              <a:t>of</a:t>
            </a:r>
            <a:r>
              <a:rPr sz="2400" spc="-27" dirty="0">
                <a:solidFill>
                  <a:srgbClr val="212121"/>
                </a:solidFill>
                <a:latin typeface="Times New Roman"/>
                <a:cs typeface="Times New Roman"/>
              </a:rPr>
              <a:t> </a:t>
            </a:r>
            <a:r>
              <a:rPr sz="2400" dirty="0">
                <a:solidFill>
                  <a:srgbClr val="212121"/>
                </a:solidFill>
                <a:latin typeface="Times New Roman"/>
                <a:cs typeface="Times New Roman"/>
              </a:rPr>
              <a:t>the</a:t>
            </a:r>
            <a:r>
              <a:rPr sz="2400" spc="-27" dirty="0">
                <a:solidFill>
                  <a:srgbClr val="212121"/>
                </a:solidFill>
                <a:latin typeface="Times New Roman"/>
                <a:cs typeface="Times New Roman"/>
              </a:rPr>
              <a:t> </a:t>
            </a:r>
            <a:r>
              <a:rPr sz="2400" dirty="0">
                <a:solidFill>
                  <a:srgbClr val="212121"/>
                </a:solidFill>
                <a:latin typeface="Times New Roman"/>
                <a:cs typeface="Times New Roman"/>
              </a:rPr>
              <a:t>inputs</a:t>
            </a:r>
            <a:r>
              <a:rPr sz="2400" spc="-20" dirty="0">
                <a:solidFill>
                  <a:srgbClr val="212121"/>
                </a:solidFill>
                <a:latin typeface="Times New Roman"/>
                <a:cs typeface="Times New Roman"/>
              </a:rPr>
              <a:t> </a:t>
            </a:r>
            <a:r>
              <a:rPr sz="2400" dirty="0">
                <a:solidFill>
                  <a:srgbClr val="212121"/>
                </a:solidFill>
                <a:latin typeface="Times New Roman"/>
                <a:cs typeface="Times New Roman"/>
              </a:rPr>
              <a:t>for</a:t>
            </a:r>
            <a:r>
              <a:rPr sz="2400" spc="-33" dirty="0">
                <a:solidFill>
                  <a:srgbClr val="212121"/>
                </a:solidFill>
                <a:latin typeface="Times New Roman"/>
                <a:cs typeface="Times New Roman"/>
              </a:rPr>
              <a:t> </a:t>
            </a:r>
            <a:r>
              <a:rPr sz="2400" dirty="0">
                <a:solidFill>
                  <a:srgbClr val="212121"/>
                </a:solidFill>
                <a:latin typeface="Times New Roman"/>
                <a:cs typeface="Times New Roman"/>
              </a:rPr>
              <a:t>the</a:t>
            </a:r>
            <a:r>
              <a:rPr sz="2400" spc="-20" dirty="0">
                <a:solidFill>
                  <a:srgbClr val="212121"/>
                </a:solidFill>
                <a:latin typeface="Times New Roman"/>
                <a:cs typeface="Times New Roman"/>
              </a:rPr>
              <a:t> </a:t>
            </a:r>
            <a:r>
              <a:rPr sz="2400" dirty="0">
                <a:solidFill>
                  <a:srgbClr val="212121"/>
                </a:solidFill>
                <a:latin typeface="Times New Roman"/>
                <a:cs typeface="Times New Roman"/>
              </a:rPr>
              <a:t>ADC</a:t>
            </a:r>
            <a:r>
              <a:rPr sz="2400" spc="-20" dirty="0">
                <a:solidFill>
                  <a:srgbClr val="212121"/>
                </a:solidFill>
                <a:latin typeface="Times New Roman"/>
                <a:cs typeface="Times New Roman"/>
              </a:rPr>
              <a:t> </a:t>
            </a:r>
            <a:r>
              <a:rPr sz="2400" spc="-13" dirty="0">
                <a:solidFill>
                  <a:srgbClr val="212121"/>
                </a:solidFill>
                <a:latin typeface="Times New Roman"/>
                <a:cs typeface="Times New Roman"/>
              </a:rPr>
              <a:t>stage.</a:t>
            </a:r>
            <a:endParaRPr sz="2400" dirty="0">
              <a:latin typeface="Times New Roman"/>
              <a:cs typeface="Times New Roman"/>
            </a:endParaRPr>
          </a:p>
          <a:p>
            <a:pPr marL="16933">
              <a:spcBef>
                <a:spcPts val="2033"/>
              </a:spcBef>
            </a:pPr>
            <a:r>
              <a:rPr sz="2400" b="1" dirty="0">
                <a:solidFill>
                  <a:srgbClr val="212121"/>
                </a:solidFill>
                <a:latin typeface="Times New Roman"/>
                <a:cs typeface="Times New Roman"/>
              </a:rPr>
              <a:t>Analogue</a:t>
            </a:r>
            <a:r>
              <a:rPr sz="2400" b="1" spc="-33" dirty="0">
                <a:solidFill>
                  <a:srgbClr val="212121"/>
                </a:solidFill>
                <a:latin typeface="Times New Roman"/>
                <a:cs typeface="Times New Roman"/>
              </a:rPr>
              <a:t> </a:t>
            </a:r>
            <a:r>
              <a:rPr sz="2400" b="1" dirty="0">
                <a:solidFill>
                  <a:srgbClr val="212121"/>
                </a:solidFill>
                <a:latin typeface="Times New Roman"/>
                <a:cs typeface="Times New Roman"/>
              </a:rPr>
              <a:t>to</a:t>
            </a:r>
            <a:r>
              <a:rPr sz="2400" b="1" spc="-53" dirty="0">
                <a:solidFill>
                  <a:srgbClr val="212121"/>
                </a:solidFill>
                <a:latin typeface="Times New Roman"/>
                <a:cs typeface="Times New Roman"/>
              </a:rPr>
              <a:t> </a:t>
            </a:r>
            <a:r>
              <a:rPr sz="2400" b="1" dirty="0">
                <a:solidFill>
                  <a:srgbClr val="212121"/>
                </a:solidFill>
                <a:latin typeface="Times New Roman"/>
                <a:cs typeface="Times New Roman"/>
              </a:rPr>
              <a:t>Digital</a:t>
            </a:r>
            <a:r>
              <a:rPr sz="2400" b="1" spc="-47" dirty="0">
                <a:solidFill>
                  <a:srgbClr val="212121"/>
                </a:solidFill>
                <a:latin typeface="Times New Roman"/>
                <a:cs typeface="Times New Roman"/>
              </a:rPr>
              <a:t> </a:t>
            </a:r>
            <a:r>
              <a:rPr sz="2400" b="1" spc="-13" dirty="0">
                <a:solidFill>
                  <a:srgbClr val="212121"/>
                </a:solidFill>
                <a:latin typeface="Times New Roman"/>
                <a:cs typeface="Times New Roman"/>
              </a:rPr>
              <a:t>Conversion</a:t>
            </a:r>
            <a:endParaRPr sz="2400" dirty="0">
              <a:latin typeface="Times New Roman"/>
              <a:cs typeface="Times New Roman"/>
            </a:endParaRPr>
          </a:p>
          <a:p>
            <a:pPr marL="626518" marR="725575" indent="-445336">
              <a:lnSpc>
                <a:spcPct val="114999"/>
              </a:lnSpc>
              <a:spcBef>
                <a:spcPts val="1600"/>
              </a:spcBef>
              <a:buChar char="●"/>
              <a:tabLst>
                <a:tab pos="626518" algn="l"/>
              </a:tabLst>
            </a:pPr>
            <a:r>
              <a:rPr sz="2400" dirty="0">
                <a:solidFill>
                  <a:srgbClr val="212121"/>
                </a:solidFill>
                <a:latin typeface="Times New Roman"/>
                <a:cs typeface="Times New Roman"/>
              </a:rPr>
              <a:t>Current</a:t>
            </a:r>
            <a:r>
              <a:rPr sz="2400" spc="-40" dirty="0">
                <a:solidFill>
                  <a:srgbClr val="212121"/>
                </a:solidFill>
                <a:latin typeface="Times New Roman"/>
                <a:cs typeface="Times New Roman"/>
              </a:rPr>
              <a:t> </a:t>
            </a:r>
            <a:r>
              <a:rPr sz="2400" dirty="0">
                <a:solidFill>
                  <a:srgbClr val="212121"/>
                </a:solidFill>
                <a:latin typeface="Times New Roman"/>
                <a:cs typeface="Times New Roman"/>
              </a:rPr>
              <a:t>and</a:t>
            </a:r>
            <a:r>
              <a:rPr sz="2400" spc="-47" dirty="0">
                <a:solidFill>
                  <a:srgbClr val="212121"/>
                </a:solidFill>
                <a:latin typeface="Times New Roman"/>
                <a:cs typeface="Times New Roman"/>
              </a:rPr>
              <a:t> </a:t>
            </a:r>
            <a:r>
              <a:rPr sz="2400" dirty="0">
                <a:solidFill>
                  <a:srgbClr val="212121"/>
                </a:solidFill>
                <a:latin typeface="Times New Roman"/>
                <a:cs typeface="Times New Roman"/>
              </a:rPr>
              <a:t>voltage</a:t>
            </a:r>
            <a:r>
              <a:rPr sz="2400" spc="-47" dirty="0">
                <a:solidFill>
                  <a:srgbClr val="212121"/>
                </a:solidFill>
                <a:latin typeface="Times New Roman"/>
                <a:cs typeface="Times New Roman"/>
              </a:rPr>
              <a:t> </a:t>
            </a:r>
            <a:r>
              <a:rPr sz="2400" dirty="0">
                <a:solidFill>
                  <a:srgbClr val="212121"/>
                </a:solidFill>
                <a:latin typeface="Times New Roman"/>
                <a:cs typeface="Times New Roman"/>
              </a:rPr>
              <a:t>signals</a:t>
            </a:r>
            <a:r>
              <a:rPr sz="2400" spc="-47" dirty="0">
                <a:solidFill>
                  <a:srgbClr val="212121"/>
                </a:solidFill>
                <a:latin typeface="Times New Roman"/>
                <a:cs typeface="Times New Roman"/>
              </a:rPr>
              <a:t> </a:t>
            </a:r>
            <a:r>
              <a:rPr sz="2400" dirty="0">
                <a:solidFill>
                  <a:srgbClr val="212121"/>
                </a:solidFill>
                <a:latin typeface="Times New Roman"/>
                <a:cs typeface="Times New Roman"/>
              </a:rPr>
              <a:t>obtained</a:t>
            </a:r>
            <a:r>
              <a:rPr sz="2400" spc="-40" dirty="0">
                <a:solidFill>
                  <a:srgbClr val="212121"/>
                </a:solidFill>
                <a:latin typeface="Times New Roman"/>
                <a:cs typeface="Times New Roman"/>
              </a:rPr>
              <a:t> </a:t>
            </a:r>
            <a:r>
              <a:rPr sz="2400" dirty="0">
                <a:solidFill>
                  <a:srgbClr val="212121"/>
                </a:solidFill>
                <a:latin typeface="Times New Roman"/>
                <a:cs typeface="Times New Roman"/>
              </a:rPr>
              <a:t>from</a:t>
            </a:r>
            <a:r>
              <a:rPr sz="2400" spc="-40" dirty="0">
                <a:solidFill>
                  <a:srgbClr val="212121"/>
                </a:solidFill>
                <a:latin typeface="Times New Roman"/>
                <a:cs typeface="Times New Roman"/>
              </a:rPr>
              <a:t> </a:t>
            </a:r>
            <a:r>
              <a:rPr sz="2400" dirty="0">
                <a:solidFill>
                  <a:srgbClr val="212121"/>
                </a:solidFill>
                <a:latin typeface="Times New Roman"/>
                <a:cs typeface="Times New Roman"/>
              </a:rPr>
              <a:t>the</a:t>
            </a:r>
            <a:r>
              <a:rPr sz="2400" spc="-40" dirty="0">
                <a:solidFill>
                  <a:srgbClr val="212121"/>
                </a:solidFill>
                <a:latin typeface="Times New Roman"/>
                <a:cs typeface="Times New Roman"/>
              </a:rPr>
              <a:t> </a:t>
            </a:r>
            <a:r>
              <a:rPr sz="2400" dirty="0">
                <a:solidFill>
                  <a:srgbClr val="212121"/>
                </a:solidFill>
                <a:latin typeface="Times New Roman"/>
                <a:cs typeface="Times New Roman"/>
              </a:rPr>
              <a:t>sensors</a:t>
            </a:r>
            <a:r>
              <a:rPr sz="2400" spc="-33" dirty="0">
                <a:solidFill>
                  <a:srgbClr val="212121"/>
                </a:solidFill>
                <a:latin typeface="Times New Roman"/>
                <a:cs typeface="Times New Roman"/>
              </a:rPr>
              <a:t> </a:t>
            </a:r>
            <a:r>
              <a:rPr sz="2400" dirty="0">
                <a:solidFill>
                  <a:srgbClr val="212121"/>
                </a:solidFill>
                <a:latin typeface="Times New Roman"/>
                <a:cs typeface="Times New Roman"/>
              </a:rPr>
              <a:t>are</a:t>
            </a:r>
            <a:r>
              <a:rPr sz="2400" spc="-40" dirty="0">
                <a:solidFill>
                  <a:srgbClr val="212121"/>
                </a:solidFill>
                <a:latin typeface="Times New Roman"/>
                <a:cs typeface="Times New Roman"/>
              </a:rPr>
              <a:t> </a:t>
            </a:r>
            <a:r>
              <a:rPr sz="2400" dirty="0">
                <a:solidFill>
                  <a:srgbClr val="212121"/>
                </a:solidFill>
                <a:latin typeface="Times New Roman"/>
                <a:cs typeface="Times New Roman"/>
              </a:rPr>
              <a:t>first</a:t>
            </a:r>
            <a:r>
              <a:rPr sz="2400" spc="-40" dirty="0">
                <a:solidFill>
                  <a:srgbClr val="212121"/>
                </a:solidFill>
                <a:latin typeface="Times New Roman"/>
                <a:cs typeface="Times New Roman"/>
              </a:rPr>
              <a:t> </a:t>
            </a:r>
            <a:r>
              <a:rPr sz="2400" dirty="0">
                <a:solidFill>
                  <a:srgbClr val="212121"/>
                </a:solidFill>
                <a:latin typeface="Times New Roman"/>
                <a:cs typeface="Times New Roman"/>
              </a:rPr>
              <a:t>sampled</a:t>
            </a:r>
            <a:r>
              <a:rPr sz="2400" spc="-40" dirty="0">
                <a:solidFill>
                  <a:srgbClr val="212121"/>
                </a:solidFill>
                <a:latin typeface="Times New Roman"/>
                <a:cs typeface="Times New Roman"/>
              </a:rPr>
              <a:t> </a:t>
            </a:r>
            <a:r>
              <a:rPr sz="2400" dirty="0">
                <a:solidFill>
                  <a:srgbClr val="212121"/>
                </a:solidFill>
                <a:latin typeface="Times New Roman"/>
                <a:cs typeface="Times New Roman"/>
              </a:rPr>
              <a:t>and</a:t>
            </a:r>
            <a:r>
              <a:rPr sz="2400" spc="-47" dirty="0">
                <a:solidFill>
                  <a:srgbClr val="212121"/>
                </a:solidFill>
                <a:latin typeface="Times New Roman"/>
                <a:cs typeface="Times New Roman"/>
              </a:rPr>
              <a:t> </a:t>
            </a:r>
            <a:r>
              <a:rPr sz="2400" spc="-27" dirty="0">
                <a:solidFill>
                  <a:srgbClr val="212121"/>
                </a:solidFill>
                <a:latin typeface="Times New Roman"/>
                <a:cs typeface="Times New Roman"/>
              </a:rPr>
              <a:t>then </a:t>
            </a:r>
            <a:r>
              <a:rPr sz="2400" dirty="0">
                <a:solidFill>
                  <a:srgbClr val="212121"/>
                </a:solidFill>
                <a:latin typeface="Times New Roman"/>
                <a:cs typeface="Times New Roman"/>
              </a:rPr>
              <a:t>digitised</a:t>
            </a:r>
            <a:r>
              <a:rPr sz="2400" spc="-53" dirty="0">
                <a:solidFill>
                  <a:srgbClr val="212121"/>
                </a:solidFill>
                <a:latin typeface="Times New Roman"/>
                <a:cs typeface="Times New Roman"/>
              </a:rPr>
              <a:t> </a:t>
            </a:r>
            <a:r>
              <a:rPr sz="2400" dirty="0">
                <a:solidFill>
                  <a:srgbClr val="212121"/>
                </a:solidFill>
                <a:latin typeface="Times New Roman"/>
                <a:cs typeface="Times New Roman"/>
              </a:rPr>
              <a:t>to</a:t>
            </a:r>
            <a:r>
              <a:rPr sz="2400" spc="-33" dirty="0">
                <a:solidFill>
                  <a:srgbClr val="212121"/>
                </a:solidFill>
                <a:latin typeface="Times New Roman"/>
                <a:cs typeface="Times New Roman"/>
              </a:rPr>
              <a:t> </a:t>
            </a:r>
            <a:r>
              <a:rPr sz="2400" dirty="0">
                <a:solidFill>
                  <a:srgbClr val="212121"/>
                </a:solidFill>
                <a:latin typeface="Times New Roman"/>
                <a:cs typeface="Times New Roman"/>
              </a:rPr>
              <a:t>be</a:t>
            </a:r>
            <a:r>
              <a:rPr sz="2400" spc="-27" dirty="0">
                <a:solidFill>
                  <a:srgbClr val="212121"/>
                </a:solidFill>
                <a:latin typeface="Times New Roman"/>
                <a:cs typeface="Times New Roman"/>
              </a:rPr>
              <a:t> </a:t>
            </a:r>
            <a:r>
              <a:rPr sz="2400" dirty="0">
                <a:solidFill>
                  <a:srgbClr val="212121"/>
                </a:solidFill>
                <a:latin typeface="Times New Roman"/>
                <a:cs typeface="Times New Roman"/>
              </a:rPr>
              <a:t>processed</a:t>
            </a:r>
            <a:r>
              <a:rPr sz="2400" spc="-13" dirty="0">
                <a:solidFill>
                  <a:srgbClr val="212121"/>
                </a:solidFill>
                <a:latin typeface="Times New Roman"/>
                <a:cs typeface="Times New Roman"/>
              </a:rPr>
              <a:t> </a:t>
            </a:r>
            <a:r>
              <a:rPr sz="2400" dirty="0">
                <a:solidFill>
                  <a:srgbClr val="212121"/>
                </a:solidFill>
                <a:latin typeface="Times New Roman"/>
                <a:cs typeface="Times New Roman"/>
              </a:rPr>
              <a:t>by</a:t>
            </a:r>
            <a:r>
              <a:rPr sz="2400" spc="-33" dirty="0">
                <a:solidFill>
                  <a:srgbClr val="212121"/>
                </a:solidFill>
                <a:latin typeface="Times New Roman"/>
                <a:cs typeface="Times New Roman"/>
              </a:rPr>
              <a:t> </a:t>
            </a:r>
            <a:r>
              <a:rPr sz="2400" dirty="0">
                <a:solidFill>
                  <a:srgbClr val="212121"/>
                </a:solidFill>
                <a:latin typeface="Times New Roman"/>
                <a:cs typeface="Times New Roman"/>
              </a:rPr>
              <a:t>the</a:t>
            </a:r>
            <a:r>
              <a:rPr sz="2400" spc="-33" dirty="0">
                <a:solidFill>
                  <a:srgbClr val="212121"/>
                </a:solidFill>
                <a:latin typeface="Times New Roman"/>
                <a:cs typeface="Times New Roman"/>
              </a:rPr>
              <a:t> </a:t>
            </a:r>
            <a:r>
              <a:rPr sz="2400" dirty="0">
                <a:solidFill>
                  <a:srgbClr val="212121"/>
                </a:solidFill>
                <a:latin typeface="Times New Roman"/>
                <a:cs typeface="Times New Roman"/>
              </a:rPr>
              <a:t>metering</a:t>
            </a:r>
            <a:r>
              <a:rPr sz="2400" spc="-33" dirty="0">
                <a:solidFill>
                  <a:srgbClr val="212121"/>
                </a:solidFill>
                <a:latin typeface="Times New Roman"/>
                <a:cs typeface="Times New Roman"/>
              </a:rPr>
              <a:t> </a:t>
            </a:r>
            <a:r>
              <a:rPr sz="2400" spc="-13" dirty="0">
                <a:solidFill>
                  <a:srgbClr val="212121"/>
                </a:solidFill>
                <a:latin typeface="Times New Roman"/>
                <a:cs typeface="Times New Roman"/>
              </a:rPr>
              <a:t>software.</a:t>
            </a:r>
            <a:endParaRPr sz="2400" dirty="0">
              <a:latin typeface="Times New Roman"/>
              <a:cs typeface="Times New Roman"/>
            </a:endParaRPr>
          </a:p>
          <a:p>
            <a:pPr marL="626518" indent="-444489">
              <a:spcBef>
                <a:spcPts val="427"/>
              </a:spcBef>
              <a:buChar char="●"/>
              <a:tabLst>
                <a:tab pos="626518" algn="l"/>
              </a:tabLst>
            </a:pPr>
            <a:r>
              <a:rPr sz="2400" dirty="0">
                <a:solidFill>
                  <a:srgbClr val="212121"/>
                </a:solidFill>
                <a:latin typeface="Times New Roman"/>
                <a:cs typeface="Times New Roman"/>
              </a:rPr>
              <a:t>The</a:t>
            </a:r>
            <a:r>
              <a:rPr sz="2400" spc="-40" dirty="0">
                <a:solidFill>
                  <a:srgbClr val="212121"/>
                </a:solidFill>
                <a:latin typeface="Times New Roman"/>
                <a:cs typeface="Times New Roman"/>
              </a:rPr>
              <a:t> </a:t>
            </a:r>
            <a:r>
              <a:rPr sz="2400" dirty="0">
                <a:solidFill>
                  <a:srgbClr val="212121"/>
                </a:solidFill>
                <a:latin typeface="Times New Roman"/>
                <a:cs typeface="Times New Roman"/>
              </a:rPr>
              <a:t>ADC</a:t>
            </a:r>
            <a:r>
              <a:rPr sz="2400" spc="-27" dirty="0">
                <a:solidFill>
                  <a:srgbClr val="212121"/>
                </a:solidFill>
                <a:latin typeface="Times New Roman"/>
                <a:cs typeface="Times New Roman"/>
              </a:rPr>
              <a:t> </a:t>
            </a:r>
            <a:r>
              <a:rPr sz="2400" dirty="0">
                <a:solidFill>
                  <a:srgbClr val="212121"/>
                </a:solidFill>
                <a:latin typeface="Times New Roman"/>
                <a:cs typeface="Times New Roman"/>
              </a:rPr>
              <a:t>converts</a:t>
            </a:r>
            <a:r>
              <a:rPr sz="2400" spc="-47" dirty="0">
                <a:solidFill>
                  <a:srgbClr val="212121"/>
                </a:solidFill>
                <a:latin typeface="Times New Roman"/>
                <a:cs typeface="Times New Roman"/>
              </a:rPr>
              <a:t> </a:t>
            </a:r>
            <a:r>
              <a:rPr sz="2400" dirty="0">
                <a:solidFill>
                  <a:srgbClr val="212121"/>
                </a:solidFill>
                <a:latin typeface="Times New Roman"/>
                <a:cs typeface="Times New Roman"/>
              </a:rPr>
              <a:t>analogue</a:t>
            </a:r>
            <a:r>
              <a:rPr sz="2400" spc="-47" dirty="0">
                <a:solidFill>
                  <a:srgbClr val="212121"/>
                </a:solidFill>
                <a:latin typeface="Times New Roman"/>
                <a:cs typeface="Times New Roman"/>
              </a:rPr>
              <a:t> </a:t>
            </a:r>
            <a:r>
              <a:rPr sz="2400" dirty="0">
                <a:solidFill>
                  <a:srgbClr val="212121"/>
                </a:solidFill>
                <a:latin typeface="Times New Roman"/>
                <a:cs typeface="Times New Roman"/>
              </a:rPr>
              <a:t>signals</a:t>
            </a:r>
            <a:r>
              <a:rPr sz="2400" spc="-47" dirty="0">
                <a:solidFill>
                  <a:srgbClr val="212121"/>
                </a:solidFill>
                <a:latin typeface="Times New Roman"/>
                <a:cs typeface="Times New Roman"/>
              </a:rPr>
              <a:t> </a:t>
            </a:r>
            <a:r>
              <a:rPr sz="2400" dirty="0">
                <a:solidFill>
                  <a:srgbClr val="212121"/>
                </a:solidFill>
                <a:latin typeface="Times New Roman"/>
                <a:cs typeface="Times New Roman"/>
              </a:rPr>
              <a:t>coming</a:t>
            </a:r>
            <a:r>
              <a:rPr sz="2400" spc="-27" dirty="0">
                <a:solidFill>
                  <a:srgbClr val="212121"/>
                </a:solidFill>
                <a:latin typeface="Times New Roman"/>
                <a:cs typeface="Times New Roman"/>
              </a:rPr>
              <a:t> </a:t>
            </a:r>
            <a:r>
              <a:rPr sz="2400" dirty="0">
                <a:solidFill>
                  <a:srgbClr val="212121"/>
                </a:solidFill>
                <a:latin typeface="Times New Roman"/>
                <a:cs typeface="Times New Roman"/>
              </a:rPr>
              <a:t>from</a:t>
            </a:r>
            <a:r>
              <a:rPr sz="2400" spc="-40" dirty="0">
                <a:solidFill>
                  <a:srgbClr val="212121"/>
                </a:solidFill>
                <a:latin typeface="Times New Roman"/>
                <a:cs typeface="Times New Roman"/>
              </a:rPr>
              <a:t> </a:t>
            </a:r>
            <a:r>
              <a:rPr sz="2400" dirty="0">
                <a:solidFill>
                  <a:srgbClr val="212121"/>
                </a:solidFill>
                <a:latin typeface="Times New Roman"/>
                <a:cs typeface="Times New Roman"/>
              </a:rPr>
              <a:t>the</a:t>
            </a:r>
            <a:r>
              <a:rPr sz="2400" spc="-33" dirty="0">
                <a:solidFill>
                  <a:srgbClr val="212121"/>
                </a:solidFill>
                <a:latin typeface="Times New Roman"/>
                <a:cs typeface="Times New Roman"/>
              </a:rPr>
              <a:t> </a:t>
            </a:r>
            <a:r>
              <a:rPr sz="2400" dirty="0">
                <a:solidFill>
                  <a:srgbClr val="212121"/>
                </a:solidFill>
                <a:latin typeface="Times New Roman"/>
                <a:cs typeface="Times New Roman"/>
              </a:rPr>
              <a:t>sensors</a:t>
            </a:r>
            <a:r>
              <a:rPr sz="2400" spc="-40" dirty="0">
                <a:solidFill>
                  <a:srgbClr val="212121"/>
                </a:solidFill>
                <a:latin typeface="Times New Roman"/>
                <a:cs typeface="Times New Roman"/>
              </a:rPr>
              <a:t> </a:t>
            </a:r>
            <a:r>
              <a:rPr sz="2400" dirty="0">
                <a:solidFill>
                  <a:srgbClr val="212121"/>
                </a:solidFill>
                <a:latin typeface="Times New Roman"/>
                <a:cs typeface="Times New Roman"/>
              </a:rPr>
              <a:t>into</a:t>
            </a:r>
            <a:r>
              <a:rPr sz="2400" spc="-47" dirty="0">
                <a:solidFill>
                  <a:srgbClr val="212121"/>
                </a:solidFill>
                <a:latin typeface="Times New Roman"/>
                <a:cs typeface="Times New Roman"/>
              </a:rPr>
              <a:t> </a:t>
            </a:r>
            <a:r>
              <a:rPr sz="2400" dirty="0">
                <a:solidFill>
                  <a:srgbClr val="212121"/>
                </a:solidFill>
                <a:latin typeface="Times New Roman"/>
                <a:cs typeface="Times New Roman"/>
              </a:rPr>
              <a:t>a</a:t>
            </a:r>
            <a:r>
              <a:rPr sz="2400" spc="-40" dirty="0">
                <a:solidFill>
                  <a:srgbClr val="212121"/>
                </a:solidFill>
                <a:latin typeface="Times New Roman"/>
                <a:cs typeface="Times New Roman"/>
              </a:rPr>
              <a:t> </a:t>
            </a:r>
            <a:r>
              <a:rPr sz="2400" dirty="0">
                <a:solidFill>
                  <a:srgbClr val="212121"/>
                </a:solidFill>
                <a:latin typeface="Times New Roman"/>
                <a:cs typeface="Times New Roman"/>
              </a:rPr>
              <a:t>digital</a:t>
            </a:r>
            <a:r>
              <a:rPr sz="2400" spc="-47" dirty="0">
                <a:solidFill>
                  <a:srgbClr val="212121"/>
                </a:solidFill>
                <a:latin typeface="Times New Roman"/>
                <a:cs typeface="Times New Roman"/>
              </a:rPr>
              <a:t> </a:t>
            </a:r>
            <a:r>
              <a:rPr sz="2400" spc="-13" dirty="0">
                <a:solidFill>
                  <a:srgbClr val="212121"/>
                </a:solidFill>
                <a:latin typeface="Times New Roman"/>
                <a:cs typeface="Times New Roman"/>
              </a:rPr>
              <a:t>form.</a:t>
            </a:r>
            <a:endParaRPr sz="2400" dirty="0">
              <a:latin typeface="Times New Roman"/>
              <a:cs typeface="Times New Roman"/>
            </a:endParaRPr>
          </a:p>
          <a:p>
            <a:pPr marL="626518" marR="386917" indent="-445336">
              <a:lnSpc>
                <a:spcPct val="114999"/>
              </a:lnSpc>
              <a:buChar char="●"/>
              <a:tabLst>
                <a:tab pos="626518" algn="l"/>
              </a:tabLst>
            </a:pPr>
            <a:r>
              <a:rPr sz="2400" dirty="0">
                <a:solidFill>
                  <a:srgbClr val="212121"/>
                </a:solidFill>
                <a:latin typeface="Times New Roman"/>
                <a:cs typeface="Times New Roman"/>
              </a:rPr>
              <a:t>Since</a:t>
            </a:r>
            <a:r>
              <a:rPr sz="2400" spc="-33" dirty="0">
                <a:solidFill>
                  <a:srgbClr val="212121"/>
                </a:solidFill>
                <a:latin typeface="Times New Roman"/>
                <a:cs typeface="Times New Roman"/>
              </a:rPr>
              <a:t> </a:t>
            </a:r>
            <a:r>
              <a:rPr sz="2400" dirty="0">
                <a:solidFill>
                  <a:srgbClr val="212121"/>
                </a:solidFill>
                <a:latin typeface="Times New Roman"/>
                <a:cs typeface="Times New Roman"/>
              </a:rPr>
              <a:t>there</a:t>
            </a:r>
            <a:r>
              <a:rPr sz="2400" spc="-47" dirty="0">
                <a:solidFill>
                  <a:srgbClr val="212121"/>
                </a:solidFill>
                <a:latin typeface="Times New Roman"/>
                <a:cs typeface="Times New Roman"/>
              </a:rPr>
              <a:t> </a:t>
            </a:r>
            <a:r>
              <a:rPr sz="2400" dirty="0">
                <a:solidFill>
                  <a:srgbClr val="212121"/>
                </a:solidFill>
                <a:latin typeface="Times New Roman"/>
                <a:cs typeface="Times New Roman"/>
              </a:rPr>
              <a:t>are</a:t>
            </a:r>
            <a:r>
              <a:rPr sz="2400" spc="-33" dirty="0">
                <a:solidFill>
                  <a:srgbClr val="212121"/>
                </a:solidFill>
                <a:latin typeface="Times New Roman"/>
                <a:cs typeface="Times New Roman"/>
              </a:rPr>
              <a:t> </a:t>
            </a:r>
            <a:r>
              <a:rPr sz="2400" dirty="0">
                <a:solidFill>
                  <a:srgbClr val="212121"/>
                </a:solidFill>
                <a:latin typeface="Times New Roman"/>
                <a:cs typeface="Times New Roman"/>
              </a:rPr>
              <a:t>two</a:t>
            </a:r>
            <a:r>
              <a:rPr sz="2400" spc="-20" dirty="0">
                <a:solidFill>
                  <a:srgbClr val="212121"/>
                </a:solidFill>
                <a:latin typeface="Times New Roman"/>
                <a:cs typeface="Times New Roman"/>
              </a:rPr>
              <a:t> </a:t>
            </a:r>
            <a:r>
              <a:rPr sz="2400" dirty="0">
                <a:solidFill>
                  <a:srgbClr val="212121"/>
                </a:solidFill>
                <a:latin typeface="Times New Roman"/>
                <a:cs typeface="Times New Roman"/>
              </a:rPr>
              <a:t>signals</a:t>
            </a:r>
            <a:r>
              <a:rPr sz="2400" spc="-40" dirty="0">
                <a:solidFill>
                  <a:srgbClr val="212121"/>
                </a:solidFill>
                <a:latin typeface="Times New Roman"/>
                <a:cs typeface="Times New Roman"/>
              </a:rPr>
              <a:t> </a:t>
            </a:r>
            <a:r>
              <a:rPr sz="2400" dirty="0">
                <a:solidFill>
                  <a:srgbClr val="212121"/>
                </a:solidFill>
                <a:latin typeface="Times New Roman"/>
                <a:cs typeface="Times New Roman"/>
              </a:rPr>
              <a:t>(current</a:t>
            </a:r>
            <a:r>
              <a:rPr sz="2400" spc="-47" dirty="0">
                <a:solidFill>
                  <a:srgbClr val="212121"/>
                </a:solidFill>
                <a:latin typeface="Times New Roman"/>
                <a:cs typeface="Times New Roman"/>
              </a:rPr>
              <a:t> </a:t>
            </a:r>
            <a:r>
              <a:rPr sz="2400" dirty="0">
                <a:solidFill>
                  <a:srgbClr val="212121"/>
                </a:solidFill>
                <a:latin typeface="Times New Roman"/>
                <a:cs typeface="Times New Roman"/>
              </a:rPr>
              <a:t>and</a:t>
            </a:r>
            <a:r>
              <a:rPr sz="2400" spc="-13" dirty="0">
                <a:solidFill>
                  <a:srgbClr val="212121"/>
                </a:solidFill>
                <a:latin typeface="Times New Roman"/>
                <a:cs typeface="Times New Roman"/>
              </a:rPr>
              <a:t> </a:t>
            </a:r>
            <a:r>
              <a:rPr sz="2400" dirty="0">
                <a:solidFill>
                  <a:srgbClr val="212121"/>
                </a:solidFill>
                <a:latin typeface="Times New Roman"/>
                <a:cs typeface="Times New Roman"/>
              </a:rPr>
              <a:t>voltage)</a:t>
            </a:r>
            <a:r>
              <a:rPr sz="2400" spc="-53" dirty="0">
                <a:solidFill>
                  <a:srgbClr val="212121"/>
                </a:solidFill>
                <a:latin typeface="Times New Roman"/>
                <a:cs typeface="Times New Roman"/>
              </a:rPr>
              <a:t> </a:t>
            </a:r>
            <a:r>
              <a:rPr sz="2400" dirty="0">
                <a:solidFill>
                  <a:srgbClr val="212121"/>
                </a:solidFill>
                <a:latin typeface="Times New Roman"/>
                <a:cs typeface="Times New Roman"/>
              </a:rPr>
              <a:t>in</a:t>
            </a:r>
            <a:r>
              <a:rPr sz="2400" spc="-40" dirty="0">
                <a:solidFill>
                  <a:srgbClr val="212121"/>
                </a:solidFill>
                <a:latin typeface="Times New Roman"/>
                <a:cs typeface="Times New Roman"/>
              </a:rPr>
              <a:t> </a:t>
            </a:r>
            <a:r>
              <a:rPr sz="2400" dirty="0">
                <a:solidFill>
                  <a:srgbClr val="212121"/>
                </a:solidFill>
                <a:latin typeface="Times New Roman"/>
                <a:cs typeface="Times New Roman"/>
              </a:rPr>
              <a:t>a</a:t>
            </a:r>
            <a:r>
              <a:rPr sz="2400" spc="-27" dirty="0">
                <a:solidFill>
                  <a:srgbClr val="212121"/>
                </a:solidFill>
                <a:latin typeface="Times New Roman"/>
                <a:cs typeface="Times New Roman"/>
              </a:rPr>
              <a:t> </a:t>
            </a:r>
            <a:r>
              <a:rPr sz="2400" dirty="0">
                <a:solidFill>
                  <a:srgbClr val="212121"/>
                </a:solidFill>
                <a:latin typeface="Times New Roman"/>
                <a:cs typeface="Times New Roman"/>
              </a:rPr>
              <a:t>single</a:t>
            </a:r>
            <a:r>
              <a:rPr sz="2400" spc="-33" dirty="0">
                <a:solidFill>
                  <a:srgbClr val="212121"/>
                </a:solidFill>
                <a:latin typeface="Times New Roman"/>
                <a:cs typeface="Times New Roman"/>
              </a:rPr>
              <a:t> </a:t>
            </a:r>
            <a:r>
              <a:rPr sz="2400" dirty="0">
                <a:solidFill>
                  <a:srgbClr val="212121"/>
                </a:solidFill>
                <a:latin typeface="Times New Roman"/>
                <a:cs typeface="Times New Roman"/>
              </a:rPr>
              <a:t>phase</a:t>
            </a:r>
            <a:r>
              <a:rPr sz="2400" spc="-33" dirty="0">
                <a:solidFill>
                  <a:srgbClr val="212121"/>
                </a:solidFill>
                <a:latin typeface="Times New Roman"/>
                <a:cs typeface="Times New Roman"/>
              </a:rPr>
              <a:t> </a:t>
            </a:r>
            <a:r>
              <a:rPr sz="2400" dirty="0">
                <a:solidFill>
                  <a:srgbClr val="212121"/>
                </a:solidFill>
                <a:latin typeface="Times New Roman"/>
                <a:cs typeface="Times New Roman"/>
              </a:rPr>
              <a:t>meter,</a:t>
            </a:r>
            <a:r>
              <a:rPr sz="2400" spc="-27" dirty="0">
                <a:solidFill>
                  <a:srgbClr val="212121"/>
                </a:solidFill>
                <a:latin typeface="Times New Roman"/>
                <a:cs typeface="Times New Roman"/>
              </a:rPr>
              <a:t> </a:t>
            </a:r>
            <a:r>
              <a:rPr sz="2400" dirty="0">
                <a:solidFill>
                  <a:srgbClr val="212121"/>
                </a:solidFill>
                <a:latin typeface="Times New Roman"/>
                <a:cs typeface="Times New Roman"/>
              </a:rPr>
              <a:t>if</a:t>
            </a:r>
            <a:r>
              <a:rPr sz="2400" spc="-33" dirty="0">
                <a:solidFill>
                  <a:srgbClr val="212121"/>
                </a:solidFill>
                <a:latin typeface="Times New Roman"/>
                <a:cs typeface="Times New Roman"/>
              </a:rPr>
              <a:t> </a:t>
            </a:r>
            <a:r>
              <a:rPr sz="2400" dirty="0">
                <a:solidFill>
                  <a:srgbClr val="212121"/>
                </a:solidFill>
                <a:latin typeface="Times New Roman"/>
                <a:cs typeface="Times New Roman"/>
              </a:rPr>
              <a:t>a</a:t>
            </a:r>
            <a:r>
              <a:rPr sz="2400" spc="-33" dirty="0">
                <a:solidFill>
                  <a:srgbClr val="212121"/>
                </a:solidFill>
                <a:latin typeface="Times New Roman"/>
                <a:cs typeface="Times New Roman"/>
              </a:rPr>
              <a:t> </a:t>
            </a:r>
            <a:r>
              <a:rPr sz="2400" spc="-13" dirty="0">
                <a:solidFill>
                  <a:srgbClr val="212121"/>
                </a:solidFill>
                <a:latin typeface="Times New Roman"/>
                <a:cs typeface="Times New Roman"/>
              </a:rPr>
              <a:t>single </a:t>
            </a:r>
            <a:r>
              <a:rPr sz="2400" dirty="0">
                <a:solidFill>
                  <a:srgbClr val="212121"/>
                </a:solidFill>
                <a:latin typeface="Times New Roman"/>
                <a:cs typeface="Times New Roman"/>
              </a:rPr>
              <a:t>ADC</a:t>
            </a:r>
            <a:r>
              <a:rPr sz="2400" spc="-13" dirty="0">
                <a:solidFill>
                  <a:srgbClr val="212121"/>
                </a:solidFill>
                <a:latin typeface="Times New Roman"/>
                <a:cs typeface="Times New Roman"/>
              </a:rPr>
              <a:t> </a:t>
            </a:r>
            <a:r>
              <a:rPr sz="2400" dirty="0">
                <a:solidFill>
                  <a:srgbClr val="212121"/>
                </a:solidFill>
                <a:latin typeface="Times New Roman"/>
                <a:cs typeface="Times New Roman"/>
              </a:rPr>
              <a:t>is</a:t>
            </a:r>
            <a:r>
              <a:rPr sz="2400" spc="-20" dirty="0">
                <a:solidFill>
                  <a:srgbClr val="212121"/>
                </a:solidFill>
                <a:latin typeface="Times New Roman"/>
                <a:cs typeface="Times New Roman"/>
              </a:rPr>
              <a:t> </a:t>
            </a:r>
            <a:r>
              <a:rPr sz="2400" dirty="0">
                <a:solidFill>
                  <a:srgbClr val="212121"/>
                </a:solidFill>
                <a:latin typeface="Times New Roman"/>
                <a:cs typeface="Times New Roman"/>
              </a:rPr>
              <a:t>used,</a:t>
            </a:r>
            <a:r>
              <a:rPr sz="2400" spc="-20" dirty="0">
                <a:solidFill>
                  <a:srgbClr val="212121"/>
                </a:solidFill>
                <a:latin typeface="Times New Roman"/>
                <a:cs typeface="Times New Roman"/>
              </a:rPr>
              <a:t> </a:t>
            </a:r>
            <a:r>
              <a:rPr sz="2400" dirty="0">
                <a:solidFill>
                  <a:srgbClr val="212121"/>
                </a:solidFill>
                <a:latin typeface="Times New Roman"/>
                <a:cs typeface="Times New Roman"/>
              </a:rPr>
              <a:t>a</a:t>
            </a:r>
            <a:r>
              <a:rPr sz="2400" spc="-20" dirty="0">
                <a:solidFill>
                  <a:srgbClr val="212121"/>
                </a:solidFill>
                <a:latin typeface="Times New Roman"/>
                <a:cs typeface="Times New Roman"/>
              </a:rPr>
              <a:t> </a:t>
            </a:r>
            <a:r>
              <a:rPr sz="2400" dirty="0">
                <a:solidFill>
                  <a:srgbClr val="212121"/>
                </a:solidFill>
                <a:latin typeface="Times New Roman"/>
                <a:cs typeface="Times New Roman"/>
              </a:rPr>
              <a:t>multiplexer</a:t>
            </a:r>
            <a:r>
              <a:rPr sz="2400" spc="-47" dirty="0">
                <a:solidFill>
                  <a:srgbClr val="212121"/>
                </a:solidFill>
                <a:latin typeface="Times New Roman"/>
                <a:cs typeface="Times New Roman"/>
              </a:rPr>
              <a:t> </a:t>
            </a:r>
            <a:r>
              <a:rPr sz="2400" dirty="0">
                <a:solidFill>
                  <a:srgbClr val="212121"/>
                </a:solidFill>
                <a:latin typeface="Times New Roman"/>
                <a:cs typeface="Times New Roman"/>
              </a:rPr>
              <a:t>is</a:t>
            </a:r>
            <a:r>
              <a:rPr sz="2400" spc="-13" dirty="0">
                <a:solidFill>
                  <a:srgbClr val="212121"/>
                </a:solidFill>
                <a:latin typeface="Times New Roman"/>
                <a:cs typeface="Times New Roman"/>
              </a:rPr>
              <a:t> </a:t>
            </a:r>
            <a:r>
              <a:rPr sz="2400" dirty="0">
                <a:solidFill>
                  <a:srgbClr val="212121"/>
                </a:solidFill>
                <a:latin typeface="Times New Roman"/>
                <a:cs typeface="Times New Roman"/>
              </a:rPr>
              <a:t>required</a:t>
            </a:r>
            <a:r>
              <a:rPr sz="2400" spc="-47" dirty="0">
                <a:solidFill>
                  <a:srgbClr val="212121"/>
                </a:solidFill>
                <a:latin typeface="Times New Roman"/>
                <a:cs typeface="Times New Roman"/>
              </a:rPr>
              <a:t> </a:t>
            </a:r>
            <a:r>
              <a:rPr sz="2400" dirty="0">
                <a:solidFill>
                  <a:srgbClr val="212121"/>
                </a:solidFill>
                <a:latin typeface="Times New Roman"/>
                <a:cs typeface="Times New Roman"/>
              </a:rPr>
              <a:t>to</a:t>
            </a:r>
            <a:r>
              <a:rPr sz="2400" spc="-33" dirty="0">
                <a:solidFill>
                  <a:srgbClr val="212121"/>
                </a:solidFill>
                <a:latin typeface="Times New Roman"/>
                <a:cs typeface="Times New Roman"/>
              </a:rPr>
              <a:t> </a:t>
            </a:r>
            <a:r>
              <a:rPr sz="2400" dirty="0">
                <a:solidFill>
                  <a:srgbClr val="212121"/>
                </a:solidFill>
                <a:latin typeface="Times New Roman"/>
                <a:cs typeface="Times New Roman"/>
              </a:rPr>
              <a:t>send</a:t>
            </a:r>
            <a:r>
              <a:rPr sz="2400" spc="-7" dirty="0">
                <a:solidFill>
                  <a:srgbClr val="212121"/>
                </a:solidFill>
                <a:latin typeface="Times New Roman"/>
                <a:cs typeface="Times New Roman"/>
              </a:rPr>
              <a:t> </a:t>
            </a:r>
            <a:r>
              <a:rPr sz="2400" dirty="0">
                <a:solidFill>
                  <a:srgbClr val="212121"/>
                </a:solidFill>
                <a:latin typeface="Times New Roman"/>
                <a:cs typeface="Times New Roman"/>
              </a:rPr>
              <a:t>the</a:t>
            </a:r>
            <a:r>
              <a:rPr sz="2400" spc="-27" dirty="0">
                <a:solidFill>
                  <a:srgbClr val="212121"/>
                </a:solidFill>
                <a:latin typeface="Times New Roman"/>
                <a:cs typeface="Times New Roman"/>
              </a:rPr>
              <a:t> </a:t>
            </a:r>
            <a:r>
              <a:rPr sz="2400" dirty="0">
                <a:solidFill>
                  <a:srgbClr val="212121"/>
                </a:solidFill>
                <a:latin typeface="Times New Roman"/>
                <a:cs typeface="Times New Roman"/>
              </a:rPr>
              <a:t>signals</a:t>
            </a:r>
            <a:r>
              <a:rPr sz="2400" spc="-33" dirty="0">
                <a:solidFill>
                  <a:srgbClr val="212121"/>
                </a:solidFill>
                <a:latin typeface="Times New Roman"/>
                <a:cs typeface="Times New Roman"/>
              </a:rPr>
              <a:t> </a:t>
            </a:r>
            <a:r>
              <a:rPr sz="2400" dirty="0">
                <a:solidFill>
                  <a:srgbClr val="212121"/>
                </a:solidFill>
                <a:latin typeface="Times New Roman"/>
                <a:cs typeface="Times New Roman"/>
              </a:rPr>
              <a:t>in</a:t>
            </a:r>
            <a:r>
              <a:rPr sz="2400" spc="-27" dirty="0">
                <a:solidFill>
                  <a:srgbClr val="212121"/>
                </a:solidFill>
                <a:latin typeface="Times New Roman"/>
                <a:cs typeface="Times New Roman"/>
              </a:rPr>
              <a:t> </a:t>
            </a:r>
            <a:r>
              <a:rPr sz="2400" dirty="0">
                <a:solidFill>
                  <a:srgbClr val="212121"/>
                </a:solidFill>
                <a:latin typeface="Times New Roman"/>
                <a:cs typeface="Times New Roman"/>
              </a:rPr>
              <a:t>turn</a:t>
            </a:r>
            <a:r>
              <a:rPr sz="2400" spc="-33" dirty="0">
                <a:solidFill>
                  <a:srgbClr val="212121"/>
                </a:solidFill>
                <a:latin typeface="Times New Roman"/>
                <a:cs typeface="Times New Roman"/>
              </a:rPr>
              <a:t> </a:t>
            </a:r>
            <a:r>
              <a:rPr sz="2400" dirty="0">
                <a:solidFill>
                  <a:srgbClr val="212121"/>
                </a:solidFill>
                <a:latin typeface="Times New Roman"/>
                <a:cs typeface="Times New Roman"/>
              </a:rPr>
              <a:t>to</a:t>
            </a:r>
            <a:r>
              <a:rPr sz="2400" spc="-27" dirty="0">
                <a:solidFill>
                  <a:srgbClr val="212121"/>
                </a:solidFill>
                <a:latin typeface="Times New Roman"/>
                <a:cs typeface="Times New Roman"/>
              </a:rPr>
              <a:t> </a:t>
            </a:r>
            <a:r>
              <a:rPr sz="2400" dirty="0">
                <a:solidFill>
                  <a:srgbClr val="212121"/>
                </a:solidFill>
                <a:latin typeface="Times New Roman"/>
                <a:cs typeface="Times New Roman"/>
              </a:rPr>
              <a:t>the</a:t>
            </a:r>
            <a:r>
              <a:rPr sz="2400" spc="-27" dirty="0">
                <a:solidFill>
                  <a:srgbClr val="212121"/>
                </a:solidFill>
                <a:latin typeface="Times New Roman"/>
                <a:cs typeface="Times New Roman"/>
              </a:rPr>
              <a:t> ADC.</a:t>
            </a:r>
            <a:endParaRPr sz="2400" dirty="0">
              <a:latin typeface="Times New Roman"/>
              <a:cs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20566" y="407225"/>
            <a:ext cx="11153140" cy="5225512"/>
          </a:xfrm>
          <a:prstGeom prst="rect">
            <a:avLst/>
          </a:prstGeom>
        </p:spPr>
        <p:txBody>
          <a:bodyPr vert="horz" wrap="square" lIns="0" tIns="16933" rIns="0" bIns="0" rtlCol="0">
            <a:spAutoFit/>
          </a:bodyPr>
          <a:lstStyle/>
          <a:p>
            <a:pPr marL="16933">
              <a:spcBef>
                <a:spcPts val="133"/>
              </a:spcBef>
            </a:pPr>
            <a:r>
              <a:rPr sz="2400" b="1" spc="-13" dirty="0">
                <a:solidFill>
                  <a:srgbClr val="212121"/>
                </a:solidFill>
                <a:latin typeface="Times New Roman"/>
                <a:cs typeface="Times New Roman"/>
              </a:rPr>
              <a:t>Computation</a:t>
            </a:r>
            <a:endParaRPr sz="2400">
              <a:latin typeface="Times New Roman"/>
              <a:cs typeface="Times New Roman"/>
            </a:endParaRPr>
          </a:p>
          <a:p>
            <a:pPr marL="624824" marR="6773" indent="-456342" algn="just">
              <a:lnSpc>
                <a:spcPct val="114999"/>
              </a:lnSpc>
              <a:spcBef>
                <a:spcPts val="1600"/>
              </a:spcBef>
              <a:buChar char="●"/>
              <a:tabLst>
                <a:tab pos="626518" algn="l"/>
              </a:tabLst>
            </a:pPr>
            <a:r>
              <a:rPr sz="2400" dirty="0">
                <a:solidFill>
                  <a:srgbClr val="212121"/>
                </a:solidFill>
                <a:latin typeface="Times New Roman"/>
                <a:cs typeface="Times New Roman"/>
              </a:rPr>
              <a:t>Computation</a:t>
            </a:r>
            <a:r>
              <a:rPr sz="2400" spc="193" dirty="0">
                <a:solidFill>
                  <a:srgbClr val="212121"/>
                </a:solidFill>
                <a:latin typeface="Times New Roman"/>
                <a:cs typeface="Times New Roman"/>
              </a:rPr>
              <a:t> </a:t>
            </a:r>
            <a:r>
              <a:rPr sz="2400" dirty="0">
                <a:solidFill>
                  <a:srgbClr val="212121"/>
                </a:solidFill>
                <a:latin typeface="Times New Roman"/>
                <a:cs typeface="Times New Roman"/>
              </a:rPr>
              <a:t>requirements</a:t>
            </a:r>
            <a:r>
              <a:rPr sz="2400" spc="187" dirty="0">
                <a:solidFill>
                  <a:srgbClr val="212121"/>
                </a:solidFill>
                <a:latin typeface="Times New Roman"/>
                <a:cs typeface="Times New Roman"/>
              </a:rPr>
              <a:t> </a:t>
            </a:r>
            <a:r>
              <a:rPr sz="2400" dirty="0">
                <a:solidFill>
                  <a:srgbClr val="212121"/>
                </a:solidFill>
                <a:latin typeface="Times New Roman"/>
                <a:cs typeface="Times New Roman"/>
              </a:rPr>
              <a:t>are</a:t>
            </a:r>
            <a:r>
              <a:rPr sz="2400" spc="193" dirty="0">
                <a:solidFill>
                  <a:srgbClr val="212121"/>
                </a:solidFill>
                <a:latin typeface="Times New Roman"/>
                <a:cs typeface="Times New Roman"/>
              </a:rPr>
              <a:t> </a:t>
            </a:r>
            <a:r>
              <a:rPr sz="2400" dirty="0">
                <a:solidFill>
                  <a:srgbClr val="212121"/>
                </a:solidFill>
                <a:latin typeface="Times New Roman"/>
                <a:cs typeface="Times New Roman"/>
              </a:rPr>
              <a:t>split</a:t>
            </a:r>
            <a:r>
              <a:rPr sz="2400" spc="187" dirty="0">
                <a:solidFill>
                  <a:srgbClr val="212121"/>
                </a:solidFill>
                <a:latin typeface="Times New Roman"/>
                <a:cs typeface="Times New Roman"/>
              </a:rPr>
              <a:t> </a:t>
            </a:r>
            <a:r>
              <a:rPr sz="2400" dirty="0">
                <a:solidFill>
                  <a:srgbClr val="212121"/>
                </a:solidFill>
                <a:latin typeface="Times New Roman"/>
                <a:cs typeface="Times New Roman"/>
              </a:rPr>
              <a:t>into</a:t>
            </a:r>
            <a:r>
              <a:rPr sz="2400" spc="187" dirty="0">
                <a:solidFill>
                  <a:srgbClr val="212121"/>
                </a:solidFill>
                <a:latin typeface="Times New Roman"/>
                <a:cs typeface="Times New Roman"/>
              </a:rPr>
              <a:t> </a:t>
            </a:r>
            <a:r>
              <a:rPr sz="2400" dirty="0">
                <a:solidFill>
                  <a:srgbClr val="212121"/>
                </a:solidFill>
                <a:latin typeface="Times New Roman"/>
                <a:cs typeface="Times New Roman"/>
              </a:rPr>
              <a:t>arithmetic</a:t>
            </a:r>
            <a:r>
              <a:rPr sz="2400" spc="207" dirty="0">
                <a:solidFill>
                  <a:srgbClr val="212121"/>
                </a:solidFill>
                <a:latin typeface="Times New Roman"/>
                <a:cs typeface="Times New Roman"/>
              </a:rPr>
              <a:t> </a:t>
            </a:r>
            <a:r>
              <a:rPr sz="2400" dirty="0">
                <a:solidFill>
                  <a:srgbClr val="212121"/>
                </a:solidFill>
                <a:latin typeface="Times New Roman"/>
                <a:cs typeface="Times New Roman"/>
              </a:rPr>
              <a:t>operations</a:t>
            </a:r>
            <a:r>
              <a:rPr sz="2400" spc="200" dirty="0">
                <a:solidFill>
                  <a:srgbClr val="212121"/>
                </a:solidFill>
                <a:latin typeface="Times New Roman"/>
                <a:cs typeface="Times New Roman"/>
              </a:rPr>
              <a:t> </a:t>
            </a:r>
            <a:r>
              <a:rPr sz="2400" dirty="0">
                <a:solidFill>
                  <a:srgbClr val="212121"/>
                </a:solidFill>
                <a:latin typeface="Times New Roman"/>
                <a:cs typeface="Times New Roman"/>
              </a:rPr>
              <a:t>on</a:t>
            </a:r>
            <a:r>
              <a:rPr sz="2400" spc="193" dirty="0">
                <a:solidFill>
                  <a:srgbClr val="212121"/>
                </a:solidFill>
                <a:latin typeface="Times New Roman"/>
                <a:cs typeface="Times New Roman"/>
              </a:rPr>
              <a:t> </a:t>
            </a:r>
            <a:r>
              <a:rPr sz="2400" dirty="0">
                <a:solidFill>
                  <a:srgbClr val="212121"/>
                </a:solidFill>
                <a:latin typeface="Times New Roman"/>
                <a:cs typeface="Times New Roman"/>
              </a:rPr>
              <a:t>input</a:t>
            </a:r>
            <a:r>
              <a:rPr sz="2400" spc="207" dirty="0">
                <a:solidFill>
                  <a:srgbClr val="212121"/>
                </a:solidFill>
                <a:latin typeface="Times New Roman"/>
                <a:cs typeface="Times New Roman"/>
              </a:rPr>
              <a:t> </a:t>
            </a:r>
            <a:r>
              <a:rPr sz="2400" dirty="0">
                <a:solidFill>
                  <a:srgbClr val="212121"/>
                </a:solidFill>
                <a:latin typeface="Times New Roman"/>
                <a:cs typeface="Times New Roman"/>
              </a:rPr>
              <a:t>signals,</a:t>
            </a:r>
            <a:r>
              <a:rPr sz="2400" spc="167" dirty="0">
                <a:solidFill>
                  <a:srgbClr val="212121"/>
                </a:solidFill>
                <a:latin typeface="Times New Roman"/>
                <a:cs typeface="Times New Roman"/>
              </a:rPr>
              <a:t> </a:t>
            </a:r>
            <a:r>
              <a:rPr sz="2400" spc="-27" dirty="0">
                <a:solidFill>
                  <a:srgbClr val="212121"/>
                </a:solidFill>
                <a:latin typeface="Times New Roman"/>
                <a:cs typeface="Times New Roman"/>
              </a:rPr>
              <a:t>time 	</a:t>
            </a:r>
            <a:r>
              <a:rPr sz="2400" dirty="0">
                <a:solidFill>
                  <a:srgbClr val="212121"/>
                </a:solidFill>
                <a:latin typeface="Times New Roman"/>
                <a:cs typeface="Times New Roman"/>
              </a:rPr>
              <a:t>stamping</a:t>
            </a:r>
            <a:r>
              <a:rPr sz="2400" spc="47" dirty="0">
                <a:solidFill>
                  <a:srgbClr val="212121"/>
                </a:solidFill>
                <a:latin typeface="Times New Roman"/>
                <a:cs typeface="Times New Roman"/>
              </a:rPr>
              <a:t>  </a:t>
            </a:r>
            <a:r>
              <a:rPr sz="2400" dirty="0">
                <a:solidFill>
                  <a:srgbClr val="212121"/>
                </a:solidFill>
                <a:latin typeface="Times New Roman"/>
                <a:cs typeface="Times New Roman"/>
              </a:rPr>
              <a:t>of</a:t>
            </a:r>
            <a:r>
              <a:rPr sz="2400" spc="47" dirty="0">
                <a:solidFill>
                  <a:srgbClr val="212121"/>
                </a:solidFill>
                <a:latin typeface="Times New Roman"/>
                <a:cs typeface="Times New Roman"/>
              </a:rPr>
              <a:t>  </a:t>
            </a:r>
            <a:r>
              <a:rPr sz="2400" dirty="0">
                <a:solidFill>
                  <a:srgbClr val="212121"/>
                </a:solidFill>
                <a:latin typeface="Times New Roman"/>
                <a:cs typeface="Times New Roman"/>
              </a:rPr>
              <a:t>data,</a:t>
            </a:r>
            <a:r>
              <a:rPr sz="2400" spc="47" dirty="0">
                <a:solidFill>
                  <a:srgbClr val="212121"/>
                </a:solidFill>
                <a:latin typeface="Times New Roman"/>
                <a:cs typeface="Times New Roman"/>
              </a:rPr>
              <a:t>  </a:t>
            </a:r>
            <a:r>
              <a:rPr sz="2400" dirty="0">
                <a:solidFill>
                  <a:srgbClr val="212121"/>
                </a:solidFill>
                <a:latin typeface="Times New Roman"/>
                <a:cs typeface="Times New Roman"/>
              </a:rPr>
              <a:t>preparation</a:t>
            </a:r>
            <a:r>
              <a:rPr sz="2400" spc="40" dirty="0">
                <a:solidFill>
                  <a:srgbClr val="212121"/>
                </a:solidFill>
                <a:latin typeface="Times New Roman"/>
                <a:cs typeface="Times New Roman"/>
              </a:rPr>
              <a:t>  </a:t>
            </a:r>
            <a:r>
              <a:rPr sz="2400" dirty="0">
                <a:solidFill>
                  <a:srgbClr val="212121"/>
                </a:solidFill>
                <a:latin typeface="Times New Roman"/>
                <a:cs typeface="Times New Roman"/>
              </a:rPr>
              <a:t>of</a:t>
            </a:r>
            <a:r>
              <a:rPr sz="2400" spc="47" dirty="0">
                <a:solidFill>
                  <a:srgbClr val="212121"/>
                </a:solidFill>
                <a:latin typeface="Times New Roman"/>
                <a:cs typeface="Times New Roman"/>
              </a:rPr>
              <a:t>  </a:t>
            </a:r>
            <a:r>
              <a:rPr sz="2400" dirty="0">
                <a:solidFill>
                  <a:srgbClr val="212121"/>
                </a:solidFill>
                <a:latin typeface="Times New Roman"/>
                <a:cs typeface="Times New Roman"/>
              </a:rPr>
              <a:t>data</a:t>
            </a:r>
            <a:r>
              <a:rPr sz="2400" spc="47" dirty="0">
                <a:solidFill>
                  <a:srgbClr val="212121"/>
                </a:solidFill>
                <a:latin typeface="Times New Roman"/>
                <a:cs typeface="Times New Roman"/>
              </a:rPr>
              <a:t>  </a:t>
            </a:r>
            <a:r>
              <a:rPr sz="2400" dirty="0">
                <a:solidFill>
                  <a:srgbClr val="212121"/>
                </a:solidFill>
                <a:latin typeface="Times New Roman"/>
                <a:cs typeface="Times New Roman"/>
              </a:rPr>
              <a:t>for</a:t>
            </a:r>
            <a:r>
              <a:rPr sz="2400" spc="40" dirty="0">
                <a:solidFill>
                  <a:srgbClr val="212121"/>
                </a:solidFill>
                <a:latin typeface="Times New Roman"/>
                <a:cs typeface="Times New Roman"/>
              </a:rPr>
              <a:t>  </a:t>
            </a:r>
            <a:r>
              <a:rPr sz="2400" dirty="0">
                <a:solidFill>
                  <a:srgbClr val="212121"/>
                </a:solidFill>
                <a:latin typeface="Times New Roman"/>
                <a:cs typeface="Times New Roman"/>
              </a:rPr>
              <a:t>communication</a:t>
            </a:r>
            <a:r>
              <a:rPr sz="2400" spc="47" dirty="0">
                <a:solidFill>
                  <a:srgbClr val="212121"/>
                </a:solidFill>
                <a:latin typeface="Times New Roman"/>
                <a:cs typeface="Times New Roman"/>
              </a:rPr>
              <a:t>  </a:t>
            </a:r>
            <a:r>
              <a:rPr sz="2400" dirty="0">
                <a:solidFill>
                  <a:srgbClr val="212121"/>
                </a:solidFill>
                <a:latin typeface="Times New Roman"/>
                <a:cs typeface="Times New Roman"/>
              </a:rPr>
              <a:t>or</a:t>
            </a:r>
            <a:r>
              <a:rPr sz="2400" spc="47" dirty="0">
                <a:solidFill>
                  <a:srgbClr val="212121"/>
                </a:solidFill>
                <a:latin typeface="Times New Roman"/>
                <a:cs typeface="Times New Roman"/>
              </a:rPr>
              <a:t>  </a:t>
            </a:r>
            <a:r>
              <a:rPr sz="2400" dirty="0">
                <a:solidFill>
                  <a:srgbClr val="212121"/>
                </a:solidFill>
                <a:latin typeface="Times New Roman"/>
                <a:cs typeface="Times New Roman"/>
              </a:rPr>
              <a:t>output</a:t>
            </a:r>
            <a:r>
              <a:rPr sz="2400" spc="47" dirty="0">
                <a:solidFill>
                  <a:srgbClr val="212121"/>
                </a:solidFill>
                <a:latin typeface="Times New Roman"/>
                <a:cs typeface="Times New Roman"/>
              </a:rPr>
              <a:t>  </a:t>
            </a:r>
            <a:r>
              <a:rPr sz="2400" spc="-13" dirty="0">
                <a:solidFill>
                  <a:srgbClr val="212121"/>
                </a:solidFill>
                <a:latin typeface="Times New Roman"/>
                <a:cs typeface="Times New Roman"/>
              </a:rPr>
              <a:t>peripherals, 	</a:t>
            </a:r>
            <a:r>
              <a:rPr sz="2400" dirty="0">
                <a:solidFill>
                  <a:srgbClr val="212121"/>
                </a:solidFill>
                <a:latin typeface="Times New Roman"/>
                <a:cs typeface="Times New Roman"/>
              </a:rPr>
              <a:t>handling</a:t>
            </a:r>
            <a:r>
              <a:rPr sz="2400" spc="127" dirty="0">
                <a:solidFill>
                  <a:srgbClr val="212121"/>
                </a:solidFill>
                <a:latin typeface="Times New Roman"/>
                <a:cs typeface="Times New Roman"/>
              </a:rPr>
              <a:t> </a:t>
            </a:r>
            <a:r>
              <a:rPr sz="2400" dirty="0">
                <a:solidFill>
                  <a:srgbClr val="212121"/>
                </a:solidFill>
                <a:latin typeface="Times New Roman"/>
                <a:cs typeface="Times New Roman"/>
              </a:rPr>
              <a:t>of</a:t>
            </a:r>
            <a:r>
              <a:rPr sz="2400" spc="127" dirty="0">
                <a:solidFill>
                  <a:srgbClr val="212121"/>
                </a:solidFill>
                <a:latin typeface="Times New Roman"/>
                <a:cs typeface="Times New Roman"/>
              </a:rPr>
              <a:t> </a:t>
            </a:r>
            <a:r>
              <a:rPr sz="2400" dirty="0">
                <a:solidFill>
                  <a:srgbClr val="212121"/>
                </a:solidFill>
                <a:latin typeface="Times New Roman"/>
                <a:cs typeface="Times New Roman"/>
              </a:rPr>
              <a:t>routines</a:t>
            </a:r>
            <a:r>
              <a:rPr sz="2400" spc="127" dirty="0">
                <a:solidFill>
                  <a:srgbClr val="212121"/>
                </a:solidFill>
                <a:latin typeface="Times New Roman"/>
                <a:cs typeface="Times New Roman"/>
              </a:rPr>
              <a:t> </a:t>
            </a:r>
            <a:r>
              <a:rPr sz="2400" dirty="0">
                <a:solidFill>
                  <a:srgbClr val="212121"/>
                </a:solidFill>
                <a:latin typeface="Times New Roman"/>
                <a:cs typeface="Times New Roman"/>
              </a:rPr>
              <a:t>associated</a:t>
            </a:r>
            <a:r>
              <a:rPr sz="2400" spc="100" dirty="0">
                <a:solidFill>
                  <a:srgbClr val="212121"/>
                </a:solidFill>
                <a:latin typeface="Times New Roman"/>
                <a:cs typeface="Times New Roman"/>
              </a:rPr>
              <a:t> </a:t>
            </a:r>
            <a:r>
              <a:rPr sz="2400" dirty="0">
                <a:solidFill>
                  <a:srgbClr val="212121"/>
                </a:solidFill>
                <a:latin typeface="Times New Roman"/>
                <a:cs typeface="Times New Roman"/>
              </a:rPr>
              <a:t>with</a:t>
            </a:r>
            <a:r>
              <a:rPr sz="2400" spc="133" dirty="0">
                <a:solidFill>
                  <a:srgbClr val="212121"/>
                </a:solidFill>
                <a:latin typeface="Times New Roman"/>
                <a:cs typeface="Times New Roman"/>
              </a:rPr>
              <a:t> </a:t>
            </a:r>
            <a:r>
              <a:rPr sz="2400" dirty="0">
                <a:solidFill>
                  <a:srgbClr val="212121"/>
                </a:solidFill>
                <a:latin typeface="Times New Roman"/>
                <a:cs typeface="Times New Roman"/>
              </a:rPr>
              <a:t>irregular</a:t>
            </a:r>
            <a:r>
              <a:rPr sz="2400" spc="120" dirty="0">
                <a:solidFill>
                  <a:srgbClr val="212121"/>
                </a:solidFill>
                <a:latin typeface="Times New Roman"/>
                <a:cs typeface="Times New Roman"/>
              </a:rPr>
              <a:t> </a:t>
            </a:r>
            <a:r>
              <a:rPr sz="2400" dirty="0">
                <a:solidFill>
                  <a:srgbClr val="212121"/>
                </a:solidFill>
                <a:latin typeface="Times New Roman"/>
                <a:cs typeface="Times New Roman"/>
              </a:rPr>
              <a:t>input</a:t>
            </a:r>
            <a:r>
              <a:rPr sz="2400" spc="133" dirty="0">
                <a:solidFill>
                  <a:srgbClr val="212121"/>
                </a:solidFill>
                <a:latin typeface="Times New Roman"/>
                <a:cs typeface="Times New Roman"/>
              </a:rPr>
              <a:t> </a:t>
            </a:r>
            <a:r>
              <a:rPr sz="2400" dirty="0">
                <a:solidFill>
                  <a:srgbClr val="212121"/>
                </a:solidFill>
                <a:latin typeface="Times New Roman"/>
                <a:cs typeface="Times New Roman"/>
              </a:rPr>
              <a:t>,</a:t>
            </a:r>
            <a:r>
              <a:rPr sz="2400" spc="127" dirty="0">
                <a:solidFill>
                  <a:srgbClr val="212121"/>
                </a:solidFill>
                <a:latin typeface="Times New Roman"/>
                <a:cs typeface="Times New Roman"/>
              </a:rPr>
              <a:t> </a:t>
            </a:r>
            <a:r>
              <a:rPr sz="2400" dirty="0">
                <a:solidFill>
                  <a:srgbClr val="212121"/>
                </a:solidFill>
                <a:latin typeface="Times New Roman"/>
                <a:cs typeface="Times New Roman"/>
              </a:rPr>
              <a:t>storage</a:t>
            </a:r>
            <a:r>
              <a:rPr sz="2400" spc="120" dirty="0">
                <a:solidFill>
                  <a:srgbClr val="212121"/>
                </a:solidFill>
                <a:latin typeface="Times New Roman"/>
                <a:cs typeface="Times New Roman"/>
              </a:rPr>
              <a:t> </a:t>
            </a:r>
            <a:r>
              <a:rPr sz="2400" dirty="0">
                <a:solidFill>
                  <a:srgbClr val="212121"/>
                </a:solidFill>
                <a:latin typeface="Times New Roman"/>
                <a:cs typeface="Times New Roman"/>
              </a:rPr>
              <a:t>of</a:t>
            </a:r>
            <a:r>
              <a:rPr sz="2400" spc="120" dirty="0">
                <a:solidFill>
                  <a:srgbClr val="212121"/>
                </a:solidFill>
                <a:latin typeface="Times New Roman"/>
                <a:cs typeface="Times New Roman"/>
              </a:rPr>
              <a:t> </a:t>
            </a:r>
            <a:r>
              <a:rPr sz="2400" dirty="0">
                <a:solidFill>
                  <a:srgbClr val="212121"/>
                </a:solidFill>
                <a:latin typeface="Times New Roman"/>
                <a:cs typeface="Times New Roman"/>
              </a:rPr>
              <a:t>data,</a:t>
            </a:r>
            <a:r>
              <a:rPr sz="2400" spc="140" dirty="0">
                <a:solidFill>
                  <a:srgbClr val="212121"/>
                </a:solidFill>
                <a:latin typeface="Times New Roman"/>
                <a:cs typeface="Times New Roman"/>
              </a:rPr>
              <a:t> </a:t>
            </a:r>
            <a:r>
              <a:rPr sz="2400" dirty="0">
                <a:solidFill>
                  <a:srgbClr val="212121"/>
                </a:solidFill>
                <a:latin typeface="Times New Roman"/>
                <a:cs typeface="Times New Roman"/>
              </a:rPr>
              <a:t>system</a:t>
            </a:r>
            <a:r>
              <a:rPr sz="2400" spc="120" dirty="0">
                <a:solidFill>
                  <a:srgbClr val="212121"/>
                </a:solidFill>
                <a:latin typeface="Times New Roman"/>
                <a:cs typeface="Times New Roman"/>
              </a:rPr>
              <a:t> </a:t>
            </a:r>
            <a:r>
              <a:rPr sz="2400" spc="-13" dirty="0">
                <a:solidFill>
                  <a:srgbClr val="212121"/>
                </a:solidFill>
                <a:latin typeface="Times New Roman"/>
                <a:cs typeface="Times New Roman"/>
              </a:rPr>
              <a:t>updates 	</a:t>
            </a:r>
            <a:r>
              <a:rPr sz="2400" dirty="0">
                <a:solidFill>
                  <a:srgbClr val="212121"/>
                </a:solidFill>
                <a:latin typeface="Times New Roman"/>
                <a:cs typeface="Times New Roman"/>
              </a:rPr>
              <a:t>and</a:t>
            </a:r>
            <a:r>
              <a:rPr sz="2400" spc="-53" dirty="0">
                <a:solidFill>
                  <a:srgbClr val="212121"/>
                </a:solidFill>
                <a:latin typeface="Times New Roman"/>
                <a:cs typeface="Times New Roman"/>
              </a:rPr>
              <a:t> </a:t>
            </a:r>
            <a:r>
              <a:rPr sz="2400" dirty="0">
                <a:solidFill>
                  <a:srgbClr val="212121"/>
                </a:solidFill>
                <a:latin typeface="Times New Roman"/>
                <a:cs typeface="Times New Roman"/>
              </a:rPr>
              <a:t>coordinating</a:t>
            </a:r>
            <a:r>
              <a:rPr sz="2400" spc="-60" dirty="0">
                <a:solidFill>
                  <a:srgbClr val="212121"/>
                </a:solidFill>
                <a:latin typeface="Times New Roman"/>
                <a:cs typeface="Times New Roman"/>
              </a:rPr>
              <a:t> </a:t>
            </a:r>
            <a:r>
              <a:rPr sz="2400" dirty="0">
                <a:solidFill>
                  <a:srgbClr val="212121"/>
                </a:solidFill>
                <a:latin typeface="Times New Roman"/>
                <a:cs typeface="Times New Roman"/>
              </a:rPr>
              <a:t>different</a:t>
            </a:r>
            <a:r>
              <a:rPr sz="2400" spc="-53" dirty="0">
                <a:solidFill>
                  <a:srgbClr val="212121"/>
                </a:solidFill>
                <a:latin typeface="Times New Roman"/>
                <a:cs typeface="Times New Roman"/>
              </a:rPr>
              <a:t> </a:t>
            </a:r>
            <a:r>
              <a:rPr sz="2400" spc="-13" dirty="0">
                <a:solidFill>
                  <a:srgbClr val="212121"/>
                </a:solidFill>
                <a:latin typeface="Times New Roman"/>
                <a:cs typeface="Times New Roman"/>
              </a:rPr>
              <a:t>functions</a:t>
            </a:r>
            <a:endParaRPr sz="2400">
              <a:latin typeface="Times New Roman"/>
              <a:cs typeface="Times New Roman"/>
            </a:endParaRPr>
          </a:p>
          <a:p>
            <a:pPr marL="625671" marR="6773" indent="-457189" algn="just">
              <a:lnSpc>
                <a:spcPct val="114999"/>
              </a:lnSpc>
              <a:buChar char="●"/>
              <a:tabLst>
                <a:tab pos="625671" algn="l"/>
              </a:tabLst>
            </a:pPr>
            <a:r>
              <a:rPr sz="2400" dirty="0">
                <a:solidFill>
                  <a:srgbClr val="212121"/>
                </a:solidFill>
                <a:latin typeface="Times New Roman"/>
                <a:cs typeface="Times New Roman"/>
              </a:rPr>
              <a:t>Due</a:t>
            </a:r>
            <a:r>
              <a:rPr sz="2400" spc="-7" dirty="0">
                <a:solidFill>
                  <a:srgbClr val="212121"/>
                </a:solidFill>
                <a:latin typeface="Times New Roman"/>
                <a:cs typeface="Times New Roman"/>
              </a:rPr>
              <a:t> </a:t>
            </a:r>
            <a:r>
              <a:rPr sz="2400" dirty="0">
                <a:solidFill>
                  <a:srgbClr val="212121"/>
                </a:solidFill>
                <a:latin typeface="Times New Roman"/>
                <a:cs typeface="Times New Roman"/>
              </a:rPr>
              <a:t>to</a:t>
            </a:r>
            <a:r>
              <a:rPr sz="2400" spc="-20" dirty="0">
                <a:solidFill>
                  <a:srgbClr val="212121"/>
                </a:solidFill>
                <a:latin typeface="Times New Roman"/>
                <a:cs typeface="Times New Roman"/>
              </a:rPr>
              <a:t> </a:t>
            </a:r>
            <a:r>
              <a:rPr sz="2400" dirty="0">
                <a:solidFill>
                  <a:srgbClr val="212121"/>
                </a:solidFill>
                <a:latin typeface="Times New Roman"/>
                <a:cs typeface="Times New Roman"/>
              </a:rPr>
              <a:t>the</a:t>
            </a:r>
            <a:r>
              <a:rPr sz="2400" spc="7" dirty="0">
                <a:solidFill>
                  <a:srgbClr val="212121"/>
                </a:solidFill>
                <a:latin typeface="Times New Roman"/>
                <a:cs typeface="Times New Roman"/>
              </a:rPr>
              <a:t> </a:t>
            </a:r>
            <a:r>
              <a:rPr sz="2400" dirty="0">
                <a:solidFill>
                  <a:srgbClr val="212121"/>
                </a:solidFill>
                <a:latin typeface="Times New Roman"/>
                <a:cs typeface="Times New Roman"/>
              </a:rPr>
              <a:t>relatively</a:t>
            </a:r>
            <a:r>
              <a:rPr sz="2400" spc="-7" dirty="0">
                <a:solidFill>
                  <a:srgbClr val="212121"/>
                </a:solidFill>
                <a:latin typeface="Times New Roman"/>
                <a:cs typeface="Times New Roman"/>
              </a:rPr>
              <a:t> </a:t>
            </a:r>
            <a:r>
              <a:rPr sz="2400" dirty="0">
                <a:solidFill>
                  <a:srgbClr val="212121"/>
                </a:solidFill>
                <a:latin typeface="Times New Roman"/>
                <a:cs typeface="Times New Roman"/>
              </a:rPr>
              <a:t>large</a:t>
            </a:r>
            <a:r>
              <a:rPr sz="2400" spc="-20" dirty="0">
                <a:solidFill>
                  <a:srgbClr val="212121"/>
                </a:solidFill>
                <a:latin typeface="Times New Roman"/>
                <a:cs typeface="Times New Roman"/>
              </a:rPr>
              <a:t> </a:t>
            </a:r>
            <a:r>
              <a:rPr sz="2400" dirty="0">
                <a:solidFill>
                  <a:srgbClr val="212121"/>
                </a:solidFill>
                <a:latin typeface="Times New Roman"/>
                <a:cs typeface="Times New Roman"/>
              </a:rPr>
              <a:t>number</a:t>
            </a:r>
            <a:r>
              <a:rPr sz="2400" spc="-7" dirty="0">
                <a:solidFill>
                  <a:srgbClr val="212121"/>
                </a:solidFill>
                <a:latin typeface="Times New Roman"/>
                <a:cs typeface="Times New Roman"/>
              </a:rPr>
              <a:t> </a:t>
            </a:r>
            <a:r>
              <a:rPr sz="2400" dirty="0">
                <a:solidFill>
                  <a:srgbClr val="212121"/>
                </a:solidFill>
                <a:latin typeface="Times New Roman"/>
                <a:cs typeface="Times New Roman"/>
              </a:rPr>
              <a:t>of</a:t>
            </a:r>
            <a:r>
              <a:rPr sz="2400" spc="-20" dirty="0">
                <a:solidFill>
                  <a:srgbClr val="212121"/>
                </a:solidFill>
                <a:latin typeface="Times New Roman"/>
                <a:cs typeface="Times New Roman"/>
              </a:rPr>
              <a:t> </a:t>
            </a:r>
            <a:r>
              <a:rPr sz="2400" dirty="0">
                <a:solidFill>
                  <a:srgbClr val="212121"/>
                </a:solidFill>
                <a:latin typeface="Times New Roman"/>
                <a:cs typeface="Times New Roman"/>
              </a:rPr>
              <a:t>arithmetic</a:t>
            </a:r>
            <a:r>
              <a:rPr sz="2400" spc="-13" dirty="0">
                <a:solidFill>
                  <a:srgbClr val="212121"/>
                </a:solidFill>
                <a:latin typeface="Times New Roman"/>
                <a:cs typeface="Times New Roman"/>
              </a:rPr>
              <a:t> </a:t>
            </a:r>
            <a:r>
              <a:rPr sz="2400" dirty="0">
                <a:solidFill>
                  <a:srgbClr val="212121"/>
                </a:solidFill>
                <a:latin typeface="Times New Roman"/>
                <a:cs typeface="Times New Roman"/>
              </a:rPr>
              <a:t>operations</a:t>
            </a:r>
            <a:r>
              <a:rPr sz="2400" spc="-27" dirty="0">
                <a:solidFill>
                  <a:srgbClr val="212121"/>
                </a:solidFill>
                <a:latin typeface="Times New Roman"/>
                <a:cs typeface="Times New Roman"/>
              </a:rPr>
              <a:t> </a:t>
            </a:r>
            <a:r>
              <a:rPr sz="2400" dirty="0">
                <a:solidFill>
                  <a:srgbClr val="212121"/>
                </a:solidFill>
                <a:latin typeface="Times New Roman"/>
                <a:cs typeface="Times New Roman"/>
              </a:rPr>
              <a:t>required</a:t>
            </a:r>
            <a:r>
              <a:rPr sz="2400" spc="-7" dirty="0">
                <a:solidFill>
                  <a:srgbClr val="212121"/>
                </a:solidFill>
                <a:latin typeface="Times New Roman"/>
                <a:cs typeface="Times New Roman"/>
              </a:rPr>
              <a:t> </a:t>
            </a:r>
            <a:r>
              <a:rPr sz="2400" dirty="0">
                <a:solidFill>
                  <a:srgbClr val="212121"/>
                </a:solidFill>
                <a:latin typeface="Times New Roman"/>
                <a:cs typeface="Times New Roman"/>
              </a:rPr>
              <a:t>for</a:t>
            </a:r>
            <a:r>
              <a:rPr sz="2400" spc="-20" dirty="0">
                <a:solidFill>
                  <a:srgbClr val="212121"/>
                </a:solidFill>
                <a:latin typeface="Times New Roman"/>
                <a:cs typeface="Times New Roman"/>
              </a:rPr>
              <a:t> </a:t>
            </a:r>
            <a:r>
              <a:rPr sz="2400" dirty="0">
                <a:solidFill>
                  <a:srgbClr val="212121"/>
                </a:solidFill>
                <a:latin typeface="Times New Roman"/>
                <a:cs typeface="Times New Roman"/>
              </a:rPr>
              <a:t>the </a:t>
            </a:r>
            <a:r>
              <a:rPr sz="2400" spc="-13" dirty="0">
                <a:solidFill>
                  <a:srgbClr val="212121"/>
                </a:solidFill>
                <a:latin typeface="Times New Roman"/>
                <a:cs typeface="Times New Roman"/>
              </a:rPr>
              <a:t>derivation </a:t>
            </a:r>
            <a:r>
              <a:rPr sz="2400" dirty="0">
                <a:solidFill>
                  <a:srgbClr val="212121"/>
                </a:solidFill>
                <a:latin typeface="Times New Roman"/>
                <a:cs typeface="Times New Roman"/>
              </a:rPr>
              <a:t>of</a:t>
            </a:r>
            <a:r>
              <a:rPr sz="2400" spc="-53" dirty="0">
                <a:solidFill>
                  <a:srgbClr val="212121"/>
                </a:solidFill>
                <a:latin typeface="Times New Roman"/>
                <a:cs typeface="Times New Roman"/>
              </a:rPr>
              <a:t> </a:t>
            </a:r>
            <a:r>
              <a:rPr sz="2400" dirty="0">
                <a:solidFill>
                  <a:srgbClr val="212121"/>
                </a:solidFill>
                <a:latin typeface="Times New Roman"/>
                <a:cs typeface="Times New Roman"/>
              </a:rPr>
              <a:t>the</a:t>
            </a:r>
            <a:r>
              <a:rPr sz="2400" spc="-40" dirty="0">
                <a:solidFill>
                  <a:srgbClr val="212121"/>
                </a:solidFill>
                <a:latin typeface="Times New Roman"/>
                <a:cs typeface="Times New Roman"/>
              </a:rPr>
              <a:t> </a:t>
            </a:r>
            <a:r>
              <a:rPr sz="2400" dirty="0">
                <a:solidFill>
                  <a:srgbClr val="212121"/>
                </a:solidFill>
                <a:latin typeface="Times New Roman"/>
                <a:cs typeface="Times New Roman"/>
              </a:rPr>
              <a:t>parameters,</a:t>
            </a:r>
            <a:r>
              <a:rPr sz="2400" spc="-47" dirty="0">
                <a:solidFill>
                  <a:srgbClr val="212121"/>
                </a:solidFill>
                <a:latin typeface="Times New Roman"/>
                <a:cs typeface="Times New Roman"/>
              </a:rPr>
              <a:t> </a:t>
            </a:r>
            <a:r>
              <a:rPr sz="2400" dirty="0">
                <a:solidFill>
                  <a:srgbClr val="212121"/>
                </a:solidFill>
                <a:latin typeface="Times New Roman"/>
                <a:cs typeface="Times New Roman"/>
              </a:rPr>
              <a:t>a</a:t>
            </a:r>
            <a:r>
              <a:rPr sz="2400" spc="-40" dirty="0">
                <a:solidFill>
                  <a:srgbClr val="212121"/>
                </a:solidFill>
                <a:latin typeface="Times New Roman"/>
                <a:cs typeface="Times New Roman"/>
              </a:rPr>
              <a:t> </a:t>
            </a:r>
            <a:r>
              <a:rPr sz="2400" dirty="0">
                <a:solidFill>
                  <a:srgbClr val="212121"/>
                </a:solidFill>
                <a:latin typeface="Times New Roman"/>
                <a:cs typeface="Times New Roman"/>
              </a:rPr>
              <a:t>Digital</a:t>
            </a:r>
            <a:r>
              <a:rPr sz="2400" spc="-60" dirty="0">
                <a:solidFill>
                  <a:srgbClr val="212121"/>
                </a:solidFill>
                <a:latin typeface="Times New Roman"/>
                <a:cs typeface="Times New Roman"/>
              </a:rPr>
              <a:t> </a:t>
            </a:r>
            <a:r>
              <a:rPr sz="2400" dirty="0">
                <a:solidFill>
                  <a:srgbClr val="212121"/>
                </a:solidFill>
                <a:latin typeface="Times New Roman"/>
                <a:cs typeface="Times New Roman"/>
              </a:rPr>
              <a:t>Signal</a:t>
            </a:r>
            <a:r>
              <a:rPr sz="2400" spc="-40" dirty="0">
                <a:solidFill>
                  <a:srgbClr val="212121"/>
                </a:solidFill>
                <a:latin typeface="Times New Roman"/>
                <a:cs typeface="Times New Roman"/>
              </a:rPr>
              <a:t> </a:t>
            </a:r>
            <a:r>
              <a:rPr sz="2400" dirty="0">
                <a:solidFill>
                  <a:srgbClr val="212121"/>
                </a:solidFill>
                <a:latin typeface="Times New Roman"/>
                <a:cs typeface="Times New Roman"/>
              </a:rPr>
              <a:t>Processor</a:t>
            </a:r>
            <a:r>
              <a:rPr sz="2400" spc="-33" dirty="0">
                <a:solidFill>
                  <a:srgbClr val="212121"/>
                </a:solidFill>
                <a:latin typeface="Times New Roman"/>
                <a:cs typeface="Times New Roman"/>
              </a:rPr>
              <a:t> </a:t>
            </a:r>
            <a:r>
              <a:rPr sz="2400" dirty="0">
                <a:solidFill>
                  <a:srgbClr val="212121"/>
                </a:solidFill>
                <a:latin typeface="Times New Roman"/>
                <a:cs typeface="Times New Roman"/>
              </a:rPr>
              <a:t>(DSP)</a:t>
            </a:r>
            <a:r>
              <a:rPr sz="2400" spc="-27" dirty="0">
                <a:solidFill>
                  <a:srgbClr val="212121"/>
                </a:solidFill>
                <a:latin typeface="Times New Roman"/>
                <a:cs typeface="Times New Roman"/>
              </a:rPr>
              <a:t> </a:t>
            </a:r>
            <a:r>
              <a:rPr sz="2400" dirty="0">
                <a:solidFill>
                  <a:srgbClr val="212121"/>
                </a:solidFill>
                <a:latin typeface="Times New Roman"/>
                <a:cs typeface="Times New Roman"/>
              </a:rPr>
              <a:t>is</a:t>
            </a:r>
            <a:r>
              <a:rPr sz="2400" spc="-40" dirty="0">
                <a:solidFill>
                  <a:srgbClr val="212121"/>
                </a:solidFill>
                <a:latin typeface="Times New Roman"/>
                <a:cs typeface="Times New Roman"/>
              </a:rPr>
              <a:t> </a:t>
            </a:r>
            <a:r>
              <a:rPr sz="2400" spc="-13" dirty="0">
                <a:solidFill>
                  <a:srgbClr val="212121"/>
                </a:solidFill>
                <a:latin typeface="Times New Roman"/>
                <a:cs typeface="Times New Roman"/>
              </a:rPr>
              <a:t>used.</a:t>
            </a:r>
            <a:endParaRPr sz="2400">
              <a:latin typeface="Times New Roman"/>
              <a:cs typeface="Times New Roman"/>
            </a:endParaRPr>
          </a:p>
          <a:p>
            <a:pPr marL="625671" indent="-456342" algn="just">
              <a:spcBef>
                <a:spcPts val="427"/>
              </a:spcBef>
              <a:buChar char="●"/>
              <a:tabLst>
                <a:tab pos="625671" algn="l"/>
              </a:tabLst>
            </a:pPr>
            <a:r>
              <a:rPr sz="2400" dirty="0">
                <a:solidFill>
                  <a:srgbClr val="212121"/>
                </a:solidFill>
                <a:latin typeface="Times New Roman"/>
                <a:cs typeface="Times New Roman"/>
              </a:rPr>
              <a:t>For</a:t>
            </a:r>
            <a:r>
              <a:rPr sz="2400" spc="-20" dirty="0">
                <a:solidFill>
                  <a:srgbClr val="212121"/>
                </a:solidFill>
                <a:latin typeface="Times New Roman"/>
                <a:cs typeface="Times New Roman"/>
              </a:rPr>
              <a:t> </a:t>
            </a:r>
            <a:r>
              <a:rPr sz="2400" dirty="0">
                <a:solidFill>
                  <a:srgbClr val="212121"/>
                </a:solidFill>
                <a:latin typeface="Times New Roman"/>
                <a:cs typeface="Times New Roman"/>
              </a:rPr>
              <a:t>computation,</a:t>
            </a:r>
            <a:r>
              <a:rPr sz="2400" spc="-40" dirty="0">
                <a:solidFill>
                  <a:srgbClr val="212121"/>
                </a:solidFill>
                <a:latin typeface="Times New Roman"/>
                <a:cs typeface="Times New Roman"/>
              </a:rPr>
              <a:t> </a:t>
            </a:r>
            <a:r>
              <a:rPr sz="2400" dirty="0">
                <a:solidFill>
                  <a:srgbClr val="212121"/>
                </a:solidFill>
                <a:latin typeface="Times New Roman"/>
                <a:cs typeface="Times New Roman"/>
              </a:rPr>
              <a:t>volatile</a:t>
            </a:r>
            <a:r>
              <a:rPr sz="2400" spc="-47" dirty="0">
                <a:solidFill>
                  <a:srgbClr val="212121"/>
                </a:solidFill>
                <a:latin typeface="Times New Roman"/>
                <a:cs typeface="Times New Roman"/>
              </a:rPr>
              <a:t> </a:t>
            </a:r>
            <a:r>
              <a:rPr sz="2400" dirty="0">
                <a:solidFill>
                  <a:srgbClr val="212121"/>
                </a:solidFill>
                <a:latin typeface="Times New Roman"/>
                <a:cs typeface="Times New Roman"/>
              </a:rPr>
              <a:t>memory</a:t>
            </a:r>
            <a:r>
              <a:rPr sz="2400" spc="-7" dirty="0">
                <a:solidFill>
                  <a:srgbClr val="212121"/>
                </a:solidFill>
                <a:latin typeface="Times New Roman"/>
                <a:cs typeface="Times New Roman"/>
              </a:rPr>
              <a:t> </a:t>
            </a:r>
            <a:r>
              <a:rPr sz="2400" dirty="0">
                <a:solidFill>
                  <a:srgbClr val="212121"/>
                </a:solidFill>
                <a:latin typeface="Times New Roman"/>
                <a:cs typeface="Times New Roman"/>
              </a:rPr>
              <a:t>and</a:t>
            </a:r>
            <a:r>
              <a:rPr sz="2400" spc="-33" dirty="0">
                <a:solidFill>
                  <a:srgbClr val="212121"/>
                </a:solidFill>
                <a:latin typeface="Times New Roman"/>
                <a:cs typeface="Times New Roman"/>
              </a:rPr>
              <a:t> </a:t>
            </a:r>
            <a:r>
              <a:rPr sz="2400" spc="-13" dirty="0">
                <a:solidFill>
                  <a:srgbClr val="212121"/>
                </a:solidFill>
                <a:latin typeface="Times New Roman"/>
                <a:cs typeface="Times New Roman"/>
              </a:rPr>
              <a:t>non-</a:t>
            </a:r>
            <a:r>
              <a:rPr sz="2400" dirty="0">
                <a:solidFill>
                  <a:srgbClr val="212121"/>
                </a:solidFill>
                <a:latin typeface="Times New Roman"/>
                <a:cs typeface="Times New Roman"/>
              </a:rPr>
              <a:t>volatile</a:t>
            </a:r>
            <a:r>
              <a:rPr sz="2400" spc="-40" dirty="0">
                <a:solidFill>
                  <a:srgbClr val="212121"/>
                </a:solidFill>
                <a:latin typeface="Times New Roman"/>
                <a:cs typeface="Times New Roman"/>
              </a:rPr>
              <a:t> </a:t>
            </a:r>
            <a:r>
              <a:rPr sz="2400" dirty="0">
                <a:solidFill>
                  <a:srgbClr val="212121"/>
                </a:solidFill>
                <a:latin typeface="Times New Roman"/>
                <a:cs typeface="Times New Roman"/>
              </a:rPr>
              <a:t>memory</a:t>
            </a:r>
            <a:r>
              <a:rPr sz="2400" spc="-13" dirty="0">
                <a:solidFill>
                  <a:srgbClr val="212121"/>
                </a:solidFill>
                <a:latin typeface="Times New Roman"/>
                <a:cs typeface="Times New Roman"/>
              </a:rPr>
              <a:t> </a:t>
            </a:r>
            <a:r>
              <a:rPr sz="2400" dirty="0">
                <a:solidFill>
                  <a:srgbClr val="212121"/>
                </a:solidFill>
                <a:latin typeface="Times New Roman"/>
                <a:cs typeface="Times New Roman"/>
              </a:rPr>
              <a:t>is</a:t>
            </a:r>
            <a:r>
              <a:rPr sz="2400" spc="-20" dirty="0">
                <a:solidFill>
                  <a:srgbClr val="212121"/>
                </a:solidFill>
                <a:latin typeface="Times New Roman"/>
                <a:cs typeface="Times New Roman"/>
              </a:rPr>
              <a:t> </a:t>
            </a:r>
            <a:r>
              <a:rPr sz="2400" spc="-13" dirty="0">
                <a:solidFill>
                  <a:srgbClr val="212121"/>
                </a:solidFill>
                <a:latin typeface="Times New Roman"/>
                <a:cs typeface="Times New Roman"/>
              </a:rPr>
              <a:t>needed.</a:t>
            </a:r>
            <a:endParaRPr sz="2400">
              <a:latin typeface="Times New Roman"/>
              <a:cs typeface="Times New Roman"/>
            </a:endParaRPr>
          </a:p>
          <a:p>
            <a:pPr marL="625671" marR="6773" indent="-457189" algn="just">
              <a:lnSpc>
                <a:spcPct val="114999"/>
              </a:lnSpc>
              <a:buChar char="●"/>
              <a:tabLst>
                <a:tab pos="625671" algn="l"/>
              </a:tabLst>
            </a:pPr>
            <a:r>
              <a:rPr sz="2400" dirty="0">
                <a:solidFill>
                  <a:srgbClr val="212121"/>
                </a:solidFill>
                <a:latin typeface="Times New Roman"/>
                <a:cs typeface="Times New Roman"/>
              </a:rPr>
              <a:t>Volatile</a:t>
            </a:r>
            <a:r>
              <a:rPr sz="2400" spc="305" dirty="0">
                <a:solidFill>
                  <a:srgbClr val="212121"/>
                </a:solidFill>
                <a:latin typeface="Times New Roman"/>
                <a:cs typeface="Times New Roman"/>
              </a:rPr>
              <a:t> </a:t>
            </a:r>
            <a:r>
              <a:rPr sz="2400" dirty="0">
                <a:solidFill>
                  <a:srgbClr val="212121"/>
                </a:solidFill>
                <a:latin typeface="Times New Roman"/>
                <a:cs typeface="Times New Roman"/>
              </a:rPr>
              <a:t>memory</a:t>
            </a:r>
            <a:r>
              <a:rPr sz="2400" spc="300" dirty="0">
                <a:solidFill>
                  <a:srgbClr val="212121"/>
                </a:solidFill>
                <a:latin typeface="Times New Roman"/>
                <a:cs typeface="Times New Roman"/>
              </a:rPr>
              <a:t> </a:t>
            </a:r>
            <a:r>
              <a:rPr sz="2400" dirty="0">
                <a:solidFill>
                  <a:srgbClr val="212121"/>
                </a:solidFill>
                <a:latin typeface="Times New Roman"/>
                <a:cs typeface="Times New Roman"/>
              </a:rPr>
              <a:t>is</a:t>
            </a:r>
            <a:r>
              <a:rPr sz="2400" spc="293" dirty="0">
                <a:solidFill>
                  <a:srgbClr val="212121"/>
                </a:solidFill>
                <a:latin typeface="Times New Roman"/>
                <a:cs typeface="Times New Roman"/>
              </a:rPr>
              <a:t> </a:t>
            </a:r>
            <a:r>
              <a:rPr sz="2400" dirty="0">
                <a:solidFill>
                  <a:srgbClr val="212121"/>
                </a:solidFill>
                <a:latin typeface="Times New Roman"/>
                <a:cs typeface="Times New Roman"/>
              </a:rPr>
              <a:t>used</a:t>
            </a:r>
            <a:r>
              <a:rPr sz="2400" spc="300" dirty="0">
                <a:solidFill>
                  <a:srgbClr val="212121"/>
                </a:solidFill>
                <a:latin typeface="Times New Roman"/>
                <a:cs typeface="Times New Roman"/>
              </a:rPr>
              <a:t> </a:t>
            </a:r>
            <a:r>
              <a:rPr sz="2400" dirty="0">
                <a:solidFill>
                  <a:srgbClr val="212121"/>
                </a:solidFill>
                <a:latin typeface="Times New Roman"/>
                <a:cs typeface="Times New Roman"/>
              </a:rPr>
              <a:t>for</a:t>
            </a:r>
            <a:r>
              <a:rPr sz="2400" spc="287" dirty="0">
                <a:solidFill>
                  <a:srgbClr val="212121"/>
                </a:solidFill>
                <a:latin typeface="Times New Roman"/>
                <a:cs typeface="Times New Roman"/>
              </a:rPr>
              <a:t> </a:t>
            </a:r>
            <a:r>
              <a:rPr sz="2400" dirty="0">
                <a:solidFill>
                  <a:srgbClr val="212121"/>
                </a:solidFill>
                <a:latin typeface="Times New Roman"/>
                <a:cs typeface="Times New Roman"/>
              </a:rPr>
              <a:t>temporary</a:t>
            </a:r>
            <a:r>
              <a:rPr sz="2400" spc="333" dirty="0">
                <a:solidFill>
                  <a:srgbClr val="212121"/>
                </a:solidFill>
                <a:latin typeface="Times New Roman"/>
                <a:cs typeface="Times New Roman"/>
              </a:rPr>
              <a:t> </a:t>
            </a:r>
            <a:r>
              <a:rPr sz="2400" dirty="0">
                <a:solidFill>
                  <a:srgbClr val="212121"/>
                </a:solidFill>
                <a:latin typeface="Times New Roman"/>
                <a:cs typeface="Times New Roman"/>
              </a:rPr>
              <a:t>storage</a:t>
            </a:r>
            <a:r>
              <a:rPr sz="2400" spc="293" dirty="0">
                <a:solidFill>
                  <a:srgbClr val="212121"/>
                </a:solidFill>
                <a:latin typeface="Times New Roman"/>
                <a:cs typeface="Times New Roman"/>
              </a:rPr>
              <a:t> </a:t>
            </a:r>
            <a:r>
              <a:rPr sz="2400" dirty="0">
                <a:solidFill>
                  <a:srgbClr val="212121"/>
                </a:solidFill>
                <a:latin typeface="Times New Roman"/>
                <a:cs typeface="Times New Roman"/>
              </a:rPr>
              <a:t>of</a:t>
            </a:r>
            <a:r>
              <a:rPr sz="2400" spc="300" dirty="0">
                <a:solidFill>
                  <a:srgbClr val="212121"/>
                </a:solidFill>
                <a:latin typeface="Times New Roman"/>
                <a:cs typeface="Times New Roman"/>
              </a:rPr>
              <a:t> </a:t>
            </a:r>
            <a:r>
              <a:rPr sz="2400" dirty="0">
                <a:solidFill>
                  <a:srgbClr val="212121"/>
                </a:solidFill>
                <a:latin typeface="Times New Roman"/>
                <a:cs typeface="Times New Roman"/>
              </a:rPr>
              <a:t>data</a:t>
            </a:r>
            <a:r>
              <a:rPr sz="2400" spc="305" dirty="0">
                <a:solidFill>
                  <a:srgbClr val="212121"/>
                </a:solidFill>
                <a:latin typeface="Times New Roman"/>
                <a:cs typeface="Times New Roman"/>
              </a:rPr>
              <a:t> </a:t>
            </a:r>
            <a:r>
              <a:rPr sz="2400" dirty="0">
                <a:solidFill>
                  <a:srgbClr val="212121"/>
                </a:solidFill>
                <a:latin typeface="Times New Roman"/>
                <a:cs typeface="Times New Roman"/>
              </a:rPr>
              <a:t>to</a:t>
            </a:r>
            <a:r>
              <a:rPr sz="2400" spc="287" dirty="0">
                <a:solidFill>
                  <a:srgbClr val="212121"/>
                </a:solidFill>
                <a:latin typeface="Times New Roman"/>
                <a:cs typeface="Times New Roman"/>
              </a:rPr>
              <a:t> </a:t>
            </a:r>
            <a:r>
              <a:rPr sz="2400" dirty="0">
                <a:solidFill>
                  <a:srgbClr val="212121"/>
                </a:solidFill>
                <a:latin typeface="Times New Roman"/>
                <a:cs typeface="Times New Roman"/>
              </a:rPr>
              <a:t>support</a:t>
            </a:r>
            <a:r>
              <a:rPr sz="2400" spc="305" dirty="0">
                <a:solidFill>
                  <a:srgbClr val="212121"/>
                </a:solidFill>
                <a:latin typeface="Times New Roman"/>
                <a:cs typeface="Times New Roman"/>
              </a:rPr>
              <a:t> </a:t>
            </a:r>
            <a:r>
              <a:rPr sz="2400" dirty="0">
                <a:solidFill>
                  <a:srgbClr val="212121"/>
                </a:solidFill>
                <a:latin typeface="Times New Roman"/>
                <a:cs typeface="Times New Roman"/>
              </a:rPr>
              <a:t>the</a:t>
            </a:r>
            <a:r>
              <a:rPr sz="2400" spc="300" dirty="0">
                <a:solidFill>
                  <a:srgbClr val="212121"/>
                </a:solidFill>
                <a:latin typeface="Times New Roman"/>
                <a:cs typeface="Times New Roman"/>
              </a:rPr>
              <a:t> </a:t>
            </a:r>
            <a:r>
              <a:rPr sz="2400" dirty="0">
                <a:solidFill>
                  <a:srgbClr val="212121"/>
                </a:solidFill>
                <a:latin typeface="Times New Roman"/>
                <a:cs typeface="Times New Roman"/>
              </a:rPr>
              <a:t>processor</a:t>
            </a:r>
            <a:r>
              <a:rPr sz="2400" spc="300" dirty="0">
                <a:solidFill>
                  <a:srgbClr val="212121"/>
                </a:solidFill>
                <a:latin typeface="Times New Roman"/>
                <a:cs typeface="Times New Roman"/>
              </a:rPr>
              <a:t> </a:t>
            </a:r>
            <a:r>
              <a:rPr sz="2400" spc="-33" dirty="0">
                <a:solidFill>
                  <a:srgbClr val="212121"/>
                </a:solidFill>
                <a:latin typeface="Times New Roman"/>
                <a:cs typeface="Times New Roman"/>
              </a:rPr>
              <a:t>as </a:t>
            </a:r>
            <a:r>
              <a:rPr sz="2400" dirty="0">
                <a:solidFill>
                  <a:srgbClr val="212121"/>
                </a:solidFill>
                <a:latin typeface="Times New Roman"/>
                <a:cs typeface="Times New Roman"/>
              </a:rPr>
              <a:t>operations</a:t>
            </a:r>
            <a:r>
              <a:rPr sz="2400" spc="-73" dirty="0">
                <a:solidFill>
                  <a:srgbClr val="212121"/>
                </a:solidFill>
                <a:latin typeface="Times New Roman"/>
                <a:cs typeface="Times New Roman"/>
              </a:rPr>
              <a:t> </a:t>
            </a:r>
            <a:r>
              <a:rPr sz="2400" dirty="0">
                <a:solidFill>
                  <a:srgbClr val="212121"/>
                </a:solidFill>
                <a:latin typeface="Times New Roman"/>
                <a:cs typeface="Times New Roman"/>
              </a:rPr>
              <a:t>are</a:t>
            </a:r>
            <a:r>
              <a:rPr sz="2400" spc="-47" dirty="0">
                <a:solidFill>
                  <a:srgbClr val="212121"/>
                </a:solidFill>
                <a:latin typeface="Times New Roman"/>
                <a:cs typeface="Times New Roman"/>
              </a:rPr>
              <a:t> </a:t>
            </a:r>
            <a:r>
              <a:rPr sz="2400" spc="-13" dirty="0">
                <a:solidFill>
                  <a:srgbClr val="212121"/>
                </a:solidFill>
                <a:latin typeface="Times New Roman"/>
                <a:cs typeface="Times New Roman"/>
              </a:rPr>
              <a:t>undertaken.</a:t>
            </a:r>
            <a:endParaRPr sz="2400">
              <a:latin typeface="Times New Roman"/>
              <a:cs typeface="Times New Roman"/>
            </a:endParaRPr>
          </a:p>
          <a:p>
            <a:pPr marL="625671" marR="6773" indent="-457189" algn="just">
              <a:lnSpc>
                <a:spcPct val="114999"/>
              </a:lnSpc>
              <a:buChar char="●"/>
              <a:tabLst>
                <a:tab pos="625671" algn="l"/>
              </a:tabLst>
            </a:pPr>
            <a:r>
              <a:rPr sz="2400" dirty="0">
                <a:solidFill>
                  <a:srgbClr val="212121"/>
                </a:solidFill>
                <a:latin typeface="Times New Roman"/>
                <a:cs typeface="Times New Roman"/>
              </a:rPr>
              <a:t>A</a:t>
            </a:r>
            <a:r>
              <a:rPr sz="2400" spc="607" dirty="0">
                <a:solidFill>
                  <a:srgbClr val="212121"/>
                </a:solidFill>
                <a:latin typeface="Times New Roman"/>
                <a:cs typeface="Times New Roman"/>
              </a:rPr>
              <a:t> </a:t>
            </a:r>
            <a:r>
              <a:rPr sz="2400" dirty="0">
                <a:solidFill>
                  <a:srgbClr val="212121"/>
                </a:solidFill>
                <a:latin typeface="Times New Roman"/>
                <a:cs typeface="Times New Roman"/>
              </a:rPr>
              <a:t>certain</a:t>
            </a:r>
            <a:r>
              <a:rPr sz="2400" spc="620" dirty="0">
                <a:solidFill>
                  <a:srgbClr val="212121"/>
                </a:solidFill>
                <a:latin typeface="Times New Roman"/>
                <a:cs typeface="Times New Roman"/>
              </a:rPr>
              <a:t> </a:t>
            </a:r>
            <a:r>
              <a:rPr sz="2400" dirty="0">
                <a:solidFill>
                  <a:srgbClr val="212121"/>
                </a:solidFill>
                <a:latin typeface="Times New Roman"/>
                <a:cs typeface="Times New Roman"/>
              </a:rPr>
              <a:t>amount</a:t>
            </a:r>
            <a:r>
              <a:rPr sz="2400" spc="620" dirty="0">
                <a:solidFill>
                  <a:srgbClr val="212121"/>
                </a:solidFill>
                <a:latin typeface="Times New Roman"/>
                <a:cs typeface="Times New Roman"/>
              </a:rPr>
              <a:t> </a:t>
            </a:r>
            <a:r>
              <a:rPr sz="2400" dirty="0">
                <a:solidFill>
                  <a:srgbClr val="212121"/>
                </a:solidFill>
                <a:latin typeface="Times New Roman"/>
                <a:cs typeface="Times New Roman"/>
              </a:rPr>
              <a:t>of</a:t>
            </a:r>
            <a:r>
              <a:rPr sz="2400" spc="620" dirty="0">
                <a:solidFill>
                  <a:srgbClr val="212121"/>
                </a:solidFill>
                <a:latin typeface="Times New Roman"/>
                <a:cs typeface="Times New Roman"/>
              </a:rPr>
              <a:t> </a:t>
            </a:r>
            <a:r>
              <a:rPr sz="2400" spc="-13" dirty="0">
                <a:solidFill>
                  <a:srgbClr val="212121"/>
                </a:solidFill>
                <a:latin typeface="Times New Roman"/>
                <a:cs typeface="Times New Roman"/>
              </a:rPr>
              <a:t>non-</a:t>
            </a:r>
            <a:r>
              <a:rPr sz="2400" dirty="0">
                <a:solidFill>
                  <a:srgbClr val="212121"/>
                </a:solidFill>
                <a:latin typeface="Times New Roman"/>
                <a:cs typeface="Times New Roman"/>
              </a:rPr>
              <a:t>volatile</a:t>
            </a:r>
            <a:r>
              <a:rPr sz="2400" spc="627" dirty="0">
                <a:solidFill>
                  <a:srgbClr val="212121"/>
                </a:solidFill>
                <a:latin typeface="Times New Roman"/>
                <a:cs typeface="Times New Roman"/>
              </a:rPr>
              <a:t> </a:t>
            </a:r>
            <a:r>
              <a:rPr sz="2400" dirty="0">
                <a:solidFill>
                  <a:srgbClr val="212121"/>
                </a:solidFill>
                <a:latin typeface="Times New Roman"/>
                <a:cs typeface="Times New Roman"/>
              </a:rPr>
              <a:t>memory</a:t>
            </a:r>
            <a:r>
              <a:rPr sz="2400" spc="627" dirty="0">
                <a:solidFill>
                  <a:srgbClr val="212121"/>
                </a:solidFill>
                <a:latin typeface="Times New Roman"/>
                <a:cs typeface="Times New Roman"/>
              </a:rPr>
              <a:t> </a:t>
            </a:r>
            <a:r>
              <a:rPr sz="2400" dirty="0">
                <a:solidFill>
                  <a:srgbClr val="212121"/>
                </a:solidFill>
                <a:latin typeface="Times New Roman"/>
                <a:cs typeface="Times New Roman"/>
              </a:rPr>
              <a:t>is</a:t>
            </a:r>
            <a:r>
              <a:rPr sz="2400" spc="612" dirty="0">
                <a:solidFill>
                  <a:srgbClr val="212121"/>
                </a:solidFill>
                <a:latin typeface="Times New Roman"/>
                <a:cs typeface="Times New Roman"/>
              </a:rPr>
              <a:t> </a:t>
            </a:r>
            <a:r>
              <a:rPr sz="2400" dirty="0">
                <a:solidFill>
                  <a:srgbClr val="212121"/>
                </a:solidFill>
                <a:latin typeface="Times New Roman"/>
                <a:cs typeface="Times New Roman"/>
              </a:rPr>
              <a:t>typically</a:t>
            </a:r>
            <a:r>
              <a:rPr sz="2400" spc="633" dirty="0">
                <a:solidFill>
                  <a:srgbClr val="212121"/>
                </a:solidFill>
                <a:latin typeface="Times New Roman"/>
                <a:cs typeface="Times New Roman"/>
              </a:rPr>
              <a:t> </a:t>
            </a:r>
            <a:r>
              <a:rPr sz="2400" dirty="0">
                <a:solidFill>
                  <a:srgbClr val="212121"/>
                </a:solidFill>
                <a:latin typeface="Times New Roman"/>
                <a:cs typeface="Times New Roman"/>
              </a:rPr>
              <a:t>required</a:t>
            </a:r>
            <a:r>
              <a:rPr sz="2400" spc="620" dirty="0">
                <a:solidFill>
                  <a:srgbClr val="212121"/>
                </a:solidFill>
                <a:latin typeface="Times New Roman"/>
                <a:cs typeface="Times New Roman"/>
              </a:rPr>
              <a:t> </a:t>
            </a:r>
            <a:r>
              <a:rPr sz="2400" dirty="0">
                <a:solidFill>
                  <a:srgbClr val="212121"/>
                </a:solidFill>
                <a:latin typeface="Times New Roman"/>
                <a:cs typeface="Times New Roman"/>
              </a:rPr>
              <a:t>to</a:t>
            </a:r>
            <a:r>
              <a:rPr sz="2400" spc="612" dirty="0">
                <a:solidFill>
                  <a:srgbClr val="212121"/>
                </a:solidFill>
                <a:latin typeface="Times New Roman"/>
                <a:cs typeface="Times New Roman"/>
              </a:rPr>
              <a:t> </a:t>
            </a:r>
            <a:r>
              <a:rPr sz="2400" dirty="0">
                <a:solidFill>
                  <a:srgbClr val="212121"/>
                </a:solidFill>
                <a:latin typeface="Times New Roman"/>
                <a:cs typeface="Times New Roman"/>
              </a:rPr>
              <a:t>store</a:t>
            </a:r>
            <a:r>
              <a:rPr sz="2400" spc="607" dirty="0">
                <a:solidFill>
                  <a:srgbClr val="212121"/>
                </a:solidFill>
                <a:latin typeface="Times New Roman"/>
                <a:cs typeface="Times New Roman"/>
              </a:rPr>
              <a:t> </a:t>
            </a:r>
            <a:r>
              <a:rPr sz="2400" spc="-13" dirty="0">
                <a:solidFill>
                  <a:srgbClr val="212121"/>
                </a:solidFill>
                <a:latin typeface="Times New Roman"/>
                <a:cs typeface="Times New Roman"/>
              </a:rPr>
              <a:t>specific </a:t>
            </a:r>
            <a:r>
              <a:rPr sz="2400" dirty="0">
                <a:solidFill>
                  <a:srgbClr val="212121"/>
                </a:solidFill>
                <a:latin typeface="Times New Roman"/>
                <a:cs typeface="Times New Roman"/>
              </a:rPr>
              <a:t>information,</a:t>
            </a:r>
            <a:r>
              <a:rPr sz="2400" spc="-53" dirty="0">
                <a:solidFill>
                  <a:srgbClr val="212121"/>
                </a:solidFill>
                <a:latin typeface="Times New Roman"/>
                <a:cs typeface="Times New Roman"/>
              </a:rPr>
              <a:t> </a:t>
            </a:r>
            <a:r>
              <a:rPr sz="2400" dirty="0">
                <a:solidFill>
                  <a:srgbClr val="212121"/>
                </a:solidFill>
                <a:latin typeface="Times New Roman"/>
                <a:cs typeface="Times New Roman"/>
              </a:rPr>
              <a:t>such</a:t>
            </a:r>
            <a:r>
              <a:rPr sz="2400" spc="-20" dirty="0">
                <a:solidFill>
                  <a:srgbClr val="212121"/>
                </a:solidFill>
                <a:latin typeface="Times New Roman"/>
                <a:cs typeface="Times New Roman"/>
              </a:rPr>
              <a:t> </a:t>
            </a:r>
            <a:r>
              <a:rPr sz="2400" dirty="0">
                <a:solidFill>
                  <a:srgbClr val="212121"/>
                </a:solidFill>
                <a:latin typeface="Times New Roman"/>
                <a:cs typeface="Times New Roman"/>
              </a:rPr>
              <a:t>as</a:t>
            </a:r>
            <a:r>
              <a:rPr sz="2400" spc="-47" dirty="0">
                <a:solidFill>
                  <a:srgbClr val="212121"/>
                </a:solidFill>
                <a:latin typeface="Times New Roman"/>
                <a:cs typeface="Times New Roman"/>
              </a:rPr>
              <a:t> </a:t>
            </a:r>
            <a:r>
              <a:rPr sz="2400" dirty="0">
                <a:solidFill>
                  <a:srgbClr val="212121"/>
                </a:solidFill>
                <a:latin typeface="Times New Roman"/>
                <a:cs typeface="Times New Roman"/>
              </a:rPr>
              <a:t>the</a:t>
            </a:r>
            <a:r>
              <a:rPr sz="2400" spc="-40" dirty="0">
                <a:solidFill>
                  <a:srgbClr val="212121"/>
                </a:solidFill>
                <a:latin typeface="Times New Roman"/>
                <a:cs typeface="Times New Roman"/>
              </a:rPr>
              <a:t> </a:t>
            </a:r>
            <a:r>
              <a:rPr sz="2400" dirty="0">
                <a:solidFill>
                  <a:srgbClr val="212121"/>
                </a:solidFill>
                <a:latin typeface="Times New Roman"/>
                <a:cs typeface="Times New Roman"/>
              </a:rPr>
              <a:t>unit</a:t>
            </a:r>
            <a:r>
              <a:rPr sz="2400" spc="-33" dirty="0">
                <a:solidFill>
                  <a:srgbClr val="212121"/>
                </a:solidFill>
                <a:latin typeface="Times New Roman"/>
                <a:cs typeface="Times New Roman"/>
              </a:rPr>
              <a:t> </a:t>
            </a:r>
            <a:r>
              <a:rPr sz="2400" dirty="0">
                <a:solidFill>
                  <a:srgbClr val="212121"/>
                </a:solidFill>
                <a:latin typeface="Times New Roman"/>
                <a:cs typeface="Times New Roman"/>
              </a:rPr>
              <a:t>serial</a:t>
            </a:r>
            <a:r>
              <a:rPr sz="2400" spc="-33" dirty="0">
                <a:solidFill>
                  <a:srgbClr val="212121"/>
                </a:solidFill>
                <a:latin typeface="Times New Roman"/>
                <a:cs typeface="Times New Roman"/>
              </a:rPr>
              <a:t> </a:t>
            </a:r>
            <a:r>
              <a:rPr sz="2400" dirty="0">
                <a:solidFill>
                  <a:srgbClr val="212121"/>
                </a:solidFill>
                <a:latin typeface="Times New Roman"/>
                <a:cs typeface="Times New Roman"/>
              </a:rPr>
              <a:t>number</a:t>
            </a:r>
            <a:r>
              <a:rPr sz="2400" spc="-40" dirty="0">
                <a:solidFill>
                  <a:srgbClr val="212121"/>
                </a:solidFill>
                <a:latin typeface="Times New Roman"/>
                <a:cs typeface="Times New Roman"/>
              </a:rPr>
              <a:t> </a:t>
            </a:r>
            <a:r>
              <a:rPr sz="2400" dirty="0">
                <a:solidFill>
                  <a:srgbClr val="212121"/>
                </a:solidFill>
                <a:latin typeface="Times New Roman"/>
                <a:cs typeface="Times New Roman"/>
              </a:rPr>
              <a:t>and</a:t>
            </a:r>
            <a:r>
              <a:rPr sz="2400" spc="-27" dirty="0">
                <a:solidFill>
                  <a:srgbClr val="212121"/>
                </a:solidFill>
                <a:latin typeface="Times New Roman"/>
                <a:cs typeface="Times New Roman"/>
              </a:rPr>
              <a:t> </a:t>
            </a:r>
            <a:r>
              <a:rPr sz="2400" dirty="0">
                <a:solidFill>
                  <a:srgbClr val="212121"/>
                </a:solidFill>
                <a:latin typeface="Times New Roman"/>
                <a:cs typeface="Times New Roman"/>
              </a:rPr>
              <a:t>maintenance</a:t>
            </a:r>
            <a:r>
              <a:rPr sz="2400" spc="-67" dirty="0">
                <a:solidFill>
                  <a:srgbClr val="212121"/>
                </a:solidFill>
                <a:latin typeface="Times New Roman"/>
                <a:cs typeface="Times New Roman"/>
              </a:rPr>
              <a:t> </a:t>
            </a:r>
            <a:r>
              <a:rPr sz="2400" dirty="0">
                <a:solidFill>
                  <a:srgbClr val="212121"/>
                </a:solidFill>
                <a:latin typeface="Times New Roman"/>
                <a:cs typeface="Times New Roman"/>
              </a:rPr>
              <a:t>access</a:t>
            </a:r>
            <a:r>
              <a:rPr sz="2400" spc="-47" dirty="0">
                <a:solidFill>
                  <a:srgbClr val="212121"/>
                </a:solidFill>
                <a:latin typeface="Times New Roman"/>
                <a:cs typeface="Times New Roman"/>
              </a:rPr>
              <a:t> </a:t>
            </a:r>
            <a:r>
              <a:rPr sz="2400" dirty="0">
                <a:solidFill>
                  <a:srgbClr val="212121"/>
                </a:solidFill>
                <a:latin typeface="Times New Roman"/>
                <a:cs typeface="Times New Roman"/>
              </a:rPr>
              <a:t>key</a:t>
            </a:r>
            <a:r>
              <a:rPr sz="2400" spc="-40" dirty="0">
                <a:solidFill>
                  <a:srgbClr val="212121"/>
                </a:solidFill>
                <a:latin typeface="Times New Roman"/>
                <a:cs typeface="Times New Roman"/>
              </a:rPr>
              <a:t> </a:t>
            </a:r>
            <a:r>
              <a:rPr sz="2400" spc="-13" dirty="0">
                <a:solidFill>
                  <a:srgbClr val="212121"/>
                </a:solidFill>
                <a:latin typeface="Times New Roman"/>
                <a:cs typeface="Times New Roman"/>
              </a:rPr>
              <a:t>codes</a:t>
            </a:r>
            <a:endParaRPr sz="2400">
              <a:latin typeface="Times New Roman"/>
              <a:cs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20565" y="508825"/>
            <a:ext cx="11150600" cy="5225512"/>
          </a:xfrm>
          <a:prstGeom prst="rect">
            <a:avLst/>
          </a:prstGeom>
        </p:spPr>
        <p:txBody>
          <a:bodyPr vert="horz" wrap="square" lIns="0" tIns="16933" rIns="0" bIns="0" rtlCol="0">
            <a:spAutoFit/>
          </a:bodyPr>
          <a:lstStyle/>
          <a:p>
            <a:pPr marL="16933">
              <a:spcBef>
                <a:spcPts val="133"/>
              </a:spcBef>
            </a:pPr>
            <a:r>
              <a:rPr sz="2400" b="1" spc="-13" dirty="0">
                <a:latin typeface="Times New Roman"/>
                <a:cs typeface="Times New Roman"/>
              </a:rPr>
              <a:t>Input/Output</a:t>
            </a:r>
            <a:endParaRPr sz="2400">
              <a:latin typeface="Times New Roman"/>
              <a:cs typeface="Times New Roman"/>
            </a:endParaRPr>
          </a:p>
          <a:p>
            <a:pPr marL="625671" marR="292939" indent="-457189">
              <a:lnSpc>
                <a:spcPct val="114999"/>
              </a:lnSpc>
              <a:spcBef>
                <a:spcPts val="1600"/>
              </a:spcBef>
              <a:buChar char="●"/>
              <a:tabLst>
                <a:tab pos="625671" algn="l"/>
              </a:tabLst>
            </a:pPr>
            <a:r>
              <a:rPr sz="2400" dirty="0">
                <a:latin typeface="Times New Roman"/>
                <a:cs typeface="Times New Roman"/>
              </a:rPr>
              <a:t>A</a:t>
            </a:r>
            <a:r>
              <a:rPr sz="2400" spc="-27" dirty="0">
                <a:latin typeface="Times New Roman"/>
                <a:cs typeface="Times New Roman"/>
              </a:rPr>
              <a:t> </a:t>
            </a:r>
            <a:r>
              <a:rPr sz="2400" dirty="0">
                <a:latin typeface="Times New Roman"/>
                <a:cs typeface="Times New Roman"/>
              </a:rPr>
              <a:t>smart</a:t>
            </a:r>
            <a:r>
              <a:rPr sz="2400" spc="-7" dirty="0">
                <a:latin typeface="Times New Roman"/>
                <a:cs typeface="Times New Roman"/>
              </a:rPr>
              <a:t> </a:t>
            </a:r>
            <a:r>
              <a:rPr sz="2400" dirty="0">
                <a:latin typeface="Times New Roman"/>
                <a:cs typeface="Times New Roman"/>
              </a:rPr>
              <a:t>meter</a:t>
            </a:r>
            <a:r>
              <a:rPr sz="2400" spc="-33" dirty="0">
                <a:latin typeface="Times New Roman"/>
                <a:cs typeface="Times New Roman"/>
              </a:rPr>
              <a:t> </a:t>
            </a:r>
            <a:r>
              <a:rPr sz="2400" dirty="0">
                <a:latin typeface="Times New Roman"/>
                <a:cs typeface="Times New Roman"/>
              </a:rPr>
              <a:t>has</a:t>
            </a:r>
            <a:r>
              <a:rPr sz="2400" spc="-40" dirty="0">
                <a:latin typeface="Times New Roman"/>
                <a:cs typeface="Times New Roman"/>
              </a:rPr>
              <a:t> </a:t>
            </a:r>
            <a:r>
              <a:rPr sz="2400" dirty="0">
                <a:latin typeface="Times New Roman"/>
                <a:cs typeface="Times New Roman"/>
              </a:rPr>
              <a:t>a</a:t>
            </a:r>
            <a:r>
              <a:rPr sz="2400" spc="-7" dirty="0">
                <a:latin typeface="Times New Roman"/>
                <a:cs typeface="Times New Roman"/>
              </a:rPr>
              <a:t> </a:t>
            </a:r>
            <a:r>
              <a:rPr sz="2400" dirty="0">
                <a:latin typeface="Times New Roman"/>
                <a:cs typeface="Times New Roman"/>
              </a:rPr>
              <a:t>display</a:t>
            </a:r>
            <a:r>
              <a:rPr sz="2400" spc="-47" dirty="0">
                <a:latin typeface="Times New Roman"/>
                <a:cs typeface="Times New Roman"/>
              </a:rPr>
              <a:t> </a:t>
            </a:r>
            <a:r>
              <a:rPr sz="2400" dirty="0">
                <a:latin typeface="Times New Roman"/>
                <a:cs typeface="Times New Roman"/>
              </a:rPr>
              <a:t>that</a:t>
            </a:r>
            <a:r>
              <a:rPr sz="2400" spc="-33" dirty="0">
                <a:latin typeface="Times New Roman"/>
                <a:cs typeface="Times New Roman"/>
              </a:rPr>
              <a:t> </a:t>
            </a:r>
            <a:r>
              <a:rPr sz="2400" dirty="0">
                <a:latin typeface="Times New Roman"/>
                <a:cs typeface="Times New Roman"/>
              </a:rPr>
              <a:t>presents</a:t>
            </a:r>
            <a:r>
              <a:rPr sz="2400" spc="-33" dirty="0">
                <a:latin typeface="Times New Roman"/>
                <a:cs typeface="Times New Roman"/>
              </a:rPr>
              <a:t> </a:t>
            </a:r>
            <a:r>
              <a:rPr sz="2400" dirty="0">
                <a:latin typeface="Times New Roman"/>
                <a:cs typeface="Times New Roman"/>
              </a:rPr>
              <a:t>information</a:t>
            </a:r>
            <a:r>
              <a:rPr sz="2400" spc="-33" dirty="0">
                <a:latin typeface="Times New Roman"/>
                <a:cs typeface="Times New Roman"/>
              </a:rPr>
              <a:t> </a:t>
            </a:r>
            <a:r>
              <a:rPr sz="2400" dirty="0">
                <a:latin typeface="Times New Roman"/>
                <a:cs typeface="Times New Roman"/>
              </a:rPr>
              <a:t>in</a:t>
            </a:r>
            <a:r>
              <a:rPr sz="2400" spc="-33" dirty="0">
                <a:latin typeface="Times New Roman"/>
                <a:cs typeface="Times New Roman"/>
              </a:rPr>
              <a:t> </a:t>
            </a:r>
            <a:r>
              <a:rPr sz="2400" dirty="0">
                <a:latin typeface="Times New Roman"/>
                <a:cs typeface="Times New Roman"/>
              </a:rPr>
              <a:t>the</a:t>
            </a:r>
            <a:r>
              <a:rPr sz="2400" spc="-33" dirty="0">
                <a:latin typeface="Times New Roman"/>
                <a:cs typeface="Times New Roman"/>
              </a:rPr>
              <a:t> </a:t>
            </a:r>
            <a:r>
              <a:rPr sz="2400" dirty="0">
                <a:latin typeface="Times New Roman"/>
                <a:cs typeface="Times New Roman"/>
              </a:rPr>
              <a:t>form</a:t>
            </a:r>
            <a:r>
              <a:rPr sz="2400" spc="-27" dirty="0">
                <a:latin typeface="Times New Roman"/>
                <a:cs typeface="Times New Roman"/>
              </a:rPr>
              <a:t> </a:t>
            </a:r>
            <a:r>
              <a:rPr sz="2400" dirty="0">
                <a:latin typeface="Times New Roman"/>
                <a:cs typeface="Times New Roman"/>
              </a:rPr>
              <a:t>of</a:t>
            </a:r>
            <a:r>
              <a:rPr sz="2400" spc="-13" dirty="0">
                <a:latin typeface="Times New Roman"/>
                <a:cs typeface="Times New Roman"/>
              </a:rPr>
              <a:t> </a:t>
            </a:r>
            <a:r>
              <a:rPr sz="2400" dirty="0">
                <a:latin typeface="Times New Roman"/>
                <a:cs typeface="Times New Roman"/>
              </a:rPr>
              <a:t>text</a:t>
            </a:r>
            <a:r>
              <a:rPr sz="2400" spc="-47" dirty="0">
                <a:latin typeface="Times New Roman"/>
                <a:cs typeface="Times New Roman"/>
              </a:rPr>
              <a:t> </a:t>
            </a:r>
            <a:r>
              <a:rPr sz="2400" dirty="0">
                <a:latin typeface="Times New Roman"/>
                <a:cs typeface="Times New Roman"/>
              </a:rPr>
              <a:t>and</a:t>
            </a:r>
            <a:r>
              <a:rPr sz="2400" spc="-33" dirty="0">
                <a:latin typeface="Times New Roman"/>
                <a:cs typeface="Times New Roman"/>
              </a:rPr>
              <a:t> </a:t>
            </a:r>
            <a:r>
              <a:rPr sz="2400" spc="-13" dirty="0">
                <a:latin typeface="Times New Roman"/>
                <a:cs typeface="Times New Roman"/>
              </a:rPr>
              <a:t>graphs </a:t>
            </a:r>
            <a:r>
              <a:rPr sz="2400" dirty="0">
                <a:latin typeface="Times New Roman"/>
                <a:cs typeface="Times New Roman"/>
              </a:rPr>
              <a:t>for</a:t>
            </a:r>
            <a:r>
              <a:rPr sz="2400" spc="-40" dirty="0">
                <a:latin typeface="Times New Roman"/>
                <a:cs typeface="Times New Roman"/>
              </a:rPr>
              <a:t> </a:t>
            </a:r>
            <a:r>
              <a:rPr sz="2400" dirty="0">
                <a:latin typeface="Times New Roman"/>
                <a:cs typeface="Times New Roman"/>
              </a:rPr>
              <a:t>the</a:t>
            </a:r>
            <a:r>
              <a:rPr sz="2400" spc="-27" dirty="0">
                <a:latin typeface="Times New Roman"/>
                <a:cs typeface="Times New Roman"/>
              </a:rPr>
              <a:t> </a:t>
            </a:r>
            <a:r>
              <a:rPr sz="2400" dirty="0">
                <a:latin typeface="Times New Roman"/>
                <a:cs typeface="Times New Roman"/>
              </a:rPr>
              <a:t>human</a:t>
            </a:r>
            <a:r>
              <a:rPr sz="2400" spc="-20" dirty="0">
                <a:latin typeface="Times New Roman"/>
                <a:cs typeface="Times New Roman"/>
              </a:rPr>
              <a:t> </a:t>
            </a:r>
            <a:r>
              <a:rPr sz="2400" spc="-13" dirty="0">
                <a:latin typeface="Times New Roman"/>
                <a:cs typeface="Times New Roman"/>
              </a:rPr>
              <a:t>user.</a:t>
            </a:r>
            <a:endParaRPr sz="2400">
              <a:latin typeface="Times New Roman"/>
              <a:cs typeface="Times New Roman"/>
            </a:endParaRPr>
          </a:p>
          <a:p>
            <a:pPr marL="625671" marR="410623" indent="-457189">
              <a:lnSpc>
                <a:spcPct val="114999"/>
              </a:lnSpc>
              <a:buChar char="●"/>
              <a:tabLst>
                <a:tab pos="625671" algn="l"/>
              </a:tabLst>
            </a:pPr>
            <a:r>
              <a:rPr sz="2400" dirty="0">
                <a:latin typeface="Times New Roman"/>
                <a:cs typeface="Times New Roman"/>
              </a:rPr>
              <a:t>Liquid</a:t>
            </a:r>
            <a:r>
              <a:rPr sz="2400" spc="-53" dirty="0">
                <a:latin typeface="Times New Roman"/>
                <a:cs typeface="Times New Roman"/>
              </a:rPr>
              <a:t> </a:t>
            </a:r>
            <a:r>
              <a:rPr sz="2400" dirty="0">
                <a:latin typeface="Times New Roman"/>
                <a:cs typeface="Times New Roman"/>
              </a:rPr>
              <a:t>Crystal</a:t>
            </a:r>
            <a:r>
              <a:rPr sz="2400" spc="-60" dirty="0">
                <a:latin typeface="Times New Roman"/>
                <a:cs typeface="Times New Roman"/>
              </a:rPr>
              <a:t> </a:t>
            </a:r>
            <a:r>
              <a:rPr sz="2400" dirty="0">
                <a:latin typeface="Times New Roman"/>
                <a:cs typeface="Times New Roman"/>
              </a:rPr>
              <a:t>Displays</a:t>
            </a:r>
            <a:r>
              <a:rPr sz="2400" spc="-53" dirty="0">
                <a:latin typeface="Times New Roman"/>
                <a:cs typeface="Times New Roman"/>
              </a:rPr>
              <a:t> </a:t>
            </a:r>
            <a:r>
              <a:rPr sz="2400" dirty="0">
                <a:latin typeface="Times New Roman"/>
                <a:cs typeface="Times New Roman"/>
              </a:rPr>
              <a:t>(LCD)</a:t>
            </a:r>
            <a:r>
              <a:rPr sz="2400" spc="-33" dirty="0">
                <a:latin typeface="Times New Roman"/>
                <a:cs typeface="Times New Roman"/>
              </a:rPr>
              <a:t> </a:t>
            </a:r>
            <a:r>
              <a:rPr sz="2400" dirty="0">
                <a:latin typeface="Times New Roman"/>
                <a:cs typeface="Times New Roman"/>
              </a:rPr>
              <a:t>and</a:t>
            </a:r>
            <a:r>
              <a:rPr sz="2400" spc="-13" dirty="0">
                <a:latin typeface="Times New Roman"/>
                <a:cs typeface="Times New Roman"/>
              </a:rPr>
              <a:t> </a:t>
            </a:r>
            <a:r>
              <a:rPr sz="2400" dirty="0">
                <a:latin typeface="Times New Roman"/>
                <a:cs typeface="Times New Roman"/>
              </a:rPr>
              <a:t>the</a:t>
            </a:r>
            <a:r>
              <a:rPr sz="2400" spc="-40" dirty="0">
                <a:latin typeface="Times New Roman"/>
                <a:cs typeface="Times New Roman"/>
              </a:rPr>
              <a:t> </a:t>
            </a:r>
            <a:r>
              <a:rPr sz="2400" dirty="0">
                <a:latin typeface="Times New Roman"/>
                <a:cs typeface="Times New Roman"/>
              </a:rPr>
              <a:t>Light</a:t>
            </a:r>
            <a:r>
              <a:rPr sz="2400" spc="-27" dirty="0">
                <a:latin typeface="Times New Roman"/>
                <a:cs typeface="Times New Roman"/>
              </a:rPr>
              <a:t> </a:t>
            </a:r>
            <a:r>
              <a:rPr sz="2400" dirty="0">
                <a:latin typeface="Times New Roman"/>
                <a:cs typeface="Times New Roman"/>
              </a:rPr>
              <a:t>Emitting</a:t>
            </a:r>
            <a:r>
              <a:rPr sz="2400" spc="-47" dirty="0">
                <a:latin typeface="Times New Roman"/>
                <a:cs typeface="Times New Roman"/>
              </a:rPr>
              <a:t> </a:t>
            </a:r>
            <a:r>
              <a:rPr sz="2400" dirty="0">
                <a:latin typeface="Times New Roman"/>
                <a:cs typeface="Times New Roman"/>
              </a:rPr>
              <a:t>Diodes</a:t>
            </a:r>
            <a:r>
              <a:rPr sz="2400" spc="-27" dirty="0">
                <a:latin typeface="Times New Roman"/>
                <a:cs typeface="Times New Roman"/>
              </a:rPr>
              <a:t> </a:t>
            </a:r>
            <a:r>
              <a:rPr sz="2400" dirty="0">
                <a:latin typeface="Times New Roman"/>
                <a:cs typeface="Times New Roman"/>
              </a:rPr>
              <a:t>(LED)</a:t>
            </a:r>
            <a:r>
              <a:rPr sz="2400" spc="-33" dirty="0">
                <a:latin typeface="Times New Roman"/>
                <a:cs typeface="Times New Roman"/>
              </a:rPr>
              <a:t> </a:t>
            </a:r>
            <a:r>
              <a:rPr sz="2400" dirty="0">
                <a:latin typeface="Times New Roman"/>
                <a:cs typeface="Times New Roman"/>
              </a:rPr>
              <a:t>are</a:t>
            </a:r>
            <a:r>
              <a:rPr sz="2400" spc="-27" dirty="0">
                <a:latin typeface="Times New Roman"/>
                <a:cs typeface="Times New Roman"/>
              </a:rPr>
              <a:t> </a:t>
            </a:r>
            <a:r>
              <a:rPr sz="2400" spc="-13" dirty="0">
                <a:latin typeface="Times New Roman"/>
                <a:cs typeface="Times New Roman"/>
              </a:rPr>
              <a:t>preferred </a:t>
            </a:r>
            <a:r>
              <a:rPr sz="2400" dirty="0">
                <a:latin typeface="Times New Roman"/>
                <a:cs typeface="Times New Roman"/>
              </a:rPr>
              <a:t>for</a:t>
            </a:r>
            <a:r>
              <a:rPr sz="2400" spc="-47" dirty="0">
                <a:latin typeface="Times New Roman"/>
                <a:cs typeface="Times New Roman"/>
              </a:rPr>
              <a:t> </a:t>
            </a:r>
            <a:r>
              <a:rPr sz="2400" dirty="0">
                <a:latin typeface="Times New Roman"/>
                <a:cs typeface="Times New Roman"/>
              </a:rPr>
              <a:t>their</a:t>
            </a:r>
            <a:r>
              <a:rPr sz="2400" spc="-47" dirty="0">
                <a:latin typeface="Times New Roman"/>
                <a:cs typeface="Times New Roman"/>
              </a:rPr>
              <a:t> </a:t>
            </a:r>
            <a:r>
              <a:rPr sz="2400" dirty="0">
                <a:latin typeface="Times New Roman"/>
                <a:cs typeface="Times New Roman"/>
              </a:rPr>
              <a:t>low</a:t>
            </a:r>
            <a:r>
              <a:rPr sz="2400" spc="-53" dirty="0">
                <a:latin typeface="Times New Roman"/>
                <a:cs typeface="Times New Roman"/>
              </a:rPr>
              <a:t> </a:t>
            </a:r>
            <a:r>
              <a:rPr sz="2400" dirty="0">
                <a:latin typeface="Times New Roman"/>
                <a:cs typeface="Times New Roman"/>
              </a:rPr>
              <a:t>cost</a:t>
            </a:r>
            <a:r>
              <a:rPr sz="2400" spc="-20" dirty="0">
                <a:latin typeface="Times New Roman"/>
                <a:cs typeface="Times New Roman"/>
              </a:rPr>
              <a:t> </a:t>
            </a:r>
            <a:r>
              <a:rPr sz="2400" dirty="0">
                <a:latin typeface="Times New Roman"/>
                <a:cs typeface="Times New Roman"/>
              </a:rPr>
              <a:t>and</a:t>
            </a:r>
            <a:r>
              <a:rPr sz="2400" spc="-40" dirty="0">
                <a:latin typeface="Times New Roman"/>
                <a:cs typeface="Times New Roman"/>
              </a:rPr>
              <a:t> </a:t>
            </a:r>
            <a:r>
              <a:rPr sz="2400" dirty="0">
                <a:latin typeface="Times New Roman"/>
                <a:cs typeface="Times New Roman"/>
              </a:rPr>
              <a:t>low</a:t>
            </a:r>
            <a:r>
              <a:rPr sz="2400" spc="-53" dirty="0">
                <a:latin typeface="Times New Roman"/>
                <a:cs typeface="Times New Roman"/>
              </a:rPr>
              <a:t> </a:t>
            </a:r>
            <a:r>
              <a:rPr sz="2400" dirty="0">
                <a:latin typeface="Times New Roman"/>
                <a:cs typeface="Times New Roman"/>
              </a:rPr>
              <a:t>power</a:t>
            </a:r>
            <a:r>
              <a:rPr sz="2400" spc="-27" dirty="0">
                <a:latin typeface="Times New Roman"/>
                <a:cs typeface="Times New Roman"/>
              </a:rPr>
              <a:t> </a:t>
            </a:r>
            <a:r>
              <a:rPr sz="2400" dirty="0">
                <a:latin typeface="Times New Roman"/>
                <a:cs typeface="Times New Roman"/>
              </a:rPr>
              <a:t>consumption</a:t>
            </a:r>
            <a:r>
              <a:rPr sz="2400" spc="-47" dirty="0">
                <a:latin typeface="Times New Roman"/>
                <a:cs typeface="Times New Roman"/>
              </a:rPr>
              <a:t> </a:t>
            </a:r>
            <a:r>
              <a:rPr sz="2400" spc="-13" dirty="0">
                <a:latin typeface="Times New Roman"/>
                <a:cs typeface="Times New Roman"/>
              </a:rPr>
              <a:t>requirements.</a:t>
            </a:r>
            <a:endParaRPr sz="2400">
              <a:latin typeface="Times New Roman"/>
              <a:cs typeface="Times New Roman"/>
            </a:endParaRPr>
          </a:p>
          <a:p>
            <a:pPr marL="625671" indent="-456342">
              <a:spcBef>
                <a:spcPts val="427"/>
              </a:spcBef>
              <a:buChar char="●"/>
              <a:tabLst>
                <a:tab pos="625671" algn="l"/>
              </a:tabLst>
            </a:pPr>
            <a:r>
              <a:rPr sz="2400" dirty="0">
                <a:latin typeface="Times New Roman"/>
                <a:cs typeface="Times New Roman"/>
              </a:rPr>
              <a:t>Smart</a:t>
            </a:r>
            <a:r>
              <a:rPr sz="2400" spc="-27" dirty="0">
                <a:latin typeface="Times New Roman"/>
                <a:cs typeface="Times New Roman"/>
              </a:rPr>
              <a:t> </a:t>
            </a:r>
            <a:r>
              <a:rPr sz="2400" dirty="0">
                <a:latin typeface="Times New Roman"/>
                <a:cs typeface="Times New Roman"/>
              </a:rPr>
              <a:t>meters</a:t>
            </a:r>
            <a:r>
              <a:rPr sz="2400" spc="-47" dirty="0">
                <a:latin typeface="Times New Roman"/>
                <a:cs typeface="Times New Roman"/>
              </a:rPr>
              <a:t> </a:t>
            </a:r>
            <a:r>
              <a:rPr sz="2400" dirty="0">
                <a:latin typeface="Times New Roman"/>
                <a:cs typeface="Times New Roman"/>
              </a:rPr>
              <a:t>provide</a:t>
            </a:r>
            <a:r>
              <a:rPr sz="2400" spc="-33" dirty="0">
                <a:latin typeface="Times New Roman"/>
                <a:cs typeface="Times New Roman"/>
              </a:rPr>
              <a:t> </a:t>
            </a:r>
            <a:r>
              <a:rPr sz="2400" dirty="0">
                <a:latin typeface="Times New Roman"/>
                <a:cs typeface="Times New Roman"/>
              </a:rPr>
              <a:t>a</a:t>
            </a:r>
            <a:r>
              <a:rPr sz="2400" spc="-33" dirty="0">
                <a:latin typeface="Times New Roman"/>
                <a:cs typeface="Times New Roman"/>
              </a:rPr>
              <a:t> </a:t>
            </a:r>
            <a:r>
              <a:rPr sz="2400" dirty="0">
                <a:latin typeface="Times New Roman"/>
                <a:cs typeface="Times New Roman"/>
              </a:rPr>
              <a:t>small</a:t>
            </a:r>
            <a:r>
              <a:rPr sz="2400" spc="-13" dirty="0">
                <a:latin typeface="Times New Roman"/>
                <a:cs typeface="Times New Roman"/>
              </a:rPr>
              <a:t> </a:t>
            </a:r>
            <a:r>
              <a:rPr sz="2400" dirty="0">
                <a:latin typeface="Times New Roman"/>
                <a:cs typeface="Times New Roman"/>
              </a:rPr>
              <a:t>key</a:t>
            </a:r>
            <a:r>
              <a:rPr sz="2400" spc="-40" dirty="0">
                <a:latin typeface="Times New Roman"/>
                <a:cs typeface="Times New Roman"/>
              </a:rPr>
              <a:t> </a:t>
            </a:r>
            <a:r>
              <a:rPr sz="2400" dirty="0">
                <a:latin typeface="Times New Roman"/>
                <a:cs typeface="Times New Roman"/>
              </a:rPr>
              <a:t>pad</a:t>
            </a:r>
            <a:r>
              <a:rPr sz="2400" spc="-40" dirty="0">
                <a:latin typeface="Times New Roman"/>
                <a:cs typeface="Times New Roman"/>
              </a:rPr>
              <a:t> </a:t>
            </a:r>
            <a:r>
              <a:rPr sz="2400" dirty="0">
                <a:latin typeface="Times New Roman"/>
                <a:cs typeface="Times New Roman"/>
              </a:rPr>
              <a:t>or</a:t>
            </a:r>
            <a:r>
              <a:rPr sz="2400" spc="-20" dirty="0">
                <a:latin typeface="Times New Roman"/>
                <a:cs typeface="Times New Roman"/>
              </a:rPr>
              <a:t> </a:t>
            </a:r>
            <a:r>
              <a:rPr sz="2400" dirty="0">
                <a:latin typeface="Times New Roman"/>
                <a:cs typeface="Times New Roman"/>
              </a:rPr>
              <a:t>touch</a:t>
            </a:r>
            <a:r>
              <a:rPr sz="2400" spc="-40" dirty="0">
                <a:latin typeface="Times New Roman"/>
                <a:cs typeface="Times New Roman"/>
              </a:rPr>
              <a:t> </a:t>
            </a:r>
            <a:r>
              <a:rPr sz="2400" dirty="0">
                <a:latin typeface="Times New Roman"/>
                <a:cs typeface="Times New Roman"/>
              </a:rPr>
              <a:t>screen</a:t>
            </a:r>
            <a:r>
              <a:rPr sz="2400" spc="-53" dirty="0">
                <a:latin typeface="Times New Roman"/>
                <a:cs typeface="Times New Roman"/>
              </a:rPr>
              <a:t> </a:t>
            </a:r>
            <a:r>
              <a:rPr sz="2400" dirty="0">
                <a:latin typeface="Times New Roman"/>
                <a:cs typeface="Times New Roman"/>
              </a:rPr>
              <a:t>for</a:t>
            </a:r>
            <a:r>
              <a:rPr sz="2400" spc="-20" dirty="0">
                <a:latin typeface="Times New Roman"/>
                <a:cs typeface="Times New Roman"/>
              </a:rPr>
              <a:t> </a:t>
            </a:r>
            <a:r>
              <a:rPr sz="2400" spc="-13" dirty="0">
                <a:latin typeface="Times New Roman"/>
                <a:cs typeface="Times New Roman"/>
              </a:rPr>
              <a:t>human-</a:t>
            </a:r>
            <a:r>
              <a:rPr sz="2400" dirty="0">
                <a:latin typeface="Times New Roman"/>
                <a:cs typeface="Times New Roman"/>
              </a:rPr>
              <a:t>machine</a:t>
            </a:r>
            <a:r>
              <a:rPr sz="2400" spc="-27" dirty="0">
                <a:latin typeface="Times New Roman"/>
                <a:cs typeface="Times New Roman"/>
              </a:rPr>
              <a:t> </a:t>
            </a:r>
            <a:r>
              <a:rPr sz="2400" spc="-13" dirty="0">
                <a:latin typeface="Times New Roman"/>
                <a:cs typeface="Times New Roman"/>
              </a:rPr>
              <a:t>interaction</a:t>
            </a:r>
            <a:endParaRPr sz="2400">
              <a:latin typeface="Times New Roman"/>
              <a:cs typeface="Times New Roman"/>
            </a:endParaRPr>
          </a:p>
          <a:p>
            <a:pPr marL="625671" marR="1291134" indent="-457189">
              <a:lnSpc>
                <a:spcPct val="114999"/>
              </a:lnSpc>
              <a:spcBef>
                <a:spcPts val="7"/>
              </a:spcBef>
              <a:buChar char="●"/>
              <a:tabLst>
                <a:tab pos="625671" algn="l"/>
              </a:tabLst>
            </a:pPr>
            <a:r>
              <a:rPr sz="2400" dirty="0">
                <a:latin typeface="Times New Roman"/>
                <a:cs typeface="Times New Roman"/>
              </a:rPr>
              <a:t>Some</a:t>
            </a:r>
            <a:r>
              <a:rPr sz="2400" spc="-27" dirty="0">
                <a:latin typeface="Times New Roman"/>
                <a:cs typeface="Times New Roman"/>
              </a:rPr>
              <a:t> </a:t>
            </a:r>
            <a:r>
              <a:rPr sz="2400" dirty="0">
                <a:latin typeface="Times New Roman"/>
                <a:cs typeface="Times New Roman"/>
              </a:rPr>
              <a:t>meters</a:t>
            </a:r>
            <a:r>
              <a:rPr sz="2400" spc="-40" dirty="0">
                <a:latin typeface="Times New Roman"/>
                <a:cs typeface="Times New Roman"/>
              </a:rPr>
              <a:t> </a:t>
            </a:r>
            <a:r>
              <a:rPr sz="2400" dirty="0">
                <a:latin typeface="Times New Roman"/>
                <a:cs typeface="Times New Roman"/>
              </a:rPr>
              <a:t>also</a:t>
            </a:r>
            <a:r>
              <a:rPr sz="2400" spc="-47" dirty="0">
                <a:latin typeface="Times New Roman"/>
                <a:cs typeface="Times New Roman"/>
              </a:rPr>
              <a:t> </a:t>
            </a:r>
            <a:r>
              <a:rPr sz="2400" dirty="0">
                <a:latin typeface="Times New Roman"/>
                <a:cs typeface="Times New Roman"/>
              </a:rPr>
              <a:t>provide</a:t>
            </a:r>
            <a:r>
              <a:rPr sz="2400" spc="-40" dirty="0">
                <a:latin typeface="Times New Roman"/>
                <a:cs typeface="Times New Roman"/>
              </a:rPr>
              <a:t> </a:t>
            </a:r>
            <a:r>
              <a:rPr sz="2400" dirty="0">
                <a:latin typeface="Times New Roman"/>
                <a:cs typeface="Times New Roman"/>
              </a:rPr>
              <a:t>remote</a:t>
            </a:r>
            <a:r>
              <a:rPr sz="2400" spc="-40" dirty="0">
                <a:latin typeface="Times New Roman"/>
                <a:cs typeface="Times New Roman"/>
              </a:rPr>
              <a:t> </a:t>
            </a:r>
            <a:r>
              <a:rPr sz="2400" dirty="0">
                <a:latin typeface="Times New Roman"/>
                <a:cs typeface="Times New Roman"/>
              </a:rPr>
              <a:t>calibration</a:t>
            </a:r>
            <a:r>
              <a:rPr sz="2400" spc="-80" dirty="0">
                <a:latin typeface="Times New Roman"/>
                <a:cs typeface="Times New Roman"/>
              </a:rPr>
              <a:t> </a:t>
            </a:r>
            <a:r>
              <a:rPr sz="2400" dirty="0">
                <a:latin typeface="Times New Roman"/>
                <a:cs typeface="Times New Roman"/>
              </a:rPr>
              <a:t>and</a:t>
            </a:r>
            <a:r>
              <a:rPr sz="2400" spc="-47" dirty="0">
                <a:latin typeface="Times New Roman"/>
                <a:cs typeface="Times New Roman"/>
              </a:rPr>
              <a:t> </a:t>
            </a:r>
            <a:r>
              <a:rPr sz="2400" dirty="0">
                <a:latin typeface="Times New Roman"/>
                <a:cs typeface="Times New Roman"/>
              </a:rPr>
              <a:t>control</a:t>
            </a:r>
            <a:r>
              <a:rPr sz="2400" spc="-40" dirty="0">
                <a:latin typeface="Times New Roman"/>
                <a:cs typeface="Times New Roman"/>
              </a:rPr>
              <a:t> </a:t>
            </a:r>
            <a:r>
              <a:rPr sz="2400" dirty="0">
                <a:latin typeface="Times New Roman"/>
                <a:cs typeface="Times New Roman"/>
              </a:rPr>
              <a:t>capability</a:t>
            </a:r>
            <a:r>
              <a:rPr sz="2400" spc="-60" dirty="0">
                <a:latin typeface="Times New Roman"/>
                <a:cs typeface="Times New Roman"/>
              </a:rPr>
              <a:t> </a:t>
            </a:r>
            <a:r>
              <a:rPr sz="2400" spc="-13" dirty="0">
                <a:latin typeface="Times New Roman"/>
                <a:cs typeface="Times New Roman"/>
              </a:rPr>
              <a:t>through </a:t>
            </a:r>
            <a:r>
              <a:rPr sz="2400" dirty="0">
                <a:latin typeface="Times New Roman"/>
                <a:cs typeface="Times New Roman"/>
              </a:rPr>
              <a:t>communication</a:t>
            </a:r>
            <a:r>
              <a:rPr sz="2400" spc="-53" dirty="0">
                <a:latin typeface="Times New Roman"/>
                <a:cs typeface="Times New Roman"/>
              </a:rPr>
              <a:t> </a:t>
            </a:r>
            <a:r>
              <a:rPr sz="2400" spc="-13" dirty="0">
                <a:latin typeface="Times New Roman"/>
                <a:cs typeface="Times New Roman"/>
              </a:rPr>
              <a:t>links.</a:t>
            </a:r>
            <a:endParaRPr sz="2400">
              <a:latin typeface="Times New Roman"/>
              <a:cs typeface="Times New Roman"/>
            </a:endParaRPr>
          </a:p>
          <a:p>
            <a:pPr marL="625671" marR="6773" indent="-457189">
              <a:lnSpc>
                <a:spcPct val="114999"/>
              </a:lnSpc>
              <a:buChar char="●"/>
              <a:tabLst>
                <a:tab pos="625671" algn="l"/>
                <a:tab pos="701022" algn="l"/>
              </a:tabLst>
            </a:pPr>
            <a:r>
              <a:rPr sz="2400" dirty="0">
                <a:latin typeface="Times New Roman"/>
                <a:cs typeface="Times New Roman"/>
              </a:rPr>
              <a:t>	Energy</a:t>
            </a:r>
            <a:r>
              <a:rPr sz="2400" spc="-40" dirty="0">
                <a:latin typeface="Times New Roman"/>
                <a:cs typeface="Times New Roman"/>
              </a:rPr>
              <a:t> </a:t>
            </a:r>
            <a:r>
              <a:rPr sz="2400" dirty="0">
                <a:latin typeface="Times New Roman"/>
                <a:cs typeface="Times New Roman"/>
              </a:rPr>
              <a:t>consumption</a:t>
            </a:r>
            <a:r>
              <a:rPr sz="2400" spc="-20" dirty="0">
                <a:latin typeface="Times New Roman"/>
                <a:cs typeface="Times New Roman"/>
              </a:rPr>
              <a:t> </a:t>
            </a:r>
            <a:r>
              <a:rPr sz="2400" dirty="0">
                <a:latin typeface="Times New Roman"/>
                <a:cs typeface="Times New Roman"/>
              </a:rPr>
              <a:t>and</a:t>
            </a:r>
            <a:r>
              <a:rPr sz="2400" spc="-40" dirty="0">
                <a:latin typeface="Times New Roman"/>
                <a:cs typeface="Times New Roman"/>
              </a:rPr>
              <a:t> </a:t>
            </a:r>
            <a:r>
              <a:rPr sz="2400" dirty="0">
                <a:latin typeface="Times New Roman"/>
                <a:cs typeface="Times New Roman"/>
              </a:rPr>
              <a:t>tariffs</a:t>
            </a:r>
            <a:r>
              <a:rPr sz="2400" spc="-40" dirty="0">
                <a:latin typeface="Times New Roman"/>
                <a:cs typeface="Times New Roman"/>
              </a:rPr>
              <a:t> </a:t>
            </a:r>
            <a:r>
              <a:rPr sz="2400" dirty="0">
                <a:latin typeface="Times New Roman"/>
                <a:cs typeface="Times New Roman"/>
              </a:rPr>
              <a:t>may</a:t>
            </a:r>
            <a:r>
              <a:rPr sz="2400" spc="-20" dirty="0">
                <a:latin typeface="Times New Roman"/>
                <a:cs typeface="Times New Roman"/>
              </a:rPr>
              <a:t> </a:t>
            </a:r>
            <a:r>
              <a:rPr sz="2400" dirty="0">
                <a:latin typeface="Times New Roman"/>
                <a:cs typeface="Times New Roman"/>
              </a:rPr>
              <a:t>be</a:t>
            </a:r>
            <a:r>
              <a:rPr sz="2400" spc="-27" dirty="0">
                <a:latin typeface="Times New Roman"/>
                <a:cs typeface="Times New Roman"/>
              </a:rPr>
              <a:t> </a:t>
            </a:r>
            <a:r>
              <a:rPr sz="2400" dirty="0">
                <a:latin typeface="Times New Roman"/>
                <a:cs typeface="Times New Roman"/>
              </a:rPr>
              <a:t>displayed</a:t>
            </a:r>
            <a:r>
              <a:rPr sz="2400" spc="-87" dirty="0">
                <a:latin typeface="Times New Roman"/>
                <a:cs typeface="Times New Roman"/>
              </a:rPr>
              <a:t> </a:t>
            </a:r>
            <a:r>
              <a:rPr sz="2400" dirty="0">
                <a:latin typeface="Times New Roman"/>
                <a:cs typeface="Times New Roman"/>
              </a:rPr>
              <a:t>on</a:t>
            </a:r>
            <a:r>
              <a:rPr sz="2400" spc="-20" dirty="0">
                <a:latin typeface="Times New Roman"/>
                <a:cs typeface="Times New Roman"/>
              </a:rPr>
              <a:t> </a:t>
            </a:r>
            <a:r>
              <a:rPr sz="2400" dirty="0">
                <a:latin typeface="Times New Roman"/>
                <a:cs typeface="Times New Roman"/>
              </a:rPr>
              <a:t>a</a:t>
            </a:r>
            <a:r>
              <a:rPr sz="2400" spc="-33" dirty="0">
                <a:latin typeface="Times New Roman"/>
                <a:cs typeface="Times New Roman"/>
              </a:rPr>
              <a:t> </a:t>
            </a:r>
            <a:r>
              <a:rPr sz="2400" dirty="0">
                <a:latin typeface="Times New Roman"/>
                <a:cs typeface="Times New Roman"/>
              </a:rPr>
              <a:t>separate</a:t>
            </a:r>
            <a:r>
              <a:rPr sz="2400" spc="-40" dirty="0">
                <a:latin typeface="Times New Roman"/>
                <a:cs typeface="Times New Roman"/>
              </a:rPr>
              <a:t> </a:t>
            </a:r>
            <a:r>
              <a:rPr sz="2400" dirty="0">
                <a:latin typeface="Times New Roman"/>
                <a:cs typeface="Times New Roman"/>
              </a:rPr>
              <a:t>customer</a:t>
            </a:r>
            <a:r>
              <a:rPr sz="2400" spc="-20" dirty="0">
                <a:latin typeface="Times New Roman"/>
                <a:cs typeface="Times New Roman"/>
              </a:rPr>
              <a:t> </a:t>
            </a:r>
            <a:r>
              <a:rPr sz="2400" dirty="0">
                <a:latin typeface="Times New Roman"/>
                <a:cs typeface="Times New Roman"/>
              </a:rPr>
              <a:t>display</a:t>
            </a:r>
            <a:r>
              <a:rPr sz="2400" spc="-40" dirty="0">
                <a:latin typeface="Times New Roman"/>
                <a:cs typeface="Times New Roman"/>
              </a:rPr>
              <a:t> </a:t>
            </a:r>
            <a:r>
              <a:rPr sz="2400" spc="-27" dirty="0">
                <a:latin typeface="Times New Roman"/>
                <a:cs typeface="Times New Roman"/>
              </a:rPr>
              <a:t>unit </a:t>
            </a:r>
            <a:r>
              <a:rPr sz="2400" dirty="0">
                <a:latin typeface="Times New Roman"/>
                <a:cs typeface="Times New Roman"/>
              </a:rPr>
              <a:t>located</a:t>
            </a:r>
            <a:r>
              <a:rPr sz="2400" spc="-53" dirty="0">
                <a:latin typeface="Times New Roman"/>
                <a:cs typeface="Times New Roman"/>
              </a:rPr>
              <a:t> </a:t>
            </a:r>
            <a:r>
              <a:rPr sz="2400" dirty="0">
                <a:latin typeface="Times New Roman"/>
                <a:cs typeface="Times New Roman"/>
              </a:rPr>
              <a:t>in</a:t>
            </a:r>
            <a:r>
              <a:rPr sz="2400" spc="-27" dirty="0">
                <a:latin typeface="Times New Roman"/>
                <a:cs typeface="Times New Roman"/>
              </a:rPr>
              <a:t> </a:t>
            </a:r>
            <a:r>
              <a:rPr sz="2400" dirty="0">
                <a:latin typeface="Times New Roman"/>
                <a:cs typeface="Times New Roman"/>
              </a:rPr>
              <a:t>an</a:t>
            </a:r>
            <a:r>
              <a:rPr sz="2400" spc="-20" dirty="0">
                <a:latin typeface="Times New Roman"/>
                <a:cs typeface="Times New Roman"/>
              </a:rPr>
              <a:t> </a:t>
            </a:r>
            <a:r>
              <a:rPr sz="2400" dirty="0">
                <a:latin typeface="Times New Roman"/>
                <a:cs typeface="Times New Roman"/>
              </a:rPr>
              <a:t>easily</a:t>
            </a:r>
            <a:r>
              <a:rPr sz="2400" spc="-27" dirty="0">
                <a:latin typeface="Times New Roman"/>
                <a:cs typeface="Times New Roman"/>
              </a:rPr>
              <a:t> </a:t>
            </a:r>
            <a:r>
              <a:rPr sz="2400" dirty="0">
                <a:latin typeface="Times New Roman"/>
                <a:cs typeface="Times New Roman"/>
              </a:rPr>
              <a:t>visible</a:t>
            </a:r>
            <a:r>
              <a:rPr sz="2400" spc="-33" dirty="0">
                <a:latin typeface="Times New Roman"/>
                <a:cs typeface="Times New Roman"/>
              </a:rPr>
              <a:t> </a:t>
            </a:r>
            <a:r>
              <a:rPr sz="2400" dirty="0">
                <a:latin typeface="Times New Roman"/>
                <a:cs typeface="Times New Roman"/>
              </a:rPr>
              <a:t>location</a:t>
            </a:r>
            <a:r>
              <a:rPr sz="2400" spc="-33" dirty="0">
                <a:latin typeface="Times New Roman"/>
                <a:cs typeface="Times New Roman"/>
              </a:rPr>
              <a:t> </a:t>
            </a:r>
            <a:r>
              <a:rPr sz="2400" dirty="0">
                <a:latin typeface="Times New Roman"/>
                <a:cs typeface="Times New Roman"/>
              </a:rPr>
              <a:t>within</a:t>
            </a:r>
            <a:r>
              <a:rPr sz="2400" spc="-27" dirty="0">
                <a:latin typeface="Times New Roman"/>
                <a:cs typeface="Times New Roman"/>
              </a:rPr>
              <a:t> </a:t>
            </a:r>
            <a:r>
              <a:rPr sz="2400" dirty="0">
                <a:latin typeface="Times New Roman"/>
                <a:cs typeface="Times New Roman"/>
              </a:rPr>
              <a:t>the</a:t>
            </a:r>
            <a:r>
              <a:rPr sz="2400" spc="-13" dirty="0">
                <a:latin typeface="Times New Roman"/>
                <a:cs typeface="Times New Roman"/>
              </a:rPr>
              <a:t> residence</a:t>
            </a:r>
            <a:endParaRPr sz="2400">
              <a:latin typeface="Times New Roman"/>
              <a:cs typeface="Times New Roman"/>
            </a:endParaRPr>
          </a:p>
          <a:p>
            <a:pPr marL="625671" marR="193882" indent="-457189">
              <a:lnSpc>
                <a:spcPct val="114999"/>
              </a:lnSpc>
              <a:buChar char="●"/>
              <a:tabLst>
                <a:tab pos="625671" algn="l"/>
              </a:tabLst>
            </a:pPr>
            <a:r>
              <a:rPr sz="2400" dirty="0">
                <a:latin typeface="Times New Roman"/>
                <a:cs typeface="Times New Roman"/>
              </a:rPr>
              <a:t>This</a:t>
            </a:r>
            <a:r>
              <a:rPr sz="2400" spc="-53" dirty="0">
                <a:latin typeface="Times New Roman"/>
                <a:cs typeface="Times New Roman"/>
              </a:rPr>
              <a:t> </a:t>
            </a:r>
            <a:r>
              <a:rPr sz="2400" dirty="0">
                <a:latin typeface="Times New Roman"/>
                <a:cs typeface="Times New Roman"/>
              </a:rPr>
              <a:t>is</a:t>
            </a:r>
            <a:r>
              <a:rPr sz="2400" spc="-33" dirty="0">
                <a:latin typeface="Times New Roman"/>
                <a:cs typeface="Times New Roman"/>
              </a:rPr>
              <a:t> </a:t>
            </a:r>
            <a:r>
              <a:rPr sz="2400" dirty="0">
                <a:latin typeface="Times New Roman"/>
                <a:cs typeface="Times New Roman"/>
              </a:rPr>
              <a:t>to</a:t>
            </a:r>
            <a:r>
              <a:rPr sz="2400" spc="-47" dirty="0">
                <a:latin typeface="Times New Roman"/>
                <a:cs typeface="Times New Roman"/>
              </a:rPr>
              <a:t> </a:t>
            </a:r>
            <a:r>
              <a:rPr sz="2400" dirty="0">
                <a:latin typeface="Times New Roman"/>
                <a:cs typeface="Times New Roman"/>
              </a:rPr>
              <a:t>encourage</a:t>
            </a:r>
            <a:r>
              <a:rPr sz="2400" spc="-53" dirty="0">
                <a:latin typeface="Times New Roman"/>
                <a:cs typeface="Times New Roman"/>
              </a:rPr>
              <a:t> </a:t>
            </a:r>
            <a:r>
              <a:rPr sz="2400" dirty="0">
                <a:latin typeface="Times New Roman"/>
                <a:cs typeface="Times New Roman"/>
              </a:rPr>
              <a:t>customers</a:t>
            </a:r>
            <a:r>
              <a:rPr sz="2400" spc="-40" dirty="0">
                <a:latin typeface="Times New Roman"/>
                <a:cs typeface="Times New Roman"/>
              </a:rPr>
              <a:t> </a:t>
            </a:r>
            <a:r>
              <a:rPr sz="2400" dirty="0">
                <a:latin typeface="Times New Roman"/>
                <a:cs typeface="Times New Roman"/>
              </a:rPr>
              <a:t>to</a:t>
            </a:r>
            <a:r>
              <a:rPr sz="2400" spc="-47" dirty="0">
                <a:latin typeface="Times New Roman"/>
                <a:cs typeface="Times New Roman"/>
              </a:rPr>
              <a:t> </a:t>
            </a:r>
            <a:r>
              <a:rPr sz="2400" dirty="0">
                <a:latin typeface="Times New Roman"/>
                <a:cs typeface="Times New Roman"/>
              </a:rPr>
              <a:t>reduce</a:t>
            </a:r>
            <a:r>
              <a:rPr sz="2400" spc="-40" dirty="0">
                <a:latin typeface="Times New Roman"/>
                <a:cs typeface="Times New Roman"/>
              </a:rPr>
              <a:t> </a:t>
            </a:r>
            <a:r>
              <a:rPr sz="2400" dirty="0">
                <a:latin typeface="Times New Roman"/>
                <a:cs typeface="Times New Roman"/>
              </a:rPr>
              <a:t>their</a:t>
            </a:r>
            <a:r>
              <a:rPr sz="2400" spc="-60" dirty="0">
                <a:latin typeface="Times New Roman"/>
                <a:cs typeface="Times New Roman"/>
              </a:rPr>
              <a:t> </a:t>
            </a:r>
            <a:r>
              <a:rPr sz="2400" dirty="0">
                <a:latin typeface="Times New Roman"/>
                <a:cs typeface="Times New Roman"/>
              </a:rPr>
              <a:t>energy</a:t>
            </a:r>
            <a:r>
              <a:rPr sz="2400" spc="-53" dirty="0">
                <a:latin typeface="Times New Roman"/>
                <a:cs typeface="Times New Roman"/>
              </a:rPr>
              <a:t> </a:t>
            </a:r>
            <a:r>
              <a:rPr sz="2400" dirty="0">
                <a:latin typeface="Times New Roman"/>
                <a:cs typeface="Times New Roman"/>
              </a:rPr>
              <a:t>use,</a:t>
            </a:r>
            <a:r>
              <a:rPr sz="2400" spc="-33" dirty="0">
                <a:latin typeface="Times New Roman"/>
                <a:cs typeface="Times New Roman"/>
              </a:rPr>
              <a:t> </a:t>
            </a:r>
            <a:r>
              <a:rPr sz="2400" dirty="0">
                <a:latin typeface="Times New Roman"/>
                <a:cs typeface="Times New Roman"/>
              </a:rPr>
              <a:t>either</a:t>
            </a:r>
            <a:r>
              <a:rPr sz="2400" spc="-60" dirty="0">
                <a:latin typeface="Times New Roman"/>
                <a:cs typeface="Times New Roman"/>
              </a:rPr>
              <a:t> </a:t>
            </a:r>
            <a:r>
              <a:rPr sz="2400" dirty="0">
                <a:latin typeface="Times New Roman"/>
                <a:cs typeface="Times New Roman"/>
              </a:rPr>
              <a:t>throughout</a:t>
            </a:r>
            <a:r>
              <a:rPr sz="2400" spc="-47" dirty="0">
                <a:latin typeface="Times New Roman"/>
                <a:cs typeface="Times New Roman"/>
              </a:rPr>
              <a:t> </a:t>
            </a:r>
            <a:r>
              <a:rPr sz="2400" dirty="0">
                <a:latin typeface="Times New Roman"/>
                <a:cs typeface="Times New Roman"/>
              </a:rPr>
              <a:t>the</a:t>
            </a:r>
            <a:r>
              <a:rPr sz="2400" spc="-40" dirty="0">
                <a:latin typeface="Times New Roman"/>
                <a:cs typeface="Times New Roman"/>
              </a:rPr>
              <a:t> </a:t>
            </a:r>
            <a:r>
              <a:rPr sz="2400" spc="-27" dirty="0">
                <a:latin typeface="Times New Roman"/>
                <a:cs typeface="Times New Roman"/>
              </a:rPr>
              <a:t>year </a:t>
            </a:r>
            <a:r>
              <a:rPr sz="2400" dirty="0">
                <a:latin typeface="Times New Roman"/>
                <a:cs typeface="Times New Roman"/>
              </a:rPr>
              <a:t>or</a:t>
            </a:r>
            <a:r>
              <a:rPr sz="2400" spc="-33" dirty="0">
                <a:latin typeface="Times New Roman"/>
                <a:cs typeface="Times New Roman"/>
              </a:rPr>
              <a:t> </a:t>
            </a:r>
            <a:r>
              <a:rPr sz="2400" dirty="0">
                <a:latin typeface="Times New Roman"/>
                <a:cs typeface="Times New Roman"/>
              </a:rPr>
              <a:t>at</a:t>
            </a:r>
            <a:r>
              <a:rPr sz="2400" spc="-33" dirty="0">
                <a:latin typeface="Times New Roman"/>
                <a:cs typeface="Times New Roman"/>
              </a:rPr>
              <a:t> </a:t>
            </a:r>
            <a:r>
              <a:rPr sz="2400" dirty="0">
                <a:latin typeface="Times New Roman"/>
                <a:cs typeface="Times New Roman"/>
              </a:rPr>
              <a:t>times</a:t>
            </a:r>
            <a:r>
              <a:rPr sz="2400" spc="-20" dirty="0">
                <a:latin typeface="Times New Roman"/>
                <a:cs typeface="Times New Roman"/>
              </a:rPr>
              <a:t> </a:t>
            </a:r>
            <a:r>
              <a:rPr sz="2400" dirty="0">
                <a:latin typeface="Times New Roman"/>
                <a:cs typeface="Times New Roman"/>
              </a:rPr>
              <a:t>of</a:t>
            </a:r>
            <a:r>
              <a:rPr sz="2400" spc="-33" dirty="0">
                <a:latin typeface="Times New Roman"/>
                <a:cs typeface="Times New Roman"/>
              </a:rPr>
              <a:t> </a:t>
            </a:r>
            <a:r>
              <a:rPr sz="2400" dirty="0">
                <a:latin typeface="Times New Roman"/>
                <a:cs typeface="Times New Roman"/>
              </a:rPr>
              <a:t>peak</a:t>
            </a:r>
            <a:r>
              <a:rPr sz="2400" spc="-33" dirty="0">
                <a:latin typeface="Times New Roman"/>
                <a:cs typeface="Times New Roman"/>
              </a:rPr>
              <a:t> </a:t>
            </a:r>
            <a:r>
              <a:rPr sz="2400" dirty="0">
                <a:latin typeface="Times New Roman"/>
                <a:cs typeface="Times New Roman"/>
              </a:rPr>
              <a:t>demand</a:t>
            </a:r>
            <a:r>
              <a:rPr sz="2400" spc="-13" dirty="0">
                <a:latin typeface="Times New Roman"/>
                <a:cs typeface="Times New Roman"/>
              </a:rPr>
              <a:t> </a:t>
            </a:r>
            <a:r>
              <a:rPr sz="2400" dirty="0">
                <a:latin typeface="Times New Roman"/>
                <a:cs typeface="Times New Roman"/>
              </a:rPr>
              <a:t>when</a:t>
            </a:r>
            <a:r>
              <a:rPr sz="2400" spc="-33" dirty="0">
                <a:latin typeface="Times New Roman"/>
                <a:cs typeface="Times New Roman"/>
              </a:rPr>
              <a:t> </a:t>
            </a:r>
            <a:r>
              <a:rPr sz="2400" dirty="0">
                <a:latin typeface="Times New Roman"/>
                <a:cs typeface="Times New Roman"/>
              </a:rPr>
              <a:t>generation</a:t>
            </a:r>
            <a:r>
              <a:rPr sz="2400" spc="-47" dirty="0">
                <a:latin typeface="Times New Roman"/>
                <a:cs typeface="Times New Roman"/>
              </a:rPr>
              <a:t> </a:t>
            </a:r>
            <a:r>
              <a:rPr sz="2400" dirty="0">
                <a:latin typeface="Times New Roman"/>
                <a:cs typeface="Times New Roman"/>
              </a:rPr>
              <a:t>is</a:t>
            </a:r>
            <a:r>
              <a:rPr sz="2400" spc="-20" dirty="0">
                <a:latin typeface="Times New Roman"/>
                <a:cs typeface="Times New Roman"/>
              </a:rPr>
              <a:t> </a:t>
            </a:r>
            <a:r>
              <a:rPr sz="2400" spc="-13" dirty="0">
                <a:latin typeface="Times New Roman"/>
                <a:cs typeface="Times New Roman"/>
              </a:rPr>
              <a:t>short.</a:t>
            </a:r>
            <a:endParaRPr sz="2400">
              <a:latin typeface="Times New Roman"/>
              <a:cs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2C696-9096-54CE-275A-D4EF9E8650D3}"/>
              </a:ext>
            </a:extLst>
          </p:cNvPr>
          <p:cNvSpPr>
            <a:spLocks noGrp="1"/>
          </p:cNvSpPr>
          <p:nvPr>
            <p:ph type="title"/>
          </p:nvPr>
        </p:nvSpPr>
        <p:spPr>
          <a:xfrm>
            <a:off x="1371599" y="294538"/>
            <a:ext cx="9895951" cy="1033669"/>
          </a:xfrm>
        </p:spPr>
        <p:txBody>
          <a:bodyPr>
            <a:normAutofit/>
          </a:bodyPr>
          <a:lstStyle/>
          <a:p>
            <a:r>
              <a:rPr kumimoji="0" lang="en-US" sz="4000" b="0" i="0" u="none" strike="noStrike" kern="1200" cap="none" spc="0" normalizeH="0" baseline="0" noProof="0">
                <a:ln>
                  <a:noFill/>
                </a:ln>
                <a:solidFill>
                  <a:srgbClr val="FFFFFF"/>
                </a:solidFill>
                <a:effectLst/>
                <a:uLnTx/>
                <a:uFillTx/>
                <a:latin typeface="Trebuchet MS" panose="020B0603020202020204"/>
                <a:ea typeface="+mj-ea"/>
                <a:cs typeface="+mj-cs"/>
              </a:rPr>
              <a:t>SMART METERING</a:t>
            </a:r>
            <a:endParaRPr lang="en-IN" sz="4000">
              <a:solidFill>
                <a:srgbClr val="FFFFFF"/>
              </a:solidFill>
            </a:endParaRPr>
          </a:p>
        </p:txBody>
      </p:sp>
      <p:sp>
        <p:nvSpPr>
          <p:cNvPr id="3" name="Content Placeholder 2">
            <a:extLst>
              <a:ext uri="{FF2B5EF4-FFF2-40B4-BE49-F238E27FC236}">
                <a16:creationId xmlns:a16="http://schemas.microsoft.com/office/drawing/2014/main" id="{1BEE8688-949B-F8C4-E353-AB620F480AD3}"/>
              </a:ext>
            </a:extLst>
          </p:cNvPr>
          <p:cNvSpPr>
            <a:spLocks noGrp="1"/>
          </p:cNvSpPr>
          <p:nvPr>
            <p:ph idx="1"/>
          </p:nvPr>
        </p:nvSpPr>
        <p:spPr>
          <a:xfrm>
            <a:off x="335281" y="1885278"/>
            <a:ext cx="11440160" cy="4586641"/>
          </a:xfrm>
        </p:spPr>
        <p:txBody>
          <a:bodyPr anchor="ctr">
            <a:normAutofit/>
          </a:bodyPr>
          <a:lstStyle/>
          <a:p>
            <a:pPr marL="342900" marR="0" lvl="0" indent="-342900" defTabSz="457200" rtl="0" eaLnBrk="1" fontAlgn="auto" latinLnBrk="0" hangingPunct="1">
              <a:spcBef>
                <a:spcPts val="1000"/>
              </a:spcBef>
              <a:spcAft>
                <a:spcPts val="0"/>
              </a:spcAft>
              <a:buClr>
                <a:srgbClr val="90C226"/>
              </a:buClr>
              <a:buSzPct val="80000"/>
              <a:buFont typeface="Wingdings 3" charset="2"/>
              <a:buChar char=""/>
              <a:tabLst/>
              <a:defRPr/>
            </a:pPr>
            <a:r>
              <a:rPr kumimoji="0" lang="en-US" sz="2000" b="0" i="0" u="none" strike="noStrike" kern="1200" cap="none" spc="0" normalizeH="0" baseline="0" noProof="0" dirty="0">
                <a:ln>
                  <a:noFill/>
                </a:ln>
                <a:effectLst/>
                <a:uLnTx/>
                <a:uFillTx/>
                <a:latin typeface="Trebuchet MS" panose="020B0603020202020204"/>
                <a:ea typeface="+mn-ea"/>
                <a:cs typeface="+mn-cs"/>
              </a:rPr>
              <a:t>A smart meter tracks the utility energy consumption that occurs on the system or outlet it is attached to. For example, a smart meter connected to a natural gas line tracks the number of </a:t>
            </a:r>
            <a:r>
              <a:rPr kumimoji="0" lang="en-US" sz="2000" b="0" i="0" u="none" strike="noStrike" kern="1200" cap="none" spc="0" normalizeH="0" baseline="0" noProof="0" dirty="0" err="1">
                <a:ln>
                  <a:noFill/>
                </a:ln>
                <a:effectLst/>
                <a:uLnTx/>
                <a:uFillTx/>
                <a:latin typeface="Trebuchet MS" panose="020B0603020202020204"/>
                <a:ea typeface="+mn-ea"/>
                <a:cs typeface="+mn-cs"/>
              </a:rPr>
              <a:t>therms</a:t>
            </a:r>
            <a:r>
              <a:rPr kumimoji="0" lang="en-US" sz="2000" b="0" i="0" u="none" strike="noStrike" kern="1200" cap="none" spc="0" normalizeH="0" baseline="0" noProof="0" dirty="0">
                <a:ln>
                  <a:noFill/>
                </a:ln>
                <a:effectLst/>
                <a:uLnTx/>
                <a:uFillTx/>
                <a:latin typeface="Trebuchet MS" panose="020B0603020202020204"/>
                <a:ea typeface="+mn-ea"/>
                <a:cs typeface="+mn-cs"/>
              </a:rPr>
              <a:t> consumed.</a:t>
            </a:r>
          </a:p>
          <a:p>
            <a:pPr marL="342900" marR="0" lvl="0" indent="-342900" defTabSz="457200" rtl="0" eaLnBrk="1" fontAlgn="auto" latinLnBrk="0" hangingPunct="1">
              <a:spcBef>
                <a:spcPts val="1000"/>
              </a:spcBef>
              <a:spcAft>
                <a:spcPts val="0"/>
              </a:spcAft>
              <a:buClr>
                <a:srgbClr val="90C226"/>
              </a:buClr>
              <a:buSzPct val="80000"/>
              <a:buFont typeface="Wingdings 3" charset="2"/>
              <a:buChar char=""/>
              <a:tabLst/>
              <a:defRPr/>
            </a:pPr>
            <a:r>
              <a:rPr kumimoji="0" lang="en-US" sz="2000" b="0" i="0" u="none" strike="noStrike" kern="1200" cap="none" spc="0" normalizeH="0" baseline="0" noProof="0" dirty="0">
                <a:ln>
                  <a:noFill/>
                </a:ln>
                <a:effectLst/>
                <a:uLnTx/>
                <a:uFillTx/>
                <a:latin typeface="Trebuchet MS" panose="020B0603020202020204"/>
                <a:ea typeface="+mn-ea"/>
                <a:cs typeface="+mn-cs"/>
              </a:rPr>
              <a:t>Smart metering is the main initiative for fulfilling the objectives of smart grid (SG).</a:t>
            </a:r>
          </a:p>
          <a:p>
            <a:pPr marL="342900" marR="0" lvl="0" indent="-342900" defTabSz="457200" rtl="0" eaLnBrk="1" fontAlgn="auto" latinLnBrk="0" hangingPunct="1">
              <a:spcBef>
                <a:spcPts val="1000"/>
              </a:spcBef>
              <a:spcAft>
                <a:spcPts val="0"/>
              </a:spcAft>
              <a:buClr>
                <a:srgbClr val="90C226"/>
              </a:buClr>
              <a:buSzPct val="80000"/>
              <a:buFont typeface="Wingdings 3" charset="2"/>
              <a:buChar char=""/>
              <a:tabLst/>
              <a:defRPr/>
            </a:pPr>
            <a:r>
              <a:rPr kumimoji="0" lang="en-US" sz="2000" b="0" i="0" u="none" strike="noStrike" kern="1200" cap="none" spc="0" normalizeH="0" baseline="0" noProof="0" dirty="0">
                <a:ln>
                  <a:noFill/>
                </a:ln>
                <a:effectLst/>
                <a:uLnTx/>
                <a:uFillTx/>
                <a:latin typeface="Trebuchet MS" panose="020B0603020202020204"/>
                <a:ea typeface="+mn-ea"/>
                <a:cs typeface="+mn-cs"/>
              </a:rPr>
              <a:t>Smart metering reduces the commercial losses, monitoring of energy (real time or near real time), energy theft detection, enhancement in grid reliability, and leads to better revenue as well as tariff management.</a:t>
            </a:r>
          </a:p>
          <a:p>
            <a:pPr marL="342900" marR="0" lvl="0" indent="-342900" defTabSz="457200" rtl="0" eaLnBrk="1" fontAlgn="auto" latinLnBrk="0" hangingPunct="1">
              <a:spcBef>
                <a:spcPts val="1000"/>
              </a:spcBef>
              <a:spcAft>
                <a:spcPts val="0"/>
              </a:spcAft>
              <a:buClr>
                <a:srgbClr val="90C226"/>
              </a:buClr>
              <a:buSzPct val="80000"/>
              <a:buFont typeface="Wingdings 3" charset="2"/>
              <a:buChar char=""/>
              <a:tabLst/>
              <a:defRPr/>
            </a:pPr>
            <a:r>
              <a:rPr kumimoji="0" lang="en-US" sz="2000" b="0" i="0" u="none" strike="noStrike" kern="1200" cap="none" spc="0" normalizeH="0" baseline="0" noProof="0" dirty="0">
                <a:ln>
                  <a:noFill/>
                </a:ln>
                <a:effectLst/>
                <a:uLnTx/>
                <a:uFillTx/>
                <a:latin typeface="Trebuchet MS" panose="020B0603020202020204"/>
                <a:ea typeface="+mn-ea"/>
                <a:cs typeface="+mn-cs"/>
              </a:rPr>
              <a:t>It introduces innovative tariff structures and dispatches accurate bills based on meter data, thus reducing the annoyance of customers and increasing the improvement of customer loyalty.</a:t>
            </a:r>
          </a:p>
          <a:p>
            <a:pPr marL="342900" marR="0" lvl="0" indent="-342900" defTabSz="457200" rtl="0" eaLnBrk="1" fontAlgn="auto" latinLnBrk="0" hangingPunct="1">
              <a:spcBef>
                <a:spcPts val="1000"/>
              </a:spcBef>
              <a:spcAft>
                <a:spcPts val="0"/>
              </a:spcAft>
              <a:buClr>
                <a:srgbClr val="90C226"/>
              </a:buClr>
              <a:buSzPct val="80000"/>
              <a:buFont typeface="Wingdings 3" charset="2"/>
              <a:buChar char=""/>
              <a:tabLst/>
              <a:defRPr/>
            </a:pPr>
            <a:r>
              <a:rPr kumimoji="0" lang="en-US" sz="2000" b="0" i="0" u="none" strike="noStrike" kern="1200" cap="none" spc="0" normalizeH="0" baseline="0" noProof="0" dirty="0">
                <a:ln>
                  <a:noFill/>
                </a:ln>
                <a:effectLst/>
                <a:uLnTx/>
                <a:uFillTx/>
                <a:latin typeface="Trebuchet MS" panose="020B0603020202020204"/>
                <a:ea typeface="+mn-ea"/>
                <a:cs typeface="+mn-cs"/>
              </a:rPr>
              <a:t>It will encourage consumers to change behavior and optimize energy consumption, even by generating electricity at their own premises and vend it back to the grid.</a:t>
            </a:r>
            <a:endParaRPr kumimoji="0" lang="en-IN" sz="2000" b="1" i="0" u="none" strike="noStrike" kern="1200" cap="none" spc="0" normalizeH="0" baseline="0" noProof="0" dirty="0">
              <a:ln>
                <a:noFill/>
              </a:ln>
              <a:effectLst/>
              <a:uLnTx/>
              <a:uFillTx/>
              <a:latin typeface="Trebuchet MS" panose="020B0603020202020204"/>
              <a:ea typeface="+mn-ea"/>
              <a:cs typeface="+mn-cs"/>
            </a:endParaRPr>
          </a:p>
          <a:p>
            <a:endParaRPr lang="en-IN" sz="2000" dirty="0"/>
          </a:p>
        </p:txBody>
      </p:sp>
    </p:spTree>
    <p:extLst>
      <p:ext uri="{BB962C8B-B14F-4D97-AF65-F5344CB8AC3E}">
        <p14:creationId xmlns:p14="http://schemas.microsoft.com/office/powerpoint/2010/main" val="27997738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287991-AEA1-A502-DB28-4B7E18A17B38}"/>
              </a:ext>
            </a:extLst>
          </p:cNvPr>
          <p:cNvSpPr>
            <a:spLocks noGrp="1"/>
          </p:cNvSpPr>
          <p:nvPr>
            <p:ph type="title"/>
          </p:nvPr>
        </p:nvSpPr>
        <p:spPr>
          <a:xfrm>
            <a:off x="838200" y="365125"/>
            <a:ext cx="10515600" cy="1325563"/>
          </a:xfrm>
        </p:spPr>
        <p:txBody>
          <a:bodyPr>
            <a:normAutofit/>
          </a:bodyPr>
          <a:lstStyle/>
          <a:p>
            <a:r>
              <a:rPr lang="en-US" sz="4600"/>
              <a:t>Basic Architecture of Smart Meter System</a:t>
            </a:r>
            <a:endParaRPr lang="en-IN" sz="4600"/>
          </a:p>
        </p:txBody>
      </p:sp>
      <p:sp>
        <p:nvSpPr>
          <p:cNvPr id="3" name="Content Placeholder 2">
            <a:extLst>
              <a:ext uri="{FF2B5EF4-FFF2-40B4-BE49-F238E27FC236}">
                <a16:creationId xmlns:a16="http://schemas.microsoft.com/office/drawing/2014/main" id="{374A226C-2713-60CA-667A-6D4765453DC0}"/>
              </a:ext>
            </a:extLst>
          </p:cNvPr>
          <p:cNvSpPr>
            <a:spLocks noGrp="1"/>
          </p:cNvSpPr>
          <p:nvPr>
            <p:ph idx="1"/>
          </p:nvPr>
        </p:nvSpPr>
        <p:spPr>
          <a:xfrm>
            <a:off x="838200" y="1929384"/>
            <a:ext cx="10515600" cy="4251960"/>
          </a:xfrm>
        </p:spPr>
        <p:txBody>
          <a:bodyPr>
            <a:normAutofit/>
          </a:bodyPr>
          <a:lstStyle/>
          <a:p>
            <a:pPr marL="342900" marR="0" lvl="0" indent="-342900" algn="just" defTabSz="457200" rtl="0" eaLnBrk="1" fontAlgn="auto" latinLnBrk="0" hangingPunct="1">
              <a:spcBef>
                <a:spcPts val="1000"/>
              </a:spcBef>
              <a:spcAft>
                <a:spcPts val="0"/>
              </a:spcAft>
              <a:buClr>
                <a:srgbClr val="90C226"/>
              </a:buClr>
              <a:buSzPct val="80000"/>
              <a:buFont typeface="Wingdings 3" charset="2"/>
              <a:buChar char=""/>
              <a:tabLst/>
              <a:defRPr/>
            </a:pPr>
            <a:r>
              <a:rPr kumimoji="0" lang="en-US" sz="2200" b="0" i="0" u="none" strike="noStrike" kern="1200" cap="none" spc="0" normalizeH="0" baseline="0" noProof="0" dirty="0">
                <a:ln>
                  <a:noFill/>
                </a:ln>
                <a:effectLst/>
                <a:uLnTx/>
                <a:uFillTx/>
                <a:latin typeface="Trebuchet MS" panose="020B0603020202020204"/>
                <a:ea typeface="+mn-ea"/>
                <a:cs typeface="+mn-cs"/>
              </a:rPr>
              <a:t>The smart meters collect data locally and transmit via a local area network to a data collector. The collector retrieves the data and may or may not carry out any processing of the data.</a:t>
            </a:r>
          </a:p>
          <a:p>
            <a:pPr marL="342900" marR="0" lvl="0" indent="-342900" algn="just" defTabSz="457200" rtl="0" eaLnBrk="1" fontAlgn="auto" latinLnBrk="0" hangingPunct="1">
              <a:spcBef>
                <a:spcPts val="1000"/>
              </a:spcBef>
              <a:spcAft>
                <a:spcPts val="0"/>
              </a:spcAft>
              <a:buClr>
                <a:srgbClr val="90C226"/>
              </a:buClr>
              <a:buSzPct val="80000"/>
              <a:buFont typeface="Wingdings 3" charset="2"/>
              <a:buChar char=""/>
              <a:tabLst/>
              <a:defRPr/>
            </a:pPr>
            <a:r>
              <a:rPr kumimoji="0" lang="en-US" sz="2200" b="0" i="0" u="none" strike="noStrike" kern="1200" cap="none" spc="0" normalizeH="0" baseline="0" noProof="0" dirty="0">
                <a:ln>
                  <a:noFill/>
                </a:ln>
                <a:effectLst/>
                <a:uLnTx/>
                <a:uFillTx/>
                <a:latin typeface="Trebuchet MS" panose="020B0603020202020204"/>
                <a:ea typeface="+mn-ea"/>
                <a:cs typeface="+mn-cs"/>
              </a:rPr>
              <a:t>Data is transmitted via a wide area network (WAN) to the utility central collection point for processing and use </a:t>
            </a:r>
            <a:r>
              <a:rPr kumimoji="0" lang="en-IN" sz="2200" b="0" i="0" u="none" strike="noStrike" kern="1200" cap="none" spc="0" normalizeH="0" baseline="0" noProof="0" dirty="0">
                <a:ln>
                  <a:noFill/>
                </a:ln>
                <a:effectLst/>
                <a:uLnTx/>
                <a:uFillTx/>
                <a:latin typeface="Trebuchet MS" panose="020B0603020202020204"/>
                <a:ea typeface="+mn-ea"/>
                <a:cs typeface="+mn-cs"/>
              </a:rPr>
              <a:t>by business applications. </a:t>
            </a:r>
          </a:p>
          <a:p>
            <a:pPr marL="342900" marR="0" lvl="0" indent="-342900" algn="just" defTabSz="457200" rtl="0" eaLnBrk="1" fontAlgn="auto" latinLnBrk="0" hangingPunct="1">
              <a:spcBef>
                <a:spcPts val="1000"/>
              </a:spcBef>
              <a:spcAft>
                <a:spcPts val="0"/>
              </a:spcAft>
              <a:buClr>
                <a:srgbClr val="90C226"/>
              </a:buClr>
              <a:buSzPct val="80000"/>
              <a:buFont typeface="Wingdings 3" charset="2"/>
              <a:buChar char=""/>
              <a:tabLst/>
              <a:defRPr/>
            </a:pPr>
            <a:r>
              <a:rPr kumimoji="0" lang="en-US" sz="2200" b="0" i="0" u="none" strike="noStrike" kern="1200" cap="none" spc="0" normalizeH="0" baseline="0" noProof="0" dirty="0">
                <a:ln>
                  <a:noFill/>
                </a:ln>
                <a:effectLst/>
                <a:uLnTx/>
                <a:uFillTx/>
                <a:latin typeface="Trebuchet MS" panose="020B0603020202020204"/>
                <a:ea typeface="+mn-ea"/>
                <a:cs typeface="+mn-cs"/>
              </a:rPr>
              <a:t>Depending on the application, energy, gas, or water metering, one or more sensors may be interfaced to front end electronics, an energy source with the associated power management circuitry, a communication node, and a microcontroller for system management</a:t>
            </a:r>
          </a:p>
          <a:p>
            <a:pPr marL="342900" marR="0" lvl="0" indent="-342900" algn="just" defTabSz="457200" rtl="0" eaLnBrk="1" fontAlgn="auto" latinLnBrk="0" hangingPunct="1">
              <a:spcBef>
                <a:spcPts val="1000"/>
              </a:spcBef>
              <a:spcAft>
                <a:spcPts val="0"/>
              </a:spcAft>
              <a:buClr>
                <a:srgbClr val="90C226"/>
              </a:buClr>
              <a:buSzPct val="80000"/>
              <a:buFont typeface="Wingdings 3" charset="2"/>
              <a:buChar char=""/>
              <a:tabLst/>
              <a:defRPr/>
            </a:pPr>
            <a:r>
              <a:rPr kumimoji="0" lang="en-US" sz="2200" b="0" i="0" u="none" strike="noStrike" kern="1200" cap="none" spc="0" normalizeH="0" baseline="0" noProof="0" dirty="0">
                <a:ln>
                  <a:noFill/>
                </a:ln>
                <a:effectLst/>
                <a:uLnTx/>
                <a:uFillTx/>
                <a:latin typeface="Trebuchet MS" panose="020B0603020202020204"/>
                <a:ea typeface="+mn-ea"/>
                <a:cs typeface="+mn-cs"/>
              </a:rPr>
              <a:t>There are three main areas of a smart meter design namely- the power system, microcontroller, and communications interface</a:t>
            </a:r>
            <a:endParaRPr lang="en-IN" sz="2200" dirty="0"/>
          </a:p>
        </p:txBody>
      </p:sp>
    </p:spTree>
    <p:extLst>
      <p:ext uri="{BB962C8B-B14F-4D97-AF65-F5344CB8AC3E}">
        <p14:creationId xmlns:p14="http://schemas.microsoft.com/office/powerpoint/2010/main" val="14967495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8A0F5-6678-6CD5-8FF6-6626ED6F1F63}"/>
              </a:ext>
            </a:extLst>
          </p:cNvPr>
          <p:cNvSpPr>
            <a:spLocks noGrp="1"/>
          </p:cNvSpPr>
          <p:nvPr>
            <p:ph type="title"/>
          </p:nvPr>
        </p:nvSpPr>
        <p:spPr/>
        <p:txBody>
          <a:bodyPr/>
          <a:lstStyle/>
          <a:p>
            <a:endParaRPr lang="en-IN" dirty="0"/>
          </a:p>
        </p:txBody>
      </p:sp>
      <p:pic>
        <p:nvPicPr>
          <p:cNvPr id="4" name="Content Placeholder 3">
            <a:extLst>
              <a:ext uri="{FF2B5EF4-FFF2-40B4-BE49-F238E27FC236}">
                <a16:creationId xmlns:a16="http://schemas.microsoft.com/office/drawing/2014/main" id="{18AFDDB3-0A0E-B7F4-487E-8A051FC9DD4C}"/>
              </a:ext>
            </a:extLst>
          </p:cNvPr>
          <p:cNvPicPr>
            <a:picLocks noGrp="1" noChangeAspect="1"/>
          </p:cNvPicPr>
          <p:nvPr>
            <p:ph idx="1"/>
          </p:nvPr>
        </p:nvPicPr>
        <p:blipFill>
          <a:blip r:embed="rId2"/>
          <a:stretch>
            <a:fillRect/>
          </a:stretch>
        </p:blipFill>
        <p:spPr>
          <a:xfrm>
            <a:off x="288235" y="1904087"/>
            <a:ext cx="11459817" cy="4685555"/>
          </a:xfrm>
          <a:prstGeom prst="rect">
            <a:avLst/>
          </a:prstGeom>
        </p:spPr>
      </p:pic>
      <p:pic>
        <p:nvPicPr>
          <p:cNvPr id="6" name="Picture 5">
            <a:extLst>
              <a:ext uri="{FF2B5EF4-FFF2-40B4-BE49-F238E27FC236}">
                <a16:creationId xmlns:a16="http://schemas.microsoft.com/office/drawing/2014/main" id="{D79E14D5-CA07-79DC-AA15-841ADD4F0F7F}"/>
              </a:ext>
            </a:extLst>
          </p:cNvPr>
          <p:cNvPicPr>
            <a:picLocks noChangeAspect="1"/>
          </p:cNvPicPr>
          <p:nvPr/>
        </p:nvPicPr>
        <p:blipFill>
          <a:blip r:embed="rId3"/>
          <a:stretch>
            <a:fillRect/>
          </a:stretch>
        </p:blipFill>
        <p:spPr>
          <a:xfrm>
            <a:off x="4126821" y="5999056"/>
            <a:ext cx="3938357" cy="493819"/>
          </a:xfrm>
          <a:prstGeom prst="rect">
            <a:avLst/>
          </a:prstGeom>
        </p:spPr>
      </p:pic>
    </p:spTree>
    <p:extLst>
      <p:ext uri="{BB962C8B-B14F-4D97-AF65-F5344CB8AC3E}">
        <p14:creationId xmlns:p14="http://schemas.microsoft.com/office/powerpoint/2010/main" val="22651357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18BEA2-E9D7-5366-EA53-F26201A006C5}"/>
              </a:ext>
            </a:extLst>
          </p:cNvPr>
          <p:cNvSpPr>
            <a:spLocks noGrp="1"/>
          </p:cNvSpPr>
          <p:nvPr>
            <p:ph type="title"/>
          </p:nvPr>
        </p:nvSpPr>
        <p:spPr/>
        <p:txBody>
          <a:bodyPr/>
          <a:lstStyle/>
          <a:p>
            <a:r>
              <a:rPr lang="en-IN" dirty="0"/>
              <a:t>SMART METER SYSTEM</a:t>
            </a:r>
          </a:p>
        </p:txBody>
      </p:sp>
      <p:sp>
        <p:nvSpPr>
          <p:cNvPr id="3" name="Content Placeholder 2">
            <a:extLst>
              <a:ext uri="{FF2B5EF4-FFF2-40B4-BE49-F238E27FC236}">
                <a16:creationId xmlns:a16="http://schemas.microsoft.com/office/drawing/2014/main" id="{B87ACAA1-1287-2BE5-2BA5-6DF206D6A873}"/>
              </a:ext>
            </a:extLst>
          </p:cNvPr>
          <p:cNvSpPr>
            <a:spLocks noGrp="1"/>
          </p:cNvSpPr>
          <p:nvPr>
            <p:ph idx="1"/>
          </p:nvPr>
        </p:nvSpPr>
        <p:spPr>
          <a:xfrm>
            <a:off x="406400" y="1523999"/>
            <a:ext cx="11409680" cy="4968875"/>
          </a:xfrm>
        </p:spPr>
        <p:txBody>
          <a:bodyPr>
            <a:normAutofit/>
          </a:bodyPr>
          <a:lstStyle/>
          <a:p>
            <a:pPr marL="0" marR="0" lvl="0" indent="0" algn="l" defTabSz="457200" rtl="0" eaLnBrk="1" fontAlgn="auto" latinLnBrk="0" hangingPunct="1">
              <a:lnSpc>
                <a:spcPct val="100000"/>
              </a:lnSpc>
              <a:spcBef>
                <a:spcPts val="1000"/>
              </a:spcBef>
              <a:spcAft>
                <a:spcPts val="0"/>
              </a:spcAft>
              <a:buClr>
                <a:srgbClr val="90C226"/>
              </a:buClr>
              <a:buSzPct val="80000"/>
              <a:buFont typeface="Wingdings 3" charset="2"/>
              <a:buNone/>
              <a:tabLst/>
              <a:defRPr/>
            </a:pPr>
            <a:r>
              <a:rPr kumimoji="0" lang="en-US" sz="2400" b="0" i="0" u="none" strike="noStrike" kern="1200" cap="none" spc="0" normalizeH="0" baseline="0" noProof="0" dirty="0">
                <a:ln>
                  <a:noFill/>
                </a:ln>
                <a:solidFill>
                  <a:prstClr val="black">
                    <a:lumMod val="75000"/>
                    <a:lumOff val="25000"/>
                  </a:prstClr>
                </a:solidFill>
                <a:effectLst/>
                <a:uLnTx/>
                <a:uFillTx/>
                <a:latin typeface="Trebuchet MS" panose="020B0603020202020204"/>
                <a:ea typeface="+mn-ea"/>
                <a:cs typeface="+mn-cs"/>
              </a:rPr>
              <a:t>Smart metering in power grids requires specific hardware to support the functionality of the system. Here are some examples of hardware used in smart metering in power grids:</a:t>
            </a:r>
          </a:p>
          <a:p>
            <a:pPr marL="342900" marR="0" lvl="0" indent="-342900" algn="l" defTabSz="457200" rtl="0" eaLnBrk="1" fontAlgn="auto" latinLnBrk="0" hangingPunct="1">
              <a:lnSpc>
                <a:spcPct val="100000"/>
              </a:lnSpc>
              <a:spcBef>
                <a:spcPts val="1000"/>
              </a:spcBef>
              <a:spcAft>
                <a:spcPts val="0"/>
              </a:spcAft>
              <a:buClr>
                <a:srgbClr val="90C226"/>
              </a:buClr>
              <a:buSzPct val="80000"/>
              <a:buFont typeface="Wingdings 3" charset="2"/>
              <a:buChar char=""/>
              <a:tabLst/>
              <a:defRPr/>
            </a:pPr>
            <a:r>
              <a:rPr kumimoji="0" lang="en-US" sz="2400" b="1" i="0" u="sng" strike="noStrike" kern="1200" cap="none" spc="0" normalizeH="0" baseline="0" noProof="0" dirty="0">
                <a:ln>
                  <a:noFill/>
                </a:ln>
                <a:solidFill>
                  <a:prstClr val="black">
                    <a:lumMod val="75000"/>
                    <a:lumOff val="25000"/>
                  </a:prstClr>
                </a:solidFill>
                <a:effectLst/>
                <a:uLnTx/>
                <a:uFillTx/>
                <a:latin typeface="Trebuchet MS" panose="020B0603020202020204"/>
                <a:ea typeface="+mn-ea"/>
                <a:cs typeface="+mn-cs"/>
              </a:rPr>
              <a:t>Smart Meters</a:t>
            </a:r>
            <a:r>
              <a:rPr kumimoji="0" lang="en-US" sz="2400" b="0" i="0" u="none" strike="noStrike" kern="1200" cap="none" spc="0" normalizeH="0" baseline="0" noProof="0" dirty="0">
                <a:ln>
                  <a:noFill/>
                </a:ln>
                <a:solidFill>
                  <a:prstClr val="black">
                    <a:lumMod val="75000"/>
                    <a:lumOff val="25000"/>
                  </a:prstClr>
                </a:solidFill>
                <a:effectLst/>
                <a:uLnTx/>
                <a:uFillTx/>
                <a:latin typeface="Trebuchet MS" panose="020B0603020202020204"/>
                <a:ea typeface="+mn-ea"/>
                <a:cs typeface="+mn-cs"/>
              </a:rPr>
              <a:t>: As with smart metering in general, smart meters are a critical component of the hardware used in smart metering in power grids. These meters are installed at customers' premises to measure and monitor energy consumption.</a:t>
            </a:r>
          </a:p>
          <a:p>
            <a:pPr marL="342900" marR="0" lvl="0" indent="-342900" algn="l" defTabSz="457200" rtl="0" eaLnBrk="1" fontAlgn="auto" latinLnBrk="0" hangingPunct="1">
              <a:lnSpc>
                <a:spcPct val="100000"/>
              </a:lnSpc>
              <a:spcBef>
                <a:spcPts val="1000"/>
              </a:spcBef>
              <a:spcAft>
                <a:spcPts val="0"/>
              </a:spcAft>
              <a:buClr>
                <a:srgbClr val="90C226"/>
              </a:buClr>
              <a:buSzPct val="80000"/>
              <a:buFont typeface="Wingdings 3" charset="2"/>
              <a:buChar char=""/>
              <a:tabLst/>
              <a:defRPr/>
            </a:pPr>
            <a:r>
              <a:rPr kumimoji="0" lang="en-US" sz="2400" b="1" i="0" u="sng" strike="noStrike" kern="1200" cap="none" spc="0" normalizeH="0" baseline="0" noProof="0" dirty="0">
                <a:ln>
                  <a:noFill/>
                </a:ln>
                <a:solidFill>
                  <a:prstClr val="black">
                    <a:lumMod val="75000"/>
                    <a:lumOff val="25000"/>
                  </a:prstClr>
                </a:solidFill>
                <a:effectLst/>
                <a:uLnTx/>
                <a:uFillTx/>
                <a:latin typeface="Trebuchet MS" panose="020B0603020202020204"/>
                <a:ea typeface="+mn-ea"/>
                <a:cs typeface="+mn-cs"/>
              </a:rPr>
              <a:t>Data Concentrators</a:t>
            </a:r>
            <a:r>
              <a:rPr kumimoji="0" lang="en-US" sz="2400" b="0" i="0" u="none" strike="noStrike" kern="1200" cap="none" spc="0" normalizeH="0" baseline="0" noProof="0" dirty="0">
                <a:ln>
                  <a:noFill/>
                </a:ln>
                <a:solidFill>
                  <a:prstClr val="black">
                    <a:lumMod val="75000"/>
                    <a:lumOff val="25000"/>
                  </a:prstClr>
                </a:solidFill>
                <a:effectLst/>
                <a:uLnTx/>
                <a:uFillTx/>
                <a:latin typeface="Trebuchet MS" panose="020B0603020202020204"/>
                <a:ea typeface="+mn-ea"/>
                <a:cs typeface="+mn-cs"/>
              </a:rPr>
              <a:t>: Similar to smart metering in general, data concentrators are used in power grids to collect data from multiple smart meters and transmit it to a central data management system. This helps utilities to gather and analyze data on energy usage across the grid.</a:t>
            </a:r>
          </a:p>
          <a:p>
            <a:pPr marL="342900" marR="0" lvl="0" indent="-342900" algn="l" defTabSz="457200" rtl="0" eaLnBrk="1" fontAlgn="base" latinLnBrk="0" hangingPunct="1">
              <a:lnSpc>
                <a:spcPct val="100000"/>
              </a:lnSpc>
              <a:spcBef>
                <a:spcPts val="1000"/>
              </a:spcBef>
              <a:spcAft>
                <a:spcPts val="0"/>
              </a:spcAft>
              <a:buClr>
                <a:srgbClr val="90C226"/>
              </a:buClr>
              <a:buSzPct val="80000"/>
              <a:buFont typeface="Wingdings 3" charset="2"/>
              <a:buChar char=""/>
              <a:tabLst/>
              <a:defRPr/>
            </a:pPr>
            <a:endParaRPr kumimoji="0" lang="en-US" sz="2400" b="0" i="0" u="none" strike="noStrike" kern="1200" cap="none" spc="0" normalizeH="0" baseline="0" noProof="0" dirty="0">
              <a:ln>
                <a:noFill/>
              </a:ln>
              <a:solidFill>
                <a:prstClr val="black">
                  <a:lumMod val="75000"/>
                  <a:lumOff val="25000"/>
                </a:prstClr>
              </a:solidFill>
              <a:effectLst/>
              <a:uLnTx/>
              <a:uFillTx/>
              <a:latin typeface="Trebuchet MS" panose="020B0603020202020204"/>
              <a:ea typeface="+mn-ea"/>
              <a:cs typeface="+mn-cs"/>
            </a:endParaRPr>
          </a:p>
          <a:p>
            <a:endParaRPr lang="en-IN" sz="3600" dirty="0"/>
          </a:p>
        </p:txBody>
      </p:sp>
    </p:spTree>
    <p:extLst>
      <p:ext uri="{BB962C8B-B14F-4D97-AF65-F5344CB8AC3E}">
        <p14:creationId xmlns:p14="http://schemas.microsoft.com/office/powerpoint/2010/main" val="39852131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A415B9-AECF-A354-A5DB-616661FF3D7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E293445-08D7-A3EF-7294-CA169AB00451}"/>
              </a:ext>
            </a:extLst>
          </p:cNvPr>
          <p:cNvSpPr>
            <a:spLocks noGrp="1"/>
          </p:cNvSpPr>
          <p:nvPr>
            <p:ph idx="1"/>
          </p:nvPr>
        </p:nvSpPr>
        <p:spPr/>
        <p:txBody>
          <a:bodyPr>
            <a:normAutofit lnSpcReduction="10000"/>
          </a:bodyPr>
          <a:lstStyle/>
          <a:p>
            <a:pPr marL="342900" marR="0" lvl="0" indent="-342900" algn="l" defTabSz="457200" rtl="0" eaLnBrk="1" fontAlgn="auto" latinLnBrk="0" hangingPunct="1">
              <a:lnSpc>
                <a:spcPct val="100000"/>
              </a:lnSpc>
              <a:spcBef>
                <a:spcPts val="1000"/>
              </a:spcBef>
              <a:spcAft>
                <a:spcPts val="0"/>
              </a:spcAft>
              <a:buClr>
                <a:srgbClr val="90C226"/>
              </a:buClr>
              <a:buSzPct val="80000"/>
              <a:buFont typeface="Wingdings 3" charset="2"/>
              <a:buChar char=""/>
              <a:tabLst/>
              <a:defRPr/>
            </a:pPr>
            <a:r>
              <a:rPr kumimoji="0" lang="en-US" sz="2800" b="1" i="0" u="sng" strike="noStrike" kern="1200" cap="none" spc="0" normalizeH="0" baseline="0" noProof="0" dirty="0">
                <a:ln>
                  <a:noFill/>
                </a:ln>
                <a:solidFill>
                  <a:prstClr val="black">
                    <a:lumMod val="75000"/>
                    <a:lumOff val="25000"/>
                  </a:prstClr>
                </a:solidFill>
                <a:effectLst/>
                <a:uLnTx/>
                <a:uFillTx/>
                <a:latin typeface="Trebuchet MS" panose="020B0603020202020204"/>
                <a:ea typeface="+mn-ea"/>
                <a:cs typeface="+mn-cs"/>
              </a:rPr>
              <a:t>Communication Networks</a:t>
            </a:r>
            <a:r>
              <a:rPr kumimoji="0" lang="en-US" sz="2800" b="0" i="0" u="none" strike="noStrike" kern="1200" cap="none" spc="0" normalizeH="0" baseline="0" noProof="0" dirty="0">
                <a:ln>
                  <a:noFill/>
                </a:ln>
                <a:solidFill>
                  <a:prstClr val="black">
                    <a:lumMod val="75000"/>
                    <a:lumOff val="25000"/>
                  </a:prstClr>
                </a:solidFill>
                <a:effectLst/>
                <a:uLnTx/>
                <a:uFillTx/>
                <a:latin typeface="Trebuchet MS" panose="020B0603020202020204"/>
                <a:ea typeface="+mn-ea"/>
                <a:cs typeface="+mn-cs"/>
              </a:rPr>
              <a:t>: Smart metering in power grids requires robust communication networks to support the transmission of data between devices and systems. These networks may use wired or wireless technologies, depending on the specific requirements of the system.</a:t>
            </a:r>
          </a:p>
          <a:p>
            <a:pPr marL="342900" marR="0" lvl="0" indent="-342900" algn="l" defTabSz="457200" rtl="0" eaLnBrk="1" fontAlgn="auto" latinLnBrk="0" hangingPunct="1">
              <a:lnSpc>
                <a:spcPct val="100000"/>
              </a:lnSpc>
              <a:spcBef>
                <a:spcPts val="1000"/>
              </a:spcBef>
              <a:spcAft>
                <a:spcPts val="0"/>
              </a:spcAft>
              <a:buClr>
                <a:srgbClr val="90C226"/>
              </a:buClr>
              <a:buSzPct val="80000"/>
              <a:buFont typeface="Wingdings 3" charset="2"/>
              <a:buChar char=""/>
              <a:tabLst/>
              <a:defRPr/>
            </a:pPr>
            <a:r>
              <a:rPr kumimoji="0" lang="en-US" sz="2800" b="1" i="0" u="sng" strike="noStrike" kern="1200" cap="none" spc="0" normalizeH="0" baseline="0" noProof="0" dirty="0">
                <a:ln>
                  <a:noFill/>
                </a:ln>
                <a:solidFill>
                  <a:prstClr val="black">
                    <a:lumMod val="75000"/>
                    <a:lumOff val="25000"/>
                  </a:prstClr>
                </a:solidFill>
                <a:effectLst/>
                <a:uLnTx/>
                <a:uFillTx/>
                <a:latin typeface="Trebuchet MS" panose="020B0603020202020204"/>
                <a:ea typeface="+mn-ea"/>
                <a:cs typeface="+mn-cs"/>
              </a:rPr>
              <a:t>Substation Automation Systems</a:t>
            </a:r>
            <a:r>
              <a:rPr kumimoji="0" lang="en-US" sz="2800" b="0" i="0" u="none" strike="noStrike" kern="1200" cap="none" spc="0" normalizeH="0" baseline="0" noProof="0" dirty="0">
                <a:ln>
                  <a:noFill/>
                </a:ln>
                <a:solidFill>
                  <a:prstClr val="black">
                    <a:lumMod val="75000"/>
                    <a:lumOff val="25000"/>
                  </a:prstClr>
                </a:solidFill>
                <a:effectLst/>
                <a:uLnTx/>
                <a:uFillTx/>
                <a:latin typeface="Trebuchet MS" panose="020B0603020202020204"/>
                <a:ea typeface="+mn-ea"/>
                <a:cs typeface="+mn-cs"/>
              </a:rPr>
              <a:t>: Substation automation systems are used to monitor and control the flow of electricity through the grid. They can provide real-time data on the performance of the grid, allowing utilities to identify and address issues quickly.</a:t>
            </a:r>
          </a:p>
          <a:p>
            <a:endParaRPr lang="en-US" dirty="0"/>
          </a:p>
        </p:txBody>
      </p:sp>
    </p:spTree>
    <p:extLst>
      <p:ext uri="{BB962C8B-B14F-4D97-AF65-F5344CB8AC3E}">
        <p14:creationId xmlns:p14="http://schemas.microsoft.com/office/powerpoint/2010/main" val="17826179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75AEED1-8E97-E857-95A0-6C1B34633F62}"/>
              </a:ext>
            </a:extLst>
          </p:cNvPr>
          <p:cNvSpPr txBox="1"/>
          <p:nvPr/>
        </p:nvSpPr>
        <p:spPr>
          <a:xfrm>
            <a:off x="586408" y="596349"/>
            <a:ext cx="10515600" cy="6001643"/>
          </a:xfrm>
          <a:prstGeom prst="rect">
            <a:avLst/>
          </a:prstGeom>
          <a:noFill/>
        </p:spPr>
        <p:txBody>
          <a:bodyPr wrap="square">
            <a:spAutoFit/>
          </a:bodyPr>
          <a:lstStyle/>
          <a:p>
            <a:pPr algn="just"/>
            <a:r>
              <a:rPr lang="en-US" sz="2400" b="1" u="sng" dirty="0"/>
              <a:t>Distribution Management Systems</a:t>
            </a:r>
            <a:r>
              <a:rPr lang="en-US" sz="2400" dirty="0"/>
              <a:t>: Distribution management systems are software systems that help utilities manage the distribution of electricity across the grid. They can optimize the flow of electricity to minimize losses and improve efficiency.</a:t>
            </a:r>
          </a:p>
          <a:p>
            <a:pPr algn="just"/>
            <a:r>
              <a:rPr lang="en-US" sz="2400" b="1" u="sng" dirty="0"/>
              <a:t>Advanced Metering Infrastructure (AMI) Systems</a:t>
            </a:r>
            <a:r>
              <a:rPr lang="en-US" sz="2400" dirty="0"/>
              <a:t>: AMI systems are used in smart metering in power grids to provide a comprehensive view of energy consumption across the grid. These systems can collect data from a range of sources, including smart meters, substation automation systems, and other devices.</a:t>
            </a:r>
          </a:p>
          <a:p>
            <a:pPr algn="just"/>
            <a:r>
              <a:rPr lang="en-US" sz="2400" b="1" u="sng" dirty="0"/>
              <a:t>Intelligent Electronic Devices (IEDs): </a:t>
            </a:r>
            <a:r>
              <a:rPr lang="en-US" sz="2400" dirty="0"/>
              <a:t>IEDs are used to monitor and control the performance of equipment in the grid, such as transformers and switches. They can provide real-time data on the condition of this equipment, allowing utilities to identify and address issues before they become serious.</a:t>
            </a:r>
          </a:p>
          <a:p>
            <a:pPr algn="just"/>
            <a:r>
              <a:rPr lang="en-US" sz="2400" b="1" u="sng" dirty="0"/>
              <a:t>Sensors: </a:t>
            </a:r>
            <a:r>
              <a:rPr lang="en-US" sz="2400" dirty="0"/>
              <a:t>Smart metering systems may also use sensors to monitor environmental conditions, such as temperature and humidity, that can affect energy usage. These sensors can provide additional data to help utilities optimize energy efficiency.</a:t>
            </a:r>
          </a:p>
          <a:p>
            <a:pPr algn="just"/>
            <a:endParaRPr lang="en-US" sz="2400" dirty="0"/>
          </a:p>
        </p:txBody>
      </p:sp>
    </p:spTree>
    <p:extLst>
      <p:ext uri="{BB962C8B-B14F-4D97-AF65-F5344CB8AC3E}">
        <p14:creationId xmlns:p14="http://schemas.microsoft.com/office/powerpoint/2010/main" val="25156777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844B4-C429-305D-0F3C-A55CC84D95B7}"/>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kumimoji="0" lang="en-US" sz="3200" b="1" i="0" u="none" strike="noStrike" kern="1200" cap="none" spc="0" normalizeH="0" baseline="0" noProof="0">
                <a:ln>
                  <a:noFill/>
                </a:ln>
                <a:solidFill>
                  <a:schemeClr val="bg1"/>
                </a:solidFill>
                <a:effectLst/>
                <a:uLnTx/>
                <a:uFillTx/>
                <a:latin typeface="+mj-lt"/>
                <a:ea typeface="+mj-ea"/>
                <a:cs typeface="+mj-cs"/>
              </a:rPr>
              <a:t>Smart meter benefits</a:t>
            </a:r>
            <a:endParaRPr lang="en-US" sz="3200" kern="1200">
              <a:solidFill>
                <a:schemeClr val="bg1"/>
              </a:solidFill>
              <a:latin typeface="+mj-lt"/>
              <a:ea typeface="+mj-ea"/>
              <a:cs typeface="+mj-cs"/>
            </a:endParaRPr>
          </a:p>
        </p:txBody>
      </p:sp>
      <p:pic>
        <p:nvPicPr>
          <p:cNvPr id="5" name="Content Placeholder 4">
            <a:extLst>
              <a:ext uri="{FF2B5EF4-FFF2-40B4-BE49-F238E27FC236}">
                <a16:creationId xmlns:a16="http://schemas.microsoft.com/office/drawing/2014/main" id="{4E445CF8-DF08-8554-3BB7-C3715D04BCC0}"/>
              </a:ext>
            </a:extLst>
          </p:cNvPr>
          <p:cNvPicPr>
            <a:picLocks noGrp="1" noChangeAspect="1"/>
          </p:cNvPicPr>
          <p:nvPr>
            <p:ph idx="1"/>
          </p:nvPr>
        </p:nvPicPr>
        <p:blipFill>
          <a:blip r:embed="rId2"/>
          <a:stretch>
            <a:fillRect/>
          </a:stretch>
        </p:blipFill>
        <p:spPr>
          <a:xfrm>
            <a:off x="643467" y="2265415"/>
            <a:ext cx="10905066" cy="3949118"/>
          </a:xfrm>
          <a:prstGeom prst="rect">
            <a:avLst/>
          </a:prstGeom>
        </p:spPr>
      </p:pic>
    </p:spTree>
    <p:extLst>
      <p:ext uri="{BB962C8B-B14F-4D97-AF65-F5344CB8AC3E}">
        <p14:creationId xmlns:p14="http://schemas.microsoft.com/office/powerpoint/2010/main" val="6588177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48E15D-5370-CF60-CBCD-D1EBFF8FBD12}"/>
              </a:ext>
            </a:extLst>
          </p:cNvPr>
          <p:cNvSpPr>
            <a:spLocks noGrp="1"/>
          </p:cNvSpPr>
          <p:nvPr>
            <p:ph type="title"/>
          </p:nvPr>
        </p:nvSpPr>
        <p:spPr>
          <a:xfrm>
            <a:off x="838201" y="3998018"/>
            <a:ext cx="3981854" cy="2216513"/>
          </a:xfrm>
        </p:spPr>
        <p:txBody>
          <a:bodyPr>
            <a:normAutofit/>
          </a:bodyPr>
          <a:lstStyle/>
          <a:p>
            <a:r>
              <a:rPr kumimoji="0" lang="en-US" b="0" i="0" u="none" strike="noStrike" kern="1200" cap="none" spc="0" normalizeH="0" baseline="0" noProof="0">
                <a:ln>
                  <a:noFill/>
                </a:ln>
                <a:effectLst/>
                <a:uLnTx/>
                <a:uFillTx/>
                <a:latin typeface="Trebuchet MS" panose="020B0603020202020204"/>
                <a:ea typeface="+mj-ea"/>
                <a:cs typeface="+mj-cs"/>
              </a:rPr>
              <a:t>Smart metering protocols</a:t>
            </a:r>
            <a:endParaRPr lang="en-IN"/>
          </a:p>
        </p:txBody>
      </p:sp>
      <p:pic>
        <p:nvPicPr>
          <p:cNvPr id="4" name="Picture 3">
            <a:extLst>
              <a:ext uri="{FF2B5EF4-FFF2-40B4-BE49-F238E27FC236}">
                <a16:creationId xmlns:a16="http://schemas.microsoft.com/office/drawing/2014/main" id="{2463C9C6-73BC-70F2-3897-D7BCEFAC19D2}"/>
              </a:ext>
            </a:extLst>
          </p:cNvPr>
          <p:cNvPicPr>
            <a:picLocks noChangeAspect="1"/>
          </p:cNvPicPr>
          <p:nvPr/>
        </p:nvPicPr>
        <p:blipFill>
          <a:blip r:embed="rId2"/>
          <a:stretch>
            <a:fillRect/>
          </a:stretch>
        </p:blipFill>
        <p:spPr>
          <a:xfrm>
            <a:off x="861535" y="704504"/>
            <a:ext cx="10468930" cy="2957472"/>
          </a:xfrm>
          <a:custGeom>
            <a:avLst/>
            <a:gdLst/>
            <a:ahLst/>
            <a:cxnLst/>
            <a:rect l="l" t="t" r="r" b="b"/>
            <a:pathLst>
              <a:path w="10580201" h="2957472">
                <a:moveTo>
                  <a:pt x="88961" y="0"/>
                </a:moveTo>
                <a:lnTo>
                  <a:pt x="10491240" y="0"/>
                </a:lnTo>
                <a:cubicBezTo>
                  <a:pt x="10540372" y="0"/>
                  <a:pt x="10580201" y="39829"/>
                  <a:pt x="10580201" y="88961"/>
                </a:cubicBezTo>
                <a:lnTo>
                  <a:pt x="10580201" y="2868511"/>
                </a:lnTo>
                <a:cubicBezTo>
                  <a:pt x="10580201" y="2917643"/>
                  <a:pt x="10540372" y="2957472"/>
                  <a:pt x="10491240" y="2957472"/>
                </a:cubicBezTo>
                <a:lnTo>
                  <a:pt x="88961" y="2957472"/>
                </a:lnTo>
                <a:cubicBezTo>
                  <a:pt x="39829" y="2957472"/>
                  <a:pt x="0" y="2917643"/>
                  <a:pt x="0" y="2868511"/>
                </a:cubicBezTo>
                <a:lnTo>
                  <a:pt x="0" y="88961"/>
                </a:lnTo>
                <a:cubicBezTo>
                  <a:pt x="0" y="39829"/>
                  <a:pt x="39829" y="0"/>
                  <a:pt x="88961" y="0"/>
                </a:cubicBezTo>
                <a:close/>
              </a:path>
            </a:pathLst>
          </a:custGeom>
        </p:spPr>
      </p:pic>
      <p:sp>
        <p:nvSpPr>
          <p:cNvPr id="3" name="Content Placeholder 2">
            <a:extLst>
              <a:ext uri="{FF2B5EF4-FFF2-40B4-BE49-F238E27FC236}">
                <a16:creationId xmlns:a16="http://schemas.microsoft.com/office/drawing/2014/main" id="{243D9113-1877-9FE4-BFE3-2567D62EB0F9}"/>
              </a:ext>
            </a:extLst>
          </p:cNvPr>
          <p:cNvSpPr>
            <a:spLocks noGrp="1"/>
          </p:cNvSpPr>
          <p:nvPr>
            <p:ph idx="1"/>
          </p:nvPr>
        </p:nvSpPr>
        <p:spPr>
          <a:xfrm>
            <a:off x="4970835" y="3998019"/>
            <a:ext cx="6382966" cy="2216512"/>
          </a:xfrm>
        </p:spPr>
        <p:txBody>
          <a:bodyPr>
            <a:normAutofit/>
          </a:bodyPr>
          <a:lstStyle/>
          <a:p>
            <a:pPr marL="342900" marR="0" lvl="0" indent="-342900" defTabSz="457200" rtl="0" eaLnBrk="1" fontAlgn="auto" latinLnBrk="0" hangingPunct="1">
              <a:spcBef>
                <a:spcPts val="1000"/>
              </a:spcBef>
              <a:spcAft>
                <a:spcPts val="0"/>
              </a:spcAft>
              <a:buClr>
                <a:srgbClr val="90C226"/>
              </a:buClr>
              <a:buSzPct val="80000"/>
              <a:buFont typeface="Wingdings 3" charset="2"/>
              <a:buChar char=""/>
              <a:tabLst/>
              <a:defRPr/>
            </a:pPr>
            <a:r>
              <a:rPr kumimoji="0" lang="en-US" sz="1800" b="0" i="0" u="none" strike="noStrike" kern="1200" cap="none" spc="0" normalizeH="0" baseline="0" noProof="0">
                <a:ln>
                  <a:noFill/>
                </a:ln>
                <a:effectLst/>
                <a:uLnTx/>
                <a:uFillTx/>
                <a:latin typeface="Trebuchet MS" panose="020B0603020202020204"/>
                <a:ea typeface="+mn-ea"/>
                <a:cs typeface="+mn-cs"/>
              </a:rPr>
              <a:t>Like all IoT devices, smart meters require a connection to a network.</a:t>
            </a:r>
          </a:p>
          <a:p>
            <a:pPr marL="342900" marR="0" lvl="0" indent="-342900" defTabSz="457200" rtl="0" eaLnBrk="1" fontAlgn="auto" latinLnBrk="0" hangingPunct="1">
              <a:spcBef>
                <a:spcPts val="1000"/>
              </a:spcBef>
              <a:spcAft>
                <a:spcPts val="0"/>
              </a:spcAft>
              <a:buClr>
                <a:srgbClr val="90C226"/>
              </a:buClr>
              <a:buSzPct val="80000"/>
              <a:buFont typeface="Wingdings 3" charset="2"/>
              <a:buChar char=""/>
              <a:tabLst/>
              <a:defRPr/>
            </a:pPr>
            <a:r>
              <a:rPr kumimoji="0" lang="en-US" sz="1800" b="0" i="0" u="none" strike="noStrike" kern="1200" cap="none" spc="0" normalizeH="0" baseline="0" noProof="0">
                <a:ln>
                  <a:noFill/>
                </a:ln>
                <a:effectLst/>
                <a:uLnTx/>
                <a:uFillTx/>
                <a:latin typeface="Trebuchet MS" panose="020B0603020202020204"/>
                <a:ea typeface="+mn-ea"/>
                <a:cs typeface="+mn-cs"/>
              </a:rPr>
              <a:t>Smart meters don’t always transmit directly to the cloud. They typically transmit data to a local smart meter gateway, which aggregates data from all meters in an area and then forwards it to the cloud, where providers and customers can access it through a platform</a:t>
            </a:r>
            <a:endParaRPr lang="en-IN" sz="1800"/>
          </a:p>
        </p:txBody>
      </p:sp>
    </p:spTree>
    <p:extLst>
      <p:ext uri="{BB962C8B-B14F-4D97-AF65-F5344CB8AC3E}">
        <p14:creationId xmlns:p14="http://schemas.microsoft.com/office/powerpoint/2010/main" val="10574760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9B87AA1-E61B-4D7F-AAB7-82A621F32ADE}"/>
              </a:ext>
            </a:extLst>
          </p:cNvPr>
          <p:cNvPicPr>
            <a:picLocks noChangeAspect="1"/>
          </p:cNvPicPr>
          <p:nvPr/>
        </p:nvPicPr>
        <p:blipFill rotWithShape="1">
          <a:blip r:embed="rId2"/>
          <a:srcRect r="585" b="-3"/>
          <a:stretch/>
        </p:blipFill>
        <p:spPr>
          <a:xfrm>
            <a:off x="20" y="923731"/>
            <a:ext cx="12191980" cy="5943600"/>
          </a:xfrm>
          <a:prstGeom prst="rect">
            <a:avLst/>
          </a:prstGeom>
        </p:spPr>
      </p:pic>
    </p:spTree>
    <p:extLst>
      <p:ext uri="{BB962C8B-B14F-4D97-AF65-F5344CB8AC3E}">
        <p14:creationId xmlns:p14="http://schemas.microsoft.com/office/powerpoint/2010/main" val="37691407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3440F9-30D2-79A9-51FC-A911FD4331EA}"/>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a:solidFill>
                  <a:srgbClr val="FFFFFF"/>
                </a:solidFill>
                <a:latin typeface="+mj-lt"/>
                <a:ea typeface="+mj-ea"/>
                <a:cs typeface="+mj-cs"/>
              </a:rPr>
              <a:t>Smart metering protocols</a:t>
            </a:r>
          </a:p>
        </p:txBody>
      </p:sp>
      <p:pic>
        <p:nvPicPr>
          <p:cNvPr id="5" name="Content Placeholder 4">
            <a:extLst>
              <a:ext uri="{FF2B5EF4-FFF2-40B4-BE49-F238E27FC236}">
                <a16:creationId xmlns:a16="http://schemas.microsoft.com/office/drawing/2014/main" id="{F4496C85-07BF-61CB-5C73-D68933F4306D}"/>
              </a:ext>
            </a:extLst>
          </p:cNvPr>
          <p:cNvPicPr>
            <a:picLocks noGrp="1" noChangeAspect="1"/>
          </p:cNvPicPr>
          <p:nvPr>
            <p:ph idx="1"/>
          </p:nvPr>
        </p:nvPicPr>
        <p:blipFill>
          <a:blip r:embed="rId2"/>
          <a:stretch>
            <a:fillRect/>
          </a:stretch>
        </p:blipFill>
        <p:spPr>
          <a:xfrm>
            <a:off x="4777316" y="1083997"/>
            <a:ext cx="6780700" cy="4687677"/>
          </a:xfrm>
          <a:prstGeom prst="rect">
            <a:avLst/>
          </a:prstGeom>
        </p:spPr>
      </p:pic>
    </p:spTree>
    <p:extLst>
      <p:ext uri="{BB962C8B-B14F-4D97-AF65-F5344CB8AC3E}">
        <p14:creationId xmlns:p14="http://schemas.microsoft.com/office/powerpoint/2010/main" val="28441440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455160" y="115126"/>
            <a:ext cx="3002280" cy="344475"/>
          </a:xfrm>
          <a:prstGeom prst="rect">
            <a:avLst/>
          </a:prstGeom>
        </p:spPr>
        <p:txBody>
          <a:bodyPr vert="horz" wrap="square" lIns="0" tIns="16087" rIns="0" bIns="0" rtlCol="0">
            <a:spAutoFit/>
          </a:bodyPr>
          <a:lstStyle/>
          <a:p>
            <a:pPr marL="16933">
              <a:spcBef>
                <a:spcPts val="127"/>
              </a:spcBef>
            </a:pPr>
            <a:r>
              <a:rPr sz="2133" b="1" dirty="0">
                <a:latin typeface="Times New Roman"/>
                <a:cs typeface="Times New Roman"/>
              </a:rPr>
              <a:t>Smart</a:t>
            </a:r>
            <a:r>
              <a:rPr sz="2133" b="1" spc="-53" dirty="0">
                <a:latin typeface="Times New Roman"/>
                <a:cs typeface="Times New Roman"/>
              </a:rPr>
              <a:t> </a:t>
            </a:r>
            <a:r>
              <a:rPr sz="2133" b="1" dirty="0">
                <a:latin typeface="Times New Roman"/>
                <a:cs typeface="Times New Roman"/>
              </a:rPr>
              <a:t>metering</a:t>
            </a:r>
            <a:r>
              <a:rPr sz="2133" b="1" spc="-40" dirty="0">
                <a:latin typeface="Times New Roman"/>
                <a:cs typeface="Times New Roman"/>
              </a:rPr>
              <a:t> </a:t>
            </a:r>
            <a:r>
              <a:rPr sz="2133" b="1" spc="-13" dirty="0">
                <a:latin typeface="Times New Roman"/>
                <a:cs typeface="Times New Roman"/>
              </a:rPr>
              <a:t>protocols</a:t>
            </a:r>
            <a:endParaRPr sz="2133">
              <a:latin typeface="Times New Roman"/>
              <a:cs typeface="Times New Roman"/>
            </a:endParaRPr>
          </a:p>
        </p:txBody>
      </p:sp>
      <p:sp>
        <p:nvSpPr>
          <p:cNvPr id="3" name="object 3"/>
          <p:cNvSpPr txBox="1">
            <a:spLocks noGrp="1"/>
          </p:cNvSpPr>
          <p:nvPr>
            <p:ph type="title"/>
          </p:nvPr>
        </p:nvSpPr>
        <p:spPr>
          <a:xfrm>
            <a:off x="520565" y="822602"/>
            <a:ext cx="2197947" cy="395900"/>
          </a:xfrm>
          <a:prstGeom prst="rect">
            <a:avLst/>
          </a:prstGeom>
        </p:spPr>
        <p:txBody>
          <a:bodyPr vert="horz" wrap="square" lIns="0" tIns="16087" rIns="0" bIns="0" rtlCol="0" anchor="ctr">
            <a:spAutoFit/>
          </a:bodyPr>
          <a:lstStyle/>
          <a:p>
            <a:pPr marL="16933">
              <a:lnSpc>
                <a:spcPct val="100000"/>
              </a:lnSpc>
              <a:spcBef>
                <a:spcPts val="127"/>
              </a:spcBef>
            </a:pPr>
            <a:r>
              <a:rPr sz="2467" b="1" dirty="0">
                <a:latin typeface="Times New Roman"/>
                <a:cs typeface="Times New Roman"/>
              </a:rPr>
              <a:t>Wired</a:t>
            </a:r>
            <a:r>
              <a:rPr sz="2467" b="1" spc="-53" dirty="0">
                <a:latin typeface="Times New Roman"/>
                <a:cs typeface="Times New Roman"/>
              </a:rPr>
              <a:t> </a:t>
            </a:r>
            <a:r>
              <a:rPr sz="2467" b="1" spc="-13" dirty="0">
                <a:latin typeface="Times New Roman"/>
                <a:cs typeface="Times New Roman"/>
              </a:rPr>
              <a:t>protocols</a:t>
            </a:r>
            <a:endParaRPr sz="2467">
              <a:latin typeface="Times New Roman"/>
              <a:cs typeface="Times New Roman"/>
            </a:endParaRPr>
          </a:p>
        </p:txBody>
      </p:sp>
      <p:sp>
        <p:nvSpPr>
          <p:cNvPr id="4" name="object 4"/>
          <p:cNvSpPr txBox="1"/>
          <p:nvPr/>
        </p:nvSpPr>
        <p:spPr>
          <a:xfrm>
            <a:off x="520262" y="1360234"/>
            <a:ext cx="11152293" cy="5114904"/>
          </a:xfrm>
          <a:prstGeom prst="rect">
            <a:avLst/>
          </a:prstGeom>
        </p:spPr>
        <p:txBody>
          <a:bodyPr vert="horz" wrap="square" lIns="0" tIns="105833" rIns="0" bIns="0" rtlCol="0">
            <a:spAutoFit/>
          </a:bodyPr>
          <a:lstStyle/>
          <a:p>
            <a:pPr marL="16933">
              <a:spcBef>
                <a:spcPts val="833"/>
              </a:spcBef>
            </a:pPr>
            <a:r>
              <a:rPr sz="2400" b="1" spc="-13" dirty="0">
                <a:latin typeface="Times New Roman"/>
                <a:cs typeface="Times New Roman"/>
              </a:rPr>
              <a:t>Ethernet</a:t>
            </a:r>
            <a:endParaRPr sz="2400">
              <a:latin typeface="Times New Roman"/>
              <a:cs typeface="Times New Roman"/>
            </a:endParaRPr>
          </a:p>
          <a:p>
            <a:pPr marL="626518" marR="285320" indent="-457189">
              <a:lnSpc>
                <a:spcPct val="114999"/>
              </a:lnSpc>
              <a:spcBef>
                <a:spcPts val="272"/>
              </a:spcBef>
              <a:buChar char="●"/>
              <a:tabLst>
                <a:tab pos="626518" algn="l"/>
              </a:tabLst>
            </a:pPr>
            <a:r>
              <a:rPr sz="2400" dirty="0">
                <a:latin typeface="Times New Roman"/>
                <a:cs typeface="Times New Roman"/>
              </a:rPr>
              <a:t>Using</a:t>
            </a:r>
            <a:r>
              <a:rPr sz="2400" spc="-27" dirty="0">
                <a:latin typeface="Times New Roman"/>
                <a:cs typeface="Times New Roman"/>
              </a:rPr>
              <a:t> </a:t>
            </a:r>
            <a:r>
              <a:rPr sz="2400" dirty="0">
                <a:latin typeface="Times New Roman"/>
                <a:cs typeface="Times New Roman"/>
              </a:rPr>
              <a:t>ethernet</a:t>
            </a:r>
            <a:r>
              <a:rPr sz="2400" spc="-47" dirty="0">
                <a:latin typeface="Times New Roman"/>
                <a:cs typeface="Times New Roman"/>
              </a:rPr>
              <a:t> </a:t>
            </a:r>
            <a:r>
              <a:rPr sz="2400" dirty="0">
                <a:latin typeface="Times New Roman"/>
                <a:cs typeface="Times New Roman"/>
              </a:rPr>
              <a:t>connections,</a:t>
            </a:r>
            <a:r>
              <a:rPr sz="2400" spc="-60" dirty="0">
                <a:latin typeface="Times New Roman"/>
                <a:cs typeface="Times New Roman"/>
              </a:rPr>
              <a:t> </a:t>
            </a:r>
            <a:r>
              <a:rPr sz="2400" dirty="0">
                <a:latin typeface="Times New Roman"/>
                <a:cs typeface="Times New Roman"/>
              </a:rPr>
              <a:t>smart</a:t>
            </a:r>
            <a:r>
              <a:rPr sz="2400" spc="-27" dirty="0">
                <a:latin typeface="Times New Roman"/>
                <a:cs typeface="Times New Roman"/>
              </a:rPr>
              <a:t> </a:t>
            </a:r>
            <a:r>
              <a:rPr sz="2400" dirty="0">
                <a:latin typeface="Times New Roman"/>
                <a:cs typeface="Times New Roman"/>
              </a:rPr>
              <a:t>meters</a:t>
            </a:r>
            <a:r>
              <a:rPr sz="2400" spc="-33" dirty="0">
                <a:latin typeface="Times New Roman"/>
                <a:cs typeface="Times New Roman"/>
              </a:rPr>
              <a:t> </a:t>
            </a:r>
            <a:r>
              <a:rPr sz="2400" dirty="0">
                <a:latin typeface="Times New Roman"/>
                <a:cs typeface="Times New Roman"/>
              </a:rPr>
              <a:t>can</a:t>
            </a:r>
            <a:r>
              <a:rPr sz="2400" spc="-40" dirty="0">
                <a:latin typeface="Times New Roman"/>
                <a:cs typeface="Times New Roman"/>
              </a:rPr>
              <a:t> </a:t>
            </a:r>
            <a:r>
              <a:rPr sz="2400" dirty="0">
                <a:latin typeface="Times New Roman"/>
                <a:cs typeface="Times New Roman"/>
              </a:rPr>
              <a:t>use</a:t>
            </a:r>
            <a:r>
              <a:rPr sz="2400" spc="-33" dirty="0">
                <a:latin typeface="Times New Roman"/>
                <a:cs typeface="Times New Roman"/>
              </a:rPr>
              <a:t> </a:t>
            </a:r>
            <a:r>
              <a:rPr sz="2400" dirty="0">
                <a:latin typeface="Times New Roman"/>
                <a:cs typeface="Times New Roman"/>
              </a:rPr>
              <a:t>TCP/IP</a:t>
            </a:r>
            <a:r>
              <a:rPr sz="2400" spc="-33" dirty="0">
                <a:latin typeface="Times New Roman"/>
                <a:cs typeface="Times New Roman"/>
              </a:rPr>
              <a:t> </a:t>
            </a:r>
            <a:r>
              <a:rPr sz="2400" dirty="0">
                <a:latin typeface="Times New Roman"/>
                <a:cs typeface="Times New Roman"/>
              </a:rPr>
              <a:t>or</a:t>
            </a:r>
            <a:r>
              <a:rPr sz="2400" spc="-33" dirty="0">
                <a:latin typeface="Times New Roman"/>
                <a:cs typeface="Times New Roman"/>
              </a:rPr>
              <a:t> </a:t>
            </a:r>
            <a:r>
              <a:rPr sz="2400" dirty="0">
                <a:latin typeface="Times New Roman"/>
                <a:cs typeface="Times New Roman"/>
              </a:rPr>
              <a:t>UDP/IP</a:t>
            </a:r>
            <a:r>
              <a:rPr sz="2400" spc="-20" dirty="0">
                <a:latin typeface="Times New Roman"/>
                <a:cs typeface="Times New Roman"/>
              </a:rPr>
              <a:t> </a:t>
            </a:r>
            <a:r>
              <a:rPr sz="2400" dirty="0">
                <a:latin typeface="Times New Roman"/>
                <a:cs typeface="Times New Roman"/>
              </a:rPr>
              <a:t>to</a:t>
            </a:r>
            <a:r>
              <a:rPr sz="2400" spc="-40" dirty="0">
                <a:latin typeface="Times New Roman"/>
                <a:cs typeface="Times New Roman"/>
              </a:rPr>
              <a:t> </a:t>
            </a:r>
            <a:r>
              <a:rPr sz="2400" dirty="0">
                <a:latin typeface="Times New Roman"/>
                <a:cs typeface="Times New Roman"/>
              </a:rPr>
              <a:t>send</a:t>
            </a:r>
            <a:r>
              <a:rPr sz="2400" spc="-40" dirty="0">
                <a:latin typeface="Times New Roman"/>
                <a:cs typeface="Times New Roman"/>
              </a:rPr>
              <a:t> </a:t>
            </a:r>
            <a:r>
              <a:rPr sz="2400" dirty="0">
                <a:latin typeface="Times New Roman"/>
                <a:cs typeface="Times New Roman"/>
              </a:rPr>
              <a:t>data</a:t>
            </a:r>
            <a:r>
              <a:rPr sz="2400" spc="-33" dirty="0">
                <a:latin typeface="Times New Roman"/>
                <a:cs typeface="Times New Roman"/>
              </a:rPr>
              <a:t> to </a:t>
            </a:r>
            <a:r>
              <a:rPr sz="2400" dirty="0">
                <a:latin typeface="Times New Roman"/>
                <a:cs typeface="Times New Roman"/>
              </a:rPr>
              <a:t>the</a:t>
            </a:r>
            <a:r>
              <a:rPr sz="2400" spc="-13" dirty="0">
                <a:latin typeface="Times New Roman"/>
                <a:cs typeface="Times New Roman"/>
              </a:rPr>
              <a:t> gateway.</a:t>
            </a:r>
            <a:endParaRPr sz="2400">
              <a:latin typeface="Times New Roman"/>
              <a:cs typeface="Times New Roman"/>
            </a:endParaRPr>
          </a:p>
          <a:p>
            <a:pPr>
              <a:spcBef>
                <a:spcPts val="73"/>
              </a:spcBef>
              <a:buFont typeface="Times New Roman"/>
              <a:buChar char="●"/>
            </a:pPr>
            <a:endParaRPr sz="2400">
              <a:latin typeface="Times New Roman"/>
              <a:cs typeface="Times New Roman"/>
            </a:endParaRPr>
          </a:p>
          <a:p>
            <a:pPr marL="16933"/>
            <a:r>
              <a:rPr sz="2400" b="1" dirty="0">
                <a:latin typeface="Times New Roman"/>
                <a:cs typeface="Times New Roman"/>
              </a:rPr>
              <a:t>Power</a:t>
            </a:r>
            <a:r>
              <a:rPr sz="2400" b="1" spc="-93" dirty="0">
                <a:latin typeface="Times New Roman"/>
                <a:cs typeface="Times New Roman"/>
              </a:rPr>
              <a:t> </a:t>
            </a:r>
            <a:r>
              <a:rPr sz="2400" b="1" dirty="0">
                <a:latin typeface="Times New Roman"/>
                <a:cs typeface="Times New Roman"/>
              </a:rPr>
              <a:t>Line</a:t>
            </a:r>
            <a:r>
              <a:rPr sz="2400" b="1" spc="-53" dirty="0">
                <a:latin typeface="Times New Roman"/>
                <a:cs typeface="Times New Roman"/>
              </a:rPr>
              <a:t> </a:t>
            </a:r>
            <a:r>
              <a:rPr sz="2400" b="1" dirty="0">
                <a:latin typeface="Times New Roman"/>
                <a:cs typeface="Times New Roman"/>
              </a:rPr>
              <a:t>Communication</a:t>
            </a:r>
            <a:r>
              <a:rPr sz="2400" b="1" spc="-47" dirty="0">
                <a:latin typeface="Times New Roman"/>
                <a:cs typeface="Times New Roman"/>
              </a:rPr>
              <a:t> </a:t>
            </a:r>
            <a:r>
              <a:rPr sz="2400" b="1" spc="-13" dirty="0">
                <a:latin typeface="Times New Roman"/>
                <a:cs typeface="Times New Roman"/>
              </a:rPr>
              <a:t>(PLC)</a:t>
            </a:r>
            <a:endParaRPr sz="2400">
              <a:latin typeface="Times New Roman"/>
              <a:cs typeface="Times New Roman"/>
            </a:endParaRPr>
          </a:p>
          <a:p>
            <a:pPr marL="626518" indent="-457189">
              <a:spcBef>
                <a:spcPts val="687"/>
              </a:spcBef>
              <a:buChar char="●"/>
              <a:tabLst>
                <a:tab pos="626518" algn="l"/>
              </a:tabLst>
            </a:pPr>
            <a:r>
              <a:rPr sz="2400" dirty="0">
                <a:latin typeface="Times New Roman"/>
                <a:cs typeface="Times New Roman"/>
              </a:rPr>
              <a:t>PLC</a:t>
            </a:r>
            <a:r>
              <a:rPr sz="2400" spc="-40" dirty="0">
                <a:latin typeface="Times New Roman"/>
                <a:cs typeface="Times New Roman"/>
              </a:rPr>
              <a:t> </a:t>
            </a:r>
            <a:r>
              <a:rPr sz="2400" dirty="0">
                <a:latin typeface="Times New Roman"/>
                <a:cs typeface="Times New Roman"/>
              </a:rPr>
              <a:t>is</a:t>
            </a:r>
            <a:r>
              <a:rPr sz="2400" spc="-20" dirty="0">
                <a:latin typeface="Times New Roman"/>
                <a:cs typeface="Times New Roman"/>
              </a:rPr>
              <a:t> </a:t>
            </a:r>
            <a:r>
              <a:rPr sz="2400" dirty="0">
                <a:latin typeface="Times New Roman"/>
                <a:cs typeface="Times New Roman"/>
              </a:rPr>
              <a:t>one</a:t>
            </a:r>
            <a:r>
              <a:rPr sz="2400" spc="-33" dirty="0">
                <a:latin typeface="Times New Roman"/>
                <a:cs typeface="Times New Roman"/>
              </a:rPr>
              <a:t> </a:t>
            </a:r>
            <a:r>
              <a:rPr sz="2400" dirty="0">
                <a:latin typeface="Times New Roman"/>
                <a:cs typeface="Times New Roman"/>
              </a:rPr>
              <a:t>of</a:t>
            </a:r>
            <a:r>
              <a:rPr sz="2400" spc="-13" dirty="0">
                <a:latin typeface="Times New Roman"/>
                <a:cs typeface="Times New Roman"/>
              </a:rPr>
              <a:t> </a:t>
            </a:r>
            <a:r>
              <a:rPr sz="2400" dirty="0">
                <a:latin typeface="Times New Roman"/>
                <a:cs typeface="Times New Roman"/>
              </a:rPr>
              <a:t>the</a:t>
            </a:r>
            <a:r>
              <a:rPr sz="2400" spc="-33" dirty="0">
                <a:latin typeface="Times New Roman"/>
                <a:cs typeface="Times New Roman"/>
              </a:rPr>
              <a:t> </a:t>
            </a:r>
            <a:r>
              <a:rPr sz="2400" dirty="0">
                <a:latin typeface="Times New Roman"/>
                <a:cs typeface="Times New Roman"/>
              </a:rPr>
              <a:t>simplest</a:t>
            </a:r>
            <a:r>
              <a:rPr sz="2400" spc="-27" dirty="0">
                <a:latin typeface="Times New Roman"/>
                <a:cs typeface="Times New Roman"/>
              </a:rPr>
              <a:t> </a:t>
            </a:r>
            <a:r>
              <a:rPr sz="2400" dirty="0">
                <a:latin typeface="Times New Roman"/>
                <a:cs typeface="Times New Roman"/>
              </a:rPr>
              <a:t>options</a:t>
            </a:r>
            <a:r>
              <a:rPr sz="2400" spc="-47" dirty="0">
                <a:latin typeface="Times New Roman"/>
                <a:cs typeface="Times New Roman"/>
              </a:rPr>
              <a:t> </a:t>
            </a:r>
            <a:r>
              <a:rPr sz="2400" dirty="0">
                <a:latin typeface="Times New Roman"/>
                <a:cs typeface="Times New Roman"/>
              </a:rPr>
              <a:t>for</a:t>
            </a:r>
            <a:r>
              <a:rPr sz="2400" spc="-13" dirty="0">
                <a:latin typeface="Times New Roman"/>
                <a:cs typeface="Times New Roman"/>
              </a:rPr>
              <a:t> </a:t>
            </a:r>
            <a:r>
              <a:rPr sz="2400" dirty="0">
                <a:latin typeface="Times New Roman"/>
                <a:cs typeface="Times New Roman"/>
              </a:rPr>
              <a:t>smart</a:t>
            </a:r>
            <a:r>
              <a:rPr sz="2400" spc="-20" dirty="0">
                <a:latin typeface="Times New Roman"/>
                <a:cs typeface="Times New Roman"/>
              </a:rPr>
              <a:t> </a:t>
            </a:r>
            <a:r>
              <a:rPr sz="2400" dirty="0">
                <a:latin typeface="Times New Roman"/>
                <a:cs typeface="Times New Roman"/>
              </a:rPr>
              <a:t>meter</a:t>
            </a:r>
            <a:r>
              <a:rPr sz="2400" spc="-33" dirty="0">
                <a:latin typeface="Times New Roman"/>
                <a:cs typeface="Times New Roman"/>
              </a:rPr>
              <a:t> </a:t>
            </a:r>
            <a:r>
              <a:rPr sz="2400" spc="-13" dirty="0">
                <a:latin typeface="Times New Roman"/>
                <a:cs typeface="Times New Roman"/>
              </a:rPr>
              <a:t>communication</a:t>
            </a:r>
            <a:endParaRPr sz="2400">
              <a:latin typeface="Times New Roman"/>
              <a:cs typeface="Times New Roman"/>
            </a:endParaRPr>
          </a:p>
          <a:p>
            <a:pPr marL="626518" indent="-457189">
              <a:spcBef>
                <a:spcPts val="433"/>
              </a:spcBef>
              <a:buChar char="●"/>
              <a:tabLst>
                <a:tab pos="626518" algn="l"/>
              </a:tabLst>
            </a:pPr>
            <a:r>
              <a:rPr sz="2400" dirty="0">
                <a:latin typeface="Times New Roman"/>
                <a:cs typeface="Times New Roman"/>
              </a:rPr>
              <a:t>Power</a:t>
            </a:r>
            <a:r>
              <a:rPr sz="2400" spc="-27" dirty="0">
                <a:latin typeface="Times New Roman"/>
                <a:cs typeface="Times New Roman"/>
              </a:rPr>
              <a:t> </a:t>
            </a:r>
            <a:r>
              <a:rPr sz="2400" dirty="0">
                <a:latin typeface="Times New Roman"/>
                <a:cs typeface="Times New Roman"/>
              </a:rPr>
              <a:t>lines</a:t>
            </a:r>
            <a:r>
              <a:rPr sz="2400" spc="-47" dirty="0">
                <a:latin typeface="Times New Roman"/>
                <a:cs typeface="Times New Roman"/>
              </a:rPr>
              <a:t> </a:t>
            </a:r>
            <a:r>
              <a:rPr sz="2400" dirty="0">
                <a:latin typeface="Times New Roman"/>
                <a:cs typeface="Times New Roman"/>
              </a:rPr>
              <a:t>weren’t</a:t>
            </a:r>
            <a:r>
              <a:rPr sz="2400" spc="-33" dirty="0">
                <a:latin typeface="Times New Roman"/>
                <a:cs typeface="Times New Roman"/>
              </a:rPr>
              <a:t> </a:t>
            </a:r>
            <a:r>
              <a:rPr sz="2400" dirty="0">
                <a:latin typeface="Times New Roman"/>
                <a:cs typeface="Times New Roman"/>
              </a:rPr>
              <a:t>built</a:t>
            </a:r>
            <a:r>
              <a:rPr sz="2400" spc="-53" dirty="0">
                <a:latin typeface="Times New Roman"/>
                <a:cs typeface="Times New Roman"/>
              </a:rPr>
              <a:t> </a:t>
            </a:r>
            <a:r>
              <a:rPr sz="2400" dirty="0">
                <a:latin typeface="Times New Roman"/>
                <a:cs typeface="Times New Roman"/>
              </a:rPr>
              <a:t>for</a:t>
            </a:r>
            <a:r>
              <a:rPr sz="2400" spc="-20" dirty="0">
                <a:latin typeface="Times New Roman"/>
                <a:cs typeface="Times New Roman"/>
              </a:rPr>
              <a:t> </a:t>
            </a:r>
            <a:r>
              <a:rPr sz="2400" dirty="0">
                <a:latin typeface="Times New Roman"/>
                <a:cs typeface="Times New Roman"/>
              </a:rPr>
              <a:t>data</a:t>
            </a:r>
            <a:r>
              <a:rPr sz="2400" spc="-53" dirty="0">
                <a:latin typeface="Times New Roman"/>
                <a:cs typeface="Times New Roman"/>
              </a:rPr>
              <a:t> </a:t>
            </a:r>
            <a:r>
              <a:rPr sz="2400" dirty="0">
                <a:latin typeface="Times New Roman"/>
                <a:cs typeface="Times New Roman"/>
              </a:rPr>
              <a:t>transmissions;</a:t>
            </a:r>
            <a:r>
              <a:rPr sz="2400" spc="-27" dirty="0">
                <a:latin typeface="Times New Roman"/>
                <a:cs typeface="Times New Roman"/>
              </a:rPr>
              <a:t> </a:t>
            </a:r>
            <a:r>
              <a:rPr sz="2400" dirty="0">
                <a:latin typeface="Times New Roman"/>
                <a:cs typeface="Times New Roman"/>
              </a:rPr>
              <a:t>they</a:t>
            </a:r>
            <a:r>
              <a:rPr sz="2400" spc="-40" dirty="0">
                <a:latin typeface="Times New Roman"/>
                <a:cs typeface="Times New Roman"/>
              </a:rPr>
              <a:t> </a:t>
            </a:r>
            <a:r>
              <a:rPr sz="2400" dirty="0">
                <a:latin typeface="Times New Roman"/>
                <a:cs typeface="Times New Roman"/>
              </a:rPr>
              <a:t>were</a:t>
            </a:r>
            <a:r>
              <a:rPr sz="2400" spc="-40" dirty="0">
                <a:latin typeface="Times New Roman"/>
                <a:cs typeface="Times New Roman"/>
              </a:rPr>
              <a:t> </a:t>
            </a:r>
            <a:r>
              <a:rPr sz="2400" dirty="0">
                <a:latin typeface="Times New Roman"/>
                <a:cs typeface="Times New Roman"/>
              </a:rPr>
              <a:t>built</a:t>
            </a:r>
            <a:r>
              <a:rPr sz="2400" spc="-47" dirty="0">
                <a:latin typeface="Times New Roman"/>
                <a:cs typeface="Times New Roman"/>
              </a:rPr>
              <a:t> </a:t>
            </a:r>
            <a:r>
              <a:rPr sz="2400" dirty="0">
                <a:latin typeface="Times New Roman"/>
                <a:cs typeface="Times New Roman"/>
              </a:rPr>
              <a:t>to</a:t>
            </a:r>
            <a:r>
              <a:rPr sz="2400" spc="-27" dirty="0">
                <a:latin typeface="Times New Roman"/>
                <a:cs typeface="Times New Roman"/>
              </a:rPr>
              <a:t> </a:t>
            </a:r>
            <a:r>
              <a:rPr sz="2400" dirty="0">
                <a:latin typeface="Times New Roman"/>
                <a:cs typeface="Times New Roman"/>
              </a:rPr>
              <a:t>provide</a:t>
            </a:r>
            <a:r>
              <a:rPr sz="2400" spc="-47" dirty="0">
                <a:latin typeface="Times New Roman"/>
                <a:cs typeface="Times New Roman"/>
              </a:rPr>
              <a:t> </a:t>
            </a:r>
            <a:r>
              <a:rPr sz="2400" spc="-13" dirty="0">
                <a:latin typeface="Times New Roman"/>
                <a:cs typeface="Times New Roman"/>
              </a:rPr>
              <a:t>electricity.</a:t>
            </a:r>
            <a:endParaRPr sz="2400">
              <a:latin typeface="Times New Roman"/>
              <a:cs typeface="Times New Roman"/>
            </a:endParaRPr>
          </a:p>
          <a:p>
            <a:pPr marL="626518" marR="6773" indent="-458035">
              <a:lnSpc>
                <a:spcPct val="114999"/>
              </a:lnSpc>
              <a:buChar char="●"/>
              <a:tabLst>
                <a:tab pos="626518" algn="l"/>
              </a:tabLst>
            </a:pPr>
            <a:r>
              <a:rPr sz="2400" dirty="0">
                <a:latin typeface="Times New Roman"/>
                <a:cs typeface="Times New Roman"/>
              </a:rPr>
              <a:t>So</a:t>
            </a:r>
            <a:r>
              <a:rPr sz="2400" spc="140" dirty="0">
                <a:latin typeface="Times New Roman"/>
                <a:cs typeface="Times New Roman"/>
              </a:rPr>
              <a:t> </a:t>
            </a:r>
            <a:r>
              <a:rPr sz="2400" dirty="0">
                <a:latin typeface="Times New Roman"/>
                <a:cs typeface="Times New Roman"/>
              </a:rPr>
              <a:t>when</a:t>
            </a:r>
            <a:r>
              <a:rPr sz="2400" spc="133" dirty="0">
                <a:latin typeface="Times New Roman"/>
                <a:cs typeface="Times New Roman"/>
              </a:rPr>
              <a:t> </a:t>
            </a:r>
            <a:r>
              <a:rPr sz="2400" dirty="0">
                <a:latin typeface="Times New Roman"/>
                <a:cs typeface="Times New Roman"/>
              </a:rPr>
              <a:t>a</a:t>
            </a:r>
            <a:r>
              <a:rPr sz="2400" spc="140" dirty="0">
                <a:latin typeface="Times New Roman"/>
                <a:cs typeface="Times New Roman"/>
              </a:rPr>
              <a:t> </a:t>
            </a:r>
            <a:r>
              <a:rPr sz="2400" dirty="0">
                <a:latin typeface="Times New Roman"/>
                <a:cs typeface="Times New Roman"/>
              </a:rPr>
              <a:t>smart</a:t>
            </a:r>
            <a:r>
              <a:rPr sz="2400" spc="152" dirty="0">
                <a:latin typeface="Times New Roman"/>
                <a:cs typeface="Times New Roman"/>
              </a:rPr>
              <a:t> </a:t>
            </a:r>
            <a:r>
              <a:rPr sz="2400" dirty="0">
                <a:latin typeface="Times New Roman"/>
                <a:cs typeface="Times New Roman"/>
              </a:rPr>
              <a:t>meter</a:t>
            </a:r>
            <a:r>
              <a:rPr sz="2400" spc="127" dirty="0">
                <a:latin typeface="Times New Roman"/>
                <a:cs typeface="Times New Roman"/>
              </a:rPr>
              <a:t> </a:t>
            </a:r>
            <a:r>
              <a:rPr sz="2400" dirty="0">
                <a:latin typeface="Times New Roman"/>
                <a:cs typeface="Times New Roman"/>
              </a:rPr>
              <a:t>communicates</a:t>
            </a:r>
            <a:r>
              <a:rPr sz="2400" spc="120" dirty="0">
                <a:latin typeface="Times New Roman"/>
                <a:cs typeface="Times New Roman"/>
              </a:rPr>
              <a:t> </a:t>
            </a:r>
            <a:r>
              <a:rPr sz="2400" dirty="0">
                <a:latin typeface="Times New Roman"/>
                <a:cs typeface="Times New Roman"/>
              </a:rPr>
              <a:t>through</a:t>
            </a:r>
            <a:r>
              <a:rPr sz="2400" spc="133" dirty="0">
                <a:latin typeface="Times New Roman"/>
                <a:cs typeface="Times New Roman"/>
              </a:rPr>
              <a:t> </a:t>
            </a:r>
            <a:r>
              <a:rPr sz="2400" dirty="0">
                <a:latin typeface="Times New Roman"/>
                <a:cs typeface="Times New Roman"/>
              </a:rPr>
              <a:t>a</a:t>
            </a:r>
            <a:r>
              <a:rPr sz="2400" spc="120" dirty="0">
                <a:latin typeface="Times New Roman"/>
                <a:cs typeface="Times New Roman"/>
              </a:rPr>
              <a:t> </a:t>
            </a:r>
            <a:r>
              <a:rPr sz="2400" dirty="0">
                <a:latin typeface="Times New Roman"/>
                <a:cs typeface="Times New Roman"/>
              </a:rPr>
              <a:t>power</a:t>
            </a:r>
            <a:r>
              <a:rPr sz="2400" spc="147" dirty="0">
                <a:latin typeface="Times New Roman"/>
                <a:cs typeface="Times New Roman"/>
              </a:rPr>
              <a:t> </a:t>
            </a:r>
            <a:r>
              <a:rPr sz="2400" dirty="0">
                <a:latin typeface="Times New Roman"/>
                <a:cs typeface="Times New Roman"/>
              </a:rPr>
              <a:t>line,</a:t>
            </a:r>
            <a:r>
              <a:rPr sz="2400" spc="127" dirty="0">
                <a:latin typeface="Times New Roman"/>
                <a:cs typeface="Times New Roman"/>
              </a:rPr>
              <a:t> </a:t>
            </a:r>
            <a:r>
              <a:rPr sz="2400" dirty="0">
                <a:latin typeface="Times New Roman"/>
                <a:cs typeface="Times New Roman"/>
              </a:rPr>
              <a:t>these</a:t>
            </a:r>
            <a:r>
              <a:rPr sz="2400" spc="152" dirty="0">
                <a:latin typeface="Times New Roman"/>
                <a:cs typeface="Times New Roman"/>
              </a:rPr>
              <a:t> </a:t>
            </a:r>
            <a:r>
              <a:rPr sz="2400" dirty="0">
                <a:latin typeface="Times New Roman"/>
                <a:cs typeface="Times New Roman"/>
              </a:rPr>
              <a:t>data</a:t>
            </a:r>
            <a:r>
              <a:rPr sz="2400" spc="133" dirty="0">
                <a:latin typeface="Times New Roman"/>
                <a:cs typeface="Times New Roman"/>
              </a:rPr>
              <a:t> </a:t>
            </a:r>
            <a:r>
              <a:rPr sz="2400" dirty="0">
                <a:latin typeface="Times New Roman"/>
                <a:cs typeface="Times New Roman"/>
              </a:rPr>
              <a:t>signals</a:t>
            </a:r>
            <a:r>
              <a:rPr sz="2400" spc="140" dirty="0">
                <a:latin typeface="Times New Roman"/>
                <a:cs typeface="Times New Roman"/>
              </a:rPr>
              <a:t> </a:t>
            </a:r>
            <a:r>
              <a:rPr sz="2400" spc="-13" dirty="0">
                <a:latin typeface="Times New Roman"/>
                <a:cs typeface="Times New Roman"/>
              </a:rPr>
              <a:t>often </a:t>
            </a:r>
            <a:r>
              <a:rPr sz="2400" dirty="0">
                <a:latin typeface="Times New Roman"/>
                <a:cs typeface="Times New Roman"/>
              </a:rPr>
              <a:t>encounter</a:t>
            </a:r>
            <a:r>
              <a:rPr sz="2400" spc="-67" dirty="0">
                <a:latin typeface="Times New Roman"/>
                <a:cs typeface="Times New Roman"/>
              </a:rPr>
              <a:t> </a:t>
            </a:r>
            <a:r>
              <a:rPr sz="2400" dirty="0">
                <a:latin typeface="Times New Roman"/>
                <a:cs typeface="Times New Roman"/>
              </a:rPr>
              <a:t>interference</a:t>
            </a:r>
            <a:r>
              <a:rPr sz="2400" spc="-67" dirty="0">
                <a:latin typeface="Times New Roman"/>
                <a:cs typeface="Times New Roman"/>
              </a:rPr>
              <a:t> </a:t>
            </a:r>
            <a:r>
              <a:rPr sz="2400" dirty="0">
                <a:latin typeface="Times New Roman"/>
                <a:cs typeface="Times New Roman"/>
              </a:rPr>
              <a:t>from</a:t>
            </a:r>
            <a:r>
              <a:rPr sz="2400" spc="-27" dirty="0">
                <a:latin typeface="Times New Roman"/>
                <a:cs typeface="Times New Roman"/>
              </a:rPr>
              <a:t> </a:t>
            </a:r>
            <a:r>
              <a:rPr sz="2400" dirty="0">
                <a:latin typeface="Times New Roman"/>
                <a:cs typeface="Times New Roman"/>
              </a:rPr>
              <a:t>the</a:t>
            </a:r>
            <a:r>
              <a:rPr sz="2400" spc="-60" dirty="0">
                <a:latin typeface="Times New Roman"/>
                <a:cs typeface="Times New Roman"/>
              </a:rPr>
              <a:t> </a:t>
            </a:r>
            <a:r>
              <a:rPr sz="2400" dirty="0">
                <a:latin typeface="Times New Roman"/>
                <a:cs typeface="Times New Roman"/>
              </a:rPr>
              <a:t>electrical</a:t>
            </a:r>
            <a:r>
              <a:rPr sz="2400" spc="-73" dirty="0">
                <a:latin typeface="Times New Roman"/>
                <a:cs typeface="Times New Roman"/>
              </a:rPr>
              <a:t> </a:t>
            </a:r>
            <a:r>
              <a:rPr sz="2400" dirty="0">
                <a:latin typeface="Times New Roman"/>
                <a:cs typeface="Times New Roman"/>
              </a:rPr>
              <a:t>current</a:t>
            </a:r>
            <a:r>
              <a:rPr sz="2400" spc="-60" dirty="0">
                <a:latin typeface="Times New Roman"/>
                <a:cs typeface="Times New Roman"/>
              </a:rPr>
              <a:t> </a:t>
            </a:r>
            <a:r>
              <a:rPr sz="2400" dirty="0">
                <a:latin typeface="Times New Roman"/>
                <a:cs typeface="Times New Roman"/>
              </a:rPr>
              <a:t>running</a:t>
            </a:r>
            <a:r>
              <a:rPr sz="2400" spc="-27" dirty="0">
                <a:latin typeface="Times New Roman"/>
                <a:cs typeface="Times New Roman"/>
              </a:rPr>
              <a:t> </a:t>
            </a:r>
            <a:r>
              <a:rPr sz="2400" dirty="0">
                <a:latin typeface="Times New Roman"/>
                <a:cs typeface="Times New Roman"/>
              </a:rPr>
              <a:t>to</a:t>
            </a:r>
            <a:r>
              <a:rPr sz="2400" spc="-53" dirty="0">
                <a:latin typeface="Times New Roman"/>
                <a:cs typeface="Times New Roman"/>
              </a:rPr>
              <a:t> </a:t>
            </a:r>
            <a:r>
              <a:rPr sz="2400" dirty="0">
                <a:latin typeface="Times New Roman"/>
                <a:cs typeface="Times New Roman"/>
              </a:rPr>
              <a:t>powered</a:t>
            </a:r>
            <a:r>
              <a:rPr sz="2400" spc="-53" dirty="0">
                <a:latin typeface="Times New Roman"/>
                <a:cs typeface="Times New Roman"/>
              </a:rPr>
              <a:t> </a:t>
            </a:r>
            <a:r>
              <a:rPr sz="2400" spc="-13" dirty="0">
                <a:latin typeface="Times New Roman"/>
                <a:cs typeface="Times New Roman"/>
              </a:rPr>
              <a:t>devices.</a:t>
            </a:r>
            <a:endParaRPr sz="2400">
              <a:latin typeface="Times New Roman"/>
              <a:cs typeface="Times New Roman"/>
            </a:endParaRPr>
          </a:p>
          <a:p>
            <a:pPr marL="627363" marR="6773" indent="-458035">
              <a:lnSpc>
                <a:spcPct val="114999"/>
              </a:lnSpc>
              <a:buChar char="●"/>
              <a:tabLst>
                <a:tab pos="627363" algn="l"/>
              </a:tabLst>
            </a:pPr>
            <a:r>
              <a:rPr sz="2400" dirty="0">
                <a:latin typeface="Times New Roman"/>
                <a:cs typeface="Times New Roman"/>
              </a:rPr>
              <a:t>PLC</a:t>
            </a:r>
            <a:r>
              <a:rPr sz="2400" spc="133" dirty="0">
                <a:latin typeface="Times New Roman"/>
                <a:cs typeface="Times New Roman"/>
              </a:rPr>
              <a:t> </a:t>
            </a:r>
            <a:r>
              <a:rPr sz="2400" dirty="0">
                <a:latin typeface="Times New Roman"/>
                <a:cs typeface="Times New Roman"/>
              </a:rPr>
              <a:t>doesn’t</a:t>
            </a:r>
            <a:r>
              <a:rPr sz="2400" spc="133" dirty="0">
                <a:latin typeface="Times New Roman"/>
                <a:cs typeface="Times New Roman"/>
              </a:rPr>
              <a:t> </a:t>
            </a:r>
            <a:r>
              <a:rPr sz="2400" dirty="0">
                <a:latin typeface="Times New Roman"/>
                <a:cs typeface="Times New Roman"/>
              </a:rPr>
              <a:t>require</a:t>
            </a:r>
            <a:r>
              <a:rPr sz="2400" spc="133" dirty="0">
                <a:latin typeface="Times New Roman"/>
                <a:cs typeface="Times New Roman"/>
              </a:rPr>
              <a:t> </a:t>
            </a:r>
            <a:r>
              <a:rPr sz="2400" dirty="0">
                <a:latin typeface="Times New Roman"/>
                <a:cs typeface="Times New Roman"/>
              </a:rPr>
              <a:t>utility</a:t>
            </a:r>
            <a:r>
              <a:rPr sz="2400" spc="133" dirty="0">
                <a:latin typeface="Times New Roman"/>
                <a:cs typeface="Times New Roman"/>
              </a:rPr>
              <a:t> </a:t>
            </a:r>
            <a:r>
              <a:rPr sz="2400" dirty="0">
                <a:latin typeface="Times New Roman"/>
                <a:cs typeface="Times New Roman"/>
              </a:rPr>
              <a:t>providers</a:t>
            </a:r>
            <a:r>
              <a:rPr sz="2400" spc="133" dirty="0">
                <a:latin typeface="Times New Roman"/>
                <a:cs typeface="Times New Roman"/>
              </a:rPr>
              <a:t> </a:t>
            </a:r>
            <a:r>
              <a:rPr sz="2400" dirty="0">
                <a:latin typeface="Times New Roman"/>
                <a:cs typeface="Times New Roman"/>
              </a:rPr>
              <a:t>to</a:t>
            </a:r>
            <a:r>
              <a:rPr sz="2400" spc="127" dirty="0">
                <a:latin typeface="Times New Roman"/>
                <a:cs typeface="Times New Roman"/>
              </a:rPr>
              <a:t> </a:t>
            </a:r>
            <a:r>
              <a:rPr sz="2400" dirty="0">
                <a:latin typeface="Times New Roman"/>
                <a:cs typeface="Times New Roman"/>
              </a:rPr>
              <a:t>install</a:t>
            </a:r>
            <a:r>
              <a:rPr sz="2400" spc="120" dirty="0">
                <a:latin typeface="Times New Roman"/>
                <a:cs typeface="Times New Roman"/>
              </a:rPr>
              <a:t> </a:t>
            </a:r>
            <a:r>
              <a:rPr sz="2400" dirty="0">
                <a:latin typeface="Times New Roman"/>
                <a:cs typeface="Times New Roman"/>
              </a:rPr>
              <a:t>additional</a:t>
            </a:r>
            <a:r>
              <a:rPr sz="2400" spc="133" dirty="0">
                <a:latin typeface="Times New Roman"/>
                <a:cs typeface="Times New Roman"/>
              </a:rPr>
              <a:t> </a:t>
            </a:r>
            <a:r>
              <a:rPr sz="2400" dirty="0">
                <a:latin typeface="Times New Roman"/>
                <a:cs typeface="Times New Roman"/>
              </a:rPr>
              <a:t>network</a:t>
            </a:r>
            <a:r>
              <a:rPr sz="2400" spc="120" dirty="0">
                <a:latin typeface="Times New Roman"/>
                <a:cs typeface="Times New Roman"/>
              </a:rPr>
              <a:t> </a:t>
            </a:r>
            <a:r>
              <a:rPr sz="2400" dirty="0">
                <a:latin typeface="Times New Roman"/>
                <a:cs typeface="Times New Roman"/>
              </a:rPr>
              <a:t>infrastructure,</a:t>
            </a:r>
            <a:r>
              <a:rPr sz="2400" spc="140" dirty="0">
                <a:latin typeface="Times New Roman"/>
                <a:cs typeface="Times New Roman"/>
              </a:rPr>
              <a:t> </a:t>
            </a:r>
            <a:r>
              <a:rPr sz="2400" spc="-33" dirty="0">
                <a:latin typeface="Times New Roman"/>
                <a:cs typeface="Times New Roman"/>
              </a:rPr>
              <a:t>but </a:t>
            </a:r>
            <a:r>
              <a:rPr sz="2400" dirty="0">
                <a:latin typeface="Times New Roman"/>
                <a:cs typeface="Times New Roman"/>
              </a:rPr>
              <a:t>it’s</a:t>
            </a:r>
            <a:r>
              <a:rPr sz="2400" spc="-40" dirty="0">
                <a:latin typeface="Times New Roman"/>
                <a:cs typeface="Times New Roman"/>
              </a:rPr>
              <a:t> </a:t>
            </a:r>
            <a:r>
              <a:rPr sz="2400" dirty="0">
                <a:latin typeface="Times New Roman"/>
                <a:cs typeface="Times New Roman"/>
              </a:rPr>
              <a:t>less</a:t>
            </a:r>
            <a:r>
              <a:rPr sz="2400" spc="-27" dirty="0">
                <a:latin typeface="Times New Roman"/>
                <a:cs typeface="Times New Roman"/>
              </a:rPr>
              <a:t> </a:t>
            </a:r>
            <a:r>
              <a:rPr sz="2400" dirty="0">
                <a:latin typeface="Times New Roman"/>
                <a:cs typeface="Times New Roman"/>
              </a:rPr>
              <a:t>reliable</a:t>
            </a:r>
            <a:r>
              <a:rPr sz="2400" spc="-53" dirty="0">
                <a:latin typeface="Times New Roman"/>
                <a:cs typeface="Times New Roman"/>
              </a:rPr>
              <a:t> </a:t>
            </a:r>
            <a:r>
              <a:rPr sz="2400" dirty="0">
                <a:latin typeface="Times New Roman"/>
                <a:cs typeface="Times New Roman"/>
              </a:rPr>
              <a:t>than</a:t>
            </a:r>
            <a:r>
              <a:rPr sz="2400" spc="-40" dirty="0">
                <a:latin typeface="Times New Roman"/>
                <a:cs typeface="Times New Roman"/>
              </a:rPr>
              <a:t> </a:t>
            </a:r>
            <a:r>
              <a:rPr sz="2400" dirty="0">
                <a:latin typeface="Times New Roman"/>
                <a:cs typeface="Times New Roman"/>
              </a:rPr>
              <a:t>other</a:t>
            </a:r>
            <a:r>
              <a:rPr sz="2400" spc="-33" dirty="0">
                <a:latin typeface="Times New Roman"/>
                <a:cs typeface="Times New Roman"/>
              </a:rPr>
              <a:t> </a:t>
            </a:r>
            <a:r>
              <a:rPr sz="2400" spc="-13" dirty="0">
                <a:latin typeface="Times New Roman"/>
                <a:cs typeface="Times New Roman"/>
              </a:rPr>
              <a:t>solutions.</a:t>
            </a:r>
            <a:endParaRPr sz="2400">
              <a:latin typeface="Times New Roman"/>
              <a:cs typeface="Times New Roman"/>
            </a:endParaRPr>
          </a:p>
          <a:p>
            <a:pPr marL="626518" indent="-457189">
              <a:spcBef>
                <a:spcPts val="433"/>
              </a:spcBef>
              <a:buChar char="●"/>
              <a:tabLst>
                <a:tab pos="626518" algn="l"/>
              </a:tabLst>
            </a:pPr>
            <a:r>
              <a:rPr sz="2400" dirty="0">
                <a:latin typeface="Times New Roman"/>
                <a:cs typeface="Times New Roman"/>
              </a:rPr>
              <a:t>As</a:t>
            </a:r>
            <a:r>
              <a:rPr sz="2400" spc="-33" dirty="0">
                <a:latin typeface="Times New Roman"/>
                <a:cs typeface="Times New Roman"/>
              </a:rPr>
              <a:t> </a:t>
            </a:r>
            <a:r>
              <a:rPr sz="2400" dirty="0">
                <a:latin typeface="Times New Roman"/>
                <a:cs typeface="Times New Roman"/>
              </a:rPr>
              <a:t>with</a:t>
            </a:r>
            <a:r>
              <a:rPr sz="2400" spc="-33" dirty="0">
                <a:latin typeface="Times New Roman"/>
                <a:cs typeface="Times New Roman"/>
              </a:rPr>
              <a:t> </a:t>
            </a:r>
            <a:r>
              <a:rPr sz="2400" dirty="0">
                <a:latin typeface="Times New Roman"/>
                <a:cs typeface="Times New Roman"/>
              </a:rPr>
              <a:t>ethernet,</a:t>
            </a:r>
            <a:r>
              <a:rPr sz="2400" spc="-47" dirty="0">
                <a:latin typeface="Times New Roman"/>
                <a:cs typeface="Times New Roman"/>
              </a:rPr>
              <a:t> </a:t>
            </a:r>
            <a:r>
              <a:rPr sz="2400" dirty="0">
                <a:latin typeface="Times New Roman"/>
                <a:cs typeface="Times New Roman"/>
              </a:rPr>
              <a:t>PLC</a:t>
            </a:r>
            <a:r>
              <a:rPr sz="2400" spc="-40" dirty="0">
                <a:latin typeface="Times New Roman"/>
                <a:cs typeface="Times New Roman"/>
              </a:rPr>
              <a:t> </a:t>
            </a:r>
            <a:r>
              <a:rPr sz="2400" dirty="0">
                <a:latin typeface="Times New Roman"/>
                <a:cs typeface="Times New Roman"/>
              </a:rPr>
              <a:t>enables</a:t>
            </a:r>
            <a:r>
              <a:rPr sz="2400" spc="-47" dirty="0">
                <a:latin typeface="Times New Roman"/>
                <a:cs typeface="Times New Roman"/>
              </a:rPr>
              <a:t> </a:t>
            </a:r>
            <a:r>
              <a:rPr sz="2400" dirty="0">
                <a:latin typeface="Times New Roman"/>
                <a:cs typeface="Times New Roman"/>
              </a:rPr>
              <a:t>the</a:t>
            </a:r>
            <a:r>
              <a:rPr sz="2400" spc="-33" dirty="0">
                <a:latin typeface="Times New Roman"/>
                <a:cs typeface="Times New Roman"/>
              </a:rPr>
              <a:t> </a:t>
            </a:r>
            <a:r>
              <a:rPr sz="2400" dirty="0">
                <a:latin typeface="Times New Roman"/>
                <a:cs typeface="Times New Roman"/>
              </a:rPr>
              <a:t>meters</a:t>
            </a:r>
            <a:r>
              <a:rPr sz="2400" spc="-47" dirty="0">
                <a:latin typeface="Times New Roman"/>
                <a:cs typeface="Times New Roman"/>
              </a:rPr>
              <a:t> </a:t>
            </a:r>
            <a:r>
              <a:rPr sz="2400" dirty="0">
                <a:latin typeface="Times New Roman"/>
                <a:cs typeface="Times New Roman"/>
              </a:rPr>
              <a:t>to</a:t>
            </a:r>
            <a:r>
              <a:rPr sz="2400" spc="-47" dirty="0">
                <a:latin typeface="Times New Roman"/>
                <a:cs typeface="Times New Roman"/>
              </a:rPr>
              <a:t> </a:t>
            </a:r>
            <a:r>
              <a:rPr sz="2400" dirty="0">
                <a:latin typeface="Times New Roman"/>
                <a:cs typeface="Times New Roman"/>
              </a:rPr>
              <a:t>transmit</a:t>
            </a:r>
            <a:r>
              <a:rPr sz="2400" spc="-33" dirty="0">
                <a:latin typeface="Times New Roman"/>
                <a:cs typeface="Times New Roman"/>
              </a:rPr>
              <a:t> </a:t>
            </a:r>
            <a:r>
              <a:rPr sz="2400" dirty="0">
                <a:latin typeface="Times New Roman"/>
                <a:cs typeface="Times New Roman"/>
              </a:rPr>
              <a:t>to</a:t>
            </a:r>
            <a:r>
              <a:rPr sz="2400" spc="-20" dirty="0">
                <a:latin typeface="Times New Roman"/>
                <a:cs typeface="Times New Roman"/>
              </a:rPr>
              <a:t> </a:t>
            </a:r>
            <a:r>
              <a:rPr sz="2400" dirty="0">
                <a:latin typeface="Times New Roman"/>
                <a:cs typeface="Times New Roman"/>
              </a:rPr>
              <a:t>the</a:t>
            </a:r>
            <a:r>
              <a:rPr sz="2400" spc="-47" dirty="0">
                <a:latin typeface="Times New Roman"/>
                <a:cs typeface="Times New Roman"/>
              </a:rPr>
              <a:t> </a:t>
            </a:r>
            <a:r>
              <a:rPr sz="2400" dirty="0">
                <a:latin typeface="Times New Roman"/>
                <a:cs typeface="Times New Roman"/>
              </a:rPr>
              <a:t>gateway</a:t>
            </a:r>
            <a:r>
              <a:rPr sz="2400" spc="-40" dirty="0">
                <a:latin typeface="Times New Roman"/>
                <a:cs typeface="Times New Roman"/>
              </a:rPr>
              <a:t> </a:t>
            </a:r>
            <a:r>
              <a:rPr sz="2400" dirty="0">
                <a:latin typeface="Times New Roman"/>
                <a:cs typeface="Times New Roman"/>
              </a:rPr>
              <a:t>through</a:t>
            </a:r>
            <a:r>
              <a:rPr sz="2400" spc="-40" dirty="0">
                <a:latin typeface="Times New Roman"/>
                <a:cs typeface="Times New Roman"/>
              </a:rPr>
              <a:t> </a:t>
            </a:r>
            <a:r>
              <a:rPr sz="2400" spc="-13" dirty="0">
                <a:latin typeface="Times New Roman"/>
                <a:cs typeface="Times New Roman"/>
              </a:rPr>
              <a:t>TCP/IP.</a:t>
            </a:r>
            <a:endParaRPr sz="2400">
              <a:latin typeface="Times New Roman"/>
              <a:cs typeface="Times New Roman"/>
            </a:endParaRPr>
          </a:p>
        </p:txBody>
      </p:sp>
    </p:spTree>
    <p:extLst>
      <p:ext uri="{BB962C8B-B14F-4D97-AF65-F5344CB8AC3E}">
        <p14:creationId xmlns:p14="http://schemas.microsoft.com/office/powerpoint/2010/main" val="24027895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20566" y="475095"/>
            <a:ext cx="11153140" cy="6259983"/>
          </a:xfrm>
          <a:prstGeom prst="rect">
            <a:avLst/>
          </a:prstGeom>
        </p:spPr>
        <p:txBody>
          <a:bodyPr vert="horz" wrap="square" lIns="0" tIns="101600" rIns="0" bIns="0" rtlCol="0">
            <a:spAutoFit/>
          </a:bodyPr>
          <a:lstStyle/>
          <a:p>
            <a:pPr marL="16933">
              <a:spcBef>
                <a:spcPts val="800"/>
              </a:spcBef>
            </a:pPr>
            <a:r>
              <a:rPr sz="2267" b="1" dirty="0">
                <a:latin typeface="Times New Roman"/>
                <a:cs typeface="Times New Roman"/>
              </a:rPr>
              <a:t>Meter</a:t>
            </a:r>
            <a:r>
              <a:rPr sz="2267" b="1" spc="-53" dirty="0">
                <a:latin typeface="Times New Roman"/>
                <a:cs typeface="Times New Roman"/>
              </a:rPr>
              <a:t> </a:t>
            </a:r>
            <a:r>
              <a:rPr sz="2267" b="1" dirty="0">
                <a:latin typeface="Times New Roman"/>
                <a:cs typeface="Times New Roman"/>
              </a:rPr>
              <a:t>Bus</a:t>
            </a:r>
            <a:r>
              <a:rPr sz="2267" b="1" spc="-13" dirty="0">
                <a:latin typeface="Times New Roman"/>
                <a:cs typeface="Times New Roman"/>
              </a:rPr>
              <a:t> (M-</a:t>
            </a:r>
            <a:r>
              <a:rPr sz="2267" b="1" spc="-27" dirty="0">
                <a:latin typeface="Times New Roman"/>
                <a:cs typeface="Times New Roman"/>
              </a:rPr>
              <a:t>Bus)</a:t>
            </a:r>
            <a:endParaRPr sz="2267">
              <a:latin typeface="Times New Roman"/>
              <a:cs typeface="Times New Roman"/>
            </a:endParaRPr>
          </a:p>
          <a:p>
            <a:pPr marL="626518" marR="11006" indent="-449569">
              <a:lnSpc>
                <a:spcPct val="114700"/>
              </a:lnSpc>
              <a:spcBef>
                <a:spcPts val="272"/>
              </a:spcBef>
              <a:buChar char="●"/>
              <a:tabLst>
                <a:tab pos="626518" algn="l"/>
              </a:tabLst>
            </a:pPr>
            <a:r>
              <a:rPr sz="2267" spc="-13" dirty="0">
                <a:latin typeface="Times New Roman"/>
                <a:cs typeface="Times New Roman"/>
              </a:rPr>
              <a:t>M-</a:t>
            </a:r>
            <a:r>
              <a:rPr sz="2267" dirty="0">
                <a:latin typeface="Times New Roman"/>
                <a:cs typeface="Times New Roman"/>
              </a:rPr>
              <a:t>Bus</a:t>
            </a:r>
            <a:r>
              <a:rPr sz="2267" spc="40" dirty="0">
                <a:latin typeface="Times New Roman"/>
                <a:cs typeface="Times New Roman"/>
              </a:rPr>
              <a:t> </a:t>
            </a:r>
            <a:r>
              <a:rPr sz="2267" dirty="0">
                <a:latin typeface="Times New Roman"/>
                <a:cs typeface="Times New Roman"/>
              </a:rPr>
              <a:t>is</a:t>
            </a:r>
            <a:r>
              <a:rPr sz="2267" spc="27" dirty="0">
                <a:latin typeface="Times New Roman"/>
                <a:cs typeface="Times New Roman"/>
              </a:rPr>
              <a:t> </a:t>
            </a:r>
            <a:r>
              <a:rPr sz="2267" dirty="0">
                <a:latin typeface="Times New Roman"/>
                <a:cs typeface="Times New Roman"/>
              </a:rPr>
              <a:t>a</a:t>
            </a:r>
            <a:r>
              <a:rPr sz="2267" spc="27" dirty="0">
                <a:latin typeface="Times New Roman"/>
                <a:cs typeface="Times New Roman"/>
              </a:rPr>
              <a:t> </a:t>
            </a:r>
            <a:r>
              <a:rPr sz="2267" dirty="0">
                <a:latin typeface="Times New Roman"/>
                <a:cs typeface="Times New Roman"/>
              </a:rPr>
              <a:t>European</a:t>
            </a:r>
            <a:r>
              <a:rPr sz="2267" spc="27" dirty="0">
                <a:latin typeface="Times New Roman"/>
                <a:cs typeface="Times New Roman"/>
              </a:rPr>
              <a:t> </a:t>
            </a:r>
            <a:r>
              <a:rPr sz="2267" dirty="0">
                <a:latin typeface="Times New Roman"/>
                <a:cs typeface="Times New Roman"/>
              </a:rPr>
              <a:t>standard</a:t>
            </a:r>
            <a:r>
              <a:rPr sz="2267" spc="27" dirty="0">
                <a:latin typeface="Times New Roman"/>
                <a:cs typeface="Times New Roman"/>
              </a:rPr>
              <a:t> </a:t>
            </a:r>
            <a:r>
              <a:rPr sz="2267" dirty="0">
                <a:latin typeface="Times New Roman"/>
                <a:cs typeface="Times New Roman"/>
              </a:rPr>
              <a:t>that’s</a:t>
            </a:r>
            <a:r>
              <a:rPr sz="2267" spc="47" dirty="0">
                <a:latin typeface="Times New Roman"/>
                <a:cs typeface="Times New Roman"/>
              </a:rPr>
              <a:t> </a:t>
            </a:r>
            <a:r>
              <a:rPr sz="2267" dirty="0">
                <a:latin typeface="Times New Roman"/>
                <a:cs typeface="Times New Roman"/>
              </a:rPr>
              <a:t>already</a:t>
            </a:r>
            <a:r>
              <a:rPr sz="2267" spc="7" dirty="0">
                <a:latin typeface="Times New Roman"/>
                <a:cs typeface="Times New Roman"/>
              </a:rPr>
              <a:t> </a:t>
            </a:r>
            <a:r>
              <a:rPr sz="2267" dirty="0">
                <a:latin typeface="Times New Roman"/>
                <a:cs typeface="Times New Roman"/>
              </a:rPr>
              <a:t>widely</a:t>
            </a:r>
            <a:r>
              <a:rPr sz="2267" spc="27" dirty="0">
                <a:latin typeface="Times New Roman"/>
                <a:cs typeface="Times New Roman"/>
              </a:rPr>
              <a:t> </a:t>
            </a:r>
            <a:r>
              <a:rPr sz="2267" dirty="0">
                <a:latin typeface="Times New Roman"/>
                <a:cs typeface="Times New Roman"/>
              </a:rPr>
              <a:t>used</a:t>
            </a:r>
            <a:r>
              <a:rPr sz="2267" spc="47" dirty="0">
                <a:latin typeface="Times New Roman"/>
                <a:cs typeface="Times New Roman"/>
              </a:rPr>
              <a:t> </a:t>
            </a:r>
            <a:r>
              <a:rPr sz="2267" dirty="0">
                <a:latin typeface="Times New Roman"/>
                <a:cs typeface="Times New Roman"/>
              </a:rPr>
              <a:t>in</a:t>
            </a:r>
            <a:r>
              <a:rPr sz="2267" spc="27" dirty="0">
                <a:latin typeface="Times New Roman"/>
                <a:cs typeface="Times New Roman"/>
              </a:rPr>
              <a:t> </a:t>
            </a:r>
            <a:r>
              <a:rPr sz="2267" dirty="0">
                <a:latin typeface="Times New Roman"/>
                <a:cs typeface="Times New Roman"/>
              </a:rPr>
              <a:t>buildings</a:t>
            </a:r>
            <a:r>
              <a:rPr sz="2267" spc="47" dirty="0">
                <a:latin typeface="Times New Roman"/>
                <a:cs typeface="Times New Roman"/>
              </a:rPr>
              <a:t> </a:t>
            </a:r>
            <a:r>
              <a:rPr sz="2267" dirty="0">
                <a:latin typeface="Times New Roman"/>
                <a:cs typeface="Times New Roman"/>
              </a:rPr>
              <a:t>and</a:t>
            </a:r>
            <a:r>
              <a:rPr sz="2267" spc="13" dirty="0">
                <a:latin typeface="Times New Roman"/>
                <a:cs typeface="Times New Roman"/>
              </a:rPr>
              <a:t> </a:t>
            </a:r>
            <a:r>
              <a:rPr sz="2267" dirty="0">
                <a:latin typeface="Times New Roman"/>
                <a:cs typeface="Times New Roman"/>
              </a:rPr>
              <a:t>was</a:t>
            </a:r>
            <a:r>
              <a:rPr sz="2267" spc="20" dirty="0">
                <a:latin typeface="Times New Roman"/>
                <a:cs typeface="Times New Roman"/>
              </a:rPr>
              <a:t> </a:t>
            </a:r>
            <a:r>
              <a:rPr sz="2267" spc="-13" dirty="0">
                <a:latin typeface="Times New Roman"/>
                <a:cs typeface="Times New Roman"/>
              </a:rPr>
              <a:t>specifically </a:t>
            </a:r>
            <a:r>
              <a:rPr sz="2267" dirty="0">
                <a:latin typeface="Times New Roman"/>
                <a:cs typeface="Times New Roman"/>
              </a:rPr>
              <a:t>developed</a:t>
            </a:r>
            <a:r>
              <a:rPr sz="2267" spc="-47" dirty="0">
                <a:latin typeface="Times New Roman"/>
                <a:cs typeface="Times New Roman"/>
              </a:rPr>
              <a:t> </a:t>
            </a:r>
            <a:r>
              <a:rPr sz="2267" dirty="0">
                <a:latin typeface="Times New Roman"/>
                <a:cs typeface="Times New Roman"/>
              </a:rPr>
              <a:t>for</a:t>
            </a:r>
            <a:r>
              <a:rPr sz="2267" spc="-33" dirty="0">
                <a:latin typeface="Times New Roman"/>
                <a:cs typeface="Times New Roman"/>
              </a:rPr>
              <a:t> </a:t>
            </a:r>
            <a:r>
              <a:rPr sz="2267" dirty="0">
                <a:latin typeface="Times New Roman"/>
                <a:cs typeface="Times New Roman"/>
              </a:rPr>
              <a:t>smart</a:t>
            </a:r>
            <a:r>
              <a:rPr sz="2267" spc="-13" dirty="0">
                <a:latin typeface="Times New Roman"/>
                <a:cs typeface="Times New Roman"/>
              </a:rPr>
              <a:t> meters.</a:t>
            </a:r>
            <a:endParaRPr sz="2267">
              <a:latin typeface="Times New Roman"/>
              <a:cs typeface="Times New Roman"/>
            </a:endParaRPr>
          </a:p>
          <a:p>
            <a:pPr marL="625671" marR="6773" indent="-448722">
              <a:lnSpc>
                <a:spcPct val="114700"/>
              </a:lnSpc>
              <a:spcBef>
                <a:spcPts val="20"/>
              </a:spcBef>
              <a:buChar char="●"/>
              <a:tabLst>
                <a:tab pos="625671" algn="l"/>
              </a:tabLst>
            </a:pPr>
            <a:r>
              <a:rPr sz="2267" dirty="0">
                <a:latin typeface="Times New Roman"/>
                <a:cs typeface="Times New Roman"/>
              </a:rPr>
              <a:t>It</a:t>
            </a:r>
            <a:r>
              <a:rPr sz="2267" spc="327" dirty="0">
                <a:latin typeface="Times New Roman"/>
                <a:cs typeface="Times New Roman"/>
              </a:rPr>
              <a:t> </a:t>
            </a:r>
            <a:r>
              <a:rPr sz="2267" dirty="0">
                <a:latin typeface="Times New Roman"/>
                <a:cs typeface="Times New Roman"/>
              </a:rPr>
              <a:t>includes</a:t>
            </a:r>
            <a:r>
              <a:rPr sz="2267" spc="327" dirty="0">
                <a:latin typeface="Times New Roman"/>
                <a:cs typeface="Times New Roman"/>
              </a:rPr>
              <a:t> </a:t>
            </a:r>
            <a:r>
              <a:rPr sz="2267" dirty="0">
                <a:latin typeface="Times New Roman"/>
                <a:cs typeface="Times New Roman"/>
              </a:rPr>
              <a:t>physical,</a:t>
            </a:r>
            <a:r>
              <a:rPr sz="2267" spc="339" dirty="0">
                <a:latin typeface="Times New Roman"/>
                <a:cs typeface="Times New Roman"/>
              </a:rPr>
              <a:t> </a:t>
            </a:r>
            <a:r>
              <a:rPr sz="2267" dirty="0">
                <a:latin typeface="Times New Roman"/>
                <a:cs typeface="Times New Roman"/>
              </a:rPr>
              <a:t>data,</a:t>
            </a:r>
            <a:r>
              <a:rPr sz="2267" spc="333" dirty="0">
                <a:latin typeface="Times New Roman"/>
                <a:cs typeface="Times New Roman"/>
              </a:rPr>
              <a:t> </a:t>
            </a:r>
            <a:r>
              <a:rPr sz="2267" dirty="0">
                <a:latin typeface="Times New Roman"/>
                <a:cs typeface="Times New Roman"/>
              </a:rPr>
              <a:t>network,</a:t>
            </a:r>
            <a:r>
              <a:rPr sz="2267" spc="327" dirty="0">
                <a:latin typeface="Times New Roman"/>
                <a:cs typeface="Times New Roman"/>
              </a:rPr>
              <a:t> </a:t>
            </a:r>
            <a:r>
              <a:rPr sz="2267" dirty="0">
                <a:latin typeface="Times New Roman"/>
                <a:cs typeface="Times New Roman"/>
              </a:rPr>
              <a:t>and</a:t>
            </a:r>
            <a:r>
              <a:rPr sz="2267" spc="320" dirty="0">
                <a:latin typeface="Times New Roman"/>
                <a:cs typeface="Times New Roman"/>
              </a:rPr>
              <a:t> </a:t>
            </a:r>
            <a:r>
              <a:rPr sz="2267" dirty="0">
                <a:latin typeface="Times New Roman"/>
                <a:cs typeface="Times New Roman"/>
              </a:rPr>
              <a:t>application</a:t>
            </a:r>
            <a:r>
              <a:rPr sz="2267" spc="339" dirty="0">
                <a:latin typeface="Times New Roman"/>
                <a:cs typeface="Times New Roman"/>
              </a:rPr>
              <a:t> </a:t>
            </a:r>
            <a:r>
              <a:rPr sz="2267" dirty="0">
                <a:latin typeface="Times New Roman"/>
                <a:cs typeface="Times New Roman"/>
              </a:rPr>
              <a:t>layers,</a:t>
            </a:r>
            <a:r>
              <a:rPr sz="2267" spc="339" dirty="0">
                <a:latin typeface="Times New Roman"/>
                <a:cs typeface="Times New Roman"/>
              </a:rPr>
              <a:t> </a:t>
            </a:r>
            <a:r>
              <a:rPr sz="2267" dirty="0">
                <a:latin typeface="Times New Roman"/>
                <a:cs typeface="Times New Roman"/>
              </a:rPr>
              <a:t>but</a:t>
            </a:r>
            <a:r>
              <a:rPr sz="2267" spc="327" dirty="0">
                <a:latin typeface="Times New Roman"/>
                <a:cs typeface="Times New Roman"/>
              </a:rPr>
              <a:t> </a:t>
            </a:r>
            <a:r>
              <a:rPr sz="2267" dirty="0">
                <a:latin typeface="Times New Roman"/>
                <a:cs typeface="Times New Roman"/>
              </a:rPr>
              <a:t>no</a:t>
            </a:r>
            <a:r>
              <a:rPr sz="2267" spc="327" dirty="0">
                <a:latin typeface="Times New Roman"/>
                <a:cs typeface="Times New Roman"/>
              </a:rPr>
              <a:t> </a:t>
            </a:r>
            <a:r>
              <a:rPr sz="2267" dirty="0">
                <a:latin typeface="Times New Roman"/>
                <a:cs typeface="Times New Roman"/>
              </a:rPr>
              <a:t>transport,</a:t>
            </a:r>
            <a:r>
              <a:rPr sz="2267" spc="339" dirty="0">
                <a:latin typeface="Times New Roman"/>
                <a:cs typeface="Times New Roman"/>
              </a:rPr>
              <a:t> </a:t>
            </a:r>
            <a:r>
              <a:rPr sz="2267" dirty="0">
                <a:latin typeface="Times New Roman"/>
                <a:cs typeface="Times New Roman"/>
              </a:rPr>
              <a:t>session,</a:t>
            </a:r>
            <a:r>
              <a:rPr sz="2267" spc="339" dirty="0">
                <a:latin typeface="Times New Roman"/>
                <a:cs typeface="Times New Roman"/>
              </a:rPr>
              <a:t> </a:t>
            </a:r>
            <a:r>
              <a:rPr sz="2267" spc="-33" dirty="0">
                <a:latin typeface="Times New Roman"/>
                <a:cs typeface="Times New Roman"/>
              </a:rPr>
              <a:t>or </a:t>
            </a:r>
            <a:r>
              <a:rPr sz="2267" dirty="0">
                <a:latin typeface="Times New Roman"/>
                <a:cs typeface="Times New Roman"/>
              </a:rPr>
              <a:t>presentation</a:t>
            </a:r>
            <a:r>
              <a:rPr sz="2267" spc="-80" dirty="0">
                <a:latin typeface="Times New Roman"/>
                <a:cs typeface="Times New Roman"/>
              </a:rPr>
              <a:t> </a:t>
            </a:r>
            <a:r>
              <a:rPr sz="2267" spc="-13" dirty="0">
                <a:latin typeface="Times New Roman"/>
                <a:cs typeface="Times New Roman"/>
              </a:rPr>
              <a:t>layers.</a:t>
            </a:r>
            <a:endParaRPr sz="2267">
              <a:latin typeface="Times New Roman"/>
              <a:cs typeface="Times New Roman"/>
            </a:endParaRPr>
          </a:p>
          <a:p>
            <a:pPr marL="625671" marR="11006" indent="-449569">
              <a:lnSpc>
                <a:spcPct val="114700"/>
              </a:lnSpc>
              <a:spcBef>
                <a:spcPts val="13"/>
              </a:spcBef>
              <a:buChar char="●"/>
              <a:tabLst>
                <a:tab pos="625671" algn="l"/>
              </a:tabLst>
            </a:pPr>
            <a:r>
              <a:rPr sz="2267" dirty="0">
                <a:latin typeface="Times New Roman"/>
                <a:cs typeface="Times New Roman"/>
              </a:rPr>
              <a:t>With</a:t>
            </a:r>
            <a:r>
              <a:rPr sz="2267" spc="167" dirty="0">
                <a:latin typeface="Times New Roman"/>
                <a:cs typeface="Times New Roman"/>
              </a:rPr>
              <a:t> </a:t>
            </a:r>
            <a:r>
              <a:rPr sz="2267" spc="-13" dirty="0">
                <a:latin typeface="Times New Roman"/>
                <a:cs typeface="Times New Roman"/>
              </a:rPr>
              <a:t>M-</a:t>
            </a:r>
            <a:r>
              <a:rPr sz="2267" dirty="0">
                <a:latin typeface="Times New Roman"/>
                <a:cs typeface="Times New Roman"/>
              </a:rPr>
              <a:t>Bus,</a:t>
            </a:r>
            <a:r>
              <a:rPr sz="2267" spc="160" dirty="0">
                <a:latin typeface="Times New Roman"/>
                <a:cs typeface="Times New Roman"/>
              </a:rPr>
              <a:t> </a:t>
            </a:r>
            <a:r>
              <a:rPr sz="2267" dirty="0">
                <a:latin typeface="Times New Roman"/>
                <a:cs typeface="Times New Roman"/>
              </a:rPr>
              <a:t>smart</a:t>
            </a:r>
            <a:r>
              <a:rPr sz="2267" spc="152" dirty="0">
                <a:latin typeface="Times New Roman"/>
                <a:cs typeface="Times New Roman"/>
              </a:rPr>
              <a:t> </a:t>
            </a:r>
            <a:r>
              <a:rPr sz="2267" dirty="0">
                <a:latin typeface="Times New Roman"/>
                <a:cs typeface="Times New Roman"/>
              </a:rPr>
              <a:t>meters</a:t>
            </a:r>
            <a:r>
              <a:rPr sz="2267" spc="152" dirty="0">
                <a:latin typeface="Times New Roman"/>
                <a:cs typeface="Times New Roman"/>
              </a:rPr>
              <a:t> </a:t>
            </a:r>
            <a:r>
              <a:rPr sz="2267" dirty="0">
                <a:latin typeface="Times New Roman"/>
                <a:cs typeface="Times New Roman"/>
              </a:rPr>
              <a:t>need</a:t>
            </a:r>
            <a:r>
              <a:rPr sz="2267" spc="147" dirty="0">
                <a:latin typeface="Times New Roman"/>
                <a:cs typeface="Times New Roman"/>
              </a:rPr>
              <a:t> </a:t>
            </a:r>
            <a:r>
              <a:rPr sz="2267" dirty="0">
                <a:latin typeface="Times New Roman"/>
                <a:cs typeface="Times New Roman"/>
              </a:rPr>
              <a:t>a</a:t>
            </a:r>
            <a:r>
              <a:rPr sz="2267" spc="152" dirty="0">
                <a:latin typeface="Times New Roman"/>
                <a:cs typeface="Times New Roman"/>
              </a:rPr>
              <a:t> </a:t>
            </a:r>
            <a:r>
              <a:rPr sz="2267" dirty="0">
                <a:latin typeface="Times New Roman"/>
                <a:cs typeface="Times New Roman"/>
              </a:rPr>
              <a:t>gateway</a:t>
            </a:r>
            <a:r>
              <a:rPr sz="2267" spc="147" dirty="0">
                <a:latin typeface="Times New Roman"/>
                <a:cs typeface="Times New Roman"/>
              </a:rPr>
              <a:t> </a:t>
            </a:r>
            <a:r>
              <a:rPr sz="2267" dirty="0">
                <a:latin typeface="Times New Roman"/>
                <a:cs typeface="Times New Roman"/>
              </a:rPr>
              <a:t>to</a:t>
            </a:r>
            <a:r>
              <a:rPr sz="2267" spc="167" dirty="0">
                <a:latin typeface="Times New Roman"/>
                <a:cs typeface="Times New Roman"/>
              </a:rPr>
              <a:t> </a:t>
            </a:r>
            <a:r>
              <a:rPr sz="2267" dirty="0">
                <a:latin typeface="Times New Roman"/>
                <a:cs typeface="Times New Roman"/>
              </a:rPr>
              <a:t>convert</a:t>
            </a:r>
            <a:r>
              <a:rPr sz="2267" spc="167" dirty="0">
                <a:latin typeface="Times New Roman"/>
                <a:cs typeface="Times New Roman"/>
              </a:rPr>
              <a:t> </a:t>
            </a:r>
            <a:r>
              <a:rPr sz="2267" dirty="0">
                <a:latin typeface="Times New Roman"/>
                <a:cs typeface="Times New Roman"/>
              </a:rPr>
              <a:t>the</a:t>
            </a:r>
            <a:r>
              <a:rPr sz="2267" spc="147" dirty="0">
                <a:latin typeface="Times New Roman"/>
                <a:cs typeface="Times New Roman"/>
              </a:rPr>
              <a:t> </a:t>
            </a:r>
            <a:r>
              <a:rPr sz="2267" dirty="0">
                <a:latin typeface="Times New Roman"/>
                <a:cs typeface="Times New Roman"/>
              </a:rPr>
              <a:t>data</a:t>
            </a:r>
            <a:r>
              <a:rPr sz="2267" spc="152" dirty="0">
                <a:latin typeface="Times New Roman"/>
                <a:cs typeface="Times New Roman"/>
              </a:rPr>
              <a:t> </a:t>
            </a:r>
            <a:r>
              <a:rPr sz="2267" dirty="0">
                <a:latin typeface="Times New Roman"/>
                <a:cs typeface="Times New Roman"/>
              </a:rPr>
              <a:t>to</a:t>
            </a:r>
            <a:r>
              <a:rPr sz="2267" spc="147" dirty="0">
                <a:latin typeface="Times New Roman"/>
                <a:cs typeface="Times New Roman"/>
              </a:rPr>
              <a:t> </a:t>
            </a:r>
            <a:r>
              <a:rPr sz="2267" dirty="0">
                <a:latin typeface="Times New Roman"/>
                <a:cs typeface="Times New Roman"/>
              </a:rPr>
              <a:t>TCP/IP</a:t>
            </a:r>
            <a:r>
              <a:rPr sz="2267" spc="167" dirty="0">
                <a:latin typeface="Times New Roman"/>
                <a:cs typeface="Times New Roman"/>
              </a:rPr>
              <a:t> </a:t>
            </a:r>
            <a:r>
              <a:rPr sz="2267" dirty="0">
                <a:latin typeface="Times New Roman"/>
                <a:cs typeface="Times New Roman"/>
              </a:rPr>
              <a:t>for</a:t>
            </a:r>
            <a:r>
              <a:rPr sz="2267" spc="167" dirty="0">
                <a:latin typeface="Times New Roman"/>
                <a:cs typeface="Times New Roman"/>
              </a:rPr>
              <a:t> </a:t>
            </a:r>
            <a:r>
              <a:rPr sz="2267" dirty="0">
                <a:latin typeface="Times New Roman"/>
                <a:cs typeface="Times New Roman"/>
              </a:rPr>
              <a:t>transport</a:t>
            </a:r>
            <a:r>
              <a:rPr sz="2267" spc="152" dirty="0">
                <a:latin typeface="Times New Roman"/>
                <a:cs typeface="Times New Roman"/>
              </a:rPr>
              <a:t> </a:t>
            </a:r>
            <a:r>
              <a:rPr sz="2267" spc="-33" dirty="0">
                <a:latin typeface="Times New Roman"/>
                <a:cs typeface="Times New Roman"/>
              </a:rPr>
              <a:t>to </a:t>
            </a:r>
            <a:r>
              <a:rPr sz="2267" dirty="0">
                <a:latin typeface="Times New Roman"/>
                <a:cs typeface="Times New Roman"/>
              </a:rPr>
              <a:t>the</a:t>
            </a:r>
            <a:r>
              <a:rPr sz="2267" spc="-27" dirty="0">
                <a:latin typeface="Times New Roman"/>
                <a:cs typeface="Times New Roman"/>
              </a:rPr>
              <a:t> </a:t>
            </a:r>
            <a:r>
              <a:rPr sz="2267" spc="-13" dirty="0">
                <a:latin typeface="Times New Roman"/>
                <a:cs typeface="Times New Roman"/>
              </a:rPr>
              <a:t>cloud.</a:t>
            </a:r>
            <a:endParaRPr sz="2267">
              <a:latin typeface="Times New Roman"/>
              <a:cs typeface="Times New Roman"/>
            </a:endParaRPr>
          </a:p>
          <a:p>
            <a:pPr>
              <a:spcBef>
                <a:spcPts val="213"/>
              </a:spcBef>
              <a:buFont typeface="Times New Roman"/>
              <a:buChar char="●"/>
            </a:pPr>
            <a:endParaRPr sz="2267">
              <a:latin typeface="Times New Roman"/>
              <a:cs typeface="Times New Roman"/>
            </a:endParaRPr>
          </a:p>
          <a:p>
            <a:pPr marL="16933"/>
            <a:r>
              <a:rPr sz="2267" b="1" dirty="0">
                <a:latin typeface="Times New Roman"/>
                <a:cs typeface="Times New Roman"/>
              </a:rPr>
              <a:t>Wireless</a:t>
            </a:r>
            <a:r>
              <a:rPr sz="2267" b="1" spc="-53" dirty="0">
                <a:latin typeface="Times New Roman"/>
                <a:cs typeface="Times New Roman"/>
              </a:rPr>
              <a:t> </a:t>
            </a:r>
            <a:r>
              <a:rPr sz="2267" b="1" spc="-13" dirty="0">
                <a:latin typeface="Times New Roman"/>
                <a:cs typeface="Times New Roman"/>
              </a:rPr>
              <a:t>protocols</a:t>
            </a:r>
            <a:endParaRPr sz="2267">
              <a:latin typeface="Times New Roman"/>
              <a:cs typeface="Times New Roman"/>
            </a:endParaRPr>
          </a:p>
          <a:p>
            <a:pPr marL="16933">
              <a:spcBef>
                <a:spcPts val="2000"/>
              </a:spcBef>
            </a:pPr>
            <a:r>
              <a:rPr sz="2267" b="1" dirty="0">
                <a:latin typeface="Times New Roman"/>
                <a:cs typeface="Times New Roman"/>
              </a:rPr>
              <a:t>Wireless</a:t>
            </a:r>
            <a:r>
              <a:rPr sz="2267" b="1" spc="-13" dirty="0">
                <a:latin typeface="Times New Roman"/>
                <a:cs typeface="Times New Roman"/>
              </a:rPr>
              <a:t> Meter-</a:t>
            </a:r>
            <a:r>
              <a:rPr sz="2267" b="1" dirty="0">
                <a:latin typeface="Times New Roman"/>
                <a:cs typeface="Times New Roman"/>
              </a:rPr>
              <a:t>Bus</a:t>
            </a:r>
            <a:r>
              <a:rPr sz="2267" b="1" spc="-47" dirty="0">
                <a:latin typeface="Times New Roman"/>
                <a:cs typeface="Times New Roman"/>
              </a:rPr>
              <a:t> </a:t>
            </a:r>
            <a:r>
              <a:rPr sz="2267" b="1" dirty="0">
                <a:latin typeface="Times New Roman"/>
                <a:cs typeface="Times New Roman"/>
              </a:rPr>
              <a:t>(wM-</a:t>
            </a:r>
            <a:r>
              <a:rPr sz="2267" b="1" spc="-27" dirty="0">
                <a:latin typeface="Times New Roman"/>
                <a:cs typeface="Times New Roman"/>
              </a:rPr>
              <a:t>Bus)</a:t>
            </a:r>
            <a:endParaRPr sz="2267">
              <a:latin typeface="Times New Roman"/>
              <a:cs typeface="Times New Roman"/>
            </a:endParaRPr>
          </a:p>
          <a:p>
            <a:pPr marL="625671" indent="-448722">
              <a:spcBef>
                <a:spcPts val="667"/>
              </a:spcBef>
              <a:buChar char="●"/>
              <a:tabLst>
                <a:tab pos="625671" algn="l"/>
              </a:tabLst>
            </a:pPr>
            <a:r>
              <a:rPr sz="2267" dirty="0">
                <a:latin typeface="Times New Roman"/>
                <a:cs typeface="Times New Roman"/>
              </a:rPr>
              <a:t>Wireless</a:t>
            </a:r>
            <a:r>
              <a:rPr sz="2267" spc="-40" dirty="0">
                <a:latin typeface="Times New Roman"/>
                <a:cs typeface="Times New Roman"/>
              </a:rPr>
              <a:t> </a:t>
            </a:r>
            <a:r>
              <a:rPr sz="2267" spc="-13" dirty="0">
                <a:latin typeface="Times New Roman"/>
                <a:cs typeface="Times New Roman"/>
              </a:rPr>
              <a:t>M-</a:t>
            </a:r>
            <a:r>
              <a:rPr sz="2267" dirty="0">
                <a:latin typeface="Times New Roman"/>
                <a:cs typeface="Times New Roman"/>
              </a:rPr>
              <a:t>Bus</a:t>
            </a:r>
            <a:r>
              <a:rPr sz="2267" spc="-40" dirty="0">
                <a:latin typeface="Times New Roman"/>
                <a:cs typeface="Times New Roman"/>
              </a:rPr>
              <a:t> </a:t>
            </a:r>
            <a:r>
              <a:rPr sz="2267" dirty="0">
                <a:latin typeface="Times New Roman"/>
                <a:cs typeface="Times New Roman"/>
              </a:rPr>
              <a:t>is</a:t>
            </a:r>
            <a:r>
              <a:rPr sz="2267" spc="-13" dirty="0">
                <a:latin typeface="Times New Roman"/>
                <a:cs typeface="Times New Roman"/>
              </a:rPr>
              <a:t> </a:t>
            </a:r>
            <a:r>
              <a:rPr sz="2267" dirty="0">
                <a:latin typeface="Times New Roman"/>
                <a:cs typeface="Times New Roman"/>
              </a:rPr>
              <a:t>simply</a:t>
            </a:r>
            <a:r>
              <a:rPr sz="2267" spc="-20" dirty="0">
                <a:latin typeface="Times New Roman"/>
                <a:cs typeface="Times New Roman"/>
              </a:rPr>
              <a:t> </a:t>
            </a:r>
            <a:r>
              <a:rPr sz="2267" dirty="0">
                <a:latin typeface="Times New Roman"/>
                <a:cs typeface="Times New Roman"/>
              </a:rPr>
              <a:t>a</a:t>
            </a:r>
            <a:r>
              <a:rPr sz="2267" spc="-33" dirty="0">
                <a:latin typeface="Times New Roman"/>
                <a:cs typeface="Times New Roman"/>
              </a:rPr>
              <a:t> </a:t>
            </a:r>
            <a:r>
              <a:rPr sz="2267" dirty="0">
                <a:latin typeface="Times New Roman"/>
                <a:cs typeface="Times New Roman"/>
              </a:rPr>
              <a:t>wireless</a:t>
            </a:r>
            <a:r>
              <a:rPr sz="2267" spc="-40" dirty="0">
                <a:latin typeface="Times New Roman"/>
                <a:cs typeface="Times New Roman"/>
              </a:rPr>
              <a:t> </a:t>
            </a:r>
            <a:r>
              <a:rPr sz="2267" dirty="0">
                <a:latin typeface="Times New Roman"/>
                <a:cs typeface="Times New Roman"/>
              </a:rPr>
              <a:t>version</a:t>
            </a:r>
            <a:r>
              <a:rPr sz="2267" spc="-33" dirty="0">
                <a:latin typeface="Times New Roman"/>
                <a:cs typeface="Times New Roman"/>
              </a:rPr>
              <a:t> </a:t>
            </a:r>
            <a:r>
              <a:rPr sz="2267" dirty="0">
                <a:latin typeface="Times New Roman"/>
                <a:cs typeface="Times New Roman"/>
              </a:rPr>
              <a:t>of</a:t>
            </a:r>
            <a:r>
              <a:rPr sz="2267" spc="-27" dirty="0">
                <a:latin typeface="Times New Roman"/>
                <a:cs typeface="Times New Roman"/>
              </a:rPr>
              <a:t> </a:t>
            </a:r>
            <a:r>
              <a:rPr sz="2267" dirty="0">
                <a:latin typeface="Times New Roman"/>
                <a:cs typeface="Times New Roman"/>
              </a:rPr>
              <a:t>the</a:t>
            </a:r>
            <a:r>
              <a:rPr sz="2267" spc="-33" dirty="0">
                <a:latin typeface="Times New Roman"/>
                <a:cs typeface="Times New Roman"/>
              </a:rPr>
              <a:t> </a:t>
            </a:r>
            <a:r>
              <a:rPr sz="2267" spc="-13" dirty="0">
                <a:latin typeface="Times New Roman"/>
                <a:cs typeface="Times New Roman"/>
              </a:rPr>
              <a:t>M-</a:t>
            </a:r>
            <a:r>
              <a:rPr sz="2267" dirty="0">
                <a:latin typeface="Times New Roman"/>
                <a:cs typeface="Times New Roman"/>
              </a:rPr>
              <a:t>Bus</a:t>
            </a:r>
            <a:r>
              <a:rPr sz="2267" spc="-40" dirty="0">
                <a:latin typeface="Times New Roman"/>
                <a:cs typeface="Times New Roman"/>
              </a:rPr>
              <a:t> </a:t>
            </a:r>
            <a:r>
              <a:rPr sz="2267" spc="-13" dirty="0">
                <a:latin typeface="Times New Roman"/>
                <a:cs typeface="Times New Roman"/>
              </a:rPr>
              <a:t>standard.</a:t>
            </a:r>
            <a:endParaRPr sz="2267">
              <a:latin typeface="Times New Roman"/>
              <a:cs typeface="Times New Roman"/>
            </a:endParaRPr>
          </a:p>
          <a:p>
            <a:pPr marL="625671" indent="-448722">
              <a:spcBef>
                <a:spcPts val="420"/>
              </a:spcBef>
              <a:buChar char="●"/>
              <a:tabLst>
                <a:tab pos="625671" algn="l"/>
              </a:tabLst>
            </a:pPr>
            <a:r>
              <a:rPr sz="2267" dirty="0">
                <a:latin typeface="Times New Roman"/>
                <a:cs typeface="Times New Roman"/>
              </a:rPr>
              <a:t>It’s</a:t>
            </a:r>
            <a:r>
              <a:rPr sz="2267" spc="-33" dirty="0">
                <a:latin typeface="Times New Roman"/>
                <a:cs typeface="Times New Roman"/>
              </a:rPr>
              <a:t> </a:t>
            </a:r>
            <a:r>
              <a:rPr sz="2267" dirty="0">
                <a:latin typeface="Times New Roman"/>
                <a:cs typeface="Times New Roman"/>
              </a:rPr>
              <a:t>already</a:t>
            </a:r>
            <a:r>
              <a:rPr sz="2267" spc="-53" dirty="0">
                <a:latin typeface="Times New Roman"/>
                <a:cs typeface="Times New Roman"/>
              </a:rPr>
              <a:t> </a:t>
            </a:r>
            <a:r>
              <a:rPr sz="2267" dirty="0">
                <a:latin typeface="Times New Roman"/>
                <a:cs typeface="Times New Roman"/>
              </a:rPr>
              <a:t>widely</a:t>
            </a:r>
            <a:r>
              <a:rPr sz="2267" spc="-33" dirty="0">
                <a:latin typeface="Times New Roman"/>
                <a:cs typeface="Times New Roman"/>
              </a:rPr>
              <a:t> </a:t>
            </a:r>
            <a:r>
              <a:rPr sz="2267" dirty="0">
                <a:latin typeface="Times New Roman"/>
                <a:cs typeface="Times New Roman"/>
              </a:rPr>
              <a:t>available</a:t>
            </a:r>
            <a:r>
              <a:rPr sz="2267" spc="-40" dirty="0">
                <a:latin typeface="Times New Roman"/>
                <a:cs typeface="Times New Roman"/>
              </a:rPr>
              <a:t> </a:t>
            </a:r>
            <a:r>
              <a:rPr sz="2267" dirty="0">
                <a:latin typeface="Times New Roman"/>
                <a:cs typeface="Times New Roman"/>
              </a:rPr>
              <a:t>in</a:t>
            </a:r>
            <a:r>
              <a:rPr sz="2267" spc="-20" dirty="0">
                <a:latin typeface="Times New Roman"/>
                <a:cs typeface="Times New Roman"/>
              </a:rPr>
              <a:t> </a:t>
            </a:r>
            <a:r>
              <a:rPr sz="2267" spc="-13" dirty="0">
                <a:latin typeface="Times New Roman"/>
                <a:cs typeface="Times New Roman"/>
              </a:rPr>
              <a:t>Europe</a:t>
            </a:r>
            <a:endParaRPr sz="2267">
              <a:latin typeface="Times New Roman"/>
              <a:cs typeface="Times New Roman"/>
            </a:endParaRPr>
          </a:p>
          <a:p>
            <a:pPr marL="625671" marR="624824" indent="-449569">
              <a:lnSpc>
                <a:spcPts val="3133"/>
              </a:lnSpc>
              <a:spcBef>
                <a:spcPts val="160"/>
              </a:spcBef>
              <a:buChar char="●"/>
              <a:tabLst>
                <a:tab pos="625671" algn="l"/>
              </a:tabLst>
            </a:pPr>
            <a:r>
              <a:rPr sz="2267" dirty="0">
                <a:latin typeface="Times New Roman"/>
                <a:cs typeface="Times New Roman"/>
              </a:rPr>
              <a:t>A</a:t>
            </a:r>
            <a:r>
              <a:rPr sz="2267" spc="-47" dirty="0">
                <a:latin typeface="Times New Roman"/>
                <a:cs typeface="Times New Roman"/>
              </a:rPr>
              <a:t> </a:t>
            </a:r>
            <a:r>
              <a:rPr sz="2267" dirty="0">
                <a:latin typeface="Times New Roman"/>
                <a:cs typeface="Times New Roman"/>
              </a:rPr>
              <a:t>Wireless</a:t>
            </a:r>
            <a:r>
              <a:rPr sz="2267" spc="-20" dirty="0">
                <a:latin typeface="Times New Roman"/>
                <a:cs typeface="Times New Roman"/>
              </a:rPr>
              <a:t> </a:t>
            </a:r>
            <a:r>
              <a:rPr sz="2267" spc="-13" dirty="0">
                <a:latin typeface="Times New Roman"/>
                <a:cs typeface="Times New Roman"/>
              </a:rPr>
              <a:t>M-</a:t>
            </a:r>
            <a:r>
              <a:rPr sz="2267" dirty="0">
                <a:latin typeface="Times New Roman"/>
                <a:cs typeface="Times New Roman"/>
              </a:rPr>
              <a:t>Bus</a:t>
            </a:r>
            <a:r>
              <a:rPr sz="2267" spc="-33" dirty="0">
                <a:latin typeface="Times New Roman"/>
                <a:cs typeface="Times New Roman"/>
              </a:rPr>
              <a:t> </a:t>
            </a:r>
            <a:r>
              <a:rPr sz="2267" dirty="0">
                <a:latin typeface="Times New Roman"/>
                <a:cs typeface="Times New Roman"/>
              </a:rPr>
              <a:t>network</a:t>
            </a:r>
            <a:r>
              <a:rPr sz="2267" spc="-47" dirty="0">
                <a:latin typeface="Times New Roman"/>
                <a:cs typeface="Times New Roman"/>
              </a:rPr>
              <a:t> </a:t>
            </a:r>
            <a:r>
              <a:rPr sz="2267" dirty="0">
                <a:latin typeface="Times New Roman"/>
                <a:cs typeface="Times New Roman"/>
              </a:rPr>
              <a:t>is</a:t>
            </a:r>
            <a:r>
              <a:rPr sz="2267" spc="-20" dirty="0">
                <a:latin typeface="Times New Roman"/>
                <a:cs typeface="Times New Roman"/>
              </a:rPr>
              <a:t> </a:t>
            </a:r>
            <a:r>
              <a:rPr sz="2267" dirty="0">
                <a:latin typeface="Times New Roman"/>
                <a:cs typeface="Times New Roman"/>
              </a:rPr>
              <a:t>based</a:t>
            </a:r>
            <a:r>
              <a:rPr sz="2267" spc="-47" dirty="0">
                <a:latin typeface="Times New Roman"/>
                <a:cs typeface="Times New Roman"/>
              </a:rPr>
              <a:t> </a:t>
            </a:r>
            <a:r>
              <a:rPr sz="2267" dirty="0">
                <a:latin typeface="Times New Roman"/>
                <a:cs typeface="Times New Roman"/>
              </a:rPr>
              <a:t>on</a:t>
            </a:r>
            <a:r>
              <a:rPr sz="2267" spc="-27" dirty="0">
                <a:latin typeface="Times New Roman"/>
                <a:cs typeface="Times New Roman"/>
              </a:rPr>
              <a:t> </a:t>
            </a:r>
            <a:r>
              <a:rPr sz="2267" dirty="0">
                <a:latin typeface="Times New Roman"/>
                <a:cs typeface="Times New Roman"/>
              </a:rPr>
              <a:t>a</a:t>
            </a:r>
            <a:r>
              <a:rPr sz="2267" spc="-27" dirty="0">
                <a:latin typeface="Times New Roman"/>
                <a:cs typeface="Times New Roman"/>
              </a:rPr>
              <a:t> </a:t>
            </a:r>
            <a:r>
              <a:rPr sz="2267" dirty="0">
                <a:latin typeface="Times New Roman"/>
                <a:cs typeface="Times New Roman"/>
              </a:rPr>
              <a:t>star</a:t>
            </a:r>
            <a:r>
              <a:rPr sz="2267" spc="-20" dirty="0">
                <a:latin typeface="Times New Roman"/>
                <a:cs typeface="Times New Roman"/>
              </a:rPr>
              <a:t> </a:t>
            </a:r>
            <a:r>
              <a:rPr sz="2267" dirty="0">
                <a:latin typeface="Times New Roman"/>
                <a:cs typeface="Times New Roman"/>
              </a:rPr>
              <a:t>topology</a:t>
            </a:r>
            <a:r>
              <a:rPr sz="2267" spc="-13" dirty="0">
                <a:latin typeface="Times New Roman"/>
                <a:cs typeface="Times New Roman"/>
              </a:rPr>
              <a:t> </a:t>
            </a:r>
            <a:r>
              <a:rPr sz="2267" dirty="0">
                <a:latin typeface="Times New Roman"/>
                <a:cs typeface="Times New Roman"/>
              </a:rPr>
              <a:t>network</a:t>
            </a:r>
            <a:r>
              <a:rPr sz="2267" spc="-60" dirty="0">
                <a:latin typeface="Times New Roman"/>
                <a:cs typeface="Times New Roman"/>
              </a:rPr>
              <a:t> </a:t>
            </a:r>
            <a:r>
              <a:rPr sz="2267" dirty="0">
                <a:latin typeface="Times New Roman"/>
                <a:cs typeface="Times New Roman"/>
              </a:rPr>
              <a:t>with</a:t>
            </a:r>
            <a:r>
              <a:rPr sz="2267" spc="-13" dirty="0">
                <a:latin typeface="Times New Roman"/>
                <a:cs typeface="Times New Roman"/>
              </a:rPr>
              <a:t> </a:t>
            </a:r>
            <a:r>
              <a:rPr sz="2267" dirty="0">
                <a:latin typeface="Times New Roman"/>
                <a:cs typeface="Times New Roman"/>
              </a:rPr>
              <a:t>master</a:t>
            </a:r>
            <a:r>
              <a:rPr sz="2267" spc="-33" dirty="0">
                <a:latin typeface="Times New Roman"/>
                <a:cs typeface="Times New Roman"/>
              </a:rPr>
              <a:t> </a:t>
            </a:r>
            <a:r>
              <a:rPr sz="2267" dirty="0">
                <a:latin typeface="Times New Roman"/>
                <a:cs typeface="Times New Roman"/>
              </a:rPr>
              <a:t>and</a:t>
            </a:r>
            <a:r>
              <a:rPr sz="2267" spc="-27" dirty="0">
                <a:latin typeface="Times New Roman"/>
                <a:cs typeface="Times New Roman"/>
              </a:rPr>
              <a:t> </a:t>
            </a:r>
            <a:r>
              <a:rPr sz="2267" spc="-13" dirty="0">
                <a:latin typeface="Times New Roman"/>
                <a:cs typeface="Times New Roman"/>
              </a:rPr>
              <a:t>slave devices</a:t>
            </a:r>
            <a:endParaRPr sz="2267">
              <a:latin typeface="Times New Roman"/>
              <a:cs typeface="Times New Roman"/>
            </a:endParaRPr>
          </a:p>
          <a:p>
            <a:pPr marL="625671" indent="-448722">
              <a:spcBef>
                <a:spcPts val="227"/>
              </a:spcBef>
              <a:buChar char="●"/>
              <a:tabLst>
                <a:tab pos="625671" algn="l"/>
              </a:tabLst>
            </a:pPr>
            <a:r>
              <a:rPr sz="2267" dirty="0">
                <a:latin typeface="Times New Roman"/>
                <a:cs typeface="Times New Roman"/>
              </a:rPr>
              <a:t>operates</a:t>
            </a:r>
            <a:r>
              <a:rPr sz="2267" spc="-53" dirty="0">
                <a:latin typeface="Times New Roman"/>
                <a:cs typeface="Times New Roman"/>
              </a:rPr>
              <a:t> </a:t>
            </a:r>
            <a:r>
              <a:rPr sz="2267" dirty="0">
                <a:latin typeface="Times New Roman"/>
                <a:cs typeface="Times New Roman"/>
              </a:rPr>
              <a:t>on</a:t>
            </a:r>
            <a:r>
              <a:rPr sz="2267" spc="-20" dirty="0">
                <a:latin typeface="Times New Roman"/>
                <a:cs typeface="Times New Roman"/>
              </a:rPr>
              <a:t> </a:t>
            </a:r>
            <a:r>
              <a:rPr sz="2267" dirty="0">
                <a:latin typeface="Times New Roman"/>
                <a:cs typeface="Times New Roman"/>
              </a:rPr>
              <a:t>three</a:t>
            </a:r>
            <a:r>
              <a:rPr sz="2267" spc="-27" dirty="0">
                <a:latin typeface="Times New Roman"/>
                <a:cs typeface="Times New Roman"/>
              </a:rPr>
              <a:t> </a:t>
            </a:r>
            <a:r>
              <a:rPr sz="2267" dirty="0">
                <a:latin typeface="Times New Roman"/>
                <a:cs typeface="Times New Roman"/>
              </a:rPr>
              <a:t>different</a:t>
            </a:r>
            <a:r>
              <a:rPr sz="2267" spc="-33" dirty="0">
                <a:latin typeface="Times New Roman"/>
                <a:cs typeface="Times New Roman"/>
              </a:rPr>
              <a:t> </a:t>
            </a:r>
            <a:r>
              <a:rPr sz="2267" dirty="0">
                <a:latin typeface="Times New Roman"/>
                <a:cs typeface="Times New Roman"/>
              </a:rPr>
              <a:t>frequencies,</a:t>
            </a:r>
            <a:r>
              <a:rPr sz="2267" spc="-53" dirty="0">
                <a:latin typeface="Times New Roman"/>
                <a:cs typeface="Times New Roman"/>
              </a:rPr>
              <a:t> </a:t>
            </a:r>
            <a:r>
              <a:rPr sz="2267" dirty="0">
                <a:latin typeface="Times New Roman"/>
                <a:cs typeface="Times New Roman"/>
              </a:rPr>
              <a:t>depending</a:t>
            </a:r>
            <a:r>
              <a:rPr sz="2267" spc="-40" dirty="0">
                <a:latin typeface="Times New Roman"/>
                <a:cs typeface="Times New Roman"/>
              </a:rPr>
              <a:t> </a:t>
            </a:r>
            <a:r>
              <a:rPr sz="2267" dirty="0">
                <a:latin typeface="Times New Roman"/>
                <a:cs typeface="Times New Roman"/>
              </a:rPr>
              <a:t>on</a:t>
            </a:r>
            <a:r>
              <a:rPr sz="2267" spc="-27" dirty="0">
                <a:latin typeface="Times New Roman"/>
                <a:cs typeface="Times New Roman"/>
              </a:rPr>
              <a:t> </a:t>
            </a:r>
            <a:r>
              <a:rPr sz="2267" dirty="0">
                <a:latin typeface="Times New Roman"/>
                <a:cs typeface="Times New Roman"/>
              </a:rPr>
              <a:t>the</a:t>
            </a:r>
            <a:r>
              <a:rPr sz="2267" spc="-20" dirty="0">
                <a:latin typeface="Times New Roman"/>
                <a:cs typeface="Times New Roman"/>
              </a:rPr>
              <a:t> </a:t>
            </a:r>
            <a:r>
              <a:rPr sz="2267" dirty="0">
                <a:latin typeface="Times New Roman"/>
                <a:cs typeface="Times New Roman"/>
              </a:rPr>
              <a:t>mode</a:t>
            </a:r>
            <a:r>
              <a:rPr sz="2267" spc="-27" dirty="0">
                <a:latin typeface="Times New Roman"/>
                <a:cs typeface="Times New Roman"/>
              </a:rPr>
              <a:t> </a:t>
            </a:r>
            <a:r>
              <a:rPr sz="2267" dirty="0">
                <a:latin typeface="Times New Roman"/>
                <a:cs typeface="Times New Roman"/>
              </a:rPr>
              <a:t>a</a:t>
            </a:r>
            <a:r>
              <a:rPr sz="2267" spc="-20" dirty="0">
                <a:latin typeface="Times New Roman"/>
                <a:cs typeface="Times New Roman"/>
              </a:rPr>
              <a:t> </a:t>
            </a:r>
            <a:r>
              <a:rPr sz="2267" dirty="0">
                <a:latin typeface="Times New Roman"/>
                <a:cs typeface="Times New Roman"/>
              </a:rPr>
              <a:t>meter</a:t>
            </a:r>
            <a:r>
              <a:rPr sz="2267" spc="-33" dirty="0">
                <a:latin typeface="Times New Roman"/>
                <a:cs typeface="Times New Roman"/>
              </a:rPr>
              <a:t> </a:t>
            </a:r>
            <a:r>
              <a:rPr sz="2267" dirty="0">
                <a:latin typeface="Times New Roman"/>
                <a:cs typeface="Times New Roman"/>
              </a:rPr>
              <a:t>or</a:t>
            </a:r>
            <a:r>
              <a:rPr sz="2267" spc="-13" dirty="0">
                <a:latin typeface="Times New Roman"/>
                <a:cs typeface="Times New Roman"/>
              </a:rPr>
              <a:t> </a:t>
            </a:r>
            <a:r>
              <a:rPr sz="2267" dirty="0">
                <a:latin typeface="Times New Roman"/>
                <a:cs typeface="Times New Roman"/>
              </a:rPr>
              <a:t>gateway</a:t>
            </a:r>
            <a:r>
              <a:rPr sz="2267" spc="-53" dirty="0">
                <a:latin typeface="Times New Roman"/>
                <a:cs typeface="Times New Roman"/>
              </a:rPr>
              <a:t> </a:t>
            </a:r>
            <a:r>
              <a:rPr sz="2267" spc="-27" dirty="0">
                <a:latin typeface="Times New Roman"/>
                <a:cs typeface="Times New Roman"/>
              </a:rPr>
              <a:t>uses</a:t>
            </a:r>
            <a:endParaRPr sz="2267">
              <a:latin typeface="Times New Roman"/>
              <a:cs typeface="Times New Roman"/>
            </a:endParaRPr>
          </a:p>
        </p:txBody>
      </p:sp>
    </p:spTree>
    <p:extLst>
      <p:ext uri="{BB962C8B-B14F-4D97-AF65-F5344CB8AC3E}">
        <p14:creationId xmlns:p14="http://schemas.microsoft.com/office/powerpoint/2010/main" val="2308334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70066" y="355308"/>
            <a:ext cx="11684847" cy="5816443"/>
          </a:xfrm>
          <a:prstGeom prst="rect">
            <a:avLst/>
          </a:prstGeom>
        </p:spPr>
        <p:txBody>
          <a:bodyPr vert="horz" wrap="square" lIns="0" tIns="67733" rIns="0" bIns="0" rtlCol="0">
            <a:spAutoFit/>
          </a:bodyPr>
          <a:lstStyle/>
          <a:p>
            <a:pPr marL="16933">
              <a:spcBef>
                <a:spcPts val="533"/>
              </a:spcBef>
            </a:pPr>
            <a:r>
              <a:rPr sz="2400" b="1" spc="-13" dirty="0">
                <a:latin typeface="Times New Roman"/>
                <a:cs typeface="Times New Roman"/>
              </a:rPr>
              <a:t>LoRaWAN</a:t>
            </a:r>
            <a:endParaRPr sz="2400">
              <a:latin typeface="Times New Roman"/>
              <a:cs typeface="Times New Roman"/>
            </a:endParaRPr>
          </a:p>
          <a:p>
            <a:pPr marL="625671" indent="-452955">
              <a:spcBef>
                <a:spcPts val="400"/>
              </a:spcBef>
              <a:buChar char="●"/>
              <a:tabLst>
                <a:tab pos="625671" algn="l"/>
              </a:tabLst>
            </a:pPr>
            <a:r>
              <a:rPr sz="2400" dirty="0">
                <a:latin typeface="Times New Roman"/>
                <a:cs typeface="Times New Roman"/>
              </a:rPr>
              <a:t>LoRaWAN</a:t>
            </a:r>
            <a:r>
              <a:rPr sz="2400" spc="-60" dirty="0">
                <a:latin typeface="Times New Roman"/>
                <a:cs typeface="Times New Roman"/>
              </a:rPr>
              <a:t> </a:t>
            </a:r>
            <a:r>
              <a:rPr sz="2400" dirty="0">
                <a:latin typeface="Times New Roman"/>
                <a:cs typeface="Times New Roman"/>
              </a:rPr>
              <a:t>is</a:t>
            </a:r>
            <a:r>
              <a:rPr sz="2400" spc="-67" dirty="0">
                <a:latin typeface="Times New Roman"/>
                <a:cs typeface="Times New Roman"/>
              </a:rPr>
              <a:t> </a:t>
            </a:r>
            <a:r>
              <a:rPr sz="2400" dirty="0">
                <a:latin typeface="Times New Roman"/>
                <a:cs typeface="Times New Roman"/>
              </a:rPr>
              <a:t>a</a:t>
            </a:r>
            <a:r>
              <a:rPr sz="2400" spc="-67" dirty="0">
                <a:latin typeface="Times New Roman"/>
                <a:cs typeface="Times New Roman"/>
              </a:rPr>
              <a:t> </a:t>
            </a:r>
            <a:r>
              <a:rPr sz="2400" dirty="0">
                <a:latin typeface="Times New Roman"/>
                <a:cs typeface="Times New Roman"/>
              </a:rPr>
              <a:t>popular</a:t>
            </a:r>
            <a:r>
              <a:rPr sz="2400" spc="-60" dirty="0">
                <a:latin typeface="Times New Roman"/>
                <a:cs typeface="Times New Roman"/>
              </a:rPr>
              <a:t> </a:t>
            </a:r>
            <a:r>
              <a:rPr sz="2400" dirty="0">
                <a:latin typeface="Times New Roman"/>
                <a:cs typeface="Times New Roman"/>
              </a:rPr>
              <a:t>LPWAN</a:t>
            </a:r>
            <a:r>
              <a:rPr sz="2400" spc="-67" dirty="0">
                <a:latin typeface="Times New Roman"/>
                <a:cs typeface="Times New Roman"/>
              </a:rPr>
              <a:t> </a:t>
            </a:r>
            <a:r>
              <a:rPr sz="2400" dirty="0">
                <a:latin typeface="Times New Roman"/>
                <a:cs typeface="Times New Roman"/>
              </a:rPr>
              <a:t>solution</a:t>
            </a:r>
            <a:r>
              <a:rPr sz="2400" spc="-60" dirty="0">
                <a:latin typeface="Times New Roman"/>
                <a:cs typeface="Times New Roman"/>
              </a:rPr>
              <a:t> </a:t>
            </a:r>
            <a:r>
              <a:rPr sz="2400" dirty="0">
                <a:latin typeface="Times New Roman"/>
                <a:cs typeface="Times New Roman"/>
              </a:rPr>
              <a:t>with</a:t>
            </a:r>
            <a:r>
              <a:rPr sz="2400" spc="-67" dirty="0">
                <a:latin typeface="Times New Roman"/>
                <a:cs typeface="Times New Roman"/>
              </a:rPr>
              <a:t> </a:t>
            </a:r>
            <a:r>
              <a:rPr sz="2400" dirty="0">
                <a:latin typeface="Times New Roman"/>
                <a:cs typeface="Times New Roman"/>
              </a:rPr>
              <a:t>widely</a:t>
            </a:r>
            <a:r>
              <a:rPr sz="2400" spc="-67" dirty="0">
                <a:latin typeface="Times New Roman"/>
                <a:cs typeface="Times New Roman"/>
              </a:rPr>
              <a:t> </a:t>
            </a:r>
            <a:r>
              <a:rPr sz="2400" dirty="0">
                <a:latin typeface="Times New Roman"/>
                <a:cs typeface="Times New Roman"/>
              </a:rPr>
              <a:t>available</a:t>
            </a:r>
            <a:r>
              <a:rPr sz="2400" spc="-60" dirty="0">
                <a:latin typeface="Times New Roman"/>
                <a:cs typeface="Times New Roman"/>
              </a:rPr>
              <a:t> </a:t>
            </a:r>
            <a:r>
              <a:rPr sz="2400" dirty="0">
                <a:latin typeface="Times New Roman"/>
                <a:cs typeface="Times New Roman"/>
              </a:rPr>
              <a:t>networks</a:t>
            </a:r>
            <a:r>
              <a:rPr sz="2400" spc="-67" dirty="0">
                <a:latin typeface="Times New Roman"/>
                <a:cs typeface="Times New Roman"/>
              </a:rPr>
              <a:t> </a:t>
            </a:r>
            <a:r>
              <a:rPr sz="2400" dirty="0">
                <a:latin typeface="Times New Roman"/>
                <a:cs typeface="Times New Roman"/>
              </a:rPr>
              <a:t>in</a:t>
            </a:r>
            <a:r>
              <a:rPr sz="2400" spc="-67" dirty="0">
                <a:latin typeface="Times New Roman"/>
                <a:cs typeface="Times New Roman"/>
              </a:rPr>
              <a:t> </a:t>
            </a:r>
            <a:r>
              <a:rPr sz="2400" dirty="0">
                <a:latin typeface="Times New Roman"/>
                <a:cs typeface="Times New Roman"/>
              </a:rPr>
              <a:t>25</a:t>
            </a:r>
            <a:r>
              <a:rPr sz="2400" spc="-60" dirty="0">
                <a:latin typeface="Times New Roman"/>
                <a:cs typeface="Times New Roman"/>
              </a:rPr>
              <a:t> </a:t>
            </a:r>
            <a:r>
              <a:rPr sz="2400" spc="-13" dirty="0">
                <a:latin typeface="Times New Roman"/>
                <a:cs typeface="Times New Roman"/>
              </a:rPr>
              <a:t>countries.</a:t>
            </a:r>
            <a:endParaRPr sz="2400">
              <a:latin typeface="Times New Roman"/>
              <a:cs typeface="Times New Roman"/>
            </a:endParaRPr>
          </a:p>
          <a:p>
            <a:pPr marL="625671" indent="-452955">
              <a:spcBef>
                <a:spcPts val="140"/>
              </a:spcBef>
              <a:buChar char="●"/>
              <a:tabLst>
                <a:tab pos="625671" algn="l"/>
              </a:tabLst>
            </a:pPr>
            <a:r>
              <a:rPr sz="2400" dirty="0">
                <a:latin typeface="Times New Roman"/>
                <a:cs typeface="Times New Roman"/>
              </a:rPr>
              <a:t>Providers</a:t>
            </a:r>
            <a:r>
              <a:rPr sz="2400" spc="-60" dirty="0">
                <a:latin typeface="Times New Roman"/>
                <a:cs typeface="Times New Roman"/>
              </a:rPr>
              <a:t> </a:t>
            </a:r>
            <a:r>
              <a:rPr sz="2400" dirty="0">
                <a:latin typeface="Times New Roman"/>
                <a:cs typeface="Times New Roman"/>
              </a:rPr>
              <a:t>can</a:t>
            </a:r>
            <a:r>
              <a:rPr sz="2400" spc="-47" dirty="0">
                <a:latin typeface="Times New Roman"/>
                <a:cs typeface="Times New Roman"/>
              </a:rPr>
              <a:t> </a:t>
            </a:r>
            <a:r>
              <a:rPr sz="2400" dirty="0">
                <a:latin typeface="Times New Roman"/>
                <a:cs typeface="Times New Roman"/>
              </a:rPr>
              <a:t>connect</a:t>
            </a:r>
            <a:r>
              <a:rPr sz="2400" spc="-47" dirty="0">
                <a:latin typeface="Times New Roman"/>
                <a:cs typeface="Times New Roman"/>
              </a:rPr>
              <a:t> </a:t>
            </a:r>
            <a:r>
              <a:rPr sz="2400" dirty="0">
                <a:latin typeface="Times New Roman"/>
                <a:cs typeface="Times New Roman"/>
              </a:rPr>
              <a:t>to</a:t>
            </a:r>
            <a:r>
              <a:rPr sz="2400" spc="-47" dirty="0">
                <a:latin typeface="Times New Roman"/>
                <a:cs typeface="Times New Roman"/>
              </a:rPr>
              <a:t> </a:t>
            </a:r>
            <a:r>
              <a:rPr sz="2400" dirty="0">
                <a:latin typeface="Times New Roman"/>
                <a:cs typeface="Times New Roman"/>
              </a:rPr>
              <a:t>one</a:t>
            </a:r>
            <a:r>
              <a:rPr sz="2400" spc="-40" dirty="0">
                <a:latin typeface="Times New Roman"/>
                <a:cs typeface="Times New Roman"/>
              </a:rPr>
              <a:t> </a:t>
            </a:r>
            <a:r>
              <a:rPr sz="2400" dirty="0">
                <a:latin typeface="Times New Roman"/>
                <a:cs typeface="Times New Roman"/>
              </a:rPr>
              <a:t>of</a:t>
            </a:r>
            <a:r>
              <a:rPr sz="2400" spc="-53" dirty="0">
                <a:latin typeface="Times New Roman"/>
                <a:cs typeface="Times New Roman"/>
              </a:rPr>
              <a:t> </a:t>
            </a:r>
            <a:r>
              <a:rPr sz="2400" dirty="0">
                <a:latin typeface="Times New Roman"/>
                <a:cs typeface="Times New Roman"/>
              </a:rPr>
              <a:t>these</a:t>
            </a:r>
            <a:r>
              <a:rPr sz="2400" spc="-40" dirty="0">
                <a:latin typeface="Times New Roman"/>
                <a:cs typeface="Times New Roman"/>
              </a:rPr>
              <a:t> </a:t>
            </a:r>
            <a:r>
              <a:rPr sz="2400" dirty="0">
                <a:latin typeface="Times New Roman"/>
                <a:cs typeface="Times New Roman"/>
              </a:rPr>
              <a:t>networks</a:t>
            </a:r>
            <a:r>
              <a:rPr sz="2400" spc="-47" dirty="0">
                <a:latin typeface="Times New Roman"/>
                <a:cs typeface="Times New Roman"/>
              </a:rPr>
              <a:t> </a:t>
            </a:r>
            <a:r>
              <a:rPr sz="2400" dirty="0">
                <a:latin typeface="Times New Roman"/>
                <a:cs typeface="Times New Roman"/>
              </a:rPr>
              <a:t>or</a:t>
            </a:r>
            <a:r>
              <a:rPr sz="2400" spc="-47" dirty="0">
                <a:latin typeface="Times New Roman"/>
                <a:cs typeface="Times New Roman"/>
              </a:rPr>
              <a:t> </a:t>
            </a:r>
            <a:r>
              <a:rPr sz="2400" dirty="0">
                <a:latin typeface="Times New Roman"/>
                <a:cs typeface="Times New Roman"/>
              </a:rPr>
              <a:t>deploy</a:t>
            </a:r>
            <a:r>
              <a:rPr sz="2400" spc="-53" dirty="0">
                <a:latin typeface="Times New Roman"/>
                <a:cs typeface="Times New Roman"/>
              </a:rPr>
              <a:t> </a:t>
            </a:r>
            <a:r>
              <a:rPr sz="2400" dirty="0">
                <a:latin typeface="Times New Roman"/>
                <a:cs typeface="Times New Roman"/>
              </a:rPr>
              <a:t>their</a:t>
            </a:r>
            <a:r>
              <a:rPr sz="2400" spc="-47" dirty="0">
                <a:latin typeface="Times New Roman"/>
                <a:cs typeface="Times New Roman"/>
              </a:rPr>
              <a:t> </a:t>
            </a:r>
            <a:r>
              <a:rPr sz="2400" spc="-27" dirty="0">
                <a:latin typeface="Times New Roman"/>
                <a:cs typeface="Times New Roman"/>
              </a:rPr>
              <a:t>own.</a:t>
            </a:r>
            <a:endParaRPr sz="2400">
              <a:latin typeface="Times New Roman"/>
              <a:cs typeface="Times New Roman"/>
            </a:endParaRPr>
          </a:p>
          <a:p>
            <a:pPr marL="626518" marR="1063387" indent="-453802">
              <a:lnSpc>
                <a:spcPct val="105000"/>
              </a:lnSpc>
              <a:buChar char="●"/>
              <a:tabLst>
                <a:tab pos="626518" algn="l"/>
              </a:tabLst>
            </a:pPr>
            <a:r>
              <a:rPr sz="2400" dirty="0">
                <a:latin typeface="Times New Roman"/>
                <a:cs typeface="Times New Roman"/>
              </a:rPr>
              <a:t>Each</a:t>
            </a:r>
            <a:r>
              <a:rPr sz="2400" spc="-60" dirty="0">
                <a:latin typeface="Times New Roman"/>
                <a:cs typeface="Times New Roman"/>
              </a:rPr>
              <a:t> </a:t>
            </a:r>
            <a:r>
              <a:rPr sz="2400" dirty="0">
                <a:latin typeface="Times New Roman"/>
                <a:cs typeface="Times New Roman"/>
              </a:rPr>
              <a:t>LoRaWAN</a:t>
            </a:r>
            <a:r>
              <a:rPr sz="2400" spc="-33" dirty="0">
                <a:latin typeface="Times New Roman"/>
                <a:cs typeface="Times New Roman"/>
              </a:rPr>
              <a:t> </a:t>
            </a:r>
            <a:r>
              <a:rPr sz="2400" dirty="0">
                <a:latin typeface="Times New Roman"/>
                <a:cs typeface="Times New Roman"/>
              </a:rPr>
              <a:t>provider</a:t>
            </a:r>
            <a:r>
              <a:rPr sz="2400" spc="-47" dirty="0">
                <a:latin typeface="Times New Roman"/>
                <a:cs typeface="Times New Roman"/>
              </a:rPr>
              <a:t> </a:t>
            </a:r>
            <a:r>
              <a:rPr sz="2400" dirty="0">
                <a:latin typeface="Times New Roman"/>
                <a:cs typeface="Times New Roman"/>
              </a:rPr>
              <a:t>only</a:t>
            </a:r>
            <a:r>
              <a:rPr sz="2400" spc="-47" dirty="0">
                <a:latin typeface="Times New Roman"/>
                <a:cs typeface="Times New Roman"/>
              </a:rPr>
              <a:t> </a:t>
            </a:r>
            <a:r>
              <a:rPr sz="2400" dirty="0">
                <a:latin typeface="Times New Roman"/>
                <a:cs typeface="Times New Roman"/>
              </a:rPr>
              <a:t>covers</a:t>
            </a:r>
            <a:r>
              <a:rPr sz="2400" spc="-53" dirty="0">
                <a:latin typeface="Times New Roman"/>
                <a:cs typeface="Times New Roman"/>
              </a:rPr>
              <a:t> </a:t>
            </a:r>
            <a:r>
              <a:rPr sz="2400" dirty="0">
                <a:latin typeface="Times New Roman"/>
                <a:cs typeface="Times New Roman"/>
              </a:rPr>
              <a:t>a</a:t>
            </a:r>
            <a:r>
              <a:rPr sz="2400" spc="-40" dirty="0">
                <a:latin typeface="Times New Roman"/>
                <a:cs typeface="Times New Roman"/>
              </a:rPr>
              <a:t> </a:t>
            </a:r>
            <a:r>
              <a:rPr sz="2400" dirty="0">
                <a:latin typeface="Times New Roman"/>
                <a:cs typeface="Times New Roman"/>
              </a:rPr>
              <a:t>specific</a:t>
            </a:r>
            <a:r>
              <a:rPr sz="2400" spc="-53" dirty="0">
                <a:latin typeface="Times New Roman"/>
                <a:cs typeface="Times New Roman"/>
              </a:rPr>
              <a:t> </a:t>
            </a:r>
            <a:r>
              <a:rPr sz="2400" dirty="0">
                <a:latin typeface="Times New Roman"/>
                <a:cs typeface="Times New Roman"/>
              </a:rPr>
              <a:t>region,</a:t>
            </a:r>
            <a:r>
              <a:rPr sz="2400" spc="-40" dirty="0">
                <a:latin typeface="Times New Roman"/>
                <a:cs typeface="Times New Roman"/>
              </a:rPr>
              <a:t> </a:t>
            </a:r>
            <a:r>
              <a:rPr sz="2400" dirty="0">
                <a:latin typeface="Times New Roman"/>
                <a:cs typeface="Times New Roman"/>
              </a:rPr>
              <a:t>and</a:t>
            </a:r>
            <a:r>
              <a:rPr sz="2400" spc="-47" dirty="0">
                <a:latin typeface="Times New Roman"/>
                <a:cs typeface="Times New Roman"/>
              </a:rPr>
              <a:t> </a:t>
            </a:r>
            <a:r>
              <a:rPr sz="2400" dirty="0">
                <a:latin typeface="Times New Roman"/>
                <a:cs typeface="Times New Roman"/>
              </a:rPr>
              <a:t>there</a:t>
            </a:r>
            <a:r>
              <a:rPr sz="2400" spc="-53" dirty="0">
                <a:latin typeface="Times New Roman"/>
                <a:cs typeface="Times New Roman"/>
              </a:rPr>
              <a:t> </a:t>
            </a:r>
            <a:r>
              <a:rPr sz="2400" dirty="0">
                <a:latin typeface="Times New Roman"/>
                <a:cs typeface="Times New Roman"/>
              </a:rPr>
              <a:t>are</a:t>
            </a:r>
            <a:r>
              <a:rPr sz="2400" spc="-40" dirty="0">
                <a:latin typeface="Times New Roman"/>
                <a:cs typeface="Times New Roman"/>
              </a:rPr>
              <a:t> </a:t>
            </a:r>
            <a:r>
              <a:rPr sz="2400" dirty="0">
                <a:latin typeface="Times New Roman"/>
                <a:cs typeface="Times New Roman"/>
              </a:rPr>
              <a:t>no</a:t>
            </a:r>
            <a:r>
              <a:rPr sz="2400" spc="-27" dirty="0">
                <a:latin typeface="Times New Roman"/>
                <a:cs typeface="Times New Roman"/>
              </a:rPr>
              <a:t> </a:t>
            </a:r>
            <a:r>
              <a:rPr sz="2400" spc="-13" dirty="0">
                <a:latin typeface="Times New Roman"/>
                <a:cs typeface="Times New Roman"/>
              </a:rPr>
              <a:t>roaming </a:t>
            </a:r>
            <a:r>
              <a:rPr sz="2400" dirty="0">
                <a:latin typeface="Times New Roman"/>
                <a:cs typeface="Times New Roman"/>
              </a:rPr>
              <a:t>agreements</a:t>
            </a:r>
            <a:r>
              <a:rPr sz="2400" spc="-73" dirty="0">
                <a:latin typeface="Times New Roman"/>
                <a:cs typeface="Times New Roman"/>
              </a:rPr>
              <a:t> </a:t>
            </a:r>
            <a:r>
              <a:rPr sz="2400" dirty="0">
                <a:latin typeface="Times New Roman"/>
                <a:cs typeface="Times New Roman"/>
              </a:rPr>
              <a:t>between</a:t>
            </a:r>
            <a:r>
              <a:rPr sz="2400" spc="-93" dirty="0">
                <a:latin typeface="Times New Roman"/>
                <a:cs typeface="Times New Roman"/>
              </a:rPr>
              <a:t> </a:t>
            </a:r>
            <a:r>
              <a:rPr sz="2400" dirty="0">
                <a:latin typeface="Times New Roman"/>
                <a:cs typeface="Times New Roman"/>
              </a:rPr>
              <a:t>Mobile</a:t>
            </a:r>
            <a:r>
              <a:rPr sz="2400" spc="-67" dirty="0">
                <a:latin typeface="Times New Roman"/>
                <a:cs typeface="Times New Roman"/>
              </a:rPr>
              <a:t> </a:t>
            </a:r>
            <a:r>
              <a:rPr sz="2400" dirty="0">
                <a:latin typeface="Times New Roman"/>
                <a:cs typeface="Times New Roman"/>
              </a:rPr>
              <a:t>Network</a:t>
            </a:r>
            <a:r>
              <a:rPr sz="2400" spc="-53" dirty="0">
                <a:latin typeface="Times New Roman"/>
                <a:cs typeface="Times New Roman"/>
              </a:rPr>
              <a:t> </a:t>
            </a:r>
            <a:r>
              <a:rPr sz="2400" dirty="0">
                <a:latin typeface="Times New Roman"/>
                <a:cs typeface="Times New Roman"/>
              </a:rPr>
              <a:t>Operators</a:t>
            </a:r>
            <a:r>
              <a:rPr sz="2400" spc="-80" dirty="0">
                <a:latin typeface="Times New Roman"/>
                <a:cs typeface="Times New Roman"/>
              </a:rPr>
              <a:t> </a:t>
            </a:r>
            <a:r>
              <a:rPr sz="2400" spc="-13" dirty="0">
                <a:latin typeface="Times New Roman"/>
                <a:cs typeface="Times New Roman"/>
              </a:rPr>
              <a:t>(MNOs).</a:t>
            </a:r>
            <a:endParaRPr sz="2400">
              <a:latin typeface="Times New Roman"/>
              <a:cs typeface="Times New Roman"/>
            </a:endParaRPr>
          </a:p>
          <a:p>
            <a:pPr marL="626518" marR="6773" indent="-453802">
              <a:lnSpc>
                <a:spcPct val="105000"/>
              </a:lnSpc>
              <a:buChar char="●"/>
              <a:tabLst>
                <a:tab pos="626518" algn="l"/>
              </a:tabLst>
            </a:pPr>
            <a:r>
              <a:rPr sz="2400" dirty="0">
                <a:latin typeface="Times New Roman"/>
                <a:cs typeface="Times New Roman"/>
              </a:rPr>
              <a:t>This</a:t>
            </a:r>
            <a:r>
              <a:rPr sz="2400" spc="-33" dirty="0">
                <a:latin typeface="Times New Roman"/>
                <a:cs typeface="Times New Roman"/>
              </a:rPr>
              <a:t> </a:t>
            </a:r>
            <a:r>
              <a:rPr sz="2400" dirty="0">
                <a:latin typeface="Times New Roman"/>
                <a:cs typeface="Times New Roman"/>
              </a:rPr>
              <a:t>means</a:t>
            </a:r>
            <a:r>
              <a:rPr sz="2400" spc="-20" dirty="0">
                <a:latin typeface="Times New Roman"/>
                <a:cs typeface="Times New Roman"/>
              </a:rPr>
              <a:t> </a:t>
            </a:r>
            <a:r>
              <a:rPr sz="2400" dirty="0">
                <a:latin typeface="Times New Roman"/>
                <a:cs typeface="Times New Roman"/>
              </a:rPr>
              <a:t>that</a:t>
            </a:r>
            <a:r>
              <a:rPr sz="2400" spc="-40" dirty="0">
                <a:latin typeface="Times New Roman"/>
                <a:cs typeface="Times New Roman"/>
              </a:rPr>
              <a:t> </a:t>
            </a:r>
            <a:r>
              <a:rPr sz="2400" dirty="0">
                <a:latin typeface="Times New Roman"/>
                <a:cs typeface="Times New Roman"/>
              </a:rPr>
              <a:t>when</a:t>
            </a:r>
            <a:r>
              <a:rPr sz="2400" spc="-13" dirty="0">
                <a:latin typeface="Times New Roman"/>
                <a:cs typeface="Times New Roman"/>
              </a:rPr>
              <a:t> </a:t>
            </a:r>
            <a:r>
              <a:rPr sz="2400" dirty="0">
                <a:latin typeface="Times New Roman"/>
                <a:cs typeface="Times New Roman"/>
              </a:rPr>
              <a:t>you</a:t>
            </a:r>
            <a:r>
              <a:rPr sz="2400" spc="-47" dirty="0">
                <a:latin typeface="Times New Roman"/>
                <a:cs typeface="Times New Roman"/>
              </a:rPr>
              <a:t> </a:t>
            </a:r>
            <a:r>
              <a:rPr sz="2400" dirty="0">
                <a:latin typeface="Times New Roman"/>
                <a:cs typeface="Times New Roman"/>
              </a:rPr>
              <a:t>choose</a:t>
            </a:r>
            <a:r>
              <a:rPr sz="2400" spc="-27" dirty="0">
                <a:latin typeface="Times New Roman"/>
                <a:cs typeface="Times New Roman"/>
              </a:rPr>
              <a:t> </a:t>
            </a:r>
            <a:r>
              <a:rPr sz="2400" dirty="0">
                <a:latin typeface="Times New Roman"/>
                <a:cs typeface="Times New Roman"/>
              </a:rPr>
              <a:t>a</a:t>
            </a:r>
            <a:r>
              <a:rPr sz="2400" spc="-27" dirty="0">
                <a:latin typeface="Times New Roman"/>
                <a:cs typeface="Times New Roman"/>
              </a:rPr>
              <a:t> </a:t>
            </a:r>
            <a:r>
              <a:rPr sz="2400" dirty="0">
                <a:latin typeface="Times New Roman"/>
                <a:cs typeface="Times New Roman"/>
              </a:rPr>
              <a:t>service</a:t>
            </a:r>
            <a:r>
              <a:rPr sz="2400" spc="-40" dirty="0">
                <a:latin typeface="Times New Roman"/>
                <a:cs typeface="Times New Roman"/>
              </a:rPr>
              <a:t> </a:t>
            </a:r>
            <a:r>
              <a:rPr sz="2400" dirty="0">
                <a:latin typeface="Times New Roman"/>
                <a:cs typeface="Times New Roman"/>
              </a:rPr>
              <a:t>provider</a:t>
            </a:r>
            <a:r>
              <a:rPr sz="2400" spc="-33" dirty="0">
                <a:latin typeface="Times New Roman"/>
                <a:cs typeface="Times New Roman"/>
              </a:rPr>
              <a:t> </a:t>
            </a:r>
            <a:r>
              <a:rPr sz="2400" dirty="0">
                <a:latin typeface="Times New Roman"/>
                <a:cs typeface="Times New Roman"/>
              </a:rPr>
              <a:t>and</a:t>
            </a:r>
            <a:r>
              <a:rPr sz="2400" spc="-33" dirty="0">
                <a:latin typeface="Times New Roman"/>
                <a:cs typeface="Times New Roman"/>
              </a:rPr>
              <a:t> </a:t>
            </a:r>
            <a:r>
              <a:rPr sz="2400" dirty="0">
                <a:latin typeface="Times New Roman"/>
                <a:cs typeface="Times New Roman"/>
              </a:rPr>
              <a:t>deploy</a:t>
            </a:r>
            <a:r>
              <a:rPr sz="2400" spc="-33" dirty="0">
                <a:latin typeface="Times New Roman"/>
                <a:cs typeface="Times New Roman"/>
              </a:rPr>
              <a:t> </a:t>
            </a:r>
            <a:r>
              <a:rPr sz="2400" dirty="0">
                <a:latin typeface="Times New Roman"/>
                <a:cs typeface="Times New Roman"/>
              </a:rPr>
              <a:t>in</a:t>
            </a:r>
            <a:r>
              <a:rPr sz="2400" spc="-27" dirty="0">
                <a:latin typeface="Times New Roman"/>
                <a:cs typeface="Times New Roman"/>
              </a:rPr>
              <a:t> </a:t>
            </a:r>
            <a:r>
              <a:rPr sz="2400" dirty="0">
                <a:latin typeface="Times New Roman"/>
                <a:cs typeface="Times New Roman"/>
              </a:rPr>
              <a:t>a</a:t>
            </a:r>
            <a:r>
              <a:rPr sz="2400" spc="-13" dirty="0">
                <a:latin typeface="Times New Roman"/>
                <a:cs typeface="Times New Roman"/>
              </a:rPr>
              <a:t> </a:t>
            </a:r>
            <a:r>
              <a:rPr sz="2400" dirty="0">
                <a:latin typeface="Times New Roman"/>
                <a:cs typeface="Times New Roman"/>
              </a:rPr>
              <a:t>region</a:t>
            </a:r>
            <a:r>
              <a:rPr sz="2400" spc="-40" dirty="0">
                <a:latin typeface="Times New Roman"/>
                <a:cs typeface="Times New Roman"/>
              </a:rPr>
              <a:t> </a:t>
            </a:r>
            <a:r>
              <a:rPr sz="2400" dirty="0">
                <a:latin typeface="Times New Roman"/>
                <a:cs typeface="Times New Roman"/>
              </a:rPr>
              <a:t>they</a:t>
            </a:r>
            <a:r>
              <a:rPr sz="2400" spc="-33" dirty="0">
                <a:latin typeface="Times New Roman"/>
                <a:cs typeface="Times New Roman"/>
              </a:rPr>
              <a:t> </a:t>
            </a:r>
            <a:r>
              <a:rPr sz="2400" spc="-13" dirty="0">
                <a:latin typeface="Times New Roman"/>
                <a:cs typeface="Times New Roman"/>
              </a:rPr>
              <a:t>don’t </a:t>
            </a:r>
            <a:r>
              <a:rPr sz="2400" dirty="0">
                <a:latin typeface="Times New Roman"/>
                <a:cs typeface="Times New Roman"/>
              </a:rPr>
              <a:t>serve,</a:t>
            </a:r>
            <a:r>
              <a:rPr sz="2400" spc="-33" dirty="0">
                <a:latin typeface="Times New Roman"/>
                <a:cs typeface="Times New Roman"/>
              </a:rPr>
              <a:t> </a:t>
            </a:r>
            <a:r>
              <a:rPr sz="2400" dirty="0">
                <a:latin typeface="Times New Roman"/>
                <a:cs typeface="Times New Roman"/>
              </a:rPr>
              <a:t>you</a:t>
            </a:r>
            <a:r>
              <a:rPr sz="2400" spc="-80" dirty="0">
                <a:latin typeface="Times New Roman"/>
                <a:cs typeface="Times New Roman"/>
              </a:rPr>
              <a:t> </a:t>
            </a:r>
            <a:r>
              <a:rPr sz="2400" dirty="0">
                <a:latin typeface="Times New Roman"/>
                <a:cs typeface="Times New Roman"/>
              </a:rPr>
              <a:t>have</a:t>
            </a:r>
            <a:r>
              <a:rPr sz="2400" spc="-40" dirty="0">
                <a:latin typeface="Times New Roman"/>
                <a:cs typeface="Times New Roman"/>
              </a:rPr>
              <a:t> </a:t>
            </a:r>
            <a:r>
              <a:rPr sz="2400" dirty="0">
                <a:latin typeface="Times New Roman"/>
                <a:cs typeface="Times New Roman"/>
              </a:rPr>
              <a:t>to</a:t>
            </a:r>
            <a:r>
              <a:rPr sz="2400" spc="-47" dirty="0">
                <a:latin typeface="Times New Roman"/>
                <a:cs typeface="Times New Roman"/>
              </a:rPr>
              <a:t> </a:t>
            </a:r>
            <a:r>
              <a:rPr sz="2400" dirty="0">
                <a:latin typeface="Times New Roman"/>
                <a:cs typeface="Times New Roman"/>
              </a:rPr>
              <a:t>either</a:t>
            </a:r>
            <a:r>
              <a:rPr sz="2400" spc="-53" dirty="0">
                <a:latin typeface="Times New Roman"/>
                <a:cs typeface="Times New Roman"/>
              </a:rPr>
              <a:t> </a:t>
            </a:r>
            <a:r>
              <a:rPr sz="2400" dirty="0">
                <a:latin typeface="Times New Roman"/>
                <a:cs typeface="Times New Roman"/>
              </a:rPr>
              <a:t>select</a:t>
            </a:r>
            <a:r>
              <a:rPr sz="2400" spc="-40" dirty="0">
                <a:latin typeface="Times New Roman"/>
                <a:cs typeface="Times New Roman"/>
              </a:rPr>
              <a:t> </a:t>
            </a:r>
            <a:r>
              <a:rPr sz="2400" dirty="0">
                <a:latin typeface="Times New Roman"/>
                <a:cs typeface="Times New Roman"/>
              </a:rPr>
              <a:t>an</a:t>
            </a:r>
            <a:r>
              <a:rPr sz="2400" spc="-47" dirty="0">
                <a:latin typeface="Times New Roman"/>
                <a:cs typeface="Times New Roman"/>
              </a:rPr>
              <a:t> </a:t>
            </a:r>
            <a:r>
              <a:rPr sz="2400" dirty="0">
                <a:latin typeface="Times New Roman"/>
                <a:cs typeface="Times New Roman"/>
              </a:rPr>
              <a:t>additional</a:t>
            </a:r>
            <a:r>
              <a:rPr sz="2400" spc="-73" dirty="0">
                <a:latin typeface="Times New Roman"/>
                <a:cs typeface="Times New Roman"/>
              </a:rPr>
              <a:t> </a:t>
            </a:r>
            <a:r>
              <a:rPr sz="2400" dirty="0">
                <a:latin typeface="Times New Roman"/>
                <a:cs typeface="Times New Roman"/>
              </a:rPr>
              <a:t>LoRaWAN</a:t>
            </a:r>
            <a:r>
              <a:rPr sz="2400" spc="-33" dirty="0">
                <a:latin typeface="Times New Roman"/>
                <a:cs typeface="Times New Roman"/>
              </a:rPr>
              <a:t> </a:t>
            </a:r>
            <a:r>
              <a:rPr sz="2400" dirty="0">
                <a:latin typeface="Times New Roman"/>
                <a:cs typeface="Times New Roman"/>
              </a:rPr>
              <a:t>service</a:t>
            </a:r>
            <a:r>
              <a:rPr sz="2400" spc="-40" dirty="0">
                <a:latin typeface="Times New Roman"/>
                <a:cs typeface="Times New Roman"/>
              </a:rPr>
              <a:t> </a:t>
            </a:r>
            <a:r>
              <a:rPr sz="2400" dirty="0">
                <a:latin typeface="Times New Roman"/>
                <a:cs typeface="Times New Roman"/>
              </a:rPr>
              <a:t>provider</a:t>
            </a:r>
            <a:r>
              <a:rPr sz="2400" spc="-47" dirty="0">
                <a:latin typeface="Times New Roman"/>
                <a:cs typeface="Times New Roman"/>
              </a:rPr>
              <a:t> </a:t>
            </a:r>
            <a:r>
              <a:rPr sz="2400" dirty="0">
                <a:latin typeface="Times New Roman"/>
                <a:cs typeface="Times New Roman"/>
              </a:rPr>
              <a:t>and</a:t>
            </a:r>
            <a:r>
              <a:rPr sz="2400" spc="-47" dirty="0">
                <a:latin typeface="Times New Roman"/>
                <a:cs typeface="Times New Roman"/>
              </a:rPr>
              <a:t> </a:t>
            </a:r>
            <a:r>
              <a:rPr sz="2400" spc="-13" dirty="0">
                <a:latin typeface="Times New Roman"/>
                <a:cs typeface="Times New Roman"/>
              </a:rPr>
              <a:t>manage </a:t>
            </a:r>
            <a:r>
              <a:rPr sz="2400" dirty="0">
                <a:latin typeface="Times New Roman"/>
                <a:cs typeface="Times New Roman"/>
              </a:rPr>
              <a:t>multiple</a:t>
            </a:r>
            <a:r>
              <a:rPr sz="2400" spc="-47" dirty="0">
                <a:latin typeface="Times New Roman"/>
                <a:cs typeface="Times New Roman"/>
              </a:rPr>
              <a:t> </a:t>
            </a:r>
            <a:r>
              <a:rPr sz="2400" dirty="0">
                <a:latin typeface="Times New Roman"/>
                <a:cs typeface="Times New Roman"/>
              </a:rPr>
              <a:t>contracts</a:t>
            </a:r>
            <a:r>
              <a:rPr sz="2400" spc="-40" dirty="0">
                <a:latin typeface="Times New Roman"/>
                <a:cs typeface="Times New Roman"/>
              </a:rPr>
              <a:t> </a:t>
            </a:r>
            <a:r>
              <a:rPr sz="2400" dirty="0">
                <a:latin typeface="Times New Roman"/>
                <a:cs typeface="Times New Roman"/>
              </a:rPr>
              <a:t>or</a:t>
            </a:r>
            <a:r>
              <a:rPr sz="2400" spc="-40" dirty="0">
                <a:latin typeface="Times New Roman"/>
                <a:cs typeface="Times New Roman"/>
              </a:rPr>
              <a:t> </a:t>
            </a:r>
            <a:r>
              <a:rPr sz="2400" dirty="0">
                <a:latin typeface="Times New Roman"/>
                <a:cs typeface="Times New Roman"/>
              </a:rPr>
              <a:t>deploy</a:t>
            </a:r>
            <a:r>
              <a:rPr sz="2400" spc="-33" dirty="0">
                <a:latin typeface="Times New Roman"/>
                <a:cs typeface="Times New Roman"/>
              </a:rPr>
              <a:t> </a:t>
            </a:r>
            <a:r>
              <a:rPr sz="2400" dirty="0">
                <a:latin typeface="Times New Roman"/>
                <a:cs typeface="Times New Roman"/>
              </a:rPr>
              <a:t>your</a:t>
            </a:r>
            <a:r>
              <a:rPr sz="2400" spc="-47" dirty="0">
                <a:latin typeface="Times New Roman"/>
                <a:cs typeface="Times New Roman"/>
              </a:rPr>
              <a:t> </a:t>
            </a:r>
            <a:r>
              <a:rPr sz="2400" dirty="0">
                <a:latin typeface="Times New Roman"/>
                <a:cs typeface="Times New Roman"/>
              </a:rPr>
              <a:t>own</a:t>
            </a:r>
            <a:r>
              <a:rPr sz="2400" spc="-40" dirty="0">
                <a:latin typeface="Times New Roman"/>
                <a:cs typeface="Times New Roman"/>
              </a:rPr>
              <a:t> </a:t>
            </a:r>
            <a:r>
              <a:rPr sz="2400" dirty="0">
                <a:latin typeface="Times New Roman"/>
                <a:cs typeface="Times New Roman"/>
              </a:rPr>
              <a:t>gateway</a:t>
            </a:r>
            <a:r>
              <a:rPr sz="2400" spc="-33" dirty="0">
                <a:latin typeface="Times New Roman"/>
                <a:cs typeface="Times New Roman"/>
              </a:rPr>
              <a:t> </a:t>
            </a:r>
            <a:r>
              <a:rPr sz="2400" dirty="0">
                <a:latin typeface="Times New Roman"/>
                <a:cs typeface="Times New Roman"/>
              </a:rPr>
              <a:t>to</a:t>
            </a:r>
            <a:r>
              <a:rPr sz="2400" spc="-33" dirty="0">
                <a:latin typeface="Times New Roman"/>
                <a:cs typeface="Times New Roman"/>
              </a:rPr>
              <a:t> </a:t>
            </a:r>
            <a:r>
              <a:rPr sz="2400" dirty="0">
                <a:latin typeface="Times New Roman"/>
                <a:cs typeface="Times New Roman"/>
              </a:rPr>
              <a:t>connect</a:t>
            </a:r>
            <a:r>
              <a:rPr sz="2400" spc="-47" dirty="0">
                <a:latin typeface="Times New Roman"/>
                <a:cs typeface="Times New Roman"/>
              </a:rPr>
              <a:t> </a:t>
            </a:r>
            <a:r>
              <a:rPr sz="2400" dirty="0">
                <a:latin typeface="Times New Roman"/>
                <a:cs typeface="Times New Roman"/>
              </a:rPr>
              <a:t>to</a:t>
            </a:r>
            <a:r>
              <a:rPr sz="2400" spc="-33" dirty="0">
                <a:latin typeface="Times New Roman"/>
                <a:cs typeface="Times New Roman"/>
              </a:rPr>
              <a:t> </a:t>
            </a:r>
            <a:r>
              <a:rPr sz="2400" dirty="0">
                <a:latin typeface="Times New Roman"/>
                <a:cs typeface="Times New Roman"/>
              </a:rPr>
              <a:t>your</a:t>
            </a:r>
            <a:r>
              <a:rPr sz="2400" spc="-47" dirty="0">
                <a:latin typeface="Times New Roman"/>
                <a:cs typeface="Times New Roman"/>
              </a:rPr>
              <a:t> </a:t>
            </a:r>
            <a:r>
              <a:rPr sz="2400" dirty="0">
                <a:latin typeface="Times New Roman"/>
                <a:cs typeface="Times New Roman"/>
              </a:rPr>
              <a:t>current</a:t>
            </a:r>
            <a:r>
              <a:rPr sz="2400" spc="-47" dirty="0">
                <a:latin typeface="Times New Roman"/>
                <a:cs typeface="Times New Roman"/>
              </a:rPr>
              <a:t> </a:t>
            </a:r>
            <a:r>
              <a:rPr sz="2400" dirty="0">
                <a:latin typeface="Times New Roman"/>
                <a:cs typeface="Times New Roman"/>
              </a:rPr>
              <a:t>MNOs</a:t>
            </a:r>
            <a:r>
              <a:rPr sz="2400" spc="-7" dirty="0">
                <a:latin typeface="Times New Roman"/>
                <a:cs typeface="Times New Roman"/>
              </a:rPr>
              <a:t> </a:t>
            </a:r>
            <a:r>
              <a:rPr sz="2400" spc="-13" dirty="0">
                <a:latin typeface="Times New Roman"/>
                <a:cs typeface="Times New Roman"/>
              </a:rPr>
              <a:t>network.</a:t>
            </a:r>
            <a:endParaRPr sz="2400">
              <a:latin typeface="Times New Roman"/>
              <a:cs typeface="Times New Roman"/>
            </a:endParaRPr>
          </a:p>
          <a:p>
            <a:pPr marL="16933">
              <a:spcBef>
                <a:spcPts val="2547"/>
              </a:spcBef>
            </a:pPr>
            <a:r>
              <a:rPr sz="2400" b="1" spc="-13" dirty="0">
                <a:latin typeface="Times New Roman"/>
                <a:cs typeface="Times New Roman"/>
              </a:rPr>
              <a:t>MIOTY</a:t>
            </a:r>
            <a:endParaRPr sz="2400">
              <a:latin typeface="Times New Roman"/>
              <a:cs typeface="Times New Roman"/>
            </a:endParaRPr>
          </a:p>
          <a:p>
            <a:pPr marL="625671" indent="-452955">
              <a:spcBef>
                <a:spcPts val="413"/>
              </a:spcBef>
              <a:buChar char="●"/>
              <a:tabLst>
                <a:tab pos="625671" algn="l"/>
              </a:tabLst>
            </a:pPr>
            <a:r>
              <a:rPr sz="2400" dirty="0">
                <a:latin typeface="Times New Roman"/>
                <a:cs typeface="Times New Roman"/>
              </a:rPr>
              <a:t>MIOTY</a:t>
            </a:r>
            <a:r>
              <a:rPr sz="2400" spc="-47" dirty="0">
                <a:latin typeface="Times New Roman"/>
                <a:cs typeface="Times New Roman"/>
              </a:rPr>
              <a:t> </a:t>
            </a:r>
            <a:r>
              <a:rPr sz="2400" dirty="0">
                <a:latin typeface="Times New Roman"/>
                <a:cs typeface="Times New Roman"/>
              </a:rPr>
              <a:t>is</a:t>
            </a:r>
            <a:r>
              <a:rPr sz="2400" spc="-40" dirty="0">
                <a:latin typeface="Times New Roman"/>
                <a:cs typeface="Times New Roman"/>
              </a:rPr>
              <a:t> </a:t>
            </a:r>
            <a:r>
              <a:rPr sz="2400" dirty="0">
                <a:latin typeface="Times New Roman"/>
                <a:cs typeface="Times New Roman"/>
              </a:rPr>
              <a:t>a</a:t>
            </a:r>
            <a:r>
              <a:rPr sz="2400" spc="-40" dirty="0">
                <a:latin typeface="Times New Roman"/>
                <a:cs typeface="Times New Roman"/>
              </a:rPr>
              <a:t> </a:t>
            </a:r>
            <a:r>
              <a:rPr sz="2400" dirty="0">
                <a:latin typeface="Times New Roman"/>
                <a:cs typeface="Times New Roman"/>
              </a:rPr>
              <a:t>new</a:t>
            </a:r>
            <a:r>
              <a:rPr sz="2400" spc="-60" dirty="0">
                <a:latin typeface="Times New Roman"/>
                <a:cs typeface="Times New Roman"/>
              </a:rPr>
              <a:t> </a:t>
            </a:r>
            <a:r>
              <a:rPr sz="2400" dirty="0">
                <a:latin typeface="Times New Roman"/>
                <a:cs typeface="Times New Roman"/>
              </a:rPr>
              <a:t>LPWAN</a:t>
            </a:r>
            <a:r>
              <a:rPr sz="2400" spc="-33" dirty="0">
                <a:latin typeface="Times New Roman"/>
                <a:cs typeface="Times New Roman"/>
              </a:rPr>
              <a:t> </a:t>
            </a:r>
            <a:r>
              <a:rPr sz="2400" dirty="0">
                <a:latin typeface="Times New Roman"/>
                <a:cs typeface="Times New Roman"/>
              </a:rPr>
              <a:t>developed</a:t>
            </a:r>
            <a:r>
              <a:rPr sz="2400" spc="-60" dirty="0">
                <a:latin typeface="Times New Roman"/>
                <a:cs typeface="Times New Roman"/>
              </a:rPr>
              <a:t> </a:t>
            </a:r>
            <a:r>
              <a:rPr sz="2400" dirty="0">
                <a:latin typeface="Times New Roman"/>
                <a:cs typeface="Times New Roman"/>
              </a:rPr>
              <a:t>for</a:t>
            </a:r>
            <a:r>
              <a:rPr sz="2400" spc="-33" dirty="0">
                <a:latin typeface="Times New Roman"/>
                <a:cs typeface="Times New Roman"/>
              </a:rPr>
              <a:t> </a:t>
            </a:r>
            <a:r>
              <a:rPr sz="2400" spc="-13" dirty="0">
                <a:latin typeface="Times New Roman"/>
                <a:cs typeface="Times New Roman"/>
              </a:rPr>
              <a:t>large-</a:t>
            </a:r>
            <a:r>
              <a:rPr sz="2400" dirty="0">
                <a:latin typeface="Times New Roman"/>
                <a:cs typeface="Times New Roman"/>
              </a:rPr>
              <a:t>scale</a:t>
            </a:r>
            <a:r>
              <a:rPr sz="2400" spc="-73" dirty="0">
                <a:latin typeface="Times New Roman"/>
                <a:cs typeface="Times New Roman"/>
              </a:rPr>
              <a:t> </a:t>
            </a:r>
            <a:r>
              <a:rPr sz="2400" dirty="0">
                <a:latin typeface="Times New Roman"/>
                <a:cs typeface="Times New Roman"/>
              </a:rPr>
              <a:t>industrial</a:t>
            </a:r>
            <a:r>
              <a:rPr sz="2400" spc="-47" dirty="0">
                <a:latin typeface="Times New Roman"/>
                <a:cs typeface="Times New Roman"/>
              </a:rPr>
              <a:t> </a:t>
            </a:r>
            <a:r>
              <a:rPr sz="2400" dirty="0">
                <a:latin typeface="Times New Roman"/>
                <a:cs typeface="Times New Roman"/>
              </a:rPr>
              <a:t>IoT</a:t>
            </a:r>
            <a:r>
              <a:rPr sz="2400" spc="-47" dirty="0">
                <a:latin typeface="Times New Roman"/>
                <a:cs typeface="Times New Roman"/>
              </a:rPr>
              <a:t> </a:t>
            </a:r>
            <a:r>
              <a:rPr sz="2400" spc="-13" dirty="0">
                <a:latin typeface="Times New Roman"/>
                <a:cs typeface="Times New Roman"/>
              </a:rPr>
              <a:t>applications.</a:t>
            </a:r>
            <a:endParaRPr sz="2400">
              <a:latin typeface="Times New Roman"/>
              <a:cs typeface="Times New Roman"/>
            </a:endParaRPr>
          </a:p>
          <a:p>
            <a:pPr marL="626518" marR="215048" indent="-453802">
              <a:lnSpc>
                <a:spcPct val="105000"/>
              </a:lnSpc>
              <a:buChar char="●"/>
              <a:tabLst>
                <a:tab pos="626518" algn="l"/>
              </a:tabLst>
            </a:pPr>
            <a:r>
              <a:rPr sz="2400" dirty="0">
                <a:latin typeface="Times New Roman"/>
                <a:cs typeface="Times New Roman"/>
              </a:rPr>
              <a:t>MIOTY</a:t>
            </a:r>
            <a:r>
              <a:rPr sz="2400" spc="-40" dirty="0">
                <a:latin typeface="Times New Roman"/>
                <a:cs typeface="Times New Roman"/>
              </a:rPr>
              <a:t> </a:t>
            </a:r>
            <a:r>
              <a:rPr sz="2400" dirty="0">
                <a:latin typeface="Times New Roman"/>
                <a:cs typeface="Times New Roman"/>
              </a:rPr>
              <a:t>uses</a:t>
            </a:r>
            <a:r>
              <a:rPr sz="2400" spc="-27" dirty="0">
                <a:latin typeface="Times New Roman"/>
                <a:cs typeface="Times New Roman"/>
              </a:rPr>
              <a:t> </a:t>
            </a:r>
            <a:r>
              <a:rPr sz="2400" dirty="0">
                <a:latin typeface="Times New Roman"/>
                <a:cs typeface="Times New Roman"/>
              </a:rPr>
              <a:t>telegram</a:t>
            </a:r>
            <a:r>
              <a:rPr sz="2400" spc="-47" dirty="0">
                <a:latin typeface="Times New Roman"/>
                <a:cs typeface="Times New Roman"/>
              </a:rPr>
              <a:t> </a:t>
            </a:r>
            <a:r>
              <a:rPr sz="2400" dirty="0">
                <a:latin typeface="Times New Roman"/>
                <a:cs typeface="Times New Roman"/>
              </a:rPr>
              <a:t>splitting</a:t>
            </a:r>
            <a:r>
              <a:rPr sz="2400" spc="-53" dirty="0">
                <a:latin typeface="Times New Roman"/>
                <a:cs typeface="Times New Roman"/>
              </a:rPr>
              <a:t> </a:t>
            </a:r>
            <a:r>
              <a:rPr sz="2400" dirty="0">
                <a:latin typeface="Times New Roman"/>
                <a:cs typeface="Times New Roman"/>
              </a:rPr>
              <a:t>to</a:t>
            </a:r>
            <a:r>
              <a:rPr sz="2400" spc="-40" dirty="0">
                <a:latin typeface="Times New Roman"/>
                <a:cs typeface="Times New Roman"/>
              </a:rPr>
              <a:t> </a:t>
            </a:r>
            <a:r>
              <a:rPr sz="2400" dirty="0">
                <a:latin typeface="Times New Roman"/>
                <a:cs typeface="Times New Roman"/>
              </a:rPr>
              <a:t>divide</a:t>
            </a:r>
            <a:r>
              <a:rPr sz="2400" spc="-47" dirty="0">
                <a:latin typeface="Times New Roman"/>
                <a:cs typeface="Times New Roman"/>
              </a:rPr>
              <a:t> </a:t>
            </a:r>
            <a:r>
              <a:rPr sz="2400" dirty="0">
                <a:latin typeface="Times New Roman"/>
                <a:cs typeface="Times New Roman"/>
              </a:rPr>
              <a:t>data</a:t>
            </a:r>
            <a:r>
              <a:rPr sz="2400" spc="-40" dirty="0">
                <a:latin typeface="Times New Roman"/>
                <a:cs typeface="Times New Roman"/>
              </a:rPr>
              <a:t> </a:t>
            </a:r>
            <a:r>
              <a:rPr sz="2400" dirty="0">
                <a:latin typeface="Times New Roman"/>
                <a:cs typeface="Times New Roman"/>
              </a:rPr>
              <a:t>into</a:t>
            </a:r>
            <a:r>
              <a:rPr sz="2400" spc="-40" dirty="0">
                <a:latin typeface="Times New Roman"/>
                <a:cs typeface="Times New Roman"/>
              </a:rPr>
              <a:t> </a:t>
            </a:r>
            <a:r>
              <a:rPr sz="2400" dirty="0">
                <a:latin typeface="Times New Roman"/>
                <a:cs typeface="Times New Roman"/>
              </a:rPr>
              <a:t>subpackets,</a:t>
            </a:r>
            <a:r>
              <a:rPr sz="2400" spc="-47" dirty="0">
                <a:latin typeface="Times New Roman"/>
                <a:cs typeface="Times New Roman"/>
              </a:rPr>
              <a:t> </a:t>
            </a:r>
            <a:r>
              <a:rPr sz="2400" dirty="0">
                <a:latin typeface="Times New Roman"/>
                <a:cs typeface="Times New Roman"/>
              </a:rPr>
              <a:t>then</a:t>
            </a:r>
            <a:r>
              <a:rPr sz="2400" spc="-40" dirty="0">
                <a:latin typeface="Times New Roman"/>
                <a:cs typeface="Times New Roman"/>
              </a:rPr>
              <a:t> </a:t>
            </a:r>
            <a:r>
              <a:rPr sz="2400" dirty="0">
                <a:latin typeface="Times New Roman"/>
                <a:cs typeface="Times New Roman"/>
              </a:rPr>
              <a:t>transmits</a:t>
            </a:r>
            <a:r>
              <a:rPr sz="2400" spc="-40" dirty="0">
                <a:latin typeface="Times New Roman"/>
                <a:cs typeface="Times New Roman"/>
              </a:rPr>
              <a:t> </a:t>
            </a:r>
            <a:r>
              <a:rPr sz="2400" dirty="0">
                <a:latin typeface="Times New Roman"/>
                <a:cs typeface="Times New Roman"/>
              </a:rPr>
              <a:t>the</a:t>
            </a:r>
            <a:r>
              <a:rPr sz="2400" spc="-33" dirty="0">
                <a:latin typeface="Times New Roman"/>
                <a:cs typeface="Times New Roman"/>
              </a:rPr>
              <a:t> </a:t>
            </a:r>
            <a:r>
              <a:rPr sz="2400" spc="-13" dirty="0">
                <a:latin typeface="Times New Roman"/>
                <a:cs typeface="Times New Roman"/>
              </a:rPr>
              <a:t>packets </a:t>
            </a:r>
            <a:r>
              <a:rPr sz="2400" dirty="0">
                <a:latin typeface="Times New Roman"/>
                <a:cs typeface="Times New Roman"/>
              </a:rPr>
              <a:t>at</a:t>
            </a:r>
            <a:r>
              <a:rPr sz="2400" spc="-33" dirty="0">
                <a:latin typeface="Times New Roman"/>
                <a:cs typeface="Times New Roman"/>
              </a:rPr>
              <a:t> </a:t>
            </a:r>
            <a:r>
              <a:rPr sz="2400" dirty="0">
                <a:latin typeface="Times New Roman"/>
                <a:cs typeface="Times New Roman"/>
              </a:rPr>
              <a:t>different</a:t>
            </a:r>
            <a:r>
              <a:rPr sz="2400" spc="-47" dirty="0">
                <a:latin typeface="Times New Roman"/>
                <a:cs typeface="Times New Roman"/>
              </a:rPr>
              <a:t> </a:t>
            </a:r>
            <a:r>
              <a:rPr sz="2400" dirty="0">
                <a:latin typeface="Times New Roman"/>
                <a:cs typeface="Times New Roman"/>
              </a:rPr>
              <a:t>times</a:t>
            </a:r>
            <a:r>
              <a:rPr sz="2400" spc="-20" dirty="0">
                <a:latin typeface="Times New Roman"/>
                <a:cs typeface="Times New Roman"/>
              </a:rPr>
              <a:t> </a:t>
            </a:r>
            <a:r>
              <a:rPr sz="2400" dirty="0">
                <a:latin typeface="Times New Roman"/>
                <a:cs typeface="Times New Roman"/>
              </a:rPr>
              <a:t>and</a:t>
            </a:r>
            <a:r>
              <a:rPr sz="2400" spc="-40" dirty="0">
                <a:latin typeface="Times New Roman"/>
                <a:cs typeface="Times New Roman"/>
              </a:rPr>
              <a:t> </a:t>
            </a:r>
            <a:r>
              <a:rPr sz="2400" dirty="0">
                <a:latin typeface="Times New Roman"/>
                <a:cs typeface="Times New Roman"/>
              </a:rPr>
              <a:t>frequencies,</a:t>
            </a:r>
            <a:r>
              <a:rPr sz="2400" spc="-53" dirty="0">
                <a:latin typeface="Times New Roman"/>
                <a:cs typeface="Times New Roman"/>
              </a:rPr>
              <a:t> </a:t>
            </a:r>
            <a:r>
              <a:rPr sz="2400" dirty="0">
                <a:latin typeface="Times New Roman"/>
                <a:cs typeface="Times New Roman"/>
              </a:rPr>
              <a:t>which</a:t>
            </a:r>
            <a:r>
              <a:rPr sz="2400" spc="-20" dirty="0">
                <a:latin typeface="Times New Roman"/>
                <a:cs typeface="Times New Roman"/>
              </a:rPr>
              <a:t> </a:t>
            </a:r>
            <a:r>
              <a:rPr sz="2400" dirty="0">
                <a:latin typeface="Times New Roman"/>
                <a:cs typeface="Times New Roman"/>
              </a:rPr>
              <a:t>helps</a:t>
            </a:r>
            <a:r>
              <a:rPr sz="2400" spc="-40" dirty="0">
                <a:latin typeface="Times New Roman"/>
                <a:cs typeface="Times New Roman"/>
              </a:rPr>
              <a:t> </a:t>
            </a:r>
            <a:r>
              <a:rPr sz="2400" dirty="0">
                <a:latin typeface="Times New Roman"/>
                <a:cs typeface="Times New Roman"/>
              </a:rPr>
              <a:t>to</a:t>
            </a:r>
            <a:r>
              <a:rPr sz="2400" spc="-33" dirty="0">
                <a:latin typeface="Times New Roman"/>
                <a:cs typeface="Times New Roman"/>
              </a:rPr>
              <a:t> </a:t>
            </a:r>
            <a:r>
              <a:rPr sz="2400" dirty="0">
                <a:latin typeface="Times New Roman"/>
                <a:cs typeface="Times New Roman"/>
              </a:rPr>
              <a:t>reduce</a:t>
            </a:r>
            <a:r>
              <a:rPr sz="2400" spc="-47" dirty="0">
                <a:latin typeface="Times New Roman"/>
                <a:cs typeface="Times New Roman"/>
              </a:rPr>
              <a:t> </a:t>
            </a:r>
            <a:r>
              <a:rPr sz="2400" spc="-13" dirty="0">
                <a:latin typeface="Times New Roman"/>
                <a:cs typeface="Times New Roman"/>
              </a:rPr>
              <a:t>interference.</a:t>
            </a:r>
            <a:endParaRPr sz="2400">
              <a:latin typeface="Times New Roman"/>
              <a:cs typeface="Times New Roman"/>
            </a:endParaRPr>
          </a:p>
          <a:p>
            <a:pPr marL="626518" marR="156629" indent="-453802">
              <a:lnSpc>
                <a:spcPct val="105000"/>
              </a:lnSpc>
              <a:buChar char="●"/>
              <a:tabLst>
                <a:tab pos="626518" algn="l"/>
              </a:tabLst>
            </a:pPr>
            <a:r>
              <a:rPr sz="2400" dirty="0">
                <a:latin typeface="Times New Roman"/>
                <a:cs typeface="Times New Roman"/>
              </a:rPr>
              <a:t>The</a:t>
            </a:r>
            <a:r>
              <a:rPr sz="2400" spc="-40" dirty="0">
                <a:latin typeface="Times New Roman"/>
                <a:cs typeface="Times New Roman"/>
              </a:rPr>
              <a:t> </a:t>
            </a:r>
            <a:r>
              <a:rPr sz="2400" dirty="0">
                <a:latin typeface="Times New Roman"/>
                <a:cs typeface="Times New Roman"/>
              </a:rPr>
              <a:t>Mioty</a:t>
            </a:r>
            <a:r>
              <a:rPr sz="2400" spc="-40" dirty="0">
                <a:latin typeface="Times New Roman"/>
                <a:cs typeface="Times New Roman"/>
              </a:rPr>
              <a:t> </a:t>
            </a:r>
            <a:r>
              <a:rPr sz="2400" dirty="0">
                <a:latin typeface="Times New Roman"/>
                <a:cs typeface="Times New Roman"/>
              </a:rPr>
              <a:t>gateway</a:t>
            </a:r>
            <a:r>
              <a:rPr sz="2400" spc="-47" dirty="0">
                <a:latin typeface="Times New Roman"/>
                <a:cs typeface="Times New Roman"/>
              </a:rPr>
              <a:t> </a:t>
            </a:r>
            <a:r>
              <a:rPr sz="2400" dirty="0">
                <a:latin typeface="Times New Roman"/>
                <a:cs typeface="Times New Roman"/>
              </a:rPr>
              <a:t>then</a:t>
            </a:r>
            <a:r>
              <a:rPr sz="2400" spc="-53" dirty="0">
                <a:latin typeface="Times New Roman"/>
                <a:cs typeface="Times New Roman"/>
              </a:rPr>
              <a:t> </a:t>
            </a:r>
            <a:r>
              <a:rPr sz="2400" dirty="0">
                <a:latin typeface="Times New Roman"/>
                <a:cs typeface="Times New Roman"/>
              </a:rPr>
              <a:t>scans</a:t>
            </a:r>
            <a:r>
              <a:rPr sz="2400" spc="-33" dirty="0">
                <a:latin typeface="Times New Roman"/>
                <a:cs typeface="Times New Roman"/>
              </a:rPr>
              <a:t> </a:t>
            </a:r>
            <a:r>
              <a:rPr sz="2400" dirty="0">
                <a:latin typeface="Times New Roman"/>
                <a:cs typeface="Times New Roman"/>
              </a:rPr>
              <a:t>the</a:t>
            </a:r>
            <a:r>
              <a:rPr sz="2400" spc="-33" dirty="0">
                <a:latin typeface="Times New Roman"/>
                <a:cs typeface="Times New Roman"/>
              </a:rPr>
              <a:t> </a:t>
            </a:r>
            <a:r>
              <a:rPr sz="2400" dirty="0">
                <a:latin typeface="Times New Roman"/>
                <a:cs typeface="Times New Roman"/>
              </a:rPr>
              <a:t>spectrum</a:t>
            </a:r>
            <a:r>
              <a:rPr sz="2400" spc="-47" dirty="0">
                <a:latin typeface="Times New Roman"/>
                <a:cs typeface="Times New Roman"/>
              </a:rPr>
              <a:t> </a:t>
            </a:r>
            <a:r>
              <a:rPr sz="2400" dirty="0">
                <a:latin typeface="Times New Roman"/>
                <a:cs typeface="Times New Roman"/>
              </a:rPr>
              <a:t>for</a:t>
            </a:r>
            <a:r>
              <a:rPr sz="2400" spc="-27" dirty="0">
                <a:latin typeface="Times New Roman"/>
                <a:cs typeface="Times New Roman"/>
              </a:rPr>
              <a:t> </a:t>
            </a:r>
            <a:r>
              <a:rPr sz="2400" dirty="0">
                <a:latin typeface="Times New Roman"/>
                <a:cs typeface="Times New Roman"/>
              </a:rPr>
              <a:t>Mioty</a:t>
            </a:r>
            <a:r>
              <a:rPr sz="2400" spc="-40" dirty="0">
                <a:latin typeface="Times New Roman"/>
                <a:cs typeface="Times New Roman"/>
              </a:rPr>
              <a:t> </a:t>
            </a:r>
            <a:r>
              <a:rPr sz="2400" spc="-13" dirty="0">
                <a:latin typeface="Times New Roman"/>
                <a:cs typeface="Times New Roman"/>
              </a:rPr>
              <a:t>sub-</a:t>
            </a:r>
            <a:r>
              <a:rPr sz="2400" dirty="0">
                <a:latin typeface="Times New Roman"/>
                <a:cs typeface="Times New Roman"/>
              </a:rPr>
              <a:t>packets</a:t>
            </a:r>
            <a:r>
              <a:rPr sz="2400" spc="-47" dirty="0">
                <a:latin typeface="Times New Roman"/>
                <a:cs typeface="Times New Roman"/>
              </a:rPr>
              <a:t> </a:t>
            </a:r>
            <a:r>
              <a:rPr sz="2400" dirty="0">
                <a:latin typeface="Times New Roman"/>
                <a:cs typeface="Times New Roman"/>
              </a:rPr>
              <a:t>and</a:t>
            </a:r>
            <a:r>
              <a:rPr sz="2400" spc="-40" dirty="0">
                <a:latin typeface="Times New Roman"/>
                <a:cs typeface="Times New Roman"/>
              </a:rPr>
              <a:t> </a:t>
            </a:r>
            <a:r>
              <a:rPr sz="2400" dirty="0">
                <a:latin typeface="Times New Roman"/>
                <a:cs typeface="Times New Roman"/>
              </a:rPr>
              <a:t>reassembles</a:t>
            </a:r>
            <a:r>
              <a:rPr sz="2400" spc="-47" dirty="0">
                <a:latin typeface="Times New Roman"/>
                <a:cs typeface="Times New Roman"/>
              </a:rPr>
              <a:t> </a:t>
            </a:r>
            <a:r>
              <a:rPr sz="2400" spc="-27" dirty="0">
                <a:latin typeface="Times New Roman"/>
                <a:cs typeface="Times New Roman"/>
              </a:rPr>
              <a:t>them </a:t>
            </a:r>
            <a:r>
              <a:rPr sz="2400" dirty="0">
                <a:latin typeface="Times New Roman"/>
                <a:cs typeface="Times New Roman"/>
              </a:rPr>
              <a:t>into</a:t>
            </a:r>
            <a:r>
              <a:rPr sz="2400" spc="-40" dirty="0">
                <a:latin typeface="Times New Roman"/>
                <a:cs typeface="Times New Roman"/>
              </a:rPr>
              <a:t> </a:t>
            </a:r>
            <a:r>
              <a:rPr sz="2400" dirty="0">
                <a:latin typeface="Times New Roman"/>
                <a:cs typeface="Times New Roman"/>
              </a:rPr>
              <a:t>a</a:t>
            </a:r>
            <a:r>
              <a:rPr sz="2400" spc="-20" dirty="0">
                <a:latin typeface="Times New Roman"/>
                <a:cs typeface="Times New Roman"/>
              </a:rPr>
              <a:t> </a:t>
            </a:r>
            <a:r>
              <a:rPr sz="2400" dirty="0">
                <a:latin typeface="Times New Roman"/>
                <a:cs typeface="Times New Roman"/>
              </a:rPr>
              <a:t>complete</a:t>
            </a:r>
            <a:r>
              <a:rPr sz="2400" spc="-40" dirty="0">
                <a:latin typeface="Times New Roman"/>
                <a:cs typeface="Times New Roman"/>
              </a:rPr>
              <a:t> </a:t>
            </a:r>
            <a:r>
              <a:rPr sz="2400" spc="-13" dirty="0">
                <a:latin typeface="Times New Roman"/>
                <a:cs typeface="Times New Roman"/>
              </a:rPr>
              <a:t>message.</a:t>
            </a:r>
            <a:endParaRPr sz="2400">
              <a:latin typeface="Times New Roman"/>
              <a:cs typeface="Times New Roman"/>
            </a:endParaRPr>
          </a:p>
        </p:txBody>
      </p:sp>
    </p:spTree>
    <p:extLst>
      <p:ext uri="{BB962C8B-B14F-4D97-AF65-F5344CB8AC3E}">
        <p14:creationId xmlns:p14="http://schemas.microsoft.com/office/powerpoint/2010/main" val="6414807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EF2816-7CB2-C065-C1B1-C3585D213E47}"/>
              </a:ext>
            </a:extLst>
          </p:cNvPr>
          <p:cNvSpPr>
            <a:spLocks noGrp="1"/>
          </p:cNvSpPr>
          <p:nvPr>
            <p:ph type="title"/>
          </p:nvPr>
        </p:nvSpPr>
        <p:spPr/>
        <p:txBody>
          <a:bodyPr/>
          <a:lstStyle/>
          <a:p>
            <a:pPr algn="ctr"/>
            <a:r>
              <a:rPr lang="en-US" dirty="0">
                <a:latin typeface="Trebuchet MS" panose="020B0603020202020204"/>
              </a:rPr>
              <a:t>DATA PROTOCOLS</a:t>
            </a:r>
            <a:endParaRPr lang="en-IN" dirty="0"/>
          </a:p>
        </p:txBody>
      </p:sp>
      <p:sp>
        <p:nvSpPr>
          <p:cNvPr id="3" name="Content Placeholder 2">
            <a:extLst>
              <a:ext uri="{FF2B5EF4-FFF2-40B4-BE49-F238E27FC236}">
                <a16:creationId xmlns:a16="http://schemas.microsoft.com/office/drawing/2014/main" id="{C41ABD13-0CD1-7225-D2D3-C6A5A4563D46}"/>
              </a:ext>
            </a:extLst>
          </p:cNvPr>
          <p:cNvSpPr>
            <a:spLocks noGrp="1"/>
          </p:cNvSpPr>
          <p:nvPr>
            <p:ph idx="1"/>
          </p:nvPr>
        </p:nvSpPr>
        <p:spPr/>
        <p:txBody>
          <a:bodyPr>
            <a:normAutofit fontScale="70000" lnSpcReduction="20000"/>
          </a:bodyPr>
          <a:lstStyle/>
          <a:p>
            <a:pPr lvl="0" defTabSz="457200">
              <a:buClr>
                <a:schemeClr val="tx1"/>
              </a:buClr>
              <a:buSzPct val="100000"/>
              <a:defRPr/>
            </a:pPr>
            <a:r>
              <a:rPr lang="en-US" dirty="0">
                <a:latin typeface="Trebuchet MS" panose="020B0603020202020204"/>
              </a:rPr>
              <a:t>Smart meters don’t all use the same protocols to communicate, and the standards often vary by region. There are several protocols smart meter manufacturers should be familiar with, including:</a:t>
            </a:r>
            <a:endParaRPr lang="en-IN" dirty="0">
              <a:latin typeface="Trebuchet MS" panose="020B0603020202020204"/>
            </a:endParaRPr>
          </a:p>
          <a:p>
            <a:pPr lvl="0" defTabSz="457200">
              <a:buClr>
                <a:schemeClr val="tx1"/>
              </a:buClr>
              <a:buSzPct val="100000"/>
              <a:defRPr/>
            </a:pPr>
            <a:r>
              <a:rPr lang="en-IN" dirty="0">
                <a:latin typeface="Trebuchet MS" panose="020B0603020202020204"/>
              </a:rPr>
              <a:t>DLMS/COSEM</a:t>
            </a:r>
          </a:p>
          <a:p>
            <a:pPr lvl="0" defTabSz="457200">
              <a:buClr>
                <a:schemeClr val="tx1"/>
              </a:buClr>
              <a:buSzPct val="100000"/>
              <a:defRPr/>
            </a:pPr>
            <a:r>
              <a:rPr lang="en-IN" dirty="0">
                <a:latin typeface="Trebuchet MS" panose="020B0603020202020204"/>
              </a:rPr>
              <a:t>ANSI C12.18</a:t>
            </a:r>
          </a:p>
          <a:p>
            <a:pPr lvl="0" defTabSz="457200">
              <a:buClr>
                <a:schemeClr val="tx1"/>
              </a:buClr>
              <a:buSzPct val="100000"/>
              <a:defRPr/>
            </a:pPr>
            <a:r>
              <a:rPr lang="en-IN" dirty="0">
                <a:latin typeface="Trebuchet MS" panose="020B0603020202020204"/>
              </a:rPr>
              <a:t>Open Smart Grid Protocol (OSGP)</a:t>
            </a:r>
          </a:p>
          <a:p>
            <a:pPr lvl="0" defTabSz="457200">
              <a:buClr>
                <a:schemeClr val="tx1"/>
              </a:buClr>
              <a:buSzPct val="100000"/>
              <a:defRPr/>
            </a:pPr>
            <a:r>
              <a:rPr lang="en-IN" dirty="0">
                <a:latin typeface="Trebuchet MS" panose="020B0603020202020204"/>
              </a:rPr>
              <a:t>TCP/IP</a:t>
            </a:r>
          </a:p>
          <a:p>
            <a:pPr lvl="0" defTabSz="457200">
              <a:buClr>
                <a:schemeClr val="tx1"/>
              </a:buClr>
              <a:buSzPct val="100000"/>
              <a:defRPr/>
            </a:pPr>
            <a:r>
              <a:rPr lang="en-IN" dirty="0">
                <a:latin typeface="Trebuchet MS" panose="020B0603020202020204"/>
              </a:rPr>
              <a:t>UDP/IP</a:t>
            </a:r>
          </a:p>
          <a:p>
            <a:pPr lvl="0" defTabSz="457200">
              <a:buClr>
                <a:schemeClr val="tx1"/>
              </a:buClr>
              <a:buSzPct val="100000"/>
              <a:defRPr/>
            </a:pPr>
            <a:r>
              <a:rPr lang="en-IN" dirty="0">
                <a:latin typeface="Trebuchet MS" panose="020B0603020202020204"/>
              </a:rPr>
              <a:t>MQTT</a:t>
            </a:r>
          </a:p>
          <a:p>
            <a:pPr lvl="0" defTabSz="457200">
              <a:buClr>
                <a:schemeClr val="tx1"/>
              </a:buClr>
              <a:buSzPct val="100000"/>
              <a:defRPr/>
            </a:pPr>
            <a:r>
              <a:rPr lang="en-IN" dirty="0">
                <a:latin typeface="Trebuchet MS" panose="020B0603020202020204"/>
              </a:rPr>
              <a:t>CoAP</a:t>
            </a:r>
          </a:p>
          <a:p>
            <a:pPr lvl="0" defTabSz="457200">
              <a:buClr>
                <a:schemeClr val="tx1"/>
              </a:buClr>
              <a:buSzPct val="100000"/>
              <a:defRPr/>
            </a:pPr>
            <a:r>
              <a:rPr lang="en-IN" dirty="0">
                <a:latin typeface="Trebuchet MS" panose="020B0603020202020204"/>
              </a:rPr>
              <a:t>HTTP</a:t>
            </a:r>
          </a:p>
          <a:p>
            <a:pPr lvl="0" defTabSz="457200">
              <a:buClr>
                <a:schemeClr val="tx1"/>
              </a:buClr>
              <a:buSzPct val="100000"/>
              <a:defRPr/>
            </a:pPr>
            <a:r>
              <a:rPr lang="en-IN" dirty="0" err="1">
                <a:latin typeface="Trebuchet MS" panose="020B0603020202020204"/>
              </a:rPr>
              <a:t>Websockets</a:t>
            </a:r>
            <a:endParaRPr lang="en-IN" dirty="0">
              <a:latin typeface="Trebuchet MS" panose="020B0603020202020204"/>
            </a:endParaRPr>
          </a:p>
          <a:p>
            <a:pPr lvl="0" defTabSz="457200">
              <a:buClr>
                <a:schemeClr val="tx1"/>
              </a:buClr>
              <a:buSzPct val="100000"/>
              <a:defRPr/>
            </a:pPr>
            <a:r>
              <a:rPr lang="en-IN" dirty="0">
                <a:latin typeface="Trebuchet MS" panose="020B0603020202020204"/>
              </a:rPr>
              <a:t>XMPP</a:t>
            </a:r>
            <a:endParaRPr lang="en-IN" dirty="0"/>
          </a:p>
          <a:p>
            <a:pPr>
              <a:buClr>
                <a:schemeClr val="tx1"/>
              </a:buClr>
              <a:buSzPct val="100000"/>
            </a:pPr>
            <a:endParaRPr lang="en-IN" dirty="0"/>
          </a:p>
        </p:txBody>
      </p:sp>
    </p:spTree>
    <p:extLst>
      <p:ext uri="{BB962C8B-B14F-4D97-AF65-F5344CB8AC3E}">
        <p14:creationId xmlns:p14="http://schemas.microsoft.com/office/powerpoint/2010/main" val="19612012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1770</Words>
  <Application>Microsoft Office PowerPoint</Application>
  <PresentationFormat>Widescreen</PresentationFormat>
  <Paragraphs>104</Paragraphs>
  <Slides>21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Calibri</vt:lpstr>
      <vt:lpstr>Calibri Light</vt:lpstr>
      <vt:lpstr>Times New Roman</vt:lpstr>
      <vt:lpstr>Trebuchet MS</vt:lpstr>
      <vt:lpstr>Wingdings 3</vt:lpstr>
      <vt:lpstr>Office Theme</vt:lpstr>
      <vt:lpstr>Evolution of electricity metering</vt:lpstr>
      <vt:lpstr>PowerPoint Presentation</vt:lpstr>
      <vt:lpstr>Smart meter</vt:lpstr>
      <vt:lpstr>PowerPoint Presentation</vt:lpstr>
      <vt:lpstr>PowerPoint Presentation</vt:lpstr>
      <vt:lpstr>PowerPoint Presentation</vt:lpstr>
      <vt:lpstr>PowerPoint Presentation</vt:lpstr>
      <vt:lpstr>SMART METERING</vt:lpstr>
      <vt:lpstr>Basic Architecture of Smart Meter System</vt:lpstr>
      <vt:lpstr>PowerPoint Presentation</vt:lpstr>
      <vt:lpstr>SMART METER SYSTEM</vt:lpstr>
      <vt:lpstr>PowerPoint Presentation</vt:lpstr>
      <vt:lpstr>PowerPoint Presentation</vt:lpstr>
      <vt:lpstr>Smart meter benefits</vt:lpstr>
      <vt:lpstr>Smart metering protocols</vt:lpstr>
      <vt:lpstr>PowerPoint Presentation</vt:lpstr>
      <vt:lpstr>Smart metering protocols</vt:lpstr>
      <vt:lpstr>Wired protocols</vt:lpstr>
      <vt:lpstr>PowerPoint Presentation</vt:lpstr>
      <vt:lpstr>PowerPoint Presentation</vt:lpstr>
      <vt:lpstr>DATA PROTOCOLS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Neethu Suman</dc:creator>
  <cp:lastModifiedBy>Neethu Suman</cp:lastModifiedBy>
  <cp:revision>1</cp:revision>
  <dcterms:created xsi:type="dcterms:W3CDTF">2026-03-13T03:40:53Z</dcterms:created>
  <dcterms:modified xsi:type="dcterms:W3CDTF">2026-03-13T03:44:18Z</dcterms:modified>
</cp:coreProperties>
</file>