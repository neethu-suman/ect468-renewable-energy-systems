
<file path=[Content_Types].xml><?xml version="1.0" encoding="utf-8"?>
<Types xmlns="http://schemas.openxmlformats.org/package/2006/content-types">
  <Default Extension="emf" ContentType="image/x-emf"/>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1" r:id="rId2"/>
    <p:sldId id="346" r:id="rId3"/>
    <p:sldId id="282" r:id="rId4"/>
    <p:sldId id="347" r:id="rId5"/>
    <p:sldId id="356" r:id="rId6"/>
    <p:sldId id="357" r:id="rId7"/>
    <p:sldId id="348" r:id="rId8"/>
    <p:sldId id="349" r:id="rId9"/>
    <p:sldId id="350" r:id="rId10"/>
    <p:sldId id="302" r:id="rId11"/>
    <p:sldId id="283" r:id="rId12"/>
    <p:sldId id="284" r:id="rId13"/>
    <p:sldId id="285" r:id="rId14"/>
    <p:sldId id="28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DD08-3526-E94F-9D49-B80F81C288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5D55A8-7C13-16AF-90AB-C7B0CDDCC9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6FCFA7-860C-E65C-B65F-57F78A82B51D}"/>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5" name="Footer Placeholder 4">
            <a:extLst>
              <a:ext uri="{FF2B5EF4-FFF2-40B4-BE49-F238E27FC236}">
                <a16:creationId xmlns:a16="http://schemas.microsoft.com/office/drawing/2014/main" id="{4EB2213F-6C98-75C6-DEB9-40FB20F7AB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6F652B-21BE-9712-564A-9A9C19BE2D8F}"/>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3319831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B9F78-F8F5-C655-5246-D0DD7AFB9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5B06E8-C367-5D65-CF10-8A5E511738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48245C-B960-E669-58D8-E583F617DC5E}"/>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5" name="Footer Placeholder 4">
            <a:extLst>
              <a:ext uri="{FF2B5EF4-FFF2-40B4-BE49-F238E27FC236}">
                <a16:creationId xmlns:a16="http://schemas.microsoft.com/office/drawing/2014/main" id="{A4D8E44A-E687-8D76-5686-A9ED1685BD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1E9B01-6198-521A-C347-C5DFE3276815}"/>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24423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2752-DAB9-E832-947C-4340BB8133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91D9636-CB08-E526-1476-5950AC1BE9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1EDD45-D132-3A49-D71B-59F42DB972F1}"/>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5" name="Footer Placeholder 4">
            <a:extLst>
              <a:ext uri="{FF2B5EF4-FFF2-40B4-BE49-F238E27FC236}">
                <a16:creationId xmlns:a16="http://schemas.microsoft.com/office/drawing/2014/main" id="{C26E4FA8-36EC-F359-5592-1DC5F9BDD6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63A77D-BBE2-22E7-832A-E3D691549431}"/>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1241756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488D5-5C2A-CB6D-89A6-1C3E6C087D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EB04F6-FB81-9873-8D10-9E9700E6FC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876E3B-DFE1-A684-38BA-8C3F6C4EC3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6018582-6136-A2FD-23B3-4192414B859F}"/>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6" name="Footer Placeholder 5">
            <a:extLst>
              <a:ext uri="{FF2B5EF4-FFF2-40B4-BE49-F238E27FC236}">
                <a16:creationId xmlns:a16="http://schemas.microsoft.com/office/drawing/2014/main" id="{C7A61BB2-E62D-08F4-0F83-FF140FD22C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17B38E-E657-DA34-5A23-830CD101ADCA}"/>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2156844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6B7B9-7650-0FB3-A1E9-3A78EE395D0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C928A0-B865-4528-2464-87441BA7B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A80408-F51F-D943-C4A0-16272AE2BB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4D59B0-EA68-CFDF-072E-407F6FD8A0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191640-C0FE-DD16-BFDA-509D28DC51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6789EDF-D244-AF53-EBE0-9FB3F629071D}"/>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8" name="Footer Placeholder 7">
            <a:extLst>
              <a:ext uri="{FF2B5EF4-FFF2-40B4-BE49-F238E27FC236}">
                <a16:creationId xmlns:a16="http://schemas.microsoft.com/office/drawing/2014/main" id="{683592E4-E983-DE39-4945-CB72CFD5F0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EE2524F-C3EE-D885-342A-CE2832A4342B}"/>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3711846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87055-4410-108F-B0A0-29B1047AA60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F05B1B5-F1B5-EB3F-6361-693A5EE3ACFC}"/>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4" name="Footer Placeholder 3">
            <a:extLst>
              <a:ext uri="{FF2B5EF4-FFF2-40B4-BE49-F238E27FC236}">
                <a16:creationId xmlns:a16="http://schemas.microsoft.com/office/drawing/2014/main" id="{062FA261-26CC-2198-9234-521E6C13E5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C265F0-2C93-3503-ABED-AC155705EB6C}"/>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3482700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9FDE9E-9011-50B1-4C30-635DDEA55B14}"/>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3" name="Footer Placeholder 2">
            <a:extLst>
              <a:ext uri="{FF2B5EF4-FFF2-40B4-BE49-F238E27FC236}">
                <a16:creationId xmlns:a16="http://schemas.microsoft.com/office/drawing/2014/main" id="{E3E0D163-4D10-63D7-5D63-A2ADB46C14E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B9B775F-3D50-685F-F10E-BCA21CE7061E}"/>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4058502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30E33-265B-63A2-70AB-079CF83C41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0D1C18-1F5B-7A0E-F911-E6E9D7D0D7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C76D68-3DBF-52F5-7147-02D5BABB35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71749F-28A7-BFC0-F038-2088E6B48165}"/>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6" name="Footer Placeholder 5">
            <a:extLst>
              <a:ext uri="{FF2B5EF4-FFF2-40B4-BE49-F238E27FC236}">
                <a16:creationId xmlns:a16="http://schemas.microsoft.com/office/drawing/2014/main" id="{E7C28744-0769-B8C6-A25C-65D81B4DE1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F1FC19-583B-73D4-2D77-9E94A488A61A}"/>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1868654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5763A-E15E-BC34-72C9-C5210E75A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012531-1D38-0988-947C-555BB76362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5CBB0B-0810-8481-8B56-2A673FF2C6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7BBFAF-A552-0D7D-0B3C-0C83D1379FC4}"/>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6" name="Footer Placeholder 5">
            <a:extLst>
              <a:ext uri="{FF2B5EF4-FFF2-40B4-BE49-F238E27FC236}">
                <a16:creationId xmlns:a16="http://schemas.microsoft.com/office/drawing/2014/main" id="{F8F42C25-F904-7291-4DCC-7FD48296CD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E4B67F-C7BA-C338-056D-1C612A05606A}"/>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238386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37F7-641F-5308-8AFC-C9BABCE38F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F114DD-7994-A4C8-E5C0-95895B7053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862E2B-7B70-9AED-E4E6-C2AFD61D731A}"/>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5" name="Footer Placeholder 4">
            <a:extLst>
              <a:ext uri="{FF2B5EF4-FFF2-40B4-BE49-F238E27FC236}">
                <a16:creationId xmlns:a16="http://schemas.microsoft.com/office/drawing/2014/main" id="{413A1587-6B2B-A910-63D1-F89C5CE052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746D10-C5DC-CBEC-312E-0317E7CC21BE}"/>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4038607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4A79DF-BD6F-E59A-F4A9-B0AA66989A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B96B08-EA08-C830-97AF-DD1D83D2F6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4CCCE7-DC58-61E1-9F54-B8DD1F8F676B}"/>
              </a:ext>
            </a:extLst>
          </p:cNvPr>
          <p:cNvSpPr>
            <a:spLocks noGrp="1"/>
          </p:cNvSpPr>
          <p:nvPr>
            <p:ph type="dt" sz="half" idx="10"/>
          </p:nvPr>
        </p:nvSpPr>
        <p:spPr/>
        <p:txBody>
          <a:bodyPr/>
          <a:lstStyle/>
          <a:p>
            <a:fld id="{139B288A-2649-45AD-A7F0-9E5A384309E5}" type="datetimeFigureOut">
              <a:rPr lang="en-IN" smtClean="0"/>
              <a:t>13-03-2026</a:t>
            </a:fld>
            <a:endParaRPr lang="en-IN"/>
          </a:p>
        </p:txBody>
      </p:sp>
      <p:sp>
        <p:nvSpPr>
          <p:cNvPr id="5" name="Footer Placeholder 4">
            <a:extLst>
              <a:ext uri="{FF2B5EF4-FFF2-40B4-BE49-F238E27FC236}">
                <a16:creationId xmlns:a16="http://schemas.microsoft.com/office/drawing/2014/main" id="{22119BED-9CEB-BCFE-1F35-87B7D6AAE6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F93614-F82E-9082-C304-0773E9AA8284}"/>
              </a:ext>
            </a:extLst>
          </p:cNvPr>
          <p:cNvSpPr>
            <a:spLocks noGrp="1"/>
          </p:cNvSpPr>
          <p:nvPr>
            <p:ph type="sldNum" sz="quarter" idx="12"/>
          </p:nvPr>
        </p:nvSpPr>
        <p:spPr/>
        <p:txBody>
          <a:bodyPr/>
          <a:lstStyle/>
          <a:p>
            <a:fld id="{A07586AD-A410-4368-B878-E77EC140964D}" type="slidenum">
              <a:rPr lang="en-IN" smtClean="0"/>
              <a:t>‹#›</a:t>
            </a:fld>
            <a:endParaRPr lang="en-IN"/>
          </a:p>
        </p:txBody>
      </p:sp>
    </p:spTree>
    <p:extLst>
      <p:ext uri="{BB962C8B-B14F-4D97-AF65-F5344CB8AC3E}">
        <p14:creationId xmlns:p14="http://schemas.microsoft.com/office/powerpoint/2010/main" val="512801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C0D81F-A0C1-28E1-C408-38464D1F52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5C1327-E2B8-16EC-AB30-2D756659A6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14AB52-4108-40FA-C159-5C8235188B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9B288A-2649-45AD-A7F0-9E5A384309E5}" type="datetimeFigureOut">
              <a:rPr lang="en-IN" smtClean="0"/>
              <a:t>13-03-2026</a:t>
            </a:fld>
            <a:endParaRPr lang="en-IN"/>
          </a:p>
        </p:txBody>
      </p:sp>
      <p:sp>
        <p:nvSpPr>
          <p:cNvPr id="5" name="Footer Placeholder 4">
            <a:extLst>
              <a:ext uri="{FF2B5EF4-FFF2-40B4-BE49-F238E27FC236}">
                <a16:creationId xmlns:a16="http://schemas.microsoft.com/office/drawing/2014/main" id="{0069E8D8-39BA-6A48-28E7-5A3861DEBB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DC22736-FBF3-E91F-7B17-0B7FC9C0A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7586AD-A410-4368-B878-E77EC140964D}" type="slidenum">
              <a:rPr lang="en-IN" smtClean="0"/>
              <a:t>‹#›</a:t>
            </a:fld>
            <a:endParaRPr lang="en-IN"/>
          </a:p>
        </p:txBody>
      </p:sp>
    </p:spTree>
    <p:extLst>
      <p:ext uri="{BB962C8B-B14F-4D97-AF65-F5344CB8AC3E}">
        <p14:creationId xmlns:p14="http://schemas.microsoft.com/office/powerpoint/2010/main" val="896569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C4897-910C-7F0C-BB4C-B78D8D02AD06}"/>
              </a:ext>
            </a:extLst>
          </p:cNvPr>
          <p:cNvSpPr>
            <a:spLocks noGrp="1"/>
          </p:cNvSpPr>
          <p:nvPr>
            <p:ph type="title"/>
          </p:nvPr>
        </p:nvSpPr>
        <p:spPr/>
        <p:txBody>
          <a:bodyPr/>
          <a:lstStyle/>
          <a:p>
            <a:pPr algn="ctr"/>
            <a:r>
              <a:rPr lang="en-IN" dirty="0"/>
              <a:t>Distribution management system</a:t>
            </a:r>
          </a:p>
        </p:txBody>
      </p:sp>
      <p:sp>
        <p:nvSpPr>
          <p:cNvPr id="3" name="Content Placeholder 2">
            <a:extLst>
              <a:ext uri="{FF2B5EF4-FFF2-40B4-BE49-F238E27FC236}">
                <a16:creationId xmlns:a16="http://schemas.microsoft.com/office/drawing/2014/main" id="{F27F2EDD-865C-7978-28F1-2F3882C37A5D}"/>
              </a:ext>
            </a:extLst>
          </p:cNvPr>
          <p:cNvSpPr>
            <a:spLocks noGrp="1"/>
          </p:cNvSpPr>
          <p:nvPr>
            <p:ph idx="1"/>
          </p:nvPr>
        </p:nvSpPr>
        <p:spPr/>
        <p:txBody>
          <a:bodyPr>
            <a:normAutofit/>
          </a:bodyPr>
          <a:lstStyle/>
          <a:p>
            <a:pPr lvl="0" algn="just" defTabSz="457200">
              <a:buClr>
                <a:schemeClr val="tx1"/>
              </a:buClr>
              <a:buSzPct val="100000"/>
              <a:defRPr/>
            </a:pPr>
            <a:r>
              <a:rPr lang="en-US" sz="2400" dirty="0"/>
              <a:t>A </a:t>
            </a:r>
            <a:r>
              <a:rPr lang="en-US" sz="2400" b="1" dirty="0"/>
              <a:t>distribution management system (DMS)</a:t>
            </a:r>
            <a:r>
              <a:rPr lang="en-US" sz="2400" dirty="0"/>
              <a:t> is a collection of applications designed to monitor and control the electrical power distribution networks efficiently and reliably. </a:t>
            </a:r>
          </a:p>
          <a:p>
            <a:pPr lvl="0" algn="just" defTabSz="457200">
              <a:buClr>
                <a:schemeClr val="tx1"/>
              </a:buClr>
              <a:buSzPct val="100000"/>
              <a:defRPr/>
            </a:pPr>
            <a:r>
              <a:rPr lang="en-US" sz="2400" dirty="0"/>
              <a:t>It acts as a decision support system to assist the control room and field operating personnel with the monitoring and control of the electric distribution system. </a:t>
            </a:r>
          </a:p>
          <a:p>
            <a:pPr lvl="0" algn="just" defTabSz="457200">
              <a:buClr>
                <a:schemeClr val="tx1"/>
              </a:buClr>
              <a:buSzPct val="100000"/>
              <a:defRPr/>
            </a:pPr>
            <a:r>
              <a:rPr lang="en-US" sz="2400" dirty="0"/>
              <a:t>Improving the reliability and quality of service in terms of reducing outages, minimizing outage time, maintaining acceptable frequency and voltages levels are the key deliverables of a DMS</a:t>
            </a:r>
            <a:endParaRPr lang="en-IN" sz="2400" dirty="0"/>
          </a:p>
          <a:p>
            <a:endParaRPr lang="en-IN" sz="2400" dirty="0"/>
          </a:p>
        </p:txBody>
      </p:sp>
    </p:spTree>
    <p:extLst>
      <p:ext uri="{BB962C8B-B14F-4D97-AF65-F5344CB8AC3E}">
        <p14:creationId xmlns:p14="http://schemas.microsoft.com/office/powerpoint/2010/main" val="3116371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49ADE1-3191-22C1-2F21-1CE9A8A32AFF}"/>
              </a:ext>
            </a:extLst>
          </p:cNvPr>
          <p:cNvSpPr>
            <a:spLocks noGrp="1"/>
          </p:cNvSpPr>
          <p:nvPr>
            <p:ph type="title"/>
          </p:nvPr>
        </p:nvSpPr>
        <p:spPr/>
        <p:txBody>
          <a:bodyPr/>
          <a:lstStyle/>
          <a:p>
            <a:r>
              <a:rPr lang="en-IN" dirty="0"/>
              <a:t>Distribution management system</a:t>
            </a:r>
          </a:p>
        </p:txBody>
      </p:sp>
      <p:sp>
        <p:nvSpPr>
          <p:cNvPr id="6" name="Content Placeholder 5">
            <a:extLst>
              <a:ext uri="{FF2B5EF4-FFF2-40B4-BE49-F238E27FC236}">
                <a16:creationId xmlns:a16="http://schemas.microsoft.com/office/drawing/2014/main" id="{369301B0-BA1F-23DA-005A-451287BB2EC3}"/>
              </a:ext>
            </a:extLst>
          </p:cNvPr>
          <p:cNvSpPr>
            <a:spLocks noGrp="1"/>
          </p:cNvSpPr>
          <p:nvPr>
            <p:ph idx="1"/>
          </p:nvPr>
        </p:nvSpPr>
        <p:spPr/>
        <p:txBody>
          <a:bodyPr>
            <a:normAutofit fontScale="85000" lnSpcReduction="20000"/>
          </a:bodyPr>
          <a:lstStyle/>
          <a:p>
            <a:pPr marL="457189" marR="6773" indent="-441102" algn="just">
              <a:lnSpc>
                <a:spcPct val="114999"/>
              </a:lnSpc>
              <a:spcBef>
                <a:spcPts val="7"/>
              </a:spcBef>
              <a:buChar char="●"/>
              <a:tabLst>
                <a:tab pos="457189" algn="l"/>
              </a:tabLst>
            </a:pPr>
            <a:r>
              <a:rPr lang="en-US" dirty="0">
                <a:solidFill>
                  <a:srgbClr val="212121"/>
                </a:solidFill>
                <a:latin typeface="Times New Roman"/>
                <a:cs typeface="Times New Roman"/>
              </a:rPr>
              <a:t>The</a:t>
            </a:r>
            <a:r>
              <a:rPr lang="en-US" spc="73" dirty="0">
                <a:solidFill>
                  <a:srgbClr val="212121"/>
                </a:solidFill>
                <a:latin typeface="Times New Roman"/>
                <a:cs typeface="Times New Roman"/>
              </a:rPr>
              <a:t> </a:t>
            </a:r>
            <a:r>
              <a:rPr lang="en-US" dirty="0">
                <a:solidFill>
                  <a:srgbClr val="212121"/>
                </a:solidFill>
                <a:latin typeface="Times New Roman"/>
                <a:cs typeface="Times New Roman"/>
              </a:rPr>
              <a:t>ultimate</a:t>
            </a:r>
            <a:r>
              <a:rPr lang="en-US" spc="73" dirty="0">
                <a:solidFill>
                  <a:srgbClr val="212121"/>
                </a:solidFill>
                <a:latin typeface="Times New Roman"/>
                <a:cs typeface="Times New Roman"/>
              </a:rPr>
              <a:t> </a:t>
            </a:r>
            <a:r>
              <a:rPr lang="en-US" dirty="0">
                <a:solidFill>
                  <a:srgbClr val="212121"/>
                </a:solidFill>
                <a:latin typeface="Times New Roman"/>
                <a:cs typeface="Times New Roman"/>
              </a:rPr>
              <a:t>goal</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of</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a</a:t>
            </a:r>
            <a:r>
              <a:rPr lang="en-US" spc="73" dirty="0">
                <a:solidFill>
                  <a:srgbClr val="212121"/>
                </a:solidFill>
                <a:latin typeface="Times New Roman"/>
                <a:cs typeface="Times New Roman"/>
              </a:rPr>
              <a:t> </a:t>
            </a:r>
            <a:r>
              <a:rPr lang="en-US" dirty="0">
                <a:solidFill>
                  <a:srgbClr val="212121"/>
                </a:solidFill>
                <a:latin typeface="Times New Roman"/>
                <a:cs typeface="Times New Roman"/>
              </a:rPr>
              <a:t>DMS</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is</a:t>
            </a:r>
            <a:r>
              <a:rPr lang="en-US" spc="120" dirty="0">
                <a:solidFill>
                  <a:srgbClr val="212121"/>
                </a:solidFill>
                <a:latin typeface="Times New Roman"/>
                <a:cs typeface="Times New Roman"/>
              </a:rPr>
              <a:t> </a:t>
            </a:r>
            <a:r>
              <a:rPr lang="en-US" dirty="0">
                <a:solidFill>
                  <a:srgbClr val="212121"/>
                </a:solidFill>
                <a:latin typeface="Times New Roman"/>
                <a:cs typeface="Times New Roman"/>
              </a:rPr>
              <a:t>to</a:t>
            </a:r>
            <a:r>
              <a:rPr lang="en-US" spc="100" dirty="0">
                <a:solidFill>
                  <a:srgbClr val="212121"/>
                </a:solidFill>
                <a:latin typeface="Times New Roman"/>
                <a:cs typeface="Times New Roman"/>
              </a:rPr>
              <a:t> </a:t>
            </a:r>
            <a:r>
              <a:rPr lang="en-US" dirty="0">
                <a:solidFill>
                  <a:srgbClr val="212121"/>
                </a:solidFill>
                <a:latin typeface="Times New Roman"/>
                <a:cs typeface="Times New Roman"/>
              </a:rPr>
              <a:t>enable</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a</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smart,</a:t>
            </a:r>
            <a:r>
              <a:rPr lang="en-US" spc="93" dirty="0">
                <a:solidFill>
                  <a:srgbClr val="212121"/>
                </a:solidFill>
                <a:latin typeface="Times New Roman"/>
                <a:cs typeface="Times New Roman"/>
              </a:rPr>
              <a:t> </a:t>
            </a:r>
            <a:r>
              <a:rPr lang="en-US" spc="-13" dirty="0">
                <a:solidFill>
                  <a:srgbClr val="212121"/>
                </a:solidFill>
                <a:latin typeface="Times New Roman"/>
                <a:cs typeface="Times New Roman"/>
              </a:rPr>
              <a:t>self-</a:t>
            </a:r>
            <a:r>
              <a:rPr lang="en-US" dirty="0">
                <a:solidFill>
                  <a:srgbClr val="212121"/>
                </a:solidFill>
                <a:latin typeface="Times New Roman"/>
                <a:cs typeface="Times New Roman"/>
              </a:rPr>
              <a:t>healing</a:t>
            </a:r>
            <a:r>
              <a:rPr lang="en-US" spc="100" dirty="0">
                <a:solidFill>
                  <a:srgbClr val="212121"/>
                </a:solidFill>
                <a:latin typeface="Times New Roman"/>
                <a:cs typeface="Times New Roman"/>
              </a:rPr>
              <a:t> </a:t>
            </a:r>
            <a:r>
              <a:rPr lang="en-US" dirty="0">
                <a:solidFill>
                  <a:srgbClr val="212121"/>
                </a:solidFill>
                <a:latin typeface="Times New Roman"/>
                <a:cs typeface="Times New Roman"/>
              </a:rPr>
              <a:t>distribution</a:t>
            </a:r>
            <a:r>
              <a:rPr lang="en-US" spc="87" dirty="0">
                <a:solidFill>
                  <a:srgbClr val="212121"/>
                </a:solidFill>
                <a:latin typeface="Times New Roman"/>
                <a:cs typeface="Times New Roman"/>
              </a:rPr>
              <a:t> </a:t>
            </a:r>
            <a:r>
              <a:rPr lang="en-US" dirty="0">
                <a:solidFill>
                  <a:srgbClr val="212121"/>
                </a:solidFill>
                <a:latin typeface="Times New Roman"/>
                <a:cs typeface="Times New Roman"/>
              </a:rPr>
              <a:t>system</a:t>
            </a:r>
            <a:r>
              <a:rPr lang="en-US" spc="73" dirty="0">
                <a:solidFill>
                  <a:srgbClr val="212121"/>
                </a:solidFill>
                <a:latin typeface="Times New Roman"/>
                <a:cs typeface="Times New Roman"/>
              </a:rPr>
              <a:t> </a:t>
            </a:r>
            <a:r>
              <a:rPr lang="en-US" dirty="0">
                <a:solidFill>
                  <a:srgbClr val="212121"/>
                </a:solidFill>
                <a:latin typeface="Times New Roman"/>
                <a:cs typeface="Times New Roman"/>
              </a:rPr>
              <a:t>and</a:t>
            </a:r>
            <a:r>
              <a:rPr lang="en-US" spc="107" dirty="0">
                <a:solidFill>
                  <a:srgbClr val="212121"/>
                </a:solidFill>
                <a:latin typeface="Times New Roman"/>
                <a:cs typeface="Times New Roman"/>
              </a:rPr>
              <a:t> </a:t>
            </a:r>
            <a:r>
              <a:rPr lang="en-US" dirty="0">
                <a:solidFill>
                  <a:srgbClr val="212121"/>
                </a:solidFill>
                <a:latin typeface="Times New Roman"/>
                <a:cs typeface="Times New Roman"/>
              </a:rPr>
              <a:t>to</a:t>
            </a:r>
            <a:r>
              <a:rPr lang="en-US" spc="100" dirty="0">
                <a:solidFill>
                  <a:srgbClr val="212121"/>
                </a:solidFill>
                <a:latin typeface="Times New Roman"/>
                <a:cs typeface="Times New Roman"/>
              </a:rPr>
              <a:t> </a:t>
            </a:r>
            <a:r>
              <a:rPr lang="en-US" spc="-13" dirty="0">
                <a:solidFill>
                  <a:srgbClr val="212121"/>
                </a:solidFill>
                <a:latin typeface="Times New Roman"/>
                <a:cs typeface="Times New Roman"/>
              </a:rPr>
              <a:t>provide </a:t>
            </a:r>
            <a:r>
              <a:rPr lang="en-US" dirty="0">
                <a:solidFill>
                  <a:srgbClr val="212121"/>
                </a:solidFill>
                <a:latin typeface="Times New Roman"/>
                <a:cs typeface="Times New Roman"/>
              </a:rPr>
              <a:t>improvements</a:t>
            </a:r>
            <a:r>
              <a:rPr lang="en-US" spc="7" dirty="0">
                <a:solidFill>
                  <a:srgbClr val="212121"/>
                </a:solidFill>
                <a:latin typeface="Times New Roman"/>
                <a:cs typeface="Times New Roman"/>
              </a:rPr>
              <a:t> </a:t>
            </a:r>
            <a:r>
              <a:rPr lang="en-US" dirty="0">
                <a:solidFill>
                  <a:srgbClr val="212121"/>
                </a:solidFill>
                <a:latin typeface="Times New Roman"/>
                <a:cs typeface="Times New Roman"/>
              </a:rPr>
              <a:t>in:</a:t>
            </a:r>
            <a:r>
              <a:rPr lang="en-US" spc="-60" dirty="0">
                <a:solidFill>
                  <a:srgbClr val="212121"/>
                </a:solidFill>
                <a:latin typeface="Times New Roman"/>
                <a:cs typeface="Times New Roman"/>
              </a:rPr>
              <a:t> </a:t>
            </a:r>
            <a:r>
              <a:rPr lang="en-US" dirty="0">
                <a:solidFill>
                  <a:srgbClr val="212121"/>
                </a:solidFill>
                <a:latin typeface="Times New Roman"/>
                <a:cs typeface="Times New Roman"/>
              </a:rPr>
              <a:t>supply</a:t>
            </a:r>
            <a:r>
              <a:rPr lang="en-US" spc="-67" dirty="0">
                <a:solidFill>
                  <a:srgbClr val="212121"/>
                </a:solidFill>
                <a:latin typeface="Times New Roman"/>
                <a:cs typeface="Times New Roman"/>
              </a:rPr>
              <a:t> </a:t>
            </a:r>
            <a:r>
              <a:rPr lang="en-US" dirty="0">
                <a:solidFill>
                  <a:srgbClr val="212121"/>
                </a:solidFill>
                <a:latin typeface="Times New Roman"/>
                <a:cs typeface="Times New Roman"/>
              </a:rPr>
              <a:t>reliability and</a:t>
            </a:r>
            <a:r>
              <a:rPr lang="en-US" spc="-60" dirty="0">
                <a:solidFill>
                  <a:srgbClr val="212121"/>
                </a:solidFill>
                <a:latin typeface="Times New Roman"/>
                <a:cs typeface="Times New Roman"/>
              </a:rPr>
              <a:t> </a:t>
            </a:r>
            <a:r>
              <a:rPr lang="en-US" dirty="0">
                <a:solidFill>
                  <a:srgbClr val="212121"/>
                </a:solidFill>
                <a:latin typeface="Times New Roman"/>
                <a:cs typeface="Times New Roman"/>
              </a:rPr>
              <a:t>quality,</a:t>
            </a:r>
            <a:r>
              <a:rPr lang="en-US" spc="-47" dirty="0">
                <a:solidFill>
                  <a:srgbClr val="212121"/>
                </a:solidFill>
                <a:latin typeface="Times New Roman"/>
                <a:cs typeface="Times New Roman"/>
              </a:rPr>
              <a:t> </a:t>
            </a:r>
            <a:r>
              <a:rPr lang="en-US" dirty="0">
                <a:solidFill>
                  <a:srgbClr val="212121"/>
                </a:solidFill>
                <a:latin typeface="Times New Roman"/>
                <a:cs typeface="Times New Roman"/>
              </a:rPr>
              <a:t>efficiency</a:t>
            </a:r>
            <a:r>
              <a:rPr lang="en-US" spc="-33" dirty="0">
                <a:solidFill>
                  <a:srgbClr val="212121"/>
                </a:solidFill>
                <a:latin typeface="Times New Roman"/>
                <a:cs typeface="Times New Roman"/>
              </a:rPr>
              <a:t> </a:t>
            </a:r>
            <a:r>
              <a:rPr lang="en-US" dirty="0">
                <a:solidFill>
                  <a:srgbClr val="212121"/>
                </a:solidFill>
                <a:latin typeface="Times New Roman"/>
                <a:cs typeface="Times New Roman"/>
              </a:rPr>
              <a:t>and</a:t>
            </a:r>
            <a:r>
              <a:rPr lang="en-US" spc="-60" dirty="0">
                <a:solidFill>
                  <a:srgbClr val="212121"/>
                </a:solidFill>
                <a:latin typeface="Times New Roman"/>
                <a:cs typeface="Times New Roman"/>
              </a:rPr>
              <a:t> </a:t>
            </a:r>
            <a:r>
              <a:rPr lang="en-US" dirty="0">
                <a:solidFill>
                  <a:srgbClr val="212121"/>
                </a:solidFill>
                <a:latin typeface="Times New Roman"/>
                <a:cs typeface="Times New Roman"/>
              </a:rPr>
              <a:t>effectiveness</a:t>
            </a:r>
            <a:r>
              <a:rPr lang="en-US" spc="-40" dirty="0">
                <a:solidFill>
                  <a:srgbClr val="212121"/>
                </a:solidFill>
                <a:latin typeface="Times New Roman"/>
                <a:cs typeface="Times New Roman"/>
              </a:rPr>
              <a:t> </a:t>
            </a:r>
            <a:r>
              <a:rPr lang="en-US" dirty="0">
                <a:solidFill>
                  <a:srgbClr val="212121"/>
                </a:solidFill>
                <a:latin typeface="Times New Roman"/>
                <a:cs typeface="Times New Roman"/>
              </a:rPr>
              <a:t>of</a:t>
            </a:r>
            <a:r>
              <a:rPr lang="en-US" spc="-60" dirty="0">
                <a:solidFill>
                  <a:srgbClr val="212121"/>
                </a:solidFill>
                <a:latin typeface="Times New Roman"/>
                <a:cs typeface="Times New Roman"/>
              </a:rPr>
              <a:t> </a:t>
            </a:r>
            <a:r>
              <a:rPr lang="en-US" dirty="0">
                <a:solidFill>
                  <a:srgbClr val="212121"/>
                </a:solidFill>
                <a:latin typeface="Times New Roman"/>
                <a:cs typeface="Times New Roman"/>
              </a:rPr>
              <a:t>system</a:t>
            </a:r>
            <a:r>
              <a:rPr lang="en-US" spc="-33" dirty="0">
                <a:solidFill>
                  <a:srgbClr val="212121"/>
                </a:solidFill>
                <a:latin typeface="Times New Roman"/>
                <a:cs typeface="Times New Roman"/>
              </a:rPr>
              <a:t> </a:t>
            </a:r>
            <a:r>
              <a:rPr lang="en-US" spc="-13" dirty="0">
                <a:solidFill>
                  <a:srgbClr val="212121"/>
                </a:solidFill>
                <a:latin typeface="Times New Roman"/>
                <a:cs typeface="Times New Roman"/>
              </a:rPr>
              <a:t>operation</a:t>
            </a:r>
            <a:endParaRPr lang="en-US" dirty="0">
              <a:latin typeface="Times New Roman"/>
              <a:cs typeface="Times New Roman"/>
            </a:endParaRPr>
          </a:p>
          <a:p>
            <a:pPr marL="456342" marR="6773" indent="-440256" algn="just">
              <a:lnSpc>
                <a:spcPct val="114999"/>
              </a:lnSpc>
              <a:buChar char="●"/>
              <a:tabLst>
                <a:tab pos="458035" algn="l"/>
              </a:tabLst>
            </a:pPr>
            <a:r>
              <a:rPr lang="en-US" dirty="0">
                <a:solidFill>
                  <a:srgbClr val="212121"/>
                </a:solidFill>
                <a:latin typeface="Times New Roman"/>
                <a:cs typeface="Times New Roman"/>
              </a:rPr>
              <a:t>The</a:t>
            </a:r>
            <a:r>
              <a:rPr lang="en-US" spc="80" dirty="0">
                <a:solidFill>
                  <a:srgbClr val="212121"/>
                </a:solidFill>
                <a:latin typeface="Times New Roman"/>
                <a:cs typeface="Times New Roman"/>
              </a:rPr>
              <a:t>  </a:t>
            </a:r>
            <a:r>
              <a:rPr lang="en-US" dirty="0">
                <a:solidFill>
                  <a:srgbClr val="212121"/>
                </a:solidFill>
                <a:latin typeface="Times New Roman"/>
                <a:cs typeface="Times New Roman"/>
              </a:rPr>
              <a:t>first</a:t>
            </a:r>
            <a:r>
              <a:rPr lang="en-US" spc="87" dirty="0">
                <a:solidFill>
                  <a:srgbClr val="212121"/>
                </a:solidFill>
                <a:latin typeface="Times New Roman"/>
                <a:cs typeface="Times New Roman"/>
              </a:rPr>
              <a:t>  </a:t>
            </a:r>
            <a:r>
              <a:rPr lang="en-US" dirty="0">
                <a:solidFill>
                  <a:srgbClr val="212121"/>
                </a:solidFill>
                <a:latin typeface="Times New Roman"/>
                <a:cs typeface="Times New Roman"/>
              </a:rPr>
              <a:t>generation</a:t>
            </a:r>
            <a:r>
              <a:rPr lang="en-US" spc="80" dirty="0">
                <a:solidFill>
                  <a:srgbClr val="212121"/>
                </a:solidFill>
                <a:latin typeface="Times New Roman"/>
                <a:cs typeface="Times New Roman"/>
              </a:rPr>
              <a:t>  </a:t>
            </a:r>
            <a:r>
              <a:rPr lang="en-US" dirty="0">
                <a:solidFill>
                  <a:srgbClr val="212121"/>
                </a:solidFill>
                <a:latin typeface="Times New Roman"/>
                <a:cs typeface="Times New Roman"/>
              </a:rPr>
              <a:t>of</a:t>
            </a:r>
            <a:r>
              <a:rPr lang="en-US" spc="87" dirty="0">
                <a:solidFill>
                  <a:srgbClr val="212121"/>
                </a:solidFill>
                <a:latin typeface="Times New Roman"/>
                <a:cs typeface="Times New Roman"/>
              </a:rPr>
              <a:t>  </a:t>
            </a:r>
            <a:r>
              <a:rPr lang="en-US" dirty="0">
                <a:solidFill>
                  <a:srgbClr val="212121"/>
                </a:solidFill>
                <a:latin typeface="Times New Roman"/>
                <a:cs typeface="Times New Roman"/>
              </a:rPr>
              <a:t>Distribution</a:t>
            </a:r>
            <a:r>
              <a:rPr lang="en-US" spc="87" dirty="0">
                <a:solidFill>
                  <a:srgbClr val="212121"/>
                </a:solidFill>
                <a:latin typeface="Times New Roman"/>
                <a:cs typeface="Times New Roman"/>
              </a:rPr>
              <a:t>  </a:t>
            </a:r>
            <a:r>
              <a:rPr lang="en-US" dirty="0">
                <a:solidFill>
                  <a:srgbClr val="212121"/>
                </a:solidFill>
                <a:latin typeface="Times New Roman"/>
                <a:cs typeface="Times New Roman"/>
              </a:rPr>
              <a:t>Management</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Systems</a:t>
            </a:r>
            <a:r>
              <a:rPr lang="en-US" spc="87" dirty="0">
                <a:solidFill>
                  <a:srgbClr val="212121"/>
                </a:solidFill>
                <a:latin typeface="Times New Roman"/>
                <a:cs typeface="Times New Roman"/>
              </a:rPr>
              <a:t>  </a:t>
            </a:r>
            <a:r>
              <a:rPr lang="en-US" dirty="0">
                <a:solidFill>
                  <a:srgbClr val="212121"/>
                </a:solidFill>
                <a:latin typeface="Times New Roman"/>
                <a:cs typeface="Times New Roman"/>
              </a:rPr>
              <a:t>integrated</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a</a:t>
            </a:r>
            <a:r>
              <a:rPr lang="en-US" spc="93" dirty="0">
                <a:solidFill>
                  <a:srgbClr val="212121"/>
                </a:solidFill>
                <a:latin typeface="Times New Roman"/>
                <a:cs typeface="Times New Roman"/>
              </a:rPr>
              <a:t>  </a:t>
            </a:r>
            <a:r>
              <a:rPr lang="en-US" dirty="0">
                <a:solidFill>
                  <a:srgbClr val="212121"/>
                </a:solidFill>
                <a:latin typeface="Times New Roman"/>
                <a:cs typeface="Times New Roman"/>
              </a:rPr>
              <a:t>number</a:t>
            </a:r>
            <a:r>
              <a:rPr lang="en-US" spc="87" dirty="0">
                <a:solidFill>
                  <a:srgbClr val="212121"/>
                </a:solidFill>
                <a:latin typeface="Times New Roman"/>
                <a:cs typeface="Times New Roman"/>
              </a:rPr>
              <a:t>  </a:t>
            </a:r>
            <a:r>
              <a:rPr lang="en-US" dirty="0">
                <a:solidFill>
                  <a:srgbClr val="212121"/>
                </a:solidFill>
                <a:latin typeface="Times New Roman"/>
                <a:cs typeface="Times New Roman"/>
              </a:rPr>
              <a:t>of</a:t>
            </a:r>
            <a:r>
              <a:rPr lang="en-US" spc="87" dirty="0">
                <a:solidFill>
                  <a:srgbClr val="212121"/>
                </a:solidFill>
                <a:latin typeface="Times New Roman"/>
                <a:cs typeface="Times New Roman"/>
              </a:rPr>
              <a:t>  </a:t>
            </a:r>
            <a:r>
              <a:rPr lang="en-US" spc="-13" dirty="0">
                <a:solidFill>
                  <a:srgbClr val="212121"/>
                </a:solidFill>
                <a:latin typeface="Times New Roman"/>
                <a:cs typeface="Times New Roman"/>
              </a:rPr>
              <a:t>simple </a:t>
            </a:r>
            <a:r>
              <a:rPr lang="en-US" dirty="0">
                <a:solidFill>
                  <a:srgbClr val="212121"/>
                </a:solidFill>
                <a:latin typeface="Times New Roman"/>
                <a:cs typeface="Times New Roman"/>
              </a:rPr>
              <a:t>Applications</a:t>
            </a:r>
            <a:r>
              <a:rPr lang="en-US" spc="-27" dirty="0">
                <a:solidFill>
                  <a:srgbClr val="212121"/>
                </a:solidFill>
                <a:latin typeface="Times New Roman"/>
                <a:cs typeface="Times New Roman"/>
              </a:rPr>
              <a:t> </a:t>
            </a:r>
            <a:r>
              <a:rPr lang="en-US" dirty="0">
                <a:solidFill>
                  <a:srgbClr val="212121"/>
                </a:solidFill>
                <a:latin typeface="Times New Roman"/>
                <a:cs typeface="Times New Roman"/>
              </a:rPr>
              <a:t>into</a:t>
            </a:r>
            <a:r>
              <a:rPr lang="en-US" spc="-47" dirty="0">
                <a:solidFill>
                  <a:srgbClr val="212121"/>
                </a:solidFill>
                <a:latin typeface="Times New Roman"/>
                <a:cs typeface="Times New Roman"/>
              </a:rPr>
              <a:t> </a:t>
            </a:r>
            <a:r>
              <a:rPr lang="en-US" dirty="0">
                <a:solidFill>
                  <a:srgbClr val="212121"/>
                </a:solidFill>
                <a:latin typeface="Times New Roman"/>
                <a:cs typeface="Times New Roman"/>
              </a:rPr>
              <a:t>a</a:t>
            </a:r>
            <a:r>
              <a:rPr lang="en-US" spc="-40" dirty="0">
                <a:solidFill>
                  <a:srgbClr val="212121"/>
                </a:solidFill>
                <a:latin typeface="Times New Roman"/>
                <a:cs typeface="Times New Roman"/>
              </a:rPr>
              <a:t> </a:t>
            </a:r>
            <a:r>
              <a:rPr lang="en-US" dirty="0">
                <a:solidFill>
                  <a:srgbClr val="212121"/>
                </a:solidFill>
                <a:latin typeface="Times New Roman"/>
                <a:cs typeface="Times New Roman"/>
              </a:rPr>
              <a:t>computer</a:t>
            </a:r>
            <a:r>
              <a:rPr lang="en-US" spc="13" dirty="0">
                <a:solidFill>
                  <a:srgbClr val="212121"/>
                </a:solidFill>
                <a:latin typeface="Times New Roman"/>
                <a:cs typeface="Times New Roman"/>
              </a:rPr>
              <a:t> </a:t>
            </a:r>
            <a:r>
              <a:rPr lang="en-US" spc="-13" dirty="0">
                <a:solidFill>
                  <a:srgbClr val="212121"/>
                </a:solidFill>
                <a:latin typeface="Times New Roman"/>
                <a:cs typeface="Times New Roman"/>
              </a:rPr>
              <a:t>system.</a:t>
            </a:r>
            <a:endParaRPr lang="en-US" dirty="0">
              <a:latin typeface="Times New Roman"/>
              <a:cs typeface="Times New Roman"/>
            </a:endParaRPr>
          </a:p>
          <a:p>
            <a:pPr marL="457189" indent="-440256" algn="just">
              <a:spcBef>
                <a:spcPts val="387"/>
              </a:spcBef>
              <a:buChar char="●"/>
              <a:tabLst>
                <a:tab pos="457189" algn="l"/>
              </a:tabLst>
            </a:pPr>
            <a:r>
              <a:rPr lang="en-US" dirty="0">
                <a:solidFill>
                  <a:srgbClr val="212121"/>
                </a:solidFill>
                <a:latin typeface="Times New Roman"/>
                <a:cs typeface="Times New Roman"/>
              </a:rPr>
              <a:t>An</a:t>
            </a:r>
            <a:r>
              <a:rPr lang="en-US" spc="-47" dirty="0">
                <a:solidFill>
                  <a:srgbClr val="212121"/>
                </a:solidFill>
                <a:latin typeface="Times New Roman"/>
                <a:cs typeface="Times New Roman"/>
              </a:rPr>
              <a:t> </a:t>
            </a:r>
            <a:r>
              <a:rPr lang="en-US" dirty="0">
                <a:solidFill>
                  <a:srgbClr val="212121"/>
                </a:solidFill>
                <a:latin typeface="Times New Roman"/>
                <a:cs typeface="Times New Roman"/>
              </a:rPr>
              <a:t>interactive</a:t>
            </a:r>
            <a:r>
              <a:rPr lang="en-US" spc="7" dirty="0">
                <a:solidFill>
                  <a:srgbClr val="212121"/>
                </a:solidFill>
                <a:latin typeface="Times New Roman"/>
                <a:cs typeface="Times New Roman"/>
              </a:rPr>
              <a:t> </a:t>
            </a:r>
            <a:r>
              <a:rPr lang="en-US" dirty="0">
                <a:solidFill>
                  <a:srgbClr val="212121"/>
                </a:solidFill>
                <a:latin typeface="Times New Roman"/>
                <a:cs typeface="Times New Roman"/>
              </a:rPr>
              <a:t>graphical</a:t>
            </a:r>
            <a:r>
              <a:rPr lang="en-US" spc="-27" dirty="0">
                <a:solidFill>
                  <a:srgbClr val="212121"/>
                </a:solidFill>
                <a:latin typeface="Times New Roman"/>
                <a:cs typeface="Times New Roman"/>
              </a:rPr>
              <a:t> </a:t>
            </a:r>
            <a:r>
              <a:rPr lang="en-US" dirty="0">
                <a:solidFill>
                  <a:srgbClr val="212121"/>
                </a:solidFill>
                <a:latin typeface="Times New Roman"/>
                <a:cs typeface="Times New Roman"/>
              </a:rPr>
              <a:t>user</a:t>
            </a:r>
            <a:r>
              <a:rPr lang="en-US" spc="-47" dirty="0">
                <a:solidFill>
                  <a:srgbClr val="212121"/>
                </a:solidFill>
                <a:latin typeface="Times New Roman"/>
                <a:cs typeface="Times New Roman"/>
              </a:rPr>
              <a:t> </a:t>
            </a:r>
            <a:r>
              <a:rPr lang="en-US" dirty="0">
                <a:solidFill>
                  <a:srgbClr val="212121"/>
                </a:solidFill>
                <a:latin typeface="Times New Roman"/>
                <a:cs typeface="Times New Roman"/>
              </a:rPr>
              <a:t>interface</a:t>
            </a:r>
            <a:r>
              <a:rPr lang="en-US" spc="-7" dirty="0">
                <a:solidFill>
                  <a:srgbClr val="212121"/>
                </a:solidFill>
                <a:latin typeface="Times New Roman"/>
                <a:cs typeface="Times New Roman"/>
              </a:rPr>
              <a:t> </a:t>
            </a:r>
            <a:r>
              <a:rPr lang="en-US" dirty="0">
                <a:solidFill>
                  <a:srgbClr val="212121"/>
                </a:solidFill>
                <a:latin typeface="Times New Roman"/>
                <a:cs typeface="Times New Roman"/>
              </a:rPr>
              <a:t>was</a:t>
            </a:r>
            <a:r>
              <a:rPr lang="en-US" spc="-33" dirty="0">
                <a:solidFill>
                  <a:srgbClr val="212121"/>
                </a:solidFill>
                <a:latin typeface="Times New Roman"/>
                <a:cs typeface="Times New Roman"/>
              </a:rPr>
              <a:t> </a:t>
            </a:r>
            <a:r>
              <a:rPr lang="en-US" dirty="0">
                <a:solidFill>
                  <a:srgbClr val="212121"/>
                </a:solidFill>
                <a:latin typeface="Times New Roman"/>
                <a:cs typeface="Times New Roman"/>
              </a:rPr>
              <a:t>then</a:t>
            </a:r>
            <a:r>
              <a:rPr lang="en-US" spc="-33" dirty="0">
                <a:solidFill>
                  <a:srgbClr val="212121"/>
                </a:solidFill>
                <a:latin typeface="Times New Roman"/>
                <a:cs typeface="Times New Roman"/>
              </a:rPr>
              <a:t> </a:t>
            </a:r>
            <a:r>
              <a:rPr lang="en-US" dirty="0">
                <a:solidFill>
                  <a:srgbClr val="212121"/>
                </a:solidFill>
                <a:latin typeface="Times New Roman"/>
                <a:cs typeface="Times New Roman"/>
              </a:rPr>
              <a:t>added</a:t>
            </a:r>
            <a:r>
              <a:rPr lang="en-US" spc="-47" dirty="0">
                <a:solidFill>
                  <a:srgbClr val="212121"/>
                </a:solidFill>
                <a:latin typeface="Times New Roman"/>
                <a:cs typeface="Times New Roman"/>
              </a:rPr>
              <a:t> </a:t>
            </a:r>
            <a:r>
              <a:rPr lang="en-US" dirty="0">
                <a:solidFill>
                  <a:srgbClr val="212121"/>
                </a:solidFill>
                <a:latin typeface="Times New Roman"/>
                <a:cs typeface="Times New Roman"/>
              </a:rPr>
              <a:t>to</a:t>
            </a:r>
            <a:r>
              <a:rPr lang="en-US" spc="-47" dirty="0">
                <a:solidFill>
                  <a:srgbClr val="212121"/>
                </a:solidFill>
                <a:latin typeface="Times New Roman"/>
                <a:cs typeface="Times New Roman"/>
              </a:rPr>
              <a:t> </a:t>
            </a:r>
            <a:r>
              <a:rPr lang="en-US" dirty="0" err="1">
                <a:solidFill>
                  <a:srgbClr val="212121"/>
                </a:solidFill>
                <a:latin typeface="Times New Roman"/>
                <a:cs typeface="Times New Roman"/>
              </a:rPr>
              <a:t>visualise</a:t>
            </a:r>
            <a:r>
              <a:rPr lang="en-US" spc="-20" dirty="0">
                <a:solidFill>
                  <a:srgbClr val="212121"/>
                </a:solidFill>
                <a:latin typeface="Times New Roman"/>
                <a:cs typeface="Times New Roman"/>
              </a:rPr>
              <a:t> </a:t>
            </a:r>
            <a:r>
              <a:rPr lang="en-US" dirty="0">
                <a:solidFill>
                  <a:srgbClr val="212121"/>
                </a:solidFill>
                <a:latin typeface="Times New Roman"/>
                <a:cs typeface="Times New Roman"/>
              </a:rPr>
              <a:t>the</a:t>
            </a:r>
            <a:r>
              <a:rPr lang="en-US" spc="-40" dirty="0">
                <a:solidFill>
                  <a:srgbClr val="212121"/>
                </a:solidFill>
                <a:latin typeface="Times New Roman"/>
                <a:cs typeface="Times New Roman"/>
              </a:rPr>
              <a:t> </a:t>
            </a:r>
            <a:r>
              <a:rPr lang="en-US" dirty="0">
                <a:solidFill>
                  <a:srgbClr val="212121"/>
                </a:solidFill>
                <a:latin typeface="Times New Roman"/>
                <a:cs typeface="Times New Roman"/>
              </a:rPr>
              <a:t>network</a:t>
            </a:r>
            <a:r>
              <a:rPr lang="en-US" spc="-27" dirty="0">
                <a:solidFill>
                  <a:srgbClr val="212121"/>
                </a:solidFill>
                <a:latin typeface="Times New Roman"/>
                <a:cs typeface="Times New Roman"/>
              </a:rPr>
              <a:t> </a:t>
            </a:r>
            <a:r>
              <a:rPr lang="en-US" dirty="0">
                <a:solidFill>
                  <a:srgbClr val="212121"/>
                </a:solidFill>
                <a:latin typeface="Times New Roman"/>
                <a:cs typeface="Times New Roman"/>
              </a:rPr>
              <a:t>being</a:t>
            </a:r>
            <a:r>
              <a:rPr lang="en-US" spc="-47" dirty="0">
                <a:solidFill>
                  <a:srgbClr val="212121"/>
                </a:solidFill>
                <a:latin typeface="Times New Roman"/>
                <a:cs typeface="Times New Roman"/>
              </a:rPr>
              <a:t> </a:t>
            </a:r>
            <a:r>
              <a:rPr lang="en-US" spc="-13" dirty="0">
                <a:solidFill>
                  <a:srgbClr val="212121"/>
                </a:solidFill>
                <a:latin typeface="Times New Roman"/>
                <a:cs typeface="Times New Roman"/>
              </a:rPr>
              <a:t>managed.</a:t>
            </a:r>
            <a:endParaRPr lang="en-US" dirty="0">
              <a:latin typeface="Times New Roman"/>
              <a:cs typeface="Times New Roman"/>
            </a:endParaRPr>
          </a:p>
          <a:p>
            <a:pPr marL="457189" marR="9313" indent="-441102" algn="just">
              <a:lnSpc>
                <a:spcPct val="114999"/>
              </a:lnSpc>
              <a:buChar char="●"/>
              <a:tabLst>
                <a:tab pos="457189" algn="l"/>
              </a:tabLst>
            </a:pPr>
            <a:r>
              <a:rPr lang="en-US" dirty="0">
                <a:solidFill>
                  <a:srgbClr val="212121"/>
                </a:solidFill>
                <a:latin typeface="Times New Roman"/>
                <a:cs typeface="Times New Roman"/>
              </a:rPr>
              <a:t>As</a:t>
            </a:r>
            <a:r>
              <a:rPr lang="en-US" spc="-27" dirty="0">
                <a:solidFill>
                  <a:srgbClr val="212121"/>
                </a:solidFill>
                <a:latin typeface="Times New Roman"/>
                <a:cs typeface="Times New Roman"/>
              </a:rPr>
              <a:t> </a:t>
            </a:r>
            <a:r>
              <a:rPr lang="en-US" dirty="0">
                <a:solidFill>
                  <a:srgbClr val="212121"/>
                </a:solidFill>
                <a:latin typeface="Times New Roman"/>
                <a:cs typeface="Times New Roman"/>
              </a:rPr>
              <a:t>more</a:t>
            </a:r>
            <a:r>
              <a:rPr lang="en-US" spc="-40" dirty="0">
                <a:solidFill>
                  <a:srgbClr val="212121"/>
                </a:solidFill>
                <a:latin typeface="Times New Roman"/>
                <a:cs typeface="Times New Roman"/>
              </a:rPr>
              <a:t> </a:t>
            </a:r>
            <a:r>
              <a:rPr lang="en-US" dirty="0">
                <a:solidFill>
                  <a:srgbClr val="212121"/>
                </a:solidFill>
                <a:latin typeface="Times New Roman"/>
                <a:cs typeface="Times New Roman"/>
              </a:rPr>
              <a:t>and</a:t>
            </a:r>
            <a:r>
              <a:rPr lang="en-US" spc="-13" dirty="0">
                <a:solidFill>
                  <a:srgbClr val="212121"/>
                </a:solidFill>
                <a:latin typeface="Times New Roman"/>
                <a:cs typeface="Times New Roman"/>
              </a:rPr>
              <a:t> </a:t>
            </a:r>
            <a:r>
              <a:rPr lang="en-US" dirty="0">
                <a:solidFill>
                  <a:srgbClr val="212121"/>
                </a:solidFill>
                <a:latin typeface="Times New Roman"/>
                <a:cs typeface="Times New Roman"/>
              </a:rPr>
              <a:t>more</a:t>
            </a:r>
            <a:r>
              <a:rPr lang="en-US" spc="-40" dirty="0">
                <a:solidFill>
                  <a:srgbClr val="212121"/>
                </a:solidFill>
                <a:latin typeface="Times New Roman"/>
                <a:cs typeface="Times New Roman"/>
              </a:rPr>
              <a:t> </a:t>
            </a:r>
            <a:r>
              <a:rPr lang="en-US" dirty="0">
                <a:solidFill>
                  <a:srgbClr val="212121"/>
                </a:solidFill>
                <a:latin typeface="Times New Roman"/>
                <a:cs typeface="Times New Roman"/>
              </a:rPr>
              <a:t>Applications</a:t>
            </a:r>
            <a:r>
              <a:rPr lang="en-US" spc="-53" dirty="0">
                <a:solidFill>
                  <a:srgbClr val="212121"/>
                </a:solidFill>
                <a:latin typeface="Times New Roman"/>
                <a:cs typeface="Times New Roman"/>
              </a:rPr>
              <a:t> </a:t>
            </a:r>
            <a:r>
              <a:rPr lang="en-US" dirty="0">
                <a:solidFill>
                  <a:srgbClr val="212121"/>
                </a:solidFill>
                <a:latin typeface="Times New Roman"/>
                <a:cs typeface="Times New Roman"/>
              </a:rPr>
              <a:t>were</a:t>
            </a:r>
            <a:r>
              <a:rPr lang="en-US" spc="-33" dirty="0">
                <a:solidFill>
                  <a:srgbClr val="212121"/>
                </a:solidFill>
                <a:latin typeface="Times New Roman"/>
                <a:cs typeface="Times New Roman"/>
              </a:rPr>
              <a:t> </a:t>
            </a:r>
            <a:r>
              <a:rPr lang="en-US" dirty="0">
                <a:solidFill>
                  <a:srgbClr val="212121"/>
                </a:solidFill>
                <a:latin typeface="Times New Roman"/>
                <a:cs typeface="Times New Roman"/>
              </a:rPr>
              <a:t>added,</a:t>
            </a:r>
            <a:r>
              <a:rPr lang="en-US" spc="-20" dirty="0">
                <a:solidFill>
                  <a:srgbClr val="212121"/>
                </a:solidFill>
                <a:latin typeface="Times New Roman"/>
                <a:cs typeface="Times New Roman"/>
              </a:rPr>
              <a:t> </a:t>
            </a:r>
            <a:r>
              <a:rPr lang="en-US" dirty="0">
                <a:solidFill>
                  <a:srgbClr val="212121"/>
                </a:solidFill>
                <a:latin typeface="Times New Roman"/>
                <a:cs typeface="Times New Roman"/>
              </a:rPr>
              <a:t>managing</a:t>
            </a:r>
            <a:r>
              <a:rPr lang="en-US" spc="-33" dirty="0">
                <a:solidFill>
                  <a:srgbClr val="212121"/>
                </a:solidFill>
                <a:latin typeface="Times New Roman"/>
                <a:cs typeface="Times New Roman"/>
              </a:rPr>
              <a:t> </a:t>
            </a:r>
            <a:r>
              <a:rPr lang="en-US" dirty="0">
                <a:solidFill>
                  <a:srgbClr val="212121"/>
                </a:solidFill>
                <a:latin typeface="Times New Roman"/>
                <a:cs typeface="Times New Roman"/>
              </a:rPr>
              <a:t>the</a:t>
            </a:r>
            <a:r>
              <a:rPr lang="en-US" spc="-53" dirty="0">
                <a:solidFill>
                  <a:srgbClr val="212121"/>
                </a:solidFill>
                <a:latin typeface="Times New Roman"/>
                <a:cs typeface="Times New Roman"/>
              </a:rPr>
              <a:t> </a:t>
            </a:r>
            <a:r>
              <a:rPr lang="en-US" dirty="0">
                <a:solidFill>
                  <a:srgbClr val="212121"/>
                </a:solidFill>
                <a:latin typeface="Times New Roman"/>
                <a:cs typeface="Times New Roman"/>
              </a:rPr>
              <a:t>information</a:t>
            </a:r>
            <a:r>
              <a:rPr lang="en-US" spc="-47" dirty="0">
                <a:solidFill>
                  <a:srgbClr val="212121"/>
                </a:solidFill>
                <a:latin typeface="Times New Roman"/>
                <a:cs typeface="Times New Roman"/>
              </a:rPr>
              <a:t> </a:t>
            </a:r>
            <a:r>
              <a:rPr lang="en-US" dirty="0">
                <a:solidFill>
                  <a:srgbClr val="212121"/>
                </a:solidFill>
                <a:latin typeface="Times New Roman"/>
                <a:cs typeface="Times New Roman"/>
              </a:rPr>
              <a:t>exchange</a:t>
            </a:r>
            <a:r>
              <a:rPr lang="en-US" spc="-60" dirty="0">
                <a:solidFill>
                  <a:srgbClr val="212121"/>
                </a:solidFill>
                <a:latin typeface="Times New Roman"/>
                <a:cs typeface="Times New Roman"/>
              </a:rPr>
              <a:t> </a:t>
            </a:r>
            <a:r>
              <a:rPr lang="en-US" dirty="0">
                <a:solidFill>
                  <a:srgbClr val="212121"/>
                </a:solidFill>
                <a:latin typeface="Times New Roman"/>
                <a:cs typeface="Times New Roman"/>
              </a:rPr>
              <a:t>and</a:t>
            </a:r>
            <a:r>
              <a:rPr lang="en-US" spc="-13" dirty="0">
                <a:solidFill>
                  <a:srgbClr val="212121"/>
                </a:solidFill>
                <a:latin typeface="Times New Roman"/>
                <a:cs typeface="Times New Roman"/>
              </a:rPr>
              <a:t> maintaining </a:t>
            </a:r>
            <a:r>
              <a:rPr lang="en-US" dirty="0">
                <a:solidFill>
                  <a:srgbClr val="212121"/>
                </a:solidFill>
                <a:latin typeface="Times New Roman"/>
                <a:cs typeface="Times New Roman"/>
              </a:rPr>
              <a:t>the</a:t>
            </a:r>
            <a:r>
              <a:rPr lang="en-US" spc="-40" dirty="0">
                <a:solidFill>
                  <a:srgbClr val="212121"/>
                </a:solidFill>
                <a:latin typeface="Times New Roman"/>
                <a:cs typeface="Times New Roman"/>
              </a:rPr>
              <a:t> </a:t>
            </a:r>
            <a:r>
              <a:rPr lang="en-US" dirty="0">
                <a:solidFill>
                  <a:srgbClr val="212121"/>
                </a:solidFill>
                <a:latin typeface="Times New Roman"/>
                <a:cs typeface="Times New Roman"/>
              </a:rPr>
              <a:t>DMS</a:t>
            </a:r>
            <a:r>
              <a:rPr lang="en-US" spc="-33" dirty="0">
                <a:solidFill>
                  <a:srgbClr val="212121"/>
                </a:solidFill>
                <a:latin typeface="Times New Roman"/>
                <a:cs typeface="Times New Roman"/>
              </a:rPr>
              <a:t> </a:t>
            </a:r>
            <a:r>
              <a:rPr lang="en-US" dirty="0">
                <a:solidFill>
                  <a:srgbClr val="212121"/>
                </a:solidFill>
                <a:latin typeface="Times New Roman"/>
                <a:cs typeface="Times New Roman"/>
              </a:rPr>
              <a:t>became</a:t>
            </a:r>
            <a:r>
              <a:rPr lang="en-US" spc="7" dirty="0">
                <a:solidFill>
                  <a:srgbClr val="212121"/>
                </a:solidFill>
                <a:latin typeface="Times New Roman"/>
                <a:cs typeface="Times New Roman"/>
              </a:rPr>
              <a:t> </a:t>
            </a:r>
            <a:r>
              <a:rPr lang="en-US" dirty="0">
                <a:solidFill>
                  <a:srgbClr val="212121"/>
                </a:solidFill>
                <a:latin typeface="Times New Roman"/>
                <a:cs typeface="Times New Roman"/>
              </a:rPr>
              <a:t>a</a:t>
            </a:r>
            <a:r>
              <a:rPr lang="en-US" spc="-33" dirty="0">
                <a:solidFill>
                  <a:srgbClr val="212121"/>
                </a:solidFill>
                <a:latin typeface="Times New Roman"/>
                <a:cs typeface="Times New Roman"/>
              </a:rPr>
              <a:t> </a:t>
            </a:r>
            <a:r>
              <a:rPr lang="en-US" spc="-13" dirty="0">
                <a:solidFill>
                  <a:srgbClr val="212121"/>
                </a:solidFill>
                <a:latin typeface="Times New Roman"/>
                <a:cs typeface="Times New Roman"/>
              </a:rPr>
              <a:t>challenge</a:t>
            </a:r>
            <a:endParaRPr lang="en-US" dirty="0">
              <a:latin typeface="Times New Roman"/>
              <a:cs typeface="Times New Roman"/>
            </a:endParaRPr>
          </a:p>
          <a:p>
            <a:pPr marL="457189" marR="11006" indent="-441102" algn="just">
              <a:lnSpc>
                <a:spcPct val="114999"/>
              </a:lnSpc>
              <a:buChar char="●"/>
              <a:tabLst>
                <a:tab pos="457189" algn="l"/>
              </a:tabLst>
            </a:pPr>
            <a:r>
              <a:rPr lang="en-US" dirty="0">
                <a:solidFill>
                  <a:srgbClr val="212121"/>
                </a:solidFill>
                <a:latin typeface="Times New Roman"/>
                <a:cs typeface="Times New Roman"/>
              </a:rPr>
              <a:t>Standardized</a:t>
            </a:r>
            <a:r>
              <a:rPr lang="en-US" spc="433" dirty="0">
                <a:solidFill>
                  <a:srgbClr val="212121"/>
                </a:solidFill>
                <a:latin typeface="Times New Roman"/>
                <a:cs typeface="Times New Roman"/>
              </a:rPr>
              <a:t> </a:t>
            </a:r>
            <a:r>
              <a:rPr lang="en-US" dirty="0">
                <a:solidFill>
                  <a:srgbClr val="212121"/>
                </a:solidFill>
                <a:latin typeface="Times New Roman"/>
                <a:cs typeface="Times New Roman"/>
              </a:rPr>
              <a:t>models</a:t>
            </a:r>
            <a:r>
              <a:rPr lang="en-US" spc="427" dirty="0">
                <a:solidFill>
                  <a:srgbClr val="212121"/>
                </a:solidFill>
                <a:latin typeface="Times New Roman"/>
                <a:cs typeface="Times New Roman"/>
              </a:rPr>
              <a:t> </a:t>
            </a:r>
            <a:r>
              <a:rPr lang="en-US" dirty="0">
                <a:solidFill>
                  <a:srgbClr val="212121"/>
                </a:solidFill>
                <a:latin typeface="Times New Roman"/>
                <a:cs typeface="Times New Roman"/>
              </a:rPr>
              <a:t>such</a:t>
            </a:r>
            <a:r>
              <a:rPr lang="en-US" spc="407" dirty="0">
                <a:solidFill>
                  <a:srgbClr val="212121"/>
                </a:solidFill>
                <a:latin typeface="Times New Roman"/>
                <a:cs typeface="Times New Roman"/>
              </a:rPr>
              <a:t> </a:t>
            </a:r>
            <a:r>
              <a:rPr lang="en-US" dirty="0">
                <a:solidFill>
                  <a:srgbClr val="212121"/>
                </a:solidFill>
                <a:latin typeface="Times New Roman"/>
                <a:cs typeface="Times New Roman"/>
              </a:rPr>
              <a:t>as</a:t>
            </a:r>
            <a:r>
              <a:rPr lang="en-US" spc="420" dirty="0">
                <a:solidFill>
                  <a:srgbClr val="212121"/>
                </a:solidFill>
                <a:latin typeface="Times New Roman"/>
                <a:cs typeface="Times New Roman"/>
              </a:rPr>
              <a:t> </a:t>
            </a:r>
            <a:r>
              <a:rPr lang="en-US" dirty="0">
                <a:solidFill>
                  <a:srgbClr val="212121"/>
                </a:solidFill>
                <a:latin typeface="Times New Roman"/>
                <a:cs typeface="Times New Roman"/>
              </a:rPr>
              <a:t>the</a:t>
            </a:r>
            <a:r>
              <a:rPr lang="en-US" spc="420" dirty="0">
                <a:solidFill>
                  <a:srgbClr val="212121"/>
                </a:solidFill>
                <a:latin typeface="Times New Roman"/>
                <a:cs typeface="Times New Roman"/>
              </a:rPr>
              <a:t> </a:t>
            </a:r>
            <a:r>
              <a:rPr lang="en-US" dirty="0">
                <a:solidFill>
                  <a:srgbClr val="212121"/>
                </a:solidFill>
                <a:latin typeface="Times New Roman"/>
                <a:cs typeface="Times New Roman"/>
              </a:rPr>
              <a:t>Common</a:t>
            </a:r>
            <a:r>
              <a:rPr lang="en-US" spc="440" dirty="0">
                <a:solidFill>
                  <a:srgbClr val="212121"/>
                </a:solidFill>
                <a:latin typeface="Times New Roman"/>
                <a:cs typeface="Times New Roman"/>
              </a:rPr>
              <a:t> </a:t>
            </a:r>
            <a:r>
              <a:rPr lang="en-US" dirty="0">
                <a:solidFill>
                  <a:srgbClr val="212121"/>
                </a:solidFill>
                <a:latin typeface="Times New Roman"/>
                <a:cs typeface="Times New Roman"/>
              </a:rPr>
              <a:t>Information</a:t>
            </a:r>
            <a:r>
              <a:rPr lang="en-US" spc="407" dirty="0">
                <a:solidFill>
                  <a:srgbClr val="212121"/>
                </a:solidFill>
                <a:latin typeface="Times New Roman"/>
                <a:cs typeface="Times New Roman"/>
              </a:rPr>
              <a:t> </a:t>
            </a:r>
            <a:r>
              <a:rPr lang="en-US" dirty="0">
                <a:solidFill>
                  <a:srgbClr val="212121"/>
                </a:solidFill>
                <a:latin typeface="Times New Roman"/>
                <a:cs typeface="Times New Roman"/>
              </a:rPr>
              <a:t>Model</a:t>
            </a:r>
            <a:r>
              <a:rPr lang="en-US" spc="420" dirty="0">
                <a:solidFill>
                  <a:srgbClr val="212121"/>
                </a:solidFill>
                <a:latin typeface="Times New Roman"/>
                <a:cs typeface="Times New Roman"/>
              </a:rPr>
              <a:t> </a:t>
            </a:r>
            <a:r>
              <a:rPr lang="en-US" dirty="0">
                <a:solidFill>
                  <a:srgbClr val="212121"/>
                </a:solidFill>
                <a:latin typeface="Times New Roman"/>
                <a:cs typeface="Times New Roman"/>
              </a:rPr>
              <a:t>(CIM)</a:t>
            </a:r>
            <a:r>
              <a:rPr lang="en-US" spc="413" dirty="0">
                <a:solidFill>
                  <a:srgbClr val="212121"/>
                </a:solidFill>
                <a:latin typeface="Times New Roman"/>
                <a:cs typeface="Times New Roman"/>
              </a:rPr>
              <a:t> </a:t>
            </a:r>
            <a:r>
              <a:rPr lang="en-US" dirty="0">
                <a:solidFill>
                  <a:srgbClr val="212121"/>
                </a:solidFill>
                <a:latin typeface="Times New Roman"/>
                <a:cs typeface="Times New Roman"/>
              </a:rPr>
              <a:t>were</a:t>
            </a:r>
            <a:r>
              <a:rPr lang="en-US" spc="427" dirty="0">
                <a:solidFill>
                  <a:srgbClr val="212121"/>
                </a:solidFill>
                <a:latin typeface="Times New Roman"/>
                <a:cs typeface="Times New Roman"/>
              </a:rPr>
              <a:t> </a:t>
            </a:r>
            <a:r>
              <a:rPr lang="en-US" dirty="0">
                <a:solidFill>
                  <a:srgbClr val="212121"/>
                </a:solidFill>
                <a:latin typeface="Times New Roman"/>
                <a:cs typeface="Times New Roman"/>
              </a:rPr>
              <a:t>developed</a:t>
            </a:r>
            <a:r>
              <a:rPr lang="en-US" spc="427" dirty="0">
                <a:solidFill>
                  <a:srgbClr val="212121"/>
                </a:solidFill>
                <a:latin typeface="Times New Roman"/>
                <a:cs typeface="Times New Roman"/>
              </a:rPr>
              <a:t> </a:t>
            </a:r>
            <a:r>
              <a:rPr lang="en-US" dirty="0">
                <a:solidFill>
                  <a:srgbClr val="212121"/>
                </a:solidFill>
                <a:latin typeface="Times New Roman"/>
                <a:cs typeface="Times New Roman"/>
              </a:rPr>
              <a:t>to</a:t>
            </a:r>
            <a:r>
              <a:rPr lang="en-US" spc="413" dirty="0">
                <a:solidFill>
                  <a:srgbClr val="212121"/>
                </a:solidFill>
                <a:latin typeface="Times New Roman"/>
                <a:cs typeface="Times New Roman"/>
              </a:rPr>
              <a:t> </a:t>
            </a:r>
            <a:r>
              <a:rPr lang="en-US" spc="-33" dirty="0">
                <a:solidFill>
                  <a:srgbClr val="212121"/>
                </a:solidFill>
                <a:latin typeface="Times New Roman"/>
                <a:cs typeface="Times New Roman"/>
              </a:rPr>
              <a:t>aid </a:t>
            </a:r>
            <a:r>
              <a:rPr lang="en-US" dirty="0">
                <a:solidFill>
                  <a:srgbClr val="212121"/>
                </a:solidFill>
                <a:latin typeface="Times New Roman"/>
                <a:cs typeface="Times New Roman"/>
              </a:rPr>
              <a:t>information</a:t>
            </a:r>
            <a:r>
              <a:rPr lang="en-US" spc="-60" dirty="0">
                <a:solidFill>
                  <a:srgbClr val="212121"/>
                </a:solidFill>
                <a:latin typeface="Times New Roman"/>
                <a:cs typeface="Times New Roman"/>
              </a:rPr>
              <a:t> </a:t>
            </a:r>
            <a:r>
              <a:rPr lang="en-US" spc="-13" dirty="0">
                <a:solidFill>
                  <a:srgbClr val="212121"/>
                </a:solidFill>
                <a:latin typeface="Times New Roman"/>
                <a:cs typeface="Times New Roman"/>
              </a:rPr>
              <a:t>management</a:t>
            </a:r>
            <a:endParaRPr lang="en-US"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F630-6B6D-3AE7-074C-FC0929BA398C}"/>
              </a:ext>
            </a:extLst>
          </p:cNvPr>
          <p:cNvSpPr>
            <a:spLocks noGrp="1"/>
          </p:cNvSpPr>
          <p:nvPr>
            <p:ph type="title"/>
          </p:nvPr>
        </p:nvSpPr>
        <p:spPr/>
        <p:txBody>
          <a:bodyPr/>
          <a:lstStyle/>
          <a:p>
            <a:r>
              <a:rPr lang="en-IN" dirty="0"/>
              <a:t>WHY DMS</a:t>
            </a:r>
          </a:p>
        </p:txBody>
      </p:sp>
      <p:sp>
        <p:nvSpPr>
          <p:cNvPr id="3" name="Content Placeholder 2">
            <a:extLst>
              <a:ext uri="{FF2B5EF4-FFF2-40B4-BE49-F238E27FC236}">
                <a16:creationId xmlns:a16="http://schemas.microsoft.com/office/drawing/2014/main" id="{5D78719D-F01B-D6CE-3F2A-3585896CB4DC}"/>
              </a:ext>
            </a:extLst>
          </p:cNvPr>
          <p:cNvSpPr>
            <a:spLocks noGrp="1"/>
          </p:cNvSpPr>
          <p:nvPr>
            <p:ph idx="1"/>
          </p:nvPr>
        </p:nvSpPr>
        <p:spPr>
          <a:xfrm>
            <a:off x="1143000" y="1280160"/>
            <a:ext cx="9872871" cy="5297922"/>
          </a:xfrm>
        </p:spPr>
        <p:txBody>
          <a:bodyPr>
            <a:normAutofit/>
          </a:body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Reduce the duration of outages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Improve the speed and accuracy of outage predictions.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Reduce crew patrol and drive times through improved outage locating.</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Improve the operational efficiency</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Determine the crew resources necessary to achieve restoration objectives.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Effectively utilize resources between operating regions.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Determine when best to schedule mutual aid crews.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Increased customer satisfaction</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A DMS incorporates IVR and other mobile technologies, through which there is an improved outage communications for customer calls.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Provide customers with more accurate estimated restoration times.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mj-lt"/>
              <a:buAutoNum type="arabicPeriod"/>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Improve service reliability by tracking all customers affected by an outage, determining electrical configurations of every device on every feeder, and compiling details about each restoration process.</a:t>
            </a:r>
          </a:p>
          <a:p>
            <a:pPr marL="514350" indent="-514350">
              <a:buFont typeface="+mj-lt"/>
              <a:buAutoNum type="arabicPeriod"/>
            </a:pPr>
            <a:endParaRPr lang="en-IN" dirty="0"/>
          </a:p>
        </p:txBody>
      </p:sp>
    </p:spTree>
    <p:extLst>
      <p:ext uri="{BB962C8B-B14F-4D97-AF65-F5344CB8AC3E}">
        <p14:creationId xmlns:p14="http://schemas.microsoft.com/office/powerpoint/2010/main" val="3807578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86563"/>
            <a:ext cx="11644603" cy="6510511"/>
          </a:xfrm>
          <a:prstGeom prst="rect">
            <a:avLst/>
          </a:prstGeom>
        </p:spPr>
      </p:pic>
      <p:sp>
        <p:nvSpPr>
          <p:cNvPr id="3" name="object 3"/>
          <p:cNvSpPr txBox="1"/>
          <p:nvPr/>
        </p:nvSpPr>
        <p:spPr>
          <a:xfrm>
            <a:off x="9083866" y="4237038"/>
            <a:ext cx="2393527" cy="591743"/>
          </a:xfrm>
          <a:prstGeom prst="rect">
            <a:avLst/>
          </a:prstGeom>
        </p:spPr>
        <p:txBody>
          <a:bodyPr vert="horz" wrap="square" lIns="0" tIns="16933" rIns="0" bIns="0" rtlCol="0">
            <a:spAutoFit/>
          </a:bodyPr>
          <a:lstStyle/>
          <a:p>
            <a:pPr marL="16933" marR="6773">
              <a:spcBef>
                <a:spcPts val="133"/>
              </a:spcBef>
              <a:tabLst>
                <a:tab pos="1223403" algn="l"/>
                <a:tab pos="1863467" algn="l"/>
              </a:tabLst>
            </a:pPr>
            <a:r>
              <a:rPr sz="1867" spc="-13" dirty="0">
                <a:latin typeface="Arial MT"/>
                <a:cs typeface="Arial MT"/>
              </a:rPr>
              <a:t>Structure</a:t>
            </a:r>
            <a:r>
              <a:rPr sz="1867" dirty="0">
                <a:latin typeface="Arial MT"/>
                <a:cs typeface="Arial MT"/>
              </a:rPr>
              <a:t>	</a:t>
            </a:r>
            <a:r>
              <a:rPr sz="1867" spc="-33" dirty="0">
                <a:latin typeface="Arial MT"/>
                <a:cs typeface="Arial MT"/>
              </a:rPr>
              <a:t>and</a:t>
            </a:r>
            <a:r>
              <a:rPr sz="1867" dirty="0">
                <a:latin typeface="Arial MT"/>
                <a:cs typeface="Arial MT"/>
              </a:rPr>
              <a:t>	</a:t>
            </a:r>
            <a:r>
              <a:rPr sz="1867" spc="-27" dirty="0">
                <a:latin typeface="Arial MT"/>
                <a:cs typeface="Arial MT"/>
              </a:rPr>
              <a:t>main </a:t>
            </a:r>
            <a:r>
              <a:rPr sz="1867" dirty="0">
                <a:latin typeface="Arial MT"/>
                <a:cs typeface="Arial MT"/>
              </a:rPr>
              <a:t>components</a:t>
            </a:r>
            <a:r>
              <a:rPr sz="1867" spc="-73" dirty="0">
                <a:latin typeface="Arial MT"/>
                <a:cs typeface="Arial MT"/>
              </a:rPr>
              <a:t> </a:t>
            </a:r>
            <a:r>
              <a:rPr sz="1867" dirty="0">
                <a:latin typeface="Arial MT"/>
                <a:cs typeface="Arial MT"/>
              </a:rPr>
              <a:t>of</a:t>
            </a:r>
            <a:r>
              <a:rPr sz="1867" spc="-40" dirty="0">
                <a:latin typeface="Arial MT"/>
                <a:cs typeface="Arial MT"/>
              </a:rPr>
              <a:t> </a:t>
            </a:r>
            <a:r>
              <a:rPr sz="1867" dirty="0">
                <a:latin typeface="Arial MT"/>
                <a:cs typeface="Arial MT"/>
              </a:rPr>
              <a:t>a</a:t>
            </a:r>
            <a:r>
              <a:rPr sz="1867" spc="-33" dirty="0">
                <a:latin typeface="Arial MT"/>
                <a:cs typeface="Arial MT"/>
              </a:rPr>
              <a:t> DMS</a:t>
            </a:r>
            <a:endParaRPr sz="1867" dirty="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14EB6-CBEE-CC12-563F-7E0E1AB1EE6B}"/>
              </a:ext>
            </a:extLst>
          </p:cNvPr>
          <p:cNvSpPr>
            <a:spLocks noGrp="1"/>
          </p:cNvSpPr>
          <p:nvPr>
            <p:ph type="title"/>
          </p:nvPr>
        </p:nvSpPr>
        <p:spPr/>
        <p:txBody>
          <a:bodyPr/>
          <a:lstStyle/>
          <a:p>
            <a:r>
              <a:rPr lang="en-IN" dirty="0"/>
              <a:t>Distribution management system</a:t>
            </a:r>
          </a:p>
        </p:txBody>
      </p:sp>
      <p:sp>
        <p:nvSpPr>
          <p:cNvPr id="3" name="Content Placeholder 2">
            <a:extLst>
              <a:ext uri="{FF2B5EF4-FFF2-40B4-BE49-F238E27FC236}">
                <a16:creationId xmlns:a16="http://schemas.microsoft.com/office/drawing/2014/main" id="{30CC872A-8B46-0A75-4483-D87DC37F1E86}"/>
              </a:ext>
            </a:extLst>
          </p:cNvPr>
          <p:cNvSpPr>
            <a:spLocks noGrp="1"/>
          </p:cNvSpPr>
          <p:nvPr>
            <p:ph idx="1"/>
          </p:nvPr>
        </p:nvSpPr>
        <p:spPr>
          <a:xfrm>
            <a:off x="838200" y="1614196"/>
            <a:ext cx="10515600" cy="4878679"/>
          </a:xfrm>
        </p:spPr>
        <p:txBody>
          <a:bodyPr>
            <a:normAutofit/>
          </a:bodyPr>
          <a:lstStyle/>
          <a:p>
            <a:r>
              <a:rPr lang="en-US" sz="2400" b="1" dirty="0"/>
              <a:t>Key Layers and Components:</a:t>
            </a:r>
            <a:endParaRPr lang="en-US" sz="2400" dirty="0"/>
          </a:p>
          <a:p>
            <a:r>
              <a:rPr lang="en-US" sz="2400" b="1" dirty="0"/>
              <a:t>Graphical User Interface (GUI):</a:t>
            </a:r>
            <a:r>
              <a:rPr lang="en-US" sz="2400" dirty="0"/>
              <a:t> At the top layer, there's a GUI, which is how operators interact with the underlying system.</a:t>
            </a:r>
          </a:p>
          <a:p>
            <a:r>
              <a:rPr lang="en-US" sz="2400" b="1" dirty="0"/>
              <a:t>Applications Layer:</a:t>
            </a:r>
            <a:r>
              <a:rPr lang="en-US" sz="2400" dirty="0"/>
              <a:t> This is the core of the system, divided into several specialized functional groups:</a:t>
            </a:r>
          </a:p>
          <a:p>
            <a:pPr lvl="1"/>
            <a:r>
              <a:rPr lang="en-US" sz="2000" b="1" dirty="0"/>
              <a:t>System monitoring:</a:t>
            </a:r>
            <a:r>
              <a:rPr lang="en-US" sz="2000" dirty="0"/>
              <a:t> Includes modules for network topology, network state, and Distributed Energy Resources (DER) state monitoring.</a:t>
            </a:r>
          </a:p>
          <a:p>
            <a:pPr lvl="1"/>
            <a:r>
              <a:rPr lang="en-US" sz="2000" b="1" dirty="0"/>
              <a:t>System management:</a:t>
            </a:r>
            <a:r>
              <a:rPr lang="en-US" sz="2000" dirty="0"/>
              <a:t> Comprises AM/FM/GIS (automated mapping, facilities management, geographical information system) and field crew management.</a:t>
            </a:r>
          </a:p>
          <a:p>
            <a:pPr lvl="1"/>
            <a:r>
              <a:rPr lang="en-US" sz="2000" b="1" dirty="0"/>
              <a:t>System operation:</a:t>
            </a:r>
            <a:r>
              <a:rPr lang="en-US" sz="2000" dirty="0"/>
              <a:t> Involves network reconfiguration, Volt/VAR management, relay protection re-coordination, and operation of DER.</a:t>
            </a:r>
          </a:p>
          <a:p>
            <a:pPr lvl="1"/>
            <a:r>
              <a:rPr lang="en-US" sz="2000" b="1" dirty="0"/>
              <a:t>Outage management:</a:t>
            </a:r>
            <a:r>
              <a:rPr lang="en-US" sz="2000" dirty="0"/>
              <a:t> Crucial for fault identification, diagnosis, location, supply restoration, and event analysis.</a:t>
            </a:r>
          </a:p>
          <a:p>
            <a:pPr lvl="1"/>
            <a:r>
              <a:rPr lang="en-US" sz="2000" b="1" dirty="0"/>
              <a:t>Operator training simulator:</a:t>
            </a:r>
            <a:r>
              <a:rPr lang="en-US" sz="2000" dirty="0"/>
              <a:t> A dedicated tool for training system operators.</a:t>
            </a:r>
            <a:endParaRPr lang="en-IN" sz="2000" dirty="0"/>
          </a:p>
        </p:txBody>
      </p:sp>
    </p:spTree>
    <p:extLst>
      <p:ext uri="{BB962C8B-B14F-4D97-AF65-F5344CB8AC3E}">
        <p14:creationId xmlns:p14="http://schemas.microsoft.com/office/powerpoint/2010/main" val="692121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7EC6D-AC99-41FD-AE17-8B12239B36A3}"/>
              </a:ext>
            </a:extLst>
          </p:cNvPr>
          <p:cNvSpPr>
            <a:spLocks noGrp="1"/>
          </p:cNvSpPr>
          <p:nvPr>
            <p:ph type="title"/>
          </p:nvPr>
        </p:nvSpPr>
        <p:spPr/>
        <p:txBody>
          <a:bodyPr/>
          <a:lstStyle/>
          <a:p>
            <a:r>
              <a:rPr lang="en-IN" dirty="0"/>
              <a:t>Distribution management system</a:t>
            </a:r>
          </a:p>
        </p:txBody>
      </p:sp>
      <p:sp>
        <p:nvSpPr>
          <p:cNvPr id="4" name="Rectangle 1">
            <a:extLst>
              <a:ext uri="{FF2B5EF4-FFF2-40B4-BE49-F238E27FC236}">
                <a16:creationId xmlns:a16="http://schemas.microsoft.com/office/drawing/2014/main" id="{B81FBE80-D2E1-A1C1-FFBA-303BA908FCC8}"/>
              </a:ext>
            </a:extLst>
          </p:cNvPr>
          <p:cNvSpPr>
            <a:spLocks noGrp="1" noChangeArrowheads="1"/>
          </p:cNvSpPr>
          <p:nvPr>
            <p:ph idx="1"/>
          </p:nvPr>
        </p:nvSpPr>
        <p:spPr bwMode="auto">
          <a:xfrm>
            <a:off x="960459" y="1730156"/>
            <a:ext cx="1039334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rPr>
              <a:t>Modelling and Analysis Tools:</a:t>
            </a:r>
            <a:r>
              <a:rPr kumimoji="0" lang="en-US" altLang="en-US" sz="2400" b="0" i="0" u="none" strike="noStrike" cap="none" normalizeH="0" baseline="0" dirty="0">
                <a:ln>
                  <a:noFill/>
                </a:ln>
                <a:solidFill>
                  <a:schemeClr val="tx1"/>
                </a:solidFill>
                <a:effectLst/>
              </a:rPr>
              <a:t> This layer provides the computational intelligence for the system. It includes tools for:</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Distribution system modelling</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Topology analysis</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Load forecasting</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Power flow and fault calculations</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State estimation</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Contingency analysis</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Route optimization for field crews</a:t>
            </a:r>
          </a:p>
          <a:p>
            <a:pPr lvl="1"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rPr>
              <a:t>Reliability calculations</a:t>
            </a: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rPr>
              <a:t>Data Sources and External Systems:</a:t>
            </a:r>
            <a:r>
              <a:rPr kumimoji="0" lang="en-US" altLang="en-US" sz="2400" b="0" i="0" u="none" strike="noStrike" cap="none" normalizeH="0" baseline="0" dirty="0">
                <a:ln>
                  <a:noFill/>
                </a:ln>
                <a:solidFill>
                  <a:schemeClr val="tx1"/>
                </a:solidFill>
                <a:effectLst/>
              </a:rPr>
              <a:t> The foundational layer that feeds data into the system, such as SCADA (Supervisory Control and Data Acquisition) systems.</a:t>
            </a:r>
          </a:p>
        </p:txBody>
      </p:sp>
    </p:spTree>
    <p:extLst>
      <p:ext uri="{BB962C8B-B14F-4D97-AF65-F5344CB8AC3E}">
        <p14:creationId xmlns:p14="http://schemas.microsoft.com/office/powerpoint/2010/main" val="2145197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262" y="623125"/>
            <a:ext cx="11152293" cy="4723708"/>
          </a:xfrm>
          <a:prstGeom prst="rect">
            <a:avLst/>
          </a:prstGeom>
        </p:spPr>
        <p:txBody>
          <a:bodyPr vert="horz" wrap="square" lIns="0" tIns="16933" rIns="0" bIns="0" rtlCol="0">
            <a:spAutoFit/>
          </a:bodyPr>
          <a:lstStyle/>
          <a:p>
            <a:pPr marL="16933" algn="just">
              <a:spcBef>
                <a:spcPts val="133"/>
              </a:spcBef>
            </a:pPr>
            <a:r>
              <a:rPr sz="2400" dirty="0">
                <a:latin typeface="Times New Roman"/>
                <a:cs typeface="Times New Roman"/>
              </a:rPr>
              <a:t>A</a:t>
            </a:r>
            <a:r>
              <a:rPr sz="2400" spc="-33" dirty="0">
                <a:latin typeface="Times New Roman"/>
                <a:cs typeface="Times New Roman"/>
              </a:rPr>
              <a:t> </a:t>
            </a:r>
            <a:r>
              <a:rPr sz="2400" dirty="0">
                <a:latin typeface="Times New Roman"/>
                <a:cs typeface="Times New Roman"/>
              </a:rPr>
              <a:t>DMS</a:t>
            </a:r>
            <a:r>
              <a:rPr sz="2400" spc="-33" dirty="0">
                <a:latin typeface="Times New Roman"/>
                <a:cs typeface="Times New Roman"/>
              </a:rPr>
              <a:t> </a:t>
            </a:r>
            <a:r>
              <a:rPr sz="2400" dirty="0">
                <a:latin typeface="Times New Roman"/>
                <a:cs typeface="Times New Roman"/>
              </a:rPr>
              <a:t>includes</a:t>
            </a:r>
            <a:r>
              <a:rPr sz="2400" spc="-47" dirty="0">
                <a:latin typeface="Times New Roman"/>
                <a:cs typeface="Times New Roman"/>
              </a:rPr>
              <a:t> </a:t>
            </a:r>
            <a:r>
              <a:rPr sz="2400" spc="-13" dirty="0">
                <a:latin typeface="Times New Roman"/>
                <a:cs typeface="Times New Roman"/>
              </a:rPr>
              <a:t>Applications:</a:t>
            </a:r>
            <a:endParaRPr sz="2400">
              <a:latin typeface="Times New Roman"/>
              <a:cs typeface="Times New Roman"/>
            </a:endParaRPr>
          </a:p>
          <a:p>
            <a:pPr marL="16933" marR="8466" indent="335272" algn="just">
              <a:lnSpc>
                <a:spcPct val="114999"/>
              </a:lnSpc>
              <a:spcBef>
                <a:spcPts val="1600"/>
              </a:spcBef>
              <a:buAutoNum type="arabicPeriod"/>
              <a:tabLst>
                <a:tab pos="352205" algn="l"/>
              </a:tabLst>
            </a:pPr>
            <a:r>
              <a:rPr sz="2400" dirty="0">
                <a:latin typeface="Times New Roman"/>
                <a:cs typeface="Times New Roman"/>
              </a:rPr>
              <a:t>for</a:t>
            </a:r>
            <a:r>
              <a:rPr sz="2400" spc="160" dirty="0">
                <a:latin typeface="Times New Roman"/>
                <a:cs typeface="Times New Roman"/>
              </a:rPr>
              <a:t> </a:t>
            </a:r>
            <a:r>
              <a:rPr sz="2400" dirty="0">
                <a:latin typeface="Times New Roman"/>
                <a:cs typeface="Times New Roman"/>
              </a:rPr>
              <a:t>system</a:t>
            </a:r>
            <a:r>
              <a:rPr sz="2400" spc="167" dirty="0">
                <a:latin typeface="Times New Roman"/>
                <a:cs typeface="Times New Roman"/>
              </a:rPr>
              <a:t> </a:t>
            </a:r>
            <a:r>
              <a:rPr sz="2400" dirty="0">
                <a:latin typeface="Times New Roman"/>
                <a:cs typeface="Times New Roman"/>
              </a:rPr>
              <a:t>monitoring,</a:t>
            </a:r>
            <a:r>
              <a:rPr sz="2400" spc="187" dirty="0">
                <a:latin typeface="Times New Roman"/>
                <a:cs typeface="Times New Roman"/>
              </a:rPr>
              <a:t> </a:t>
            </a:r>
            <a:r>
              <a:rPr sz="2400" dirty="0">
                <a:latin typeface="Times New Roman"/>
                <a:cs typeface="Times New Roman"/>
              </a:rPr>
              <a:t>operation</a:t>
            </a:r>
            <a:r>
              <a:rPr sz="2400" spc="173" dirty="0">
                <a:latin typeface="Times New Roman"/>
                <a:cs typeface="Times New Roman"/>
              </a:rPr>
              <a:t> </a:t>
            </a:r>
            <a:r>
              <a:rPr sz="2400" dirty="0">
                <a:latin typeface="Times New Roman"/>
                <a:cs typeface="Times New Roman"/>
              </a:rPr>
              <a:t>and</a:t>
            </a:r>
            <a:r>
              <a:rPr sz="2400" spc="160" dirty="0">
                <a:latin typeface="Times New Roman"/>
                <a:cs typeface="Times New Roman"/>
              </a:rPr>
              <a:t> </a:t>
            </a:r>
            <a:r>
              <a:rPr sz="2400" dirty="0">
                <a:latin typeface="Times New Roman"/>
                <a:cs typeface="Times New Roman"/>
              </a:rPr>
              <a:t>outage</a:t>
            </a:r>
            <a:r>
              <a:rPr sz="2400" spc="173" dirty="0">
                <a:latin typeface="Times New Roman"/>
                <a:cs typeface="Times New Roman"/>
              </a:rPr>
              <a:t> </a:t>
            </a:r>
            <a:r>
              <a:rPr sz="2400" dirty="0">
                <a:latin typeface="Times New Roman"/>
                <a:cs typeface="Times New Roman"/>
              </a:rPr>
              <a:t>management.The</a:t>
            </a:r>
            <a:r>
              <a:rPr sz="2400" spc="180" dirty="0">
                <a:latin typeface="Times New Roman"/>
                <a:cs typeface="Times New Roman"/>
              </a:rPr>
              <a:t> </a:t>
            </a:r>
            <a:r>
              <a:rPr sz="2400" dirty="0">
                <a:latin typeface="Times New Roman"/>
                <a:cs typeface="Times New Roman"/>
              </a:rPr>
              <a:t>primary</a:t>
            </a:r>
            <a:r>
              <a:rPr sz="2400" spc="193" dirty="0">
                <a:latin typeface="Times New Roman"/>
                <a:cs typeface="Times New Roman"/>
              </a:rPr>
              <a:t> </a:t>
            </a:r>
            <a:r>
              <a:rPr sz="2400" dirty="0">
                <a:latin typeface="Times New Roman"/>
                <a:cs typeface="Times New Roman"/>
              </a:rPr>
              <a:t>object</a:t>
            </a:r>
            <a:r>
              <a:rPr sz="2400" spc="167" dirty="0">
                <a:latin typeface="Times New Roman"/>
                <a:cs typeface="Times New Roman"/>
              </a:rPr>
              <a:t> </a:t>
            </a:r>
            <a:r>
              <a:rPr sz="2400" dirty="0">
                <a:latin typeface="Times New Roman"/>
                <a:cs typeface="Times New Roman"/>
              </a:rPr>
              <a:t>of</a:t>
            </a:r>
            <a:r>
              <a:rPr sz="2400" spc="180" dirty="0">
                <a:latin typeface="Times New Roman"/>
                <a:cs typeface="Times New Roman"/>
              </a:rPr>
              <a:t> </a:t>
            </a:r>
            <a:r>
              <a:rPr sz="2400" spc="-13" dirty="0">
                <a:latin typeface="Times New Roman"/>
                <a:cs typeface="Times New Roman"/>
              </a:rPr>
              <a:t>these </a:t>
            </a:r>
            <a:r>
              <a:rPr sz="2400" dirty="0">
                <a:latin typeface="Times New Roman"/>
                <a:cs typeface="Times New Roman"/>
              </a:rPr>
              <a:t>Applications</a:t>
            </a:r>
            <a:r>
              <a:rPr sz="2400" spc="-53"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maintaining</a:t>
            </a:r>
            <a:r>
              <a:rPr sz="2400" spc="-47" dirty="0">
                <a:latin typeface="Times New Roman"/>
                <a:cs typeface="Times New Roman"/>
              </a:rPr>
              <a:t> </a:t>
            </a:r>
            <a:r>
              <a:rPr sz="2400" dirty="0">
                <a:latin typeface="Times New Roman"/>
                <a:cs typeface="Times New Roman"/>
              </a:rPr>
              <a:t>continuity</a:t>
            </a:r>
            <a:r>
              <a:rPr sz="2400" spc="-47" dirty="0">
                <a:latin typeface="Times New Roman"/>
                <a:cs typeface="Times New Roman"/>
              </a:rPr>
              <a:t> </a:t>
            </a:r>
            <a:r>
              <a:rPr sz="2400" dirty="0">
                <a:latin typeface="Times New Roman"/>
                <a:cs typeface="Times New Roman"/>
              </a:rPr>
              <a:t>of</a:t>
            </a:r>
            <a:r>
              <a:rPr sz="2400" spc="-33" dirty="0">
                <a:latin typeface="Times New Roman"/>
                <a:cs typeface="Times New Roman"/>
              </a:rPr>
              <a:t> </a:t>
            </a:r>
            <a:r>
              <a:rPr sz="2400" spc="-13" dirty="0">
                <a:latin typeface="Times New Roman"/>
                <a:cs typeface="Times New Roman"/>
              </a:rPr>
              <a:t>supply.</a:t>
            </a:r>
            <a:endParaRPr sz="2400">
              <a:latin typeface="Times New Roman"/>
              <a:cs typeface="Times New Roman"/>
            </a:endParaRPr>
          </a:p>
          <a:p>
            <a:pPr marL="16933" marR="6773" indent="341197" algn="just">
              <a:lnSpc>
                <a:spcPct val="114999"/>
              </a:lnSpc>
              <a:spcBef>
                <a:spcPts val="1600"/>
              </a:spcBef>
              <a:buAutoNum type="arabicPeriod"/>
              <a:tabLst>
                <a:tab pos="358131" algn="l"/>
              </a:tabLst>
            </a:pPr>
            <a:r>
              <a:rPr sz="2400" dirty="0">
                <a:latin typeface="Times New Roman"/>
                <a:cs typeface="Times New Roman"/>
              </a:rPr>
              <a:t>to</a:t>
            </a:r>
            <a:r>
              <a:rPr sz="2400" spc="220" dirty="0">
                <a:latin typeface="Times New Roman"/>
                <a:cs typeface="Times New Roman"/>
              </a:rPr>
              <a:t> </a:t>
            </a:r>
            <a:r>
              <a:rPr sz="2400" dirty="0">
                <a:latin typeface="Times New Roman"/>
                <a:cs typeface="Times New Roman"/>
              </a:rPr>
              <a:t>help</a:t>
            </a:r>
            <a:r>
              <a:rPr sz="2400" spc="240" dirty="0">
                <a:latin typeface="Times New Roman"/>
                <a:cs typeface="Times New Roman"/>
              </a:rPr>
              <a:t> </a:t>
            </a:r>
            <a:r>
              <a:rPr sz="2400" dirty="0">
                <a:latin typeface="Times New Roman"/>
                <a:cs typeface="Times New Roman"/>
              </a:rPr>
              <a:t>manage</a:t>
            </a:r>
            <a:r>
              <a:rPr sz="2400" spc="240" dirty="0">
                <a:latin typeface="Times New Roman"/>
                <a:cs typeface="Times New Roman"/>
              </a:rPr>
              <a:t> </a:t>
            </a:r>
            <a:r>
              <a:rPr sz="2400" dirty="0">
                <a:latin typeface="Times New Roman"/>
                <a:cs typeface="Times New Roman"/>
              </a:rPr>
              <a:t>the</a:t>
            </a:r>
            <a:r>
              <a:rPr sz="2400" spc="247" dirty="0">
                <a:latin typeface="Times New Roman"/>
                <a:cs typeface="Times New Roman"/>
              </a:rPr>
              <a:t> </a:t>
            </a:r>
            <a:r>
              <a:rPr sz="2400" dirty="0">
                <a:latin typeface="Times New Roman"/>
                <a:cs typeface="Times New Roman"/>
              </a:rPr>
              <a:t>assets</a:t>
            </a:r>
            <a:r>
              <a:rPr sz="2400" spc="220" dirty="0">
                <a:latin typeface="Times New Roman"/>
                <a:cs typeface="Times New Roman"/>
              </a:rPr>
              <a:t> </a:t>
            </a:r>
            <a:r>
              <a:rPr sz="2400" dirty="0">
                <a:latin typeface="Times New Roman"/>
                <a:cs typeface="Times New Roman"/>
              </a:rPr>
              <a:t>of</a:t>
            </a:r>
            <a:r>
              <a:rPr sz="2400" spc="220" dirty="0">
                <a:latin typeface="Times New Roman"/>
                <a:cs typeface="Times New Roman"/>
              </a:rPr>
              <a:t> </a:t>
            </a:r>
            <a:r>
              <a:rPr sz="2400" dirty="0">
                <a:latin typeface="Times New Roman"/>
                <a:cs typeface="Times New Roman"/>
              </a:rPr>
              <a:t>the</a:t>
            </a:r>
            <a:r>
              <a:rPr sz="2400" spc="240" dirty="0">
                <a:latin typeface="Times New Roman"/>
                <a:cs typeface="Times New Roman"/>
              </a:rPr>
              <a:t> </a:t>
            </a:r>
            <a:r>
              <a:rPr sz="2400" dirty="0">
                <a:latin typeface="Times New Roman"/>
                <a:cs typeface="Times New Roman"/>
              </a:rPr>
              <a:t>utility,</a:t>
            </a:r>
            <a:r>
              <a:rPr sz="2400" spc="233" dirty="0">
                <a:latin typeface="Times New Roman"/>
                <a:cs typeface="Times New Roman"/>
              </a:rPr>
              <a:t> </a:t>
            </a:r>
            <a:r>
              <a:rPr sz="2400" dirty="0">
                <a:latin typeface="Times New Roman"/>
                <a:cs typeface="Times New Roman"/>
              </a:rPr>
              <a:t>such</a:t>
            </a:r>
            <a:r>
              <a:rPr sz="2400" spc="220" dirty="0">
                <a:latin typeface="Times New Roman"/>
                <a:cs typeface="Times New Roman"/>
              </a:rPr>
              <a:t> </a:t>
            </a:r>
            <a:r>
              <a:rPr sz="2400" dirty="0">
                <a:latin typeface="Times New Roman"/>
                <a:cs typeface="Times New Roman"/>
              </a:rPr>
              <a:t>as</a:t>
            </a:r>
            <a:r>
              <a:rPr sz="2400" spc="233" dirty="0">
                <a:latin typeface="Times New Roman"/>
                <a:cs typeface="Times New Roman"/>
              </a:rPr>
              <a:t> </a:t>
            </a:r>
            <a:r>
              <a:rPr sz="2400" dirty="0">
                <a:latin typeface="Times New Roman"/>
                <a:cs typeface="Times New Roman"/>
              </a:rPr>
              <a:t>inventory</a:t>
            </a:r>
            <a:r>
              <a:rPr sz="2400" spc="253" dirty="0">
                <a:latin typeface="Times New Roman"/>
                <a:cs typeface="Times New Roman"/>
              </a:rPr>
              <a:t> </a:t>
            </a:r>
            <a:r>
              <a:rPr sz="2400" dirty="0">
                <a:latin typeface="Times New Roman"/>
                <a:cs typeface="Times New Roman"/>
              </a:rPr>
              <a:t>control,</a:t>
            </a:r>
            <a:r>
              <a:rPr sz="2400" spc="233" dirty="0">
                <a:latin typeface="Times New Roman"/>
                <a:cs typeface="Times New Roman"/>
              </a:rPr>
              <a:t> </a:t>
            </a:r>
            <a:r>
              <a:rPr sz="2400" dirty="0">
                <a:latin typeface="Times New Roman"/>
                <a:cs typeface="Times New Roman"/>
              </a:rPr>
              <a:t>construction,</a:t>
            </a:r>
            <a:r>
              <a:rPr sz="2400" spc="247" dirty="0">
                <a:latin typeface="Times New Roman"/>
                <a:cs typeface="Times New Roman"/>
              </a:rPr>
              <a:t> </a:t>
            </a:r>
            <a:r>
              <a:rPr sz="2400" spc="-13" dirty="0">
                <a:latin typeface="Times New Roman"/>
                <a:cs typeface="Times New Roman"/>
              </a:rPr>
              <a:t>plant </a:t>
            </a:r>
            <a:r>
              <a:rPr sz="2400" dirty="0">
                <a:latin typeface="Times New Roman"/>
                <a:cs typeface="Times New Roman"/>
              </a:rPr>
              <a:t>records,</a:t>
            </a:r>
            <a:r>
              <a:rPr sz="2400" spc="53" dirty="0">
                <a:latin typeface="Times New Roman"/>
                <a:cs typeface="Times New Roman"/>
              </a:rPr>
              <a:t>  </a:t>
            </a:r>
            <a:r>
              <a:rPr sz="2400" dirty="0">
                <a:latin typeface="Times New Roman"/>
                <a:cs typeface="Times New Roman"/>
              </a:rPr>
              <a:t>drawings,</a:t>
            </a:r>
            <a:r>
              <a:rPr sz="2400" spc="67" dirty="0">
                <a:latin typeface="Times New Roman"/>
                <a:cs typeface="Times New Roman"/>
              </a:rPr>
              <a:t>  </a:t>
            </a:r>
            <a:r>
              <a:rPr sz="2400" dirty="0">
                <a:latin typeface="Times New Roman"/>
                <a:cs typeface="Times New Roman"/>
              </a:rPr>
              <a:t>and</a:t>
            </a:r>
            <a:r>
              <a:rPr sz="2400" spc="53" dirty="0">
                <a:latin typeface="Times New Roman"/>
                <a:cs typeface="Times New Roman"/>
              </a:rPr>
              <a:t>  </a:t>
            </a:r>
            <a:r>
              <a:rPr sz="2400" dirty="0">
                <a:latin typeface="Times New Roman"/>
                <a:cs typeface="Times New Roman"/>
              </a:rPr>
              <a:t>mapping.</a:t>
            </a:r>
            <a:r>
              <a:rPr sz="2400" spc="67" dirty="0">
                <a:latin typeface="Times New Roman"/>
                <a:cs typeface="Times New Roman"/>
              </a:rPr>
              <a:t>  </a:t>
            </a:r>
            <a:r>
              <a:rPr sz="2400" dirty="0">
                <a:latin typeface="Times New Roman"/>
                <a:cs typeface="Times New Roman"/>
              </a:rPr>
              <a:t>These</a:t>
            </a:r>
            <a:r>
              <a:rPr sz="2400" spc="53" dirty="0">
                <a:latin typeface="Times New Roman"/>
                <a:cs typeface="Times New Roman"/>
              </a:rPr>
              <a:t>  </a:t>
            </a:r>
            <a:r>
              <a:rPr sz="2400" dirty="0">
                <a:latin typeface="Times New Roman"/>
                <a:cs typeface="Times New Roman"/>
              </a:rPr>
              <a:t>include</a:t>
            </a:r>
            <a:r>
              <a:rPr sz="2400" spc="67" dirty="0">
                <a:latin typeface="Times New Roman"/>
                <a:cs typeface="Times New Roman"/>
              </a:rPr>
              <a:t>  </a:t>
            </a:r>
            <a:r>
              <a:rPr sz="2400" dirty="0">
                <a:latin typeface="Times New Roman"/>
                <a:cs typeface="Times New Roman"/>
              </a:rPr>
              <a:t>the</a:t>
            </a:r>
            <a:r>
              <a:rPr sz="2400" spc="60" dirty="0">
                <a:latin typeface="Times New Roman"/>
                <a:cs typeface="Times New Roman"/>
              </a:rPr>
              <a:t>  </a:t>
            </a:r>
            <a:r>
              <a:rPr sz="2400" dirty="0">
                <a:latin typeface="Times New Roman"/>
                <a:cs typeface="Times New Roman"/>
              </a:rPr>
              <a:t>automated</a:t>
            </a:r>
            <a:r>
              <a:rPr sz="2400" spc="60" dirty="0">
                <a:latin typeface="Times New Roman"/>
                <a:cs typeface="Times New Roman"/>
              </a:rPr>
              <a:t>  </a:t>
            </a:r>
            <a:r>
              <a:rPr sz="2400" dirty="0">
                <a:latin typeface="Times New Roman"/>
                <a:cs typeface="Times New Roman"/>
              </a:rPr>
              <a:t>mapping</a:t>
            </a:r>
            <a:r>
              <a:rPr sz="2400" spc="67" dirty="0">
                <a:latin typeface="Times New Roman"/>
                <a:cs typeface="Times New Roman"/>
              </a:rPr>
              <a:t>  </a:t>
            </a:r>
            <a:r>
              <a:rPr sz="2400" dirty="0">
                <a:latin typeface="Times New Roman"/>
                <a:cs typeface="Times New Roman"/>
              </a:rPr>
              <a:t>system,</a:t>
            </a:r>
            <a:r>
              <a:rPr sz="2400" spc="60" dirty="0">
                <a:latin typeface="Times New Roman"/>
                <a:cs typeface="Times New Roman"/>
              </a:rPr>
              <a:t>  </a:t>
            </a:r>
            <a:r>
              <a:rPr sz="2400" spc="-33" dirty="0">
                <a:latin typeface="Times New Roman"/>
                <a:cs typeface="Times New Roman"/>
              </a:rPr>
              <a:t>the </a:t>
            </a:r>
            <a:r>
              <a:rPr sz="2400" dirty="0">
                <a:latin typeface="Times New Roman"/>
                <a:cs typeface="Times New Roman"/>
              </a:rPr>
              <a:t>facilities</a:t>
            </a:r>
            <a:r>
              <a:rPr sz="2400" spc="-93" dirty="0">
                <a:latin typeface="Times New Roman"/>
                <a:cs typeface="Times New Roman"/>
              </a:rPr>
              <a:t> </a:t>
            </a:r>
            <a:r>
              <a:rPr sz="2400" dirty="0">
                <a:latin typeface="Times New Roman"/>
                <a:cs typeface="Times New Roman"/>
              </a:rPr>
              <a:t>management</a:t>
            </a:r>
            <a:r>
              <a:rPr sz="2400" spc="-53" dirty="0">
                <a:latin typeface="Times New Roman"/>
                <a:cs typeface="Times New Roman"/>
              </a:rPr>
              <a:t> </a:t>
            </a:r>
            <a:r>
              <a:rPr sz="2400" dirty="0">
                <a:latin typeface="Times New Roman"/>
                <a:cs typeface="Times New Roman"/>
              </a:rPr>
              <a:t>system,</a:t>
            </a:r>
            <a:r>
              <a:rPr sz="2400" spc="-67" dirty="0">
                <a:latin typeface="Times New Roman"/>
                <a:cs typeface="Times New Roman"/>
              </a:rPr>
              <a:t> </a:t>
            </a:r>
            <a:r>
              <a:rPr sz="2400" dirty="0">
                <a:latin typeface="Times New Roman"/>
                <a:cs typeface="Times New Roman"/>
              </a:rPr>
              <a:t>and</a:t>
            </a:r>
            <a:r>
              <a:rPr sz="2400" spc="-60" dirty="0">
                <a:latin typeface="Times New Roman"/>
                <a:cs typeface="Times New Roman"/>
              </a:rPr>
              <a:t> </a:t>
            </a:r>
            <a:r>
              <a:rPr sz="2400" dirty="0">
                <a:latin typeface="Times New Roman"/>
                <a:cs typeface="Times New Roman"/>
              </a:rPr>
              <a:t>the</a:t>
            </a:r>
            <a:r>
              <a:rPr sz="2400" spc="-53" dirty="0">
                <a:latin typeface="Times New Roman"/>
                <a:cs typeface="Times New Roman"/>
              </a:rPr>
              <a:t> </a:t>
            </a:r>
            <a:r>
              <a:rPr sz="2400" dirty="0">
                <a:latin typeface="Times New Roman"/>
                <a:cs typeface="Times New Roman"/>
              </a:rPr>
              <a:t>geographical</a:t>
            </a:r>
            <a:r>
              <a:rPr sz="2400" spc="-67" dirty="0">
                <a:latin typeface="Times New Roman"/>
                <a:cs typeface="Times New Roman"/>
              </a:rPr>
              <a:t> </a:t>
            </a:r>
            <a:r>
              <a:rPr sz="2400" dirty="0">
                <a:latin typeface="Times New Roman"/>
                <a:cs typeface="Times New Roman"/>
              </a:rPr>
              <a:t>information</a:t>
            </a:r>
            <a:r>
              <a:rPr sz="2400" spc="-73" dirty="0">
                <a:latin typeface="Times New Roman"/>
                <a:cs typeface="Times New Roman"/>
              </a:rPr>
              <a:t> </a:t>
            </a:r>
            <a:r>
              <a:rPr sz="2400" spc="-13" dirty="0">
                <a:latin typeface="Times New Roman"/>
                <a:cs typeface="Times New Roman"/>
              </a:rPr>
              <a:t>system.</a:t>
            </a:r>
            <a:endParaRPr sz="2400">
              <a:latin typeface="Times New Roman"/>
              <a:cs typeface="Times New Roman"/>
            </a:endParaRPr>
          </a:p>
          <a:p>
            <a:pPr marL="321725" indent="-304792" algn="just">
              <a:spcBef>
                <a:spcPts val="2033"/>
              </a:spcBef>
              <a:buAutoNum type="arabicPeriod"/>
              <a:tabLst>
                <a:tab pos="321725" algn="l"/>
              </a:tabLst>
            </a:pPr>
            <a:r>
              <a:rPr sz="2400" dirty="0">
                <a:latin typeface="Times New Roman"/>
                <a:cs typeface="Times New Roman"/>
              </a:rPr>
              <a:t>associated</a:t>
            </a:r>
            <a:r>
              <a:rPr sz="2400" spc="-60" dirty="0">
                <a:latin typeface="Times New Roman"/>
                <a:cs typeface="Times New Roman"/>
              </a:rPr>
              <a:t> </a:t>
            </a:r>
            <a:r>
              <a:rPr sz="2400" dirty="0">
                <a:latin typeface="Times New Roman"/>
                <a:cs typeface="Times New Roman"/>
              </a:rPr>
              <a:t>with</a:t>
            </a:r>
            <a:r>
              <a:rPr sz="2400" spc="-33" dirty="0">
                <a:latin typeface="Times New Roman"/>
                <a:cs typeface="Times New Roman"/>
              </a:rPr>
              <a:t> </a:t>
            </a:r>
            <a:r>
              <a:rPr sz="2400" dirty="0">
                <a:latin typeface="Times New Roman"/>
                <a:cs typeface="Times New Roman"/>
              </a:rPr>
              <a:t>design</a:t>
            </a:r>
            <a:r>
              <a:rPr sz="2400" spc="-20"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dirty="0">
                <a:latin typeface="Times New Roman"/>
                <a:cs typeface="Times New Roman"/>
              </a:rPr>
              <a:t>planning</a:t>
            </a:r>
            <a:r>
              <a:rPr sz="2400" spc="-53"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network</a:t>
            </a:r>
            <a:r>
              <a:rPr sz="2400" spc="-47" dirty="0">
                <a:latin typeface="Times New Roman"/>
                <a:cs typeface="Times New Roman"/>
              </a:rPr>
              <a:t> </a:t>
            </a:r>
            <a:r>
              <a:rPr sz="2400" spc="-13" dirty="0">
                <a:latin typeface="Times New Roman"/>
                <a:cs typeface="Times New Roman"/>
              </a:rPr>
              <a:t>extensions</a:t>
            </a:r>
            <a:endParaRPr sz="2400">
              <a:latin typeface="Times New Roman"/>
              <a:cs typeface="Times New Roman"/>
            </a:endParaRPr>
          </a:p>
          <a:p>
            <a:pPr marL="16933" marR="81278" algn="just">
              <a:lnSpc>
                <a:spcPct val="170600"/>
              </a:lnSpc>
            </a:pPr>
            <a:r>
              <a:rPr sz="2400" dirty="0">
                <a:latin typeface="Times New Roman"/>
                <a:cs typeface="Times New Roman"/>
              </a:rPr>
              <a:t>All</a:t>
            </a:r>
            <a:r>
              <a:rPr sz="2400" spc="-47" dirty="0">
                <a:latin typeface="Times New Roman"/>
                <a:cs typeface="Times New Roman"/>
              </a:rPr>
              <a:t> </a:t>
            </a:r>
            <a:r>
              <a:rPr sz="2400" dirty="0">
                <a:latin typeface="Times New Roman"/>
                <a:cs typeface="Times New Roman"/>
              </a:rPr>
              <a:t>these</a:t>
            </a:r>
            <a:r>
              <a:rPr sz="2400" spc="-27" dirty="0">
                <a:latin typeface="Times New Roman"/>
                <a:cs typeface="Times New Roman"/>
              </a:rPr>
              <a:t> </a:t>
            </a:r>
            <a:r>
              <a:rPr sz="2400" dirty="0">
                <a:latin typeface="Times New Roman"/>
                <a:cs typeface="Times New Roman"/>
              </a:rPr>
              <a:t>Applications</a:t>
            </a:r>
            <a:r>
              <a:rPr sz="2400" spc="-53" dirty="0">
                <a:latin typeface="Times New Roman"/>
                <a:cs typeface="Times New Roman"/>
              </a:rPr>
              <a:t> </a:t>
            </a:r>
            <a:r>
              <a:rPr sz="2400" dirty="0">
                <a:latin typeface="Times New Roman"/>
                <a:cs typeface="Times New Roman"/>
              </a:rPr>
              <a:t>require</a:t>
            </a:r>
            <a:r>
              <a:rPr sz="2400" spc="-33" dirty="0">
                <a:latin typeface="Times New Roman"/>
                <a:cs typeface="Times New Roman"/>
              </a:rPr>
              <a:t> </a:t>
            </a:r>
            <a:r>
              <a:rPr sz="2400" dirty="0">
                <a:latin typeface="Times New Roman"/>
                <a:cs typeface="Times New Roman"/>
              </a:rPr>
              <a:t>modelling</a:t>
            </a:r>
            <a:r>
              <a:rPr sz="2400" spc="-33" dirty="0">
                <a:latin typeface="Times New Roman"/>
                <a:cs typeface="Times New Roman"/>
              </a:rPr>
              <a:t> </a:t>
            </a:r>
            <a:r>
              <a:rPr sz="2400" dirty="0">
                <a:latin typeface="Times New Roman"/>
                <a:cs typeface="Times New Roman"/>
              </a:rPr>
              <a:t>and</a:t>
            </a:r>
            <a:r>
              <a:rPr sz="2400" spc="-33" dirty="0">
                <a:latin typeface="Times New Roman"/>
                <a:cs typeface="Times New Roman"/>
              </a:rPr>
              <a:t> </a:t>
            </a:r>
            <a:r>
              <a:rPr sz="2400" dirty="0">
                <a:latin typeface="Times New Roman"/>
                <a:cs typeface="Times New Roman"/>
              </a:rPr>
              <a:t>analysis</a:t>
            </a:r>
            <a:r>
              <a:rPr sz="2400" spc="-67" dirty="0">
                <a:latin typeface="Times New Roman"/>
                <a:cs typeface="Times New Roman"/>
              </a:rPr>
              <a:t> </a:t>
            </a:r>
            <a:r>
              <a:rPr sz="2400" dirty="0">
                <a:latin typeface="Times New Roman"/>
                <a:cs typeface="Times New Roman"/>
              </a:rPr>
              <a:t>tools</a:t>
            </a:r>
            <a:r>
              <a:rPr sz="2400" spc="-47" dirty="0">
                <a:latin typeface="Times New Roman"/>
                <a:cs typeface="Times New Roman"/>
              </a:rPr>
              <a:t> </a:t>
            </a:r>
            <a:r>
              <a:rPr sz="2400" dirty="0">
                <a:latin typeface="Times New Roman"/>
                <a:cs typeface="Times New Roman"/>
              </a:rPr>
              <a:t>for</a:t>
            </a:r>
            <a:r>
              <a:rPr sz="2400" spc="-33" dirty="0">
                <a:latin typeface="Times New Roman"/>
                <a:cs typeface="Times New Roman"/>
              </a:rPr>
              <a:t> </a:t>
            </a:r>
            <a:r>
              <a:rPr sz="2400" dirty="0">
                <a:latin typeface="Times New Roman"/>
                <a:cs typeface="Times New Roman"/>
              </a:rPr>
              <a:t>which</a:t>
            </a:r>
            <a:r>
              <a:rPr sz="2400" spc="-33" dirty="0">
                <a:latin typeface="Times New Roman"/>
                <a:cs typeface="Times New Roman"/>
              </a:rPr>
              <a:t> </a:t>
            </a:r>
            <a:r>
              <a:rPr sz="2400" dirty="0">
                <a:latin typeface="Times New Roman"/>
                <a:cs typeface="Times New Roman"/>
              </a:rPr>
              <a:t>network</a:t>
            </a:r>
            <a:r>
              <a:rPr sz="2400" spc="-13" dirty="0">
                <a:latin typeface="Times New Roman"/>
                <a:cs typeface="Times New Roman"/>
              </a:rPr>
              <a:t> parameters, </a:t>
            </a:r>
            <a:r>
              <a:rPr sz="2400" dirty="0">
                <a:latin typeface="Times New Roman"/>
                <a:cs typeface="Times New Roman"/>
              </a:rPr>
              <a:t>customer</a:t>
            </a:r>
            <a:r>
              <a:rPr sz="2400" spc="-47" dirty="0">
                <a:latin typeface="Times New Roman"/>
                <a:cs typeface="Times New Roman"/>
              </a:rPr>
              <a:t> </a:t>
            </a:r>
            <a:r>
              <a:rPr sz="2400" dirty="0">
                <a:latin typeface="Times New Roman"/>
                <a:cs typeface="Times New Roman"/>
              </a:rPr>
              <a:t>information,</a:t>
            </a:r>
            <a:r>
              <a:rPr sz="2400" spc="-33"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dirty="0">
                <a:latin typeface="Times New Roman"/>
                <a:cs typeface="Times New Roman"/>
              </a:rPr>
              <a:t>network</a:t>
            </a:r>
            <a:r>
              <a:rPr sz="2400" spc="-47" dirty="0">
                <a:latin typeface="Times New Roman"/>
                <a:cs typeface="Times New Roman"/>
              </a:rPr>
              <a:t> </a:t>
            </a:r>
            <a:r>
              <a:rPr sz="2400" dirty="0">
                <a:latin typeface="Times New Roman"/>
                <a:cs typeface="Times New Roman"/>
              </a:rPr>
              <a:t>status</a:t>
            </a:r>
            <a:r>
              <a:rPr sz="2400" spc="-47" dirty="0">
                <a:latin typeface="Times New Roman"/>
                <a:cs typeface="Times New Roman"/>
              </a:rPr>
              <a:t> </a:t>
            </a:r>
            <a:r>
              <a:rPr sz="2400" dirty="0">
                <a:latin typeface="Times New Roman"/>
                <a:cs typeface="Times New Roman"/>
              </a:rPr>
              <a:t>data</a:t>
            </a:r>
            <a:r>
              <a:rPr sz="2400" spc="-40" dirty="0">
                <a:latin typeface="Times New Roman"/>
                <a:cs typeface="Times New Roman"/>
              </a:rPr>
              <a:t> </a:t>
            </a:r>
            <a:r>
              <a:rPr sz="2400" dirty="0">
                <a:latin typeface="Times New Roman"/>
                <a:cs typeface="Times New Roman"/>
              </a:rPr>
              <a:t>are</a:t>
            </a:r>
            <a:r>
              <a:rPr sz="2400" spc="-40" dirty="0">
                <a:latin typeface="Times New Roman"/>
                <a:cs typeface="Times New Roman"/>
              </a:rPr>
              <a:t> </a:t>
            </a:r>
            <a:r>
              <a:rPr sz="2400" dirty="0">
                <a:latin typeface="Times New Roman"/>
                <a:cs typeface="Times New Roman"/>
              </a:rPr>
              <a:t>used</a:t>
            </a:r>
            <a:r>
              <a:rPr sz="2400" spc="-47" dirty="0">
                <a:latin typeface="Times New Roman"/>
                <a:cs typeface="Times New Roman"/>
              </a:rPr>
              <a:t> </a:t>
            </a:r>
            <a:r>
              <a:rPr sz="2400" dirty="0">
                <a:latin typeface="Times New Roman"/>
                <a:cs typeface="Times New Roman"/>
              </a:rPr>
              <a:t>as</a:t>
            </a:r>
            <a:r>
              <a:rPr sz="2400" spc="-33" dirty="0">
                <a:latin typeface="Times New Roman"/>
                <a:cs typeface="Times New Roman"/>
              </a:rPr>
              <a:t> </a:t>
            </a:r>
            <a:r>
              <a:rPr sz="2400" spc="-13" dirty="0">
                <a:latin typeface="Times New Roman"/>
                <a:cs typeface="Times New Roman"/>
              </a:rPr>
              <a:t>inputs.</a:t>
            </a:r>
            <a:endParaRPr sz="24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38870" y="296651"/>
            <a:ext cx="3511127" cy="344475"/>
          </a:xfrm>
          <a:prstGeom prst="rect">
            <a:avLst/>
          </a:prstGeom>
        </p:spPr>
        <p:txBody>
          <a:bodyPr vert="horz" wrap="square" lIns="0" tIns="16087" rIns="0" bIns="0" rtlCol="0" anchor="ctr">
            <a:spAutoFit/>
          </a:bodyPr>
          <a:lstStyle/>
          <a:p>
            <a:pPr marL="16933">
              <a:lnSpc>
                <a:spcPct val="100000"/>
              </a:lnSpc>
              <a:spcBef>
                <a:spcPts val="127"/>
              </a:spcBef>
            </a:pPr>
            <a:r>
              <a:rPr sz="2133" b="1" dirty="0">
                <a:latin typeface="Times New Roman"/>
                <a:cs typeface="Times New Roman"/>
              </a:rPr>
              <a:t>Distribution</a:t>
            </a:r>
            <a:r>
              <a:rPr sz="2133" b="1" spc="-60" dirty="0">
                <a:latin typeface="Times New Roman"/>
                <a:cs typeface="Times New Roman"/>
              </a:rPr>
              <a:t> </a:t>
            </a:r>
            <a:r>
              <a:rPr sz="2133" b="1" dirty="0">
                <a:latin typeface="Times New Roman"/>
                <a:cs typeface="Times New Roman"/>
              </a:rPr>
              <a:t>system</a:t>
            </a:r>
            <a:r>
              <a:rPr sz="2133" b="1" spc="-73" dirty="0">
                <a:latin typeface="Times New Roman"/>
                <a:cs typeface="Times New Roman"/>
              </a:rPr>
              <a:t> </a:t>
            </a:r>
            <a:r>
              <a:rPr sz="2133" b="1" spc="-13" dirty="0">
                <a:latin typeface="Times New Roman"/>
                <a:cs typeface="Times New Roman"/>
              </a:rPr>
              <a:t>modelling</a:t>
            </a:r>
            <a:endParaRPr sz="2133">
              <a:latin typeface="Times New Roman"/>
              <a:cs typeface="Times New Roman"/>
            </a:endParaRPr>
          </a:p>
        </p:txBody>
      </p:sp>
      <p:sp>
        <p:nvSpPr>
          <p:cNvPr id="3" name="object 3"/>
          <p:cNvSpPr txBox="1"/>
          <p:nvPr/>
        </p:nvSpPr>
        <p:spPr>
          <a:xfrm>
            <a:off x="750080" y="784162"/>
            <a:ext cx="10603653" cy="2977225"/>
          </a:xfrm>
          <a:prstGeom prst="rect">
            <a:avLst/>
          </a:prstGeom>
        </p:spPr>
        <p:txBody>
          <a:bodyPr vert="horz" wrap="square" lIns="0" tIns="71120" rIns="0" bIns="0" rtlCol="0">
            <a:spAutoFit/>
          </a:bodyPr>
          <a:lstStyle/>
          <a:p>
            <a:pPr marL="200655" indent="-190495">
              <a:spcBef>
                <a:spcPts val="560"/>
              </a:spcBef>
              <a:buSzPct val="94444"/>
              <a:buChar char="●"/>
              <a:tabLst>
                <a:tab pos="200655" algn="l"/>
              </a:tabLst>
            </a:pPr>
            <a:r>
              <a:rPr sz="2400" dirty="0">
                <a:latin typeface="Times New Roman"/>
                <a:cs typeface="Times New Roman"/>
              </a:rPr>
              <a:t>The</a:t>
            </a:r>
            <a:r>
              <a:rPr sz="2400" spc="-53" dirty="0">
                <a:latin typeface="Times New Roman"/>
                <a:cs typeface="Times New Roman"/>
              </a:rPr>
              <a:t> </a:t>
            </a:r>
            <a:r>
              <a:rPr sz="2400" dirty="0">
                <a:latin typeface="Times New Roman"/>
                <a:cs typeface="Times New Roman"/>
              </a:rPr>
              <a:t>two</a:t>
            </a:r>
            <a:r>
              <a:rPr sz="2400" spc="-53" dirty="0">
                <a:latin typeface="Times New Roman"/>
                <a:cs typeface="Times New Roman"/>
              </a:rPr>
              <a:t> </a:t>
            </a:r>
            <a:r>
              <a:rPr sz="2400" dirty="0">
                <a:latin typeface="Times New Roman"/>
                <a:cs typeface="Times New Roman"/>
              </a:rPr>
              <a:t>main</a:t>
            </a:r>
            <a:r>
              <a:rPr sz="2400" spc="-40" dirty="0">
                <a:latin typeface="Times New Roman"/>
                <a:cs typeface="Times New Roman"/>
              </a:rPr>
              <a:t> </a:t>
            </a:r>
            <a:r>
              <a:rPr sz="2400" dirty="0">
                <a:latin typeface="Times New Roman"/>
                <a:cs typeface="Times New Roman"/>
              </a:rPr>
              <a:t>approaches</a:t>
            </a:r>
            <a:r>
              <a:rPr sz="2400" spc="-67" dirty="0">
                <a:latin typeface="Times New Roman"/>
                <a:cs typeface="Times New Roman"/>
              </a:rPr>
              <a:t> </a:t>
            </a:r>
            <a:r>
              <a:rPr sz="2400" dirty="0">
                <a:latin typeface="Times New Roman"/>
                <a:cs typeface="Times New Roman"/>
              </a:rPr>
              <a:t>are</a:t>
            </a:r>
            <a:r>
              <a:rPr sz="2400" spc="-47" dirty="0">
                <a:latin typeface="Times New Roman"/>
                <a:cs typeface="Times New Roman"/>
              </a:rPr>
              <a:t> </a:t>
            </a:r>
            <a:r>
              <a:rPr sz="2400" dirty="0">
                <a:latin typeface="Times New Roman"/>
                <a:cs typeface="Times New Roman"/>
              </a:rPr>
              <a:t>data‐driven</a:t>
            </a:r>
            <a:r>
              <a:rPr sz="2400" spc="-67" dirty="0">
                <a:latin typeface="Times New Roman"/>
                <a:cs typeface="Times New Roman"/>
              </a:rPr>
              <a:t> </a:t>
            </a:r>
            <a:r>
              <a:rPr sz="2400" dirty="0">
                <a:latin typeface="Times New Roman"/>
                <a:cs typeface="Times New Roman"/>
              </a:rPr>
              <a:t>and</a:t>
            </a:r>
            <a:r>
              <a:rPr sz="2400" spc="-53" dirty="0">
                <a:latin typeface="Times New Roman"/>
                <a:cs typeface="Times New Roman"/>
              </a:rPr>
              <a:t> </a:t>
            </a:r>
            <a:r>
              <a:rPr sz="2400" dirty="0">
                <a:latin typeface="Times New Roman"/>
                <a:cs typeface="Times New Roman"/>
              </a:rPr>
              <a:t>first</a:t>
            </a:r>
            <a:r>
              <a:rPr sz="2400" spc="-47" dirty="0">
                <a:latin typeface="Times New Roman"/>
                <a:cs typeface="Times New Roman"/>
              </a:rPr>
              <a:t> </a:t>
            </a:r>
            <a:r>
              <a:rPr sz="2400" dirty="0">
                <a:latin typeface="Times New Roman"/>
                <a:cs typeface="Times New Roman"/>
              </a:rPr>
              <a:t>principle</a:t>
            </a:r>
            <a:r>
              <a:rPr sz="2400" spc="-60" dirty="0">
                <a:latin typeface="Times New Roman"/>
                <a:cs typeface="Times New Roman"/>
              </a:rPr>
              <a:t> </a:t>
            </a:r>
            <a:r>
              <a:rPr sz="2400" spc="-13" dirty="0">
                <a:latin typeface="Times New Roman"/>
                <a:cs typeface="Times New Roman"/>
              </a:rPr>
              <a:t>modelling.</a:t>
            </a:r>
            <a:endParaRPr sz="2400">
              <a:latin typeface="Times New Roman"/>
              <a:cs typeface="Times New Roman"/>
            </a:endParaRPr>
          </a:p>
          <a:p>
            <a:pPr marL="200655" indent="-190495">
              <a:spcBef>
                <a:spcPts val="433"/>
              </a:spcBef>
              <a:buSzPct val="94444"/>
              <a:buChar char="●"/>
              <a:tabLst>
                <a:tab pos="200655" algn="l"/>
              </a:tabLst>
            </a:pPr>
            <a:r>
              <a:rPr sz="2400" dirty="0">
                <a:latin typeface="Times New Roman"/>
                <a:cs typeface="Times New Roman"/>
              </a:rPr>
              <a:t>First</a:t>
            </a:r>
            <a:r>
              <a:rPr sz="2400" spc="-60" dirty="0">
                <a:latin typeface="Times New Roman"/>
                <a:cs typeface="Times New Roman"/>
              </a:rPr>
              <a:t> </a:t>
            </a:r>
            <a:r>
              <a:rPr sz="2400" dirty="0">
                <a:latin typeface="Times New Roman"/>
                <a:cs typeface="Times New Roman"/>
              </a:rPr>
              <a:t>principle</a:t>
            </a:r>
            <a:r>
              <a:rPr sz="2400" spc="-67" dirty="0">
                <a:latin typeface="Times New Roman"/>
                <a:cs typeface="Times New Roman"/>
              </a:rPr>
              <a:t> </a:t>
            </a:r>
            <a:r>
              <a:rPr sz="2400" dirty="0">
                <a:latin typeface="Times New Roman"/>
                <a:cs typeface="Times New Roman"/>
              </a:rPr>
              <a:t>(physical</a:t>
            </a:r>
            <a:r>
              <a:rPr sz="2400" spc="-87" dirty="0">
                <a:latin typeface="Times New Roman"/>
                <a:cs typeface="Times New Roman"/>
              </a:rPr>
              <a:t> </a:t>
            </a:r>
            <a:r>
              <a:rPr sz="2400" dirty="0">
                <a:latin typeface="Times New Roman"/>
                <a:cs typeface="Times New Roman"/>
              </a:rPr>
              <a:t>model)‐based</a:t>
            </a:r>
            <a:r>
              <a:rPr sz="2400" spc="-67" dirty="0">
                <a:latin typeface="Times New Roman"/>
                <a:cs typeface="Times New Roman"/>
              </a:rPr>
              <a:t> </a:t>
            </a:r>
            <a:r>
              <a:rPr sz="2400" dirty="0">
                <a:latin typeface="Times New Roman"/>
                <a:cs typeface="Times New Roman"/>
              </a:rPr>
              <a:t>approaches</a:t>
            </a:r>
            <a:r>
              <a:rPr sz="2400" spc="-67" dirty="0">
                <a:latin typeface="Times New Roman"/>
                <a:cs typeface="Times New Roman"/>
              </a:rPr>
              <a:t> </a:t>
            </a:r>
            <a:r>
              <a:rPr sz="2400" dirty="0">
                <a:latin typeface="Times New Roman"/>
                <a:cs typeface="Times New Roman"/>
              </a:rPr>
              <a:t>are</a:t>
            </a:r>
            <a:r>
              <a:rPr sz="2400" spc="-73" dirty="0">
                <a:latin typeface="Times New Roman"/>
                <a:cs typeface="Times New Roman"/>
              </a:rPr>
              <a:t> </a:t>
            </a:r>
            <a:r>
              <a:rPr sz="2400" dirty="0">
                <a:latin typeface="Times New Roman"/>
                <a:cs typeface="Times New Roman"/>
              </a:rPr>
              <a:t>currently</a:t>
            </a:r>
            <a:r>
              <a:rPr sz="2400" spc="-60" dirty="0">
                <a:latin typeface="Times New Roman"/>
                <a:cs typeface="Times New Roman"/>
              </a:rPr>
              <a:t> </a:t>
            </a:r>
            <a:r>
              <a:rPr sz="2400" spc="-13" dirty="0">
                <a:latin typeface="Times New Roman"/>
                <a:cs typeface="Times New Roman"/>
              </a:rPr>
              <a:t>dominant</a:t>
            </a:r>
            <a:endParaRPr sz="2400">
              <a:latin typeface="Times New Roman"/>
              <a:cs typeface="Times New Roman"/>
            </a:endParaRPr>
          </a:p>
          <a:p>
            <a:pPr marL="16933" marR="6773" indent="336118">
              <a:lnSpc>
                <a:spcPct val="114999"/>
              </a:lnSpc>
              <a:buSzPct val="94444"/>
              <a:buChar char="●"/>
              <a:tabLst>
                <a:tab pos="353051" algn="l"/>
              </a:tabLst>
            </a:pPr>
            <a:r>
              <a:rPr sz="2400" dirty="0">
                <a:latin typeface="Times New Roman"/>
                <a:cs typeface="Times New Roman"/>
              </a:rPr>
              <a:t>Exact</a:t>
            </a:r>
            <a:r>
              <a:rPr sz="2400" spc="-53" dirty="0">
                <a:latin typeface="Times New Roman"/>
                <a:cs typeface="Times New Roman"/>
              </a:rPr>
              <a:t> </a:t>
            </a:r>
            <a:r>
              <a:rPr sz="2400" dirty="0">
                <a:latin typeface="Times New Roman"/>
                <a:cs typeface="Times New Roman"/>
              </a:rPr>
              <a:t>modelling</a:t>
            </a:r>
            <a:r>
              <a:rPr sz="2400" spc="-47" dirty="0">
                <a:latin typeface="Times New Roman"/>
                <a:cs typeface="Times New Roman"/>
              </a:rPr>
              <a:t> </a:t>
            </a:r>
            <a:r>
              <a:rPr sz="2400" dirty="0">
                <a:latin typeface="Times New Roman"/>
                <a:cs typeface="Times New Roman"/>
              </a:rPr>
              <a:t>:In</a:t>
            </a:r>
            <a:r>
              <a:rPr sz="2400" spc="-47" dirty="0">
                <a:latin typeface="Times New Roman"/>
                <a:cs typeface="Times New Roman"/>
              </a:rPr>
              <a:t> </a:t>
            </a:r>
            <a:r>
              <a:rPr sz="2400" dirty="0">
                <a:latin typeface="Times New Roman"/>
                <a:cs typeface="Times New Roman"/>
              </a:rPr>
              <a:t>this</a:t>
            </a:r>
            <a:r>
              <a:rPr sz="2400" spc="-40" dirty="0">
                <a:latin typeface="Times New Roman"/>
                <a:cs typeface="Times New Roman"/>
              </a:rPr>
              <a:t> </a:t>
            </a:r>
            <a:r>
              <a:rPr sz="2400" dirty="0">
                <a:latin typeface="Times New Roman"/>
                <a:cs typeface="Times New Roman"/>
              </a:rPr>
              <a:t>approach,</a:t>
            </a:r>
            <a:r>
              <a:rPr sz="2400" spc="-53"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complete</a:t>
            </a:r>
            <a:r>
              <a:rPr sz="2400" spc="-33" dirty="0">
                <a:latin typeface="Times New Roman"/>
                <a:cs typeface="Times New Roman"/>
              </a:rPr>
              <a:t> </a:t>
            </a:r>
            <a:r>
              <a:rPr sz="2400" dirty="0">
                <a:latin typeface="Times New Roman"/>
                <a:cs typeface="Times New Roman"/>
              </a:rPr>
              <a:t>first</a:t>
            </a:r>
            <a:r>
              <a:rPr sz="2400" spc="-40" dirty="0">
                <a:latin typeface="Times New Roman"/>
                <a:cs typeface="Times New Roman"/>
              </a:rPr>
              <a:t> </a:t>
            </a:r>
            <a:r>
              <a:rPr sz="2400" dirty="0">
                <a:latin typeface="Times New Roman"/>
                <a:cs typeface="Times New Roman"/>
              </a:rPr>
              <a:t>principle</a:t>
            </a:r>
            <a:r>
              <a:rPr sz="2400" spc="-53" dirty="0">
                <a:latin typeface="Times New Roman"/>
                <a:cs typeface="Times New Roman"/>
              </a:rPr>
              <a:t> </a:t>
            </a:r>
            <a:r>
              <a:rPr sz="2400" dirty="0">
                <a:latin typeface="Times New Roman"/>
                <a:cs typeface="Times New Roman"/>
              </a:rPr>
              <a:t>model</a:t>
            </a:r>
            <a:r>
              <a:rPr sz="2400" spc="-40" dirty="0">
                <a:latin typeface="Times New Roman"/>
                <a:cs typeface="Times New Roman"/>
              </a:rPr>
              <a:t> </a:t>
            </a:r>
            <a:r>
              <a:rPr sz="2400" dirty="0">
                <a:latin typeface="Times New Roman"/>
                <a:cs typeface="Times New Roman"/>
              </a:rPr>
              <a:t>is</a:t>
            </a:r>
            <a:r>
              <a:rPr sz="2400" spc="-27" dirty="0">
                <a:latin typeface="Times New Roman"/>
                <a:cs typeface="Times New Roman"/>
              </a:rPr>
              <a:t> used</a:t>
            </a:r>
            <a:r>
              <a:rPr sz="2400" spc="667" dirty="0">
                <a:latin typeface="Times New Roman"/>
                <a:cs typeface="Times New Roman"/>
              </a:rPr>
              <a:t> </a:t>
            </a:r>
            <a:r>
              <a:rPr sz="2400" dirty="0">
                <a:latin typeface="Times New Roman"/>
                <a:cs typeface="Times New Roman"/>
              </a:rPr>
              <a:t>without</a:t>
            </a:r>
            <a:r>
              <a:rPr sz="2400" spc="-27" dirty="0">
                <a:latin typeface="Times New Roman"/>
                <a:cs typeface="Times New Roman"/>
              </a:rPr>
              <a:t> </a:t>
            </a:r>
            <a:r>
              <a:rPr sz="2400" dirty="0">
                <a:latin typeface="Times New Roman"/>
                <a:cs typeface="Times New Roman"/>
              </a:rPr>
              <a:t>any</a:t>
            </a:r>
            <a:r>
              <a:rPr sz="2400" spc="-33" dirty="0">
                <a:latin typeface="Times New Roman"/>
                <a:cs typeface="Times New Roman"/>
              </a:rPr>
              <a:t> </a:t>
            </a:r>
            <a:r>
              <a:rPr sz="2400" dirty="0">
                <a:latin typeface="Times New Roman"/>
                <a:cs typeface="Times New Roman"/>
              </a:rPr>
              <a:t>assumptions.</a:t>
            </a:r>
            <a:r>
              <a:rPr sz="2400" spc="-7" dirty="0">
                <a:latin typeface="Times New Roman"/>
                <a:cs typeface="Times New Roman"/>
              </a:rPr>
              <a:t> </a:t>
            </a:r>
            <a:r>
              <a:rPr sz="2400" dirty="0">
                <a:latin typeface="Times New Roman"/>
                <a:cs typeface="Times New Roman"/>
              </a:rPr>
              <a:t>As</a:t>
            </a:r>
            <a:r>
              <a:rPr sz="2400" spc="-20" dirty="0">
                <a:latin typeface="Times New Roman"/>
                <a:cs typeface="Times New Roman"/>
              </a:rPr>
              <a:t> </a:t>
            </a:r>
            <a:r>
              <a:rPr sz="2400" dirty="0">
                <a:latin typeface="Times New Roman"/>
                <a:cs typeface="Times New Roman"/>
              </a:rPr>
              <a:t>the</a:t>
            </a:r>
            <a:r>
              <a:rPr sz="2400" spc="-27" dirty="0">
                <a:latin typeface="Times New Roman"/>
                <a:cs typeface="Times New Roman"/>
              </a:rPr>
              <a:t> </a:t>
            </a:r>
            <a:r>
              <a:rPr sz="2400" dirty="0">
                <a:latin typeface="Times New Roman"/>
                <a:cs typeface="Times New Roman"/>
              </a:rPr>
              <a:t>size</a:t>
            </a:r>
            <a:r>
              <a:rPr sz="2400" spc="-27" dirty="0">
                <a:latin typeface="Times New Roman"/>
                <a:cs typeface="Times New Roman"/>
              </a:rPr>
              <a:t> </a:t>
            </a:r>
            <a:r>
              <a:rPr sz="2400" dirty="0">
                <a:latin typeface="Times New Roman"/>
                <a:cs typeface="Times New Roman"/>
              </a:rPr>
              <a:t>of</a:t>
            </a:r>
            <a:r>
              <a:rPr sz="2400" spc="-27" dirty="0">
                <a:latin typeface="Times New Roman"/>
                <a:cs typeface="Times New Roman"/>
              </a:rPr>
              <a:t> </a:t>
            </a:r>
            <a:r>
              <a:rPr sz="2400" dirty="0">
                <a:latin typeface="Times New Roman"/>
                <a:cs typeface="Times New Roman"/>
              </a:rPr>
              <a:t>the</a:t>
            </a:r>
            <a:r>
              <a:rPr sz="2400" spc="-27" dirty="0">
                <a:latin typeface="Times New Roman"/>
                <a:cs typeface="Times New Roman"/>
              </a:rPr>
              <a:t> </a:t>
            </a:r>
            <a:r>
              <a:rPr sz="2400" dirty="0">
                <a:latin typeface="Times New Roman"/>
                <a:cs typeface="Times New Roman"/>
              </a:rPr>
              <a:t>distribution</a:t>
            </a:r>
            <a:r>
              <a:rPr sz="2400" spc="-47" dirty="0">
                <a:latin typeface="Times New Roman"/>
                <a:cs typeface="Times New Roman"/>
              </a:rPr>
              <a:t> </a:t>
            </a:r>
            <a:r>
              <a:rPr sz="2400" dirty="0">
                <a:latin typeface="Times New Roman"/>
                <a:cs typeface="Times New Roman"/>
              </a:rPr>
              <a:t>system</a:t>
            </a:r>
            <a:r>
              <a:rPr sz="2400" spc="-60" dirty="0">
                <a:latin typeface="Times New Roman"/>
                <a:cs typeface="Times New Roman"/>
              </a:rPr>
              <a:t> </a:t>
            </a:r>
            <a:r>
              <a:rPr sz="2400" dirty="0">
                <a:latin typeface="Times New Roman"/>
                <a:cs typeface="Times New Roman"/>
              </a:rPr>
              <a:t>gets</a:t>
            </a:r>
            <a:r>
              <a:rPr sz="2400" spc="-27" dirty="0">
                <a:latin typeface="Times New Roman"/>
                <a:cs typeface="Times New Roman"/>
              </a:rPr>
              <a:t> </a:t>
            </a:r>
            <a:r>
              <a:rPr sz="2400" dirty="0">
                <a:latin typeface="Times New Roman"/>
                <a:cs typeface="Times New Roman"/>
              </a:rPr>
              <a:t>larger,</a:t>
            </a:r>
            <a:r>
              <a:rPr sz="2400" spc="-40" dirty="0">
                <a:latin typeface="Times New Roman"/>
                <a:cs typeface="Times New Roman"/>
              </a:rPr>
              <a:t> </a:t>
            </a:r>
            <a:r>
              <a:rPr sz="2400" spc="-13" dirty="0">
                <a:latin typeface="Times New Roman"/>
                <a:cs typeface="Times New Roman"/>
              </a:rPr>
              <a:t>developing </a:t>
            </a:r>
            <a:r>
              <a:rPr sz="2400" dirty="0">
                <a:latin typeface="Times New Roman"/>
                <a:cs typeface="Times New Roman"/>
              </a:rPr>
              <a:t>an</a:t>
            </a:r>
            <a:r>
              <a:rPr sz="2400" spc="-53" dirty="0">
                <a:latin typeface="Times New Roman"/>
                <a:cs typeface="Times New Roman"/>
              </a:rPr>
              <a:t> </a:t>
            </a:r>
            <a:r>
              <a:rPr sz="2400" dirty="0">
                <a:latin typeface="Times New Roman"/>
                <a:cs typeface="Times New Roman"/>
              </a:rPr>
              <a:t>exact</a:t>
            </a:r>
            <a:r>
              <a:rPr sz="2400" spc="-53" dirty="0">
                <a:latin typeface="Times New Roman"/>
                <a:cs typeface="Times New Roman"/>
              </a:rPr>
              <a:t> </a:t>
            </a:r>
            <a:r>
              <a:rPr sz="2400" dirty="0">
                <a:latin typeface="Times New Roman"/>
                <a:cs typeface="Times New Roman"/>
              </a:rPr>
              <a:t>model</a:t>
            </a:r>
            <a:r>
              <a:rPr sz="2400" spc="-27" dirty="0">
                <a:latin typeface="Times New Roman"/>
                <a:cs typeface="Times New Roman"/>
              </a:rPr>
              <a:t> </a:t>
            </a:r>
            <a:r>
              <a:rPr sz="2400" dirty="0">
                <a:latin typeface="Times New Roman"/>
                <a:cs typeface="Times New Roman"/>
              </a:rPr>
              <a:t>from</a:t>
            </a:r>
            <a:r>
              <a:rPr sz="2400" spc="-40" dirty="0">
                <a:latin typeface="Times New Roman"/>
                <a:cs typeface="Times New Roman"/>
              </a:rPr>
              <a:t> </a:t>
            </a:r>
            <a:r>
              <a:rPr sz="2400" dirty="0">
                <a:latin typeface="Times New Roman"/>
                <a:cs typeface="Times New Roman"/>
              </a:rPr>
              <a:t>first</a:t>
            </a:r>
            <a:r>
              <a:rPr sz="2400" spc="-47" dirty="0">
                <a:latin typeface="Times New Roman"/>
                <a:cs typeface="Times New Roman"/>
              </a:rPr>
              <a:t> </a:t>
            </a:r>
            <a:r>
              <a:rPr sz="2400" dirty="0">
                <a:latin typeface="Times New Roman"/>
                <a:cs typeface="Times New Roman"/>
              </a:rPr>
              <a:t>principle</a:t>
            </a:r>
            <a:r>
              <a:rPr sz="2400" spc="-53" dirty="0">
                <a:latin typeface="Times New Roman"/>
                <a:cs typeface="Times New Roman"/>
              </a:rPr>
              <a:t> </a:t>
            </a:r>
            <a:r>
              <a:rPr sz="2400" dirty="0">
                <a:latin typeface="Times New Roman"/>
                <a:cs typeface="Times New Roman"/>
              </a:rPr>
              <a:t>becomes</a:t>
            </a:r>
            <a:r>
              <a:rPr sz="2400" spc="-40"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difficult</a:t>
            </a:r>
            <a:r>
              <a:rPr sz="2400" spc="-53" dirty="0">
                <a:latin typeface="Times New Roman"/>
                <a:cs typeface="Times New Roman"/>
              </a:rPr>
              <a:t> </a:t>
            </a:r>
            <a:r>
              <a:rPr sz="2400" dirty="0">
                <a:latin typeface="Times New Roman"/>
                <a:cs typeface="Times New Roman"/>
              </a:rPr>
              <a:t>and</a:t>
            </a:r>
            <a:r>
              <a:rPr sz="2400" spc="-53" dirty="0">
                <a:latin typeface="Times New Roman"/>
                <a:cs typeface="Times New Roman"/>
              </a:rPr>
              <a:t> </a:t>
            </a:r>
            <a:r>
              <a:rPr sz="2400" dirty="0">
                <a:latin typeface="Times New Roman"/>
                <a:cs typeface="Times New Roman"/>
              </a:rPr>
              <a:t>labour‐intensive</a:t>
            </a:r>
            <a:r>
              <a:rPr sz="2400" spc="-67" dirty="0">
                <a:latin typeface="Times New Roman"/>
                <a:cs typeface="Times New Roman"/>
              </a:rPr>
              <a:t> </a:t>
            </a:r>
            <a:r>
              <a:rPr sz="2400" spc="-13" dirty="0">
                <a:latin typeface="Times New Roman"/>
                <a:cs typeface="Times New Roman"/>
              </a:rPr>
              <a:t>task.</a:t>
            </a:r>
            <a:endParaRPr sz="2400">
              <a:latin typeface="Times New Roman"/>
              <a:cs typeface="Times New Roman"/>
            </a:endParaRPr>
          </a:p>
          <a:p>
            <a:pPr marL="200655" indent="-190495">
              <a:spcBef>
                <a:spcPts val="433"/>
              </a:spcBef>
              <a:buSzPct val="94444"/>
              <a:buChar char="●"/>
              <a:tabLst>
                <a:tab pos="200655" algn="l"/>
              </a:tabLst>
            </a:pPr>
            <a:r>
              <a:rPr sz="2400" dirty="0">
                <a:latin typeface="Times New Roman"/>
                <a:cs typeface="Times New Roman"/>
              </a:rPr>
              <a:t>Approximate</a:t>
            </a:r>
            <a:r>
              <a:rPr sz="2400" spc="-47" dirty="0">
                <a:latin typeface="Times New Roman"/>
                <a:cs typeface="Times New Roman"/>
              </a:rPr>
              <a:t> </a:t>
            </a:r>
            <a:r>
              <a:rPr sz="2400" dirty="0">
                <a:latin typeface="Times New Roman"/>
                <a:cs typeface="Times New Roman"/>
              </a:rPr>
              <a:t>modelling</a:t>
            </a:r>
            <a:r>
              <a:rPr sz="2400" spc="-53" dirty="0">
                <a:latin typeface="Times New Roman"/>
                <a:cs typeface="Times New Roman"/>
              </a:rPr>
              <a:t> </a:t>
            </a:r>
            <a:r>
              <a:rPr sz="2400" dirty="0">
                <a:latin typeface="Times New Roman"/>
                <a:cs typeface="Times New Roman"/>
              </a:rPr>
              <a:t>relaxes</a:t>
            </a:r>
            <a:r>
              <a:rPr sz="2400" spc="-60" dirty="0">
                <a:latin typeface="Times New Roman"/>
                <a:cs typeface="Times New Roman"/>
              </a:rPr>
              <a:t> </a:t>
            </a:r>
            <a:r>
              <a:rPr sz="2400" dirty="0">
                <a:latin typeface="Times New Roman"/>
                <a:cs typeface="Times New Roman"/>
              </a:rPr>
              <a:t>some</a:t>
            </a:r>
            <a:r>
              <a:rPr sz="2400" spc="-27" dirty="0">
                <a:latin typeface="Times New Roman"/>
                <a:cs typeface="Times New Roman"/>
              </a:rPr>
              <a:t> </a:t>
            </a:r>
            <a:r>
              <a:rPr sz="2400" dirty="0">
                <a:latin typeface="Times New Roman"/>
                <a:cs typeface="Times New Roman"/>
              </a:rPr>
              <a:t>of</a:t>
            </a:r>
            <a:r>
              <a:rPr sz="2400" spc="-53" dirty="0">
                <a:latin typeface="Times New Roman"/>
                <a:cs typeface="Times New Roman"/>
              </a:rPr>
              <a:t> </a:t>
            </a:r>
            <a:r>
              <a:rPr sz="2400" dirty="0">
                <a:latin typeface="Times New Roman"/>
                <a:cs typeface="Times New Roman"/>
              </a:rPr>
              <a:t>the</a:t>
            </a:r>
            <a:r>
              <a:rPr sz="2400" spc="-47" dirty="0">
                <a:latin typeface="Times New Roman"/>
                <a:cs typeface="Times New Roman"/>
              </a:rPr>
              <a:t> </a:t>
            </a:r>
            <a:r>
              <a:rPr sz="2400" dirty="0">
                <a:latin typeface="Times New Roman"/>
                <a:cs typeface="Times New Roman"/>
              </a:rPr>
              <a:t>non‐linearities</a:t>
            </a:r>
            <a:r>
              <a:rPr sz="2400" spc="-87" dirty="0">
                <a:latin typeface="Times New Roman"/>
                <a:cs typeface="Times New Roman"/>
              </a:rPr>
              <a:t> </a:t>
            </a:r>
            <a:r>
              <a:rPr sz="2400" dirty="0">
                <a:latin typeface="Times New Roman"/>
                <a:cs typeface="Times New Roman"/>
              </a:rPr>
              <a:t>of</a:t>
            </a:r>
            <a:r>
              <a:rPr sz="2400" spc="-33" dirty="0">
                <a:latin typeface="Times New Roman"/>
                <a:cs typeface="Times New Roman"/>
              </a:rPr>
              <a:t> </a:t>
            </a:r>
            <a:r>
              <a:rPr sz="2400" dirty="0">
                <a:latin typeface="Times New Roman"/>
                <a:cs typeface="Times New Roman"/>
              </a:rPr>
              <a:t>the</a:t>
            </a:r>
            <a:r>
              <a:rPr sz="2400" spc="-47" dirty="0">
                <a:latin typeface="Times New Roman"/>
                <a:cs typeface="Times New Roman"/>
              </a:rPr>
              <a:t> </a:t>
            </a:r>
            <a:r>
              <a:rPr sz="2400" dirty="0">
                <a:latin typeface="Times New Roman"/>
                <a:cs typeface="Times New Roman"/>
              </a:rPr>
              <a:t>models</a:t>
            </a:r>
            <a:r>
              <a:rPr sz="2400" spc="-60" dirty="0">
                <a:latin typeface="Times New Roman"/>
                <a:cs typeface="Times New Roman"/>
              </a:rPr>
              <a:t> </a:t>
            </a:r>
            <a:r>
              <a:rPr sz="2400" dirty="0">
                <a:latin typeface="Times New Roman"/>
                <a:cs typeface="Times New Roman"/>
              </a:rPr>
              <a:t>to</a:t>
            </a:r>
            <a:r>
              <a:rPr sz="2400" spc="-33" dirty="0">
                <a:latin typeface="Times New Roman"/>
                <a:cs typeface="Times New Roman"/>
              </a:rPr>
              <a:t> </a:t>
            </a:r>
            <a:r>
              <a:rPr sz="2400" spc="-13" dirty="0">
                <a:latin typeface="Times New Roman"/>
                <a:cs typeface="Times New Roman"/>
              </a:rPr>
              <a:t>decrease</a:t>
            </a:r>
            <a:endParaRPr sz="2400">
              <a:latin typeface="Times New Roman"/>
              <a:cs typeface="Times New Roman"/>
            </a:endParaRPr>
          </a:p>
          <a:p>
            <a:pPr marL="16933">
              <a:spcBef>
                <a:spcPts val="433"/>
              </a:spcBef>
            </a:pPr>
            <a:r>
              <a:rPr sz="2400" dirty="0">
                <a:latin typeface="Times New Roman"/>
                <a:cs typeface="Times New Roman"/>
              </a:rPr>
              <a:t>the</a:t>
            </a:r>
            <a:r>
              <a:rPr sz="2400" spc="-47" dirty="0">
                <a:latin typeface="Times New Roman"/>
                <a:cs typeface="Times New Roman"/>
              </a:rPr>
              <a:t> </a:t>
            </a:r>
            <a:r>
              <a:rPr sz="2400" dirty="0">
                <a:latin typeface="Times New Roman"/>
                <a:cs typeface="Times New Roman"/>
              </a:rPr>
              <a:t>model</a:t>
            </a:r>
            <a:r>
              <a:rPr sz="2400" spc="-40" dirty="0">
                <a:latin typeface="Times New Roman"/>
                <a:cs typeface="Times New Roman"/>
              </a:rPr>
              <a:t> </a:t>
            </a:r>
            <a:r>
              <a:rPr sz="2400" dirty="0">
                <a:latin typeface="Times New Roman"/>
                <a:cs typeface="Times New Roman"/>
              </a:rPr>
              <a:t>computational</a:t>
            </a:r>
            <a:r>
              <a:rPr sz="2400" spc="-60" dirty="0">
                <a:latin typeface="Times New Roman"/>
                <a:cs typeface="Times New Roman"/>
              </a:rPr>
              <a:t> </a:t>
            </a:r>
            <a:r>
              <a:rPr sz="2400" dirty="0">
                <a:latin typeface="Times New Roman"/>
                <a:cs typeface="Times New Roman"/>
              </a:rPr>
              <a:t>burden</a:t>
            </a:r>
            <a:r>
              <a:rPr sz="2400" spc="-47" dirty="0">
                <a:latin typeface="Times New Roman"/>
                <a:cs typeface="Times New Roman"/>
              </a:rPr>
              <a:t> </a:t>
            </a:r>
            <a:r>
              <a:rPr sz="2400" dirty="0">
                <a:latin typeface="Times New Roman"/>
                <a:cs typeface="Times New Roman"/>
              </a:rPr>
              <a:t>and</a:t>
            </a:r>
            <a:r>
              <a:rPr sz="2400" spc="-27" dirty="0">
                <a:latin typeface="Times New Roman"/>
                <a:cs typeface="Times New Roman"/>
              </a:rPr>
              <a:t> </a:t>
            </a:r>
            <a:r>
              <a:rPr sz="2400" dirty="0">
                <a:latin typeface="Times New Roman"/>
                <a:cs typeface="Times New Roman"/>
              </a:rPr>
              <a:t>development</a:t>
            </a:r>
            <a:r>
              <a:rPr sz="2400" spc="-60" dirty="0">
                <a:latin typeface="Times New Roman"/>
                <a:cs typeface="Times New Roman"/>
              </a:rPr>
              <a:t> </a:t>
            </a:r>
            <a:r>
              <a:rPr sz="2400" spc="-27" dirty="0">
                <a:latin typeface="Times New Roman"/>
                <a:cs typeface="Times New Roman"/>
              </a:rPr>
              <a:t>time</a:t>
            </a:r>
            <a:endParaRPr sz="2400">
              <a:latin typeface="Times New Roman"/>
              <a:cs typeface="Times New Roman"/>
            </a:endParaRPr>
          </a:p>
        </p:txBody>
      </p:sp>
      <p:pic>
        <p:nvPicPr>
          <p:cNvPr id="4" name="object 4"/>
          <p:cNvPicPr/>
          <p:nvPr/>
        </p:nvPicPr>
        <p:blipFill>
          <a:blip r:embed="rId2" cstate="print"/>
          <a:stretch>
            <a:fillRect/>
          </a:stretch>
        </p:blipFill>
        <p:spPr>
          <a:xfrm>
            <a:off x="3669793" y="4185919"/>
            <a:ext cx="4852415" cy="26720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2966" y="466662"/>
            <a:ext cx="10933853" cy="3800849"/>
          </a:xfrm>
          <a:prstGeom prst="rect">
            <a:avLst/>
          </a:prstGeom>
        </p:spPr>
        <p:txBody>
          <a:bodyPr vert="horz" wrap="square" lIns="0" tIns="71120" rIns="0" bIns="0" rtlCol="0">
            <a:spAutoFit/>
          </a:bodyPr>
          <a:lstStyle/>
          <a:p>
            <a:pPr marL="473275" indent="-456342">
              <a:spcBef>
                <a:spcPts val="560"/>
              </a:spcBef>
              <a:buFont typeface="Times New Roman"/>
              <a:buChar char="●"/>
              <a:tabLst>
                <a:tab pos="473275" algn="l"/>
              </a:tabLst>
            </a:pPr>
            <a:r>
              <a:rPr sz="2400" dirty="0">
                <a:latin typeface="Times New Roman"/>
                <a:cs typeface="Times New Roman"/>
              </a:rPr>
              <a:t>The</a:t>
            </a:r>
            <a:r>
              <a:rPr sz="2400" spc="-53" dirty="0">
                <a:latin typeface="Times New Roman"/>
                <a:cs typeface="Times New Roman"/>
              </a:rPr>
              <a:t> </a:t>
            </a:r>
            <a:r>
              <a:rPr sz="2400" dirty="0">
                <a:latin typeface="Times New Roman"/>
                <a:cs typeface="Times New Roman"/>
              </a:rPr>
              <a:t>non‐linear</a:t>
            </a:r>
            <a:r>
              <a:rPr sz="2400" spc="-67" dirty="0">
                <a:latin typeface="Times New Roman"/>
                <a:cs typeface="Times New Roman"/>
              </a:rPr>
              <a:t> </a:t>
            </a:r>
            <a:r>
              <a:rPr sz="2400" dirty="0">
                <a:latin typeface="Times New Roman"/>
                <a:cs typeface="Times New Roman"/>
              </a:rPr>
              <a:t>approach</a:t>
            </a:r>
            <a:r>
              <a:rPr sz="2400" spc="-60" dirty="0">
                <a:latin typeface="Times New Roman"/>
                <a:cs typeface="Times New Roman"/>
              </a:rPr>
              <a:t> </a:t>
            </a:r>
            <a:r>
              <a:rPr sz="2400" dirty="0">
                <a:latin typeface="Times New Roman"/>
                <a:cs typeface="Times New Roman"/>
              </a:rPr>
              <a:t>includes</a:t>
            </a:r>
            <a:r>
              <a:rPr sz="2400" spc="-73" dirty="0">
                <a:latin typeface="Times New Roman"/>
                <a:cs typeface="Times New Roman"/>
              </a:rPr>
              <a:t> </a:t>
            </a:r>
            <a:r>
              <a:rPr sz="2400" dirty="0">
                <a:latin typeface="Times New Roman"/>
                <a:cs typeface="Times New Roman"/>
              </a:rPr>
              <a:t>approximations</a:t>
            </a:r>
            <a:r>
              <a:rPr sz="2400" spc="-67" dirty="0">
                <a:latin typeface="Times New Roman"/>
                <a:cs typeface="Times New Roman"/>
              </a:rPr>
              <a:t> </a:t>
            </a:r>
            <a:r>
              <a:rPr sz="2400" dirty="0">
                <a:latin typeface="Times New Roman"/>
                <a:cs typeface="Times New Roman"/>
              </a:rPr>
              <a:t>for</a:t>
            </a:r>
            <a:r>
              <a:rPr sz="2400" spc="-53" dirty="0">
                <a:latin typeface="Times New Roman"/>
                <a:cs typeface="Times New Roman"/>
              </a:rPr>
              <a:t> </a:t>
            </a:r>
            <a:r>
              <a:rPr sz="2400" dirty="0">
                <a:latin typeface="Times New Roman"/>
                <a:cs typeface="Times New Roman"/>
              </a:rPr>
              <a:t>simplification</a:t>
            </a:r>
            <a:r>
              <a:rPr sz="2400" spc="-73" dirty="0">
                <a:latin typeface="Times New Roman"/>
                <a:cs typeface="Times New Roman"/>
              </a:rPr>
              <a:t> </a:t>
            </a:r>
            <a:r>
              <a:rPr sz="2400" dirty="0">
                <a:latin typeface="Times New Roman"/>
                <a:cs typeface="Times New Roman"/>
              </a:rPr>
              <a:t>and</a:t>
            </a:r>
            <a:r>
              <a:rPr sz="2400" spc="-53" dirty="0">
                <a:latin typeface="Times New Roman"/>
                <a:cs typeface="Times New Roman"/>
              </a:rPr>
              <a:t> </a:t>
            </a:r>
            <a:r>
              <a:rPr sz="2400" dirty="0">
                <a:latin typeface="Times New Roman"/>
                <a:cs typeface="Times New Roman"/>
              </a:rPr>
              <a:t>is</a:t>
            </a:r>
            <a:r>
              <a:rPr sz="2400" spc="-47" dirty="0">
                <a:latin typeface="Times New Roman"/>
                <a:cs typeface="Times New Roman"/>
              </a:rPr>
              <a:t> </a:t>
            </a:r>
            <a:r>
              <a:rPr sz="2400" spc="-27" dirty="0">
                <a:latin typeface="Times New Roman"/>
                <a:cs typeface="Times New Roman"/>
              </a:rPr>
              <a:t>more</a:t>
            </a:r>
            <a:endParaRPr sz="2400">
              <a:latin typeface="Times New Roman"/>
              <a:cs typeface="Times New Roman"/>
            </a:endParaRPr>
          </a:p>
          <a:p>
            <a:pPr marL="473275">
              <a:spcBef>
                <a:spcPts val="433"/>
              </a:spcBef>
            </a:pPr>
            <a:r>
              <a:rPr sz="2400" dirty="0">
                <a:latin typeface="Times New Roman"/>
                <a:cs typeface="Times New Roman"/>
              </a:rPr>
              <a:t>accurate</a:t>
            </a:r>
            <a:r>
              <a:rPr sz="2400" spc="-60" dirty="0">
                <a:latin typeface="Times New Roman"/>
                <a:cs typeface="Times New Roman"/>
              </a:rPr>
              <a:t> </a:t>
            </a:r>
            <a:r>
              <a:rPr sz="2400" dirty="0">
                <a:latin typeface="Times New Roman"/>
                <a:cs typeface="Times New Roman"/>
              </a:rPr>
              <a:t>over</a:t>
            </a:r>
            <a:r>
              <a:rPr sz="2400" spc="-20" dirty="0">
                <a:latin typeface="Times New Roman"/>
                <a:cs typeface="Times New Roman"/>
              </a:rPr>
              <a:t> </a:t>
            </a:r>
            <a:r>
              <a:rPr sz="2400" dirty="0">
                <a:latin typeface="Times New Roman"/>
                <a:cs typeface="Times New Roman"/>
              </a:rPr>
              <a:t>a</a:t>
            </a:r>
            <a:r>
              <a:rPr sz="2400" spc="-27" dirty="0">
                <a:latin typeface="Times New Roman"/>
                <a:cs typeface="Times New Roman"/>
              </a:rPr>
              <a:t> </a:t>
            </a:r>
            <a:r>
              <a:rPr sz="2400" dirty="0">
                <a:latin typeface="Times New Roman"/>
                <a:cs typeface="Times New Roman"/>
              </a:rPr>
              <a:t>larger</a:t>
            </a:r>
            <a:r>
              <a:rPr sz="2400" spc="-47" dirty="0">
                <a:latin typeface="Times New Roman"/>
                <a:cs typeface="Times New Roman"/>
              </a:rPr>
              <a:t> </a:t>
            </a:r>
            <a:r>
              <a:rPr sz="2400" dirty="0">
                <a:latin typeface="Times New Roman"/>
                <a:cs typeface="Times New Roman"/>
              </a:rPr>
              <a:t>operation</a:t>
            </a:r>
            <a:r>
              <a:rPr sz="2400" spc="-40" dirty="0">
                <a:latin typeface="Times New Roman"/>
                <a:cs typeface="Times New Roman"/>
              </a:rPr>
              <a:t> </a:t>
            </a:r>
            <a:r>
              <a:rPr sz="2400" spc="-13" dirty="0">
                <a:latin typeface="Times New Roman"/>
                <a:cs typeface="Times New Roman"/>
              </a:rPr>
              <a:t>space.</a:t>
            </a:r>
            <a:endParaRPr sz="2400">
              <a:latin typeface="Times New Roman"/>
              <a:cs typeface="Times New Roman"/>
            </a:endParaRPr>
          </a:p>
          <a:p>
            <a:pPr marL="473275" marR="1177684" indent="-457189">
              <a:lnSpc>
                <a:spcPct val="114999"/>
              </a:lnSpc>
              <a:buChar char="●"/>
              <a:tabLst>
                <a:tab pos="473275" algn="l"/>
              </a:tabLst>
            </a:pPr>
            <a:r>
              <a:rPr sz="2400" dirty="0">
                <a:latin typeface="Times New Roman"/>
                <a:cs typeface="Times New Roman"/>
              </a:rPr>
              <a:t>When</a:t>
            </a:r>
            <a:r>
              <a:rPr sz="2400" spc="-27" dirty="0">
                <a:latin typeface="Times New Roman"/>
                <a:cs typeface="Times New Roman"/>
              </a:rPr>
              <a:t> </a:t>
            </a:r>
            <a:r>
              <a:rPr sz="2400" dirty="0">
                <a:latin typeface="Times New Roman"/>
                <a:cs typeface="Times New Roman"/>
              </a:rPr>
              <a:t>fully</a:t>
            </a:r>
            <a:r>
              <a:rPr sz="2400" spc="-47" dirty="0">
                <a:latin typeface="Times New Roman"/>
                <a:cs typeface="Times New Roman"/>
              </a:rPr>
              <a:t> </a:t>
            </a:r>
            <a:r>
              <a:rPr sz="2400" dirty="0">
                <a:latin typeface="Times New Roman"/>
                <a:cs typeface="Times New Roman"/>
              </a:rPr>
              <a:t>linearised,</a:t>
            </a:r>
            <a:r>
              <a:rPr sz="2400" spc="-67"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model</a:t>
            </a:r>
            <a:r>
              <a:rPr sz="2400" spc="-40" dirty="0">
                <a:latin typeface="Times New Roman"/>
                <a:cs typeface="Times New Roman"/>
              </a:rPr>
              <a:t> </a:t>
            </a:r>
            <a:r>
              <a:rPr sz="2400" dirty="0">
                <a:latin typeface="Times New Roman"/>
                <a:cs typeface="Times New Roman"/>
              </a:rPr>
              <a:t>becomes</a:t>
            </a:r>
            <a:r>
              <a:rPr sz="2400" spc="-33" dirty="0">
                <a:latin typeface="Times New Roman"/>
                <a:cs typeface="Times New Roman"/>
              </a:rPr>
              <a:t> </a:t>
            </a:r>
            <a:r>
              <a:rPr sz="2400" dirty="0">
                <a:latin typeface="Times New Roman"/>
                <a:cs typeface="Times New Roman"/>
              </a:rPr>
              <a:t>computationally</a:t>
            </a:r>
            <a:r>
              <a:rPr sz="2400" spc="-67" dirty="0">
                <a:latin typeface="Times New Roman"/>
                <a:cs typeface="Times New Roman"/>
              </a:rPr>
              <a:t> </a:t>
            </a:r>
            <a:r>
              <a:rPr sz="2400" dirty="0">
                <a:latin typeface="Times New Roman"/>
                <a:cs typeface="Times New Roman"/>
              </a:rPr>
              <a:t>efficient,</a:t>
            </a:r>
            <a:r>
              <a:rPr sz="2400" spc="-67" dirty="0">
                <a:latin typeface="Times New Roman"/>
                <a:cs typeface="Times New Roman"/>
              </a:rPr>
              <a:t> </a:t>
            </a:r>
            <a:r>
              <a:rPr sz="2400" dirty="0">
                <a:latin typeface="Times New Roman"/>
                <a:cs typeface="Times New Roman"/>
              </a:rPr>
              <a:t>yet</a:t>
            </a:r>
            <a:r>
              <a:rPr sz="2400" spc="-67" dirty="0">
                <a:latin typeface="Times New Roman"/>
                <a:cs typeface="Times New Roman"/>
              </a:rPr>
              <a:t> </a:t>
            </a:r>
            <a:r>
              <a:rPr sz="2400" spc="-33" dirty="0">
                <a:latin typeface="Times New Roman"/>
                <a:cs typeface="Times New Roman"/>
              </a:rPr>
              <a:t>the </a:t>
            </a:r>
            <a:r>
              <a:rPr sz="2400" dirty="0">
                <a:latin typeface="Times New Roman"/>
                <a:cs typeface="Times New Roman"/>
              </a:rPr>
              <a:t>performance</a:t>
            </a:r>
            <a:r>
              <a:rPr sz="2400" spc="-93" dirty="0">
                <a:latin typeface="Times New Roman"/>
                <a:cs typeface="Times New Roman"/>
              </a:rPr>
              <a:t> </a:t>
            </a:r>
            <a:r>
              <a:rPr sz="2400" dirty="0">
                <a:latin typeface="Times New Roman"/>
                <a:cs typeface="Times New Roman"/>
              </a:rPr>
              <a:t>(accuracy)</a:t>
            </a:r>
            <a:r>
              <a:rPr sz="2400" spc="-120" dirty="0">
                <a:latin typeface="Times New Roman"/>
                <a:cs typeface="Times New Roman"/>
              </a:rPr>
              <a:t> </a:t>
            </a:r>
            <a:r>
              <a:rPr sz="2400" spc="-13" dirty="0">
                <a:latin typeface="Times New Roman"/>
                <a:cs typeface="Times New Roman"/>
              </a:rPr>
              <a:t>degrades</a:t>
            </a:r>
            <a:endParaRPr sz="2400">
              <a:latin typeface="Times New Roman"/>
              <a:cs typeface="Times New Roman"/>
            </a:endParaRPr>
          </a:p>
          <a:p>
            <a:pPr marL="473275" marR="245527" indent="-457189">
              <a:lnSpc>
                <a:spcPct val="114999"/>
              </a:lnSpc>
              <a:buChar char="●"/>
              <a:tabLst>
                <a:tab pos="473275" algn="l"/>
              </a:tabLst>
            </a:pPr>
            <a:r>
              <a:rPr sz="2400" dirty="0">
                <a:latin typeface="Times New Roman"/>
                <a:cs typeface="Times New Roman"/>
              </a:rPr>
              <a:t>In</a:t>
            </a:r>
            <a:r>
              <a:rPr sz="2400" spc="-47" dirty="0">
                <a:latin typeface="Times New Roman"/>
                <a:cs typeface="Times New Roman"/>
              </a:rPr>
              <a:t> </a:t>
            </a:r>
            <a:r>
              <a:rPr sz="2400" dirty="0">
                <a:latin typeface="Times New Roman"/>
                <a:cs typeface="Times New Roman"/>
              </a:rPr>
              <a:t>pure</a:t>
            </a:r>
            <a:r>
              <a:rPr sz="2400" spc="-13" dirty="0">
                <a:latin typeface="Times New Roman"/>
                <a:cs typeface="Times New Roman"/>
              </a:rPr>
              <a:t> </a:t>
            </a:r>
            <a:r>
              <a:rPr sz="2400" dirty="0">
                <a:latin typeface="Times New Roman"/>
                <a:cs typeface="Times New Roman"/>
              </a:rPr>
              <a:t>data</a:t>
            </a:r>
            <a:r>
              <a:rPr sz="2400" spc="-47" dirty="0">
                <a:latin typeface="Times New Roman"/>
                <a:cs typeface="Times New Roman"/>
              </a:rPr>
              <a:t> </a:t>
            </a:r>
            <a:r>
              <a:rPr sz="2400" dirty="0">
                <a:latin typeface="Times New Roman"/>
                <a:cs typeface="Times New Roman"/>
              </a:rPr>
              <a:t>model</a:t>
            </a:r>
            <a:r>
              <a:rPr sz="2400" spc="-20" dirty="0">
                <a:latin typeface="Times New Roman"/>
                <a:cs typeface="Times New Roman"/>
              </a:rPr>
              <a:t> </a:t>
            </a:r>
            <a:r>
              <a:rPr sz="2400" dirty="0">
                <a:latin typeface="Times New Roman"/>
                <a:cs typeface="Times New Roman"/>
              </a:rPr>
              <a:t>approach</a:t>
            </a:r>
            <a:r>
              <a:rPr sz="2400" spc="-53" dirty="0">
                <a:latin typeface="Times New Roman"/>
                <a:cs typeface="Times New Roman"/>
              </a:rPr>
              <a:t> </a:t>
            </a:r>
            <a:r>
              <a:rPr sz="2400" dirty="0">
                <a:latin typeface="Times New Roman"/>
                <a:cs typeface="Times New Roman"/>
              </a:rPr>
              <a:t>only</a:t>
            </a:r>
            <a:r>
              <a:rPr sz="2400" spc="-40" dirty="0">
                <a:latin typeface="Times New Roman"/>
                <a:cs typeface="Times New Roman"/>
              </a:rPr>
              <a:t> </a:t>
            </a:r>
            <a:r>
              <a:rPr sz="2400" dirty="0">
                <a:latin typeface="Times New Roman"/>
                <a:cs typeface="Times New Roman"/>
              </a:rPr>
              <a:t>data</a:t>
            </a:r>
            <a:r>
              <a:rPr sz="2400" spc="-33" dirty="0">
                <a:latin typeface="Times New Roman"/>
                <a:cs typeface="Times New Roman"/>
              </a:rPr>
              <a:t> </a:t>
            </a:r>
            <a:r>
              <a:rPr sz="2400" dirty="0">
                <a:latin typeface="Times New Roman"/>
                <a:cs typeface="Times New Roman"/>
              </a:rPr>
              <a:t>is</a:t>
            </a:r>
            <a:r>
              <a:rPr sz="2400" spc="-40" dirty="0">
                <a:latin typeface="Times New Roman"/>
                <a:cs typeface="Times New Roman"/>
              </a:rPr>
              <a:t> </a:t>
            </a:r>
            <a:r>
              <a:rPr sz="2400" dirty="0">
                <a:latin typeface="Times New Roman"/>
                <a:cs typeface="Times New Roman"/>
              </a:rPr>
              <a:t>used</a:t>
            </a:r>
            <a:r>
              <a:rPr sz="2400" spc="-27" dirty="0">
                <a:latin typeface="Times New Roman"/>
                <a:cs typeface="Times New Roman"/>
              </a:rPr>
              <a:t> </a:t>
            </a:r>
            <a:r>
              <a:rPr sz="2400" dirty="0">
                <a:latin typeface="Times New Roman"/>
                <a:cs typeface="Times New Roman"/>
              </a:rPr>
              <a:t>for</a:t>
            </a:r>
            <a:r>
              <a:rPr sz="2400" spc="-40" dirty="0">
                <a:latin typeface="Times New Roman"/>
                <a:cs typeface="Times New Roman"/>
              </a:rPr>
              <a:t> </a:t>
            </a:r>
            <a:r>
              <a:rPr sz="2400" dirty="0">
                <a:latin typeface="Times New Roman"/>
                <a:cs typeface="Times New Roman"/>
              </a:rPr>
              <a:t>modelling.</a:t>
            </a:r>
            <a:r>
              <a:rPr sz="2400" spc="-27" dirty="0">
                <a:latin typeface="Times New Roman"/>
                <a:cs typeface="Times New Roman"/>
              </a:rPr>
              <a:t> </a:t>
            </a:r>
            <a:r>
              <a:rPr sz="2400" dirty="0">
                <a:latin typeface="Times New Roman"/>
                <a:cs typeface="Times New Roman"/>
              </a:rPr>
              <a:t>Both</a:t>
            </a:r>
            <a:r>
              <a:rPr sz="2400" spc="-40"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structure</a:t>
            </a:r>
            <a:r>
              <a:rPr sz="2400" spc="-47" dirty="0">
                <a:latin typeface="Times New Roman"/>
                <a:cs typeface="Times New Roman"/>
              </a:rPr>
              <a:t> </a:t>
            </a:r>
            <a:r>
              <a:rPr sz="2400" spc="-33" dirty="0">
                <a:latin typeface="Times New Roman"/>
                <a:cs typeface="Times New Roman"/>
              </a:rPr>
              <a:t>and </a:t>
            </a:r>
            <a:r>
              <a:rPr sz="2400" dirty="0">
                <a:latin typeface="Times New Roman"/>
                <a:cs typeface="Times New Roman"/>
              </a:rPr>
              <a:t>the</a:t>
            </a:r>
            <a:r>
              <a:rPr sz="2400" spc="-47" dirty="0">
                <a:latin typeface="Times New Roman"/>
                <a:cs typeface="Times New Roman"/>
              </a:rPr>
              <a:t> </a:t>
            </a:r>
            <a:r>
              <a:rPr sz="2400" dirty="0">
                <a:latin typeface="Times New Roman"/>
                <a:cs typeface="Times New Roman"/>
              </a:rPr>
              <a:t>parameters</a:t>
            </a:r>
            <a:r>
              <a:rPr sz="2400" spc="-53" dirty="0">
                <a:latin typeface="Times New Roman"/>
                <a:cs typeface="Times New Roman"/>
              </a:rPr>
              <a:t> </a:t>
            </a:r>
            <a:r>
              <a:rPr sz="2400" dirty="0">
                <a:latin typeface="Times New Roman"/>
                <a:cs typeface="Times New Roman"/>
              </a:rPr>
              <a:t>are</a:t>
            </a:r>
            <a:r>
              <a:rPr sz="2400" spc="-47" dirty="0">
                <a:latin typeface="Times New Roman"/>
                <a:cs typeface="Times New Roman"/>
              </a:rPr>
              <a:t> </a:t>
            </a:r>
            <a:r>
              <a:rPr sz="2400" dirty="0">
                <a:latin typeface="Times New Roman"/>
                <a:cs typeface="Times New Roman"/>
              </a:rPr>
              <a:t>learned</a:t>
            </a:r>
            <a:r>
              <a:rPr sz="2400" spc="-60" dirty="0">
                <a:latin typeface="Times New Roman"/>
                <a:cs typeface="Times New Roman"/>
              </a:rPr>
              <a:t> </a:t>
            </a:r>
            <a:r>
              <a:rPr sz="2400" dirty="0">
                <a:latin typeface="Times New Roman"/>
                <a:cs typeface="Times New Roman"/>
              </a:rPr>
              <a:t>from</a:t>
            </a:r>
            <a:r>
              <a:rPr sz="2400" spc="-47"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spc="-27" dirty="0">
                <a:latin typeface="Times New Roman"/>
                <a:cs typeface="Times New Roman"/>
              </a:rPr>
              <a:t>data</a:t>
            </a:r>
            <a:endParaRPr sz="2400">
              <a:latin typeface="Times New Roman"/>
              <a:cs typeface="Times New Roman"/>
            </a:endParaRPr>
          </a:p>
          <a:p>
            <a:pPr marL="473275" marR="6773" indent="-457189">
              <a:lnSpc>
                <a:spcPct val="114999"/>
              </a:lnSpc>
              <a:buChar char="●"/>
              <a:tabLst>
                <a:tab pos="473275" algn="l"/>
              </a:tabLst>
            </a:pPr>
            <a:r>
              <a:rPr sz="2400" dirty="0">
                <a:latin typeface="Times New Roman"/>
                <a:cs typeface="Times New Roman"/>
              </a:rPr>
              <a:t>Hybrid</a:t>
            </a:r>
            <a:r>
              <a:rPr sz="2400" spc="-67" dirty="0">
                <a:latin typeface="Times New Roman"/>
                <a:cs typeface="Times New Roman"/>
              </a:rPr>
              <a:t> </a:t>
            </a:r>
            <a:r>
              <a:rPr sz="2400" dirty="0">
                <a:latin typeface="Times New Roman"/>
                <a:cs typeface="Times New Roman"/>
              </a:rPr>
              <a:t>modelling</a:t>
            </a:r>
            <a:r>
              <a:rPr sz="2400" spc="-40" dirty="0">
                <a:latin typeface="Times New Roman"/>
                <a:cs typeface="Times New Roman"/>
              </a:rPr>
              <a:t> </a:t>
            </a:r>
            <a:r>
              <a:rPr sz="2400" dirty="0">
                <a:latin typeface="Times New Roman"/>
                <a:cs typeface="Times New Roman"/>
              </a:rPr>
              <a:t>uses</a:t>
            </a:r>
            <a:r>
              <a:rPr sz="2400" spc="-20" dirty="0">
                <a:latin typeface="Times New Roman"/>
                <a:cs typeface="Times New Roman"/>
              </a:rPr>
              <a:t> </a:t>
            </a:r>
            <a:r>
              <a:rPr sz="2400" dirty="0">
                <a:latin typeface="Times New Roman"/>
                <a:cs typeface="Times New Roman"/>
              </a:rPr>
              <a:t>a</a:t>
            </a:r>
            <a:r>
              <a:rPr sz="2400" spc="-27" dirty="0">
                <a:latin typeface="Times New Roman"/>
                <a:cs typeface="Times New Roman"/>
              </a:rPr>
              <a:t> </a:t>
            </a:r>
            <a:r>
              <a:rPr sz="2400" dirty="0">
                <a:latin typeface="Times New Roman"/>
                <a:cs typeface="Times New Roman"/>
              </a:rPr>
              <a:t>combination</a:t>
            </a:r>
            <a:r>
              <a:rPr sz="2400" spc="-33" dirty="0">
                <a:latin typeface="Times New Roman"/>
                <a:cs typeface="Times New Roman"/>
              </a:rPr>
              <a:t> </a:t>
            </a:r>
            <a:r>
              <a:rPr sz="2400" dirty="0">
                <a:latin typeface="Times New Roman"/>
                <a:cs typeface="Times New Roman"/>
              </a:rPr>
              <a:t>of</a:t>
            </a:r>
            <a:r>
              <a:rPr sz="2400" spc="-33" dirty="0">
                <a:latin typeface="Times New Roman"/>
                <a:cs typeface="Times New Roman"/>
              </a:rPr>
              <a:t> </a:t>
            </a:r>
            <a:r>
              <a:rPr sz="2400" dirty="0">
                <a:latin typeface="Times New Roman"/>
                <a:cs typeface="Times New Roman"/>
              </a:rPr>
              <a:t>both</a:t>
            </a:r>
            <a:r>
              <a:rPr sz="2400" spc="-13"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first</a:t>
            </a:r>
            <a:r>
              <a:rPr sz="2400" spc="-20" dirty="0">
                <a:latin typeface="Times New Roman"/>
                <a:cs typeface="Times New Roman"/>
              </a:rPr>
              <a:t> </a:t>
            </a:r>
            <a:r>
              <a:rPr sz="2400" dirty="0">
                <a:latin typeface="Times New Roman"/>
                <a:cs typeface="Times New Roman"/>
              </a:rPr>
              <a:t>principle</a:t>
            </a:r>
            <a:r>
              <a:rPr sz="2400" spc="-53" dirty="0">
                <a:latin typeface="Times New Roman"/>
                <a:cs typeface="Times New Roman"/>
              </a:rPr>
              <a:t> </a:t>
            </a:r>
            <a:r>
              <a:rPr sz="2400" dirty="0">
                <a:latin typeface="Times New Roman"/>
                <a:cs typeface="Times New Roman"/>
              </a:rPr>
              <a:t>as</a:t>
            </a:r>
            <a:r>
              <a:rPr sz="2400" spc="-20" dirty="0">
                <a:latin typeface="Times New Roman"/>
                <a:cs typeface="Times New Roman"/>
              </a:rPr>
              <a:t> </a:t>
            </a:r>
            <a:r>
              <a:rPr sz="2400" dirty="0">
                <a:latin typeface="Times New Roman"/>
                <a:cs typeface="Times New Roman"/>
              </a:rPr>
              <a:t>well</a:t>
            </a:r>
            <a:r>
              <a:rPr sz="2400" spc="-27" dirty="0">
                <a:latin typeface="Times New Roman"/>
                <a:cs typeface="Times New Roman"/>
              </a:rPr>
              <a:t> </a:t>
            </a:r>
            <a:r>
              <a:rPr sz="2400" dirty="0">
                <a:latin typeface="Times New Roman"/>
                <a:cs typeface="Times New Roman"/>
              </a:rPr>
              <a:t>as</a:t>
            </a:r>
            <a:r>
              <a:rPr sz="2400" spc="-40" dirty="0">
                <a:latin typeface="Times New Roman"/>
                <a:cs typeface="Times New Roman"/>
              </a:rPr>
              <a:t> </a:t>
            </a:r>
            <a:r>
              <a:rPr sz="2400" spc="-13" dirty="0">
                <a:latin typeface="Times New Roman"/>
                <a:cs typeface="Times New Roman"/>
              </a:rPr>
              <a:t>data‐driven </a:t>
            </a:r>
            <a:r>
              <a:rPr sz="2400" dirty="0">
                <a:latin typeface="Times New Roman"/>
                <a:cs typeface="Times New Roman"/>
              </a:rPr>
              <a:t>modelling.In</a:t>
            </a:r>
            <a:r>
              <a:rPr sz="2400" spc="-67" dirty="0">
                <a:latin typeface="Times New Roman"/>
                <a:cs typeface="Times New Roman"/>
              </a:rPr>
              <a:t> </a:t>
            </a:r>
            <a:r>
              <a:rPr sz="2400" dirty="0">
                <a:latin typeface="Times New Roman"/>
                <a:cs typeface="Times New Roman"/>
              </a:rPr>
              <a:t>this</a:t>
            </a:r>
            <a:r>
              <a:rPr sz="2400" spc="-40" dirty="0">
                <a:latin typeface="Times New Roman"/>
                <a:cs typeface="Times New Roman"/>
              </a:rPr>
              <a:t> </a:t>
            </a:r>
            <a:r>
              <a:rPr sz="2400" dirty="0">
                <a:latin typeface="Times New Roman"/>
                <a:cs typeface="Times New Roman"/>
              </a:rPr>
              <a:t>case,</a:t>
            </a:r>
            <a:r>
              <a:rPr sz="2400" spc="-53" dirty="0">
                <a:latin typeface="Times New Roman"/>
                <a:cs typeface="Times New Roman"/>
              </a:rPr>
              <a:t> </a:t>
            </a:r>
            <a:r>
              <a:rPr sz="2400" dirty="0">
                <a:latin typeface="Times New Roman"/>
                <a:cs typeface="Times New Roman"/>
              </a:rPr>
              <a:t>the</a:t>
            </a:r>
            <a:r>
              <a:rPr sz="2400" spc="-47" dirty="0">
                <a:latin typeface="Times New Roman"/>
                <a:cs typeface="Times New Roman"/>
              </a:rPr>
              <a:t> </a:t>
            </a:r>
            <a:r>
              <a:rPr sz="2400" dirty="0">
                <a:latin typeface="Times New Roman"/>
                <a:cs typeface="Times New Roman"/>
              </a:rPr>
              <a:t>first</a:t>
            </a:r>
            <a:r>
              <a:rPr sz="2400" spc="-47" dirty="0">
                <a:latin typeface="Times New Roman"/>
                <a:cs typeface="Times New Roman"/>
              </a:rPr>
              <a:t> </a:t>
            </a:r>
            <a:r>
              <a:rPr sz="2400" dirty="0">
                <a:latin typeface="Times New Roman"/>
                <a:cs typeface="Times New Roman"/>
              </a:rPr>
              <a:t>principle</a:t>
            </a:r>
            <a:r>
              <a:rPr sz="2400" spc="-53" dirty="0">
                <a:latin typeface="Times New Roman"/>
                <a:cs typeface="Times New Roman"/>
              </a:rPr>
              <a:t> </a:t>
            </a:r>
            <a:r>
              <a:rPr sz="2400" dirty="0">
                <a:latin typeface="Times New Roman"/>
                <a:cs typeface="Times New Roman"/>
              </a:rPr>
              <a:t>model</a:t>
            </a:r>
            <a:r>
              <a:rPr sz="2400" spc="-47" dirty="0">
                <a:latin typeface="Times New Roman"/>
                <a:cs typeface="Times New Roman"/>
              </a:rPr>
              <a:t> </a:t>
            </a:r>
            <a:r>
              <a:rPr sz="2400" dirty="0">
                <a:latin typeface="Times New Roman"/>
                <a:cs typeface="Times New Roman"/>
              </a:rPr>
              <a:t>provides</a:t>
            </a:r>
            <a:r>
              <a:rPr sz="2400" spc="-47" dirty="0">
                <a:latin typeface="Times New Roman"/>
                <a:cs typeface="Times New Roman"/>
              </a:rPr>
              <a:t> </a:t>
            </a:r>
            <a:r>
              <a:rPr sz="2400" dirty="0">
                <a:latin typeface="Times New Roman"/>
                <a:cs typeface="Times New Roman"/>
              </a:rPr>
              <a:t>some</a:t>
            </a:r>
            <a:r>
              <a:rPr sz="2400" spc="-13" dirty="0">
                <a:latin typeface="Times New Roman"/>
                <a:cs typeface="Times New Roman"/>
              </a:rPr>
              <a:t> </a:t>
            </a:r>
            <a:r>
              <a:rPr sz="2400" dirty="0">
                <a:latin typeface="Times New Roman"/>
                <a:cs typeface="Times New Roman"/>
              </a:rPr>
              <a:t>information</a:t>
            </a:r>
            <a:r>
              <a:rPr sz="2400" spc="-67" dirty="0">
                <a:latin typeface="Times New Roman"/>
                <a:cs typeface="Times New Roman"/>
              </a:rPr>
              <a:t> </a:t>
            </a:r>
            <a:r>
              <a:rPr sz="2400" dirty="0">
                <a:latin typeface="Times New Roman"/>
                <a:cs typeface="Times New Roman"/>
              </a:rPr>
              <a:t>about</a:t>
            </a:r>
            <a:r>
              <a:rPr sz="2400" spc="-40" dirty="0">
                <a:latin typeface="Times New Roman"/>
                <a:cs typeface="Times New Roman"/>
              </a:rPr>
              <a:t> </a:t>
            </a:r>
            <a:r>
              <a:rPr sz="2400" spc="-33" dirty="0">
                <a:latin typeface="Times New Roman"/>
                <a:cs typeface="Times New Roman"/>
              </a:rPr>
              <a:t>the </a:t>
            </a:r>
            <a:r>
              <a:rPr sz="2400" dirty="0">
                <a:latin typeface="Times New Roman"/>
                <a:cs typeface="Times New Roman"/>
              </a:rPr>
              <a:t>structure,</a:t>
            </a:r>
            <a:r>
              <a:rPr sz="2400" spc="-60" dirty="0">
                <a:latin typeface="Times New Roman"/>
                <a:cs typeface="Times New Roman"/>
              </a:rPr>
              <a:t> </a:t>
            </a:r>
            <a:r>
              <a:rPr sz="2400" dirty="0">
                <a:latin typeface="Times New Roman"/>
                <a:cs typeface="Times New Roman"/>
              </a:rPr>
              <a:t>whereas</a:t>
            </a:r>
            <a:r>
              <a:rPr sz="2400" spc="-53" dirty="0">
                <a:latin typeface="Times New Roman"/>
                <a:cs typeface="Times New Roman"/>
              </a:rPr>
              <a:t> </a:t>
            </a:r>
            <a:r>
              <a:rPr sz="2400" dirty="0">
                <a:latin typeface="Times New Roman"/>
                <a:cs typeface="Times New Roman"/>
              </a:rPr>
              <a:t>some</a:t>
            </a:r>
            <a:r>
              <a:rPr sz="2400" spc="-27" dirty="0">
                <a:latin typeface="Times New Roman"/>
                <a:cs typeface="Times New Roman"/>
              </a:rPr>
              <a:t> </a:t>
            </a:r>
            <a:r>
              <a:rPr sz="2400" dirty="0">
                <a:latin typeface="Times New Roman"/>
                <a:cs typeface="Times New Roman"/>
              </a:rPr>
              <a:t>parameters</a:t>
            </a:r>
            <a:r>
              <a:rPr sz="2400" spc="-53" dirty="0">
                <a:latin typeface="Times New Roman"/>
                <a:cs typeface="Times New Roman"/>
              </a:rPr>
              <a:t> </a:t>
            </a:r>
            <a:r>
              <a:rPr sz="2400" dirty="0">
                <a:latin typeface="Times New Roman"/>
                <a:cs typeface="Times New Roman"/>
              </a:rPr>
              <a:t>are</a:t>
            </a:r>
            <a:r>
              <a:rPr sz="2400" spc="-47" dirty="0">
                <a:latin typeface="Times New Roman"/>
                <a:cs typeface="Times New Roman"/>
              </a:rPr>
              <a:t> </a:t>
            </a:r>
            <a:r>
              <a:rPr sz="2400" dirty="0">
                <a:latin typeface="Times New Roman"/>
                <a:cs typeface="Times New Roman"/>
              </a:rPr>
              <a:t>learned</a:t>
            </a:r>
            <a:r>
              <a:rPr sz="2400" spc="-60" dirty="0">
                <a:latin typeface="Times New Roman"/>
                <a:cs typeface="Times New Roman"/>
              </a:rPr>
              <a:t> </a:t>
            </a:r>
            <a:r>
              <a:rPr sz="2400" dirty="0">
                <a:latin typeface="Times New Roman"/>
                <a:cs typeface="Times New Roman"/>
              </a:rPr>
              <a:t>using</a:t>
            </a:r>
            <a:r>
              <a:rPr sz="2400" spc="-33" dirty="0">
                <a:latin typeface="Times New Roman"/>
                <a:cs typeface="Times New Roman"/>
              </a:rPr>
              <a:t> </a:t>
            </a:r>
            <a:r>
              <a:rPr sz="2400" spc="-13" dirty="0">
                <a:latin typeface="Times New Roman"/>
                <a:cs typeface="Times New Roman"/>
              </a:rPr>
              <a:t>data.</a:t>
            </a:r>
            <a:endParaRPr sz="24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5B250-A59B-E345-8525-5A00410398CA}"/>
              </a:ext>
            </a:extLst>
          </p:cNvPr>
          <p:cNvSpPr>
            <a:spLocks noGrp="1"/>
          </p:cNvSpPr>
          <p:nvPr>
            <p:ph type="title"/>
          </p:nvPr>
        </p:nvSpPr>
        <p:spPr>
          <a:xfrm>
            <a:off x="218440" y="213360"/>
            <a:ext cx="10515600" cy="772795"/>
          </a:xfrm>
        </p:spPr>
        <p:txBody>
          <a:bodyPr/>
          <a:lstStyle/>
          <a:p>
            <a:r>
              <a:rPr lang="en-IN" dirty="0"/>
              <a:t>BASIC BLOCKS OF DMS</a:t>
            </a:r>
          </a:p>
        </p:txBody>
      </p:sp>
      <p:pic>
        <p:nvPicPr>
          <p:cNvPr id="5" name="Content Placeholder 4">
            <a:extLst>
              <a:ext uri="{FF2B5EF4-FFF2-40B4-BE49-F238E27FC236}">
                <a16:creationId xmlns:a16="http://schemas.microsoft.com/office/drawing/2014/main" id="{B8875409-92D8-2A48-5547-433541CD4F2A}"/>
              </a:ext>
            </a:extLst>
          </p:cNvPr>
          <p:cNvPicPr>
            <a:picLocks noGrp="1" noChangeAspect="1"/>
          </p:cNvPicPr>
          <p:nvPr>
            <p:ph idx="1"/>
          </p:nvPr>
        </p:nvPicPr>
        <p:blipFill>
          <a:blip r:embed="rId2"/>
          <a:stretch>
            <a:fillRect/>
          </a:stretch>
        </p:blipFill>
        <p:spPr>
          <a:xfrm>
            <a:off x="2756922" y="986155"/>
            <a:ext cx="9160758" cy="5658485"/>
          </a:xfrm>
        </p:spPr>
      </p:pic>
    </p:spTree>
    <p:extLst>
      <p:ext uri="{BB962C8B-B14F-4D97-AF65-F5344CB8AC3E}">
        <p14:creationId xmlns:p14="http://schemas.microsoft.com/office/powerpoint/2010/main" val="3690139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C7E93-51B3-983E-DB74-76FF71CEE6D3}"/>
              </a:ext>
            </a:extLst>
          </p:cNvPr>
          <p:cNvSpPr>
            <a:spLocks noGrp="1"/>
          </p:cNvSpPr>
          <p:nvPr>
            <p:ph type="title"/>
          </p:nvPr>
        </p:nvSpPr>
        <p:spPr>
          <a:xfrm>
            <a:off x="640080" y="325369"/>
            <a:ext cx="4368602" cy="1956841"/>
          </a:xfrm>
        </p:spPr>
        <p:txBody>
          <a:bodyPr anchor="b">
            <a:normAutofit/>
          </a:bodyPr>
          <a:lstStyle/>
          <a:p>
            <a:r>
              <a:rPr lang="en-IN" sz="5400"/>
              <a:t>DMS Functions</a:t>
            </a:r>
          </a:p>
        </p:txBody>
      </p:sp>
      <p:sp>
        <p:nvSpPr>
          <p:cNvPr id="3" name="Content Placeholder 2">
            <a:extLst>
              <a:ext uri="{FF2B5EF4-FFF2-40B4-BE49-F238E27FC236}">
                <a16:creationId xmlns:a16="http://schemas.microsoft.com/office/drawing/2014/main" id="{3256FFAF-40AF-4600-F3B0-F81EC4713E29}"/>
              </a:ext>
            </a:extLst>
          </p:cNvPr>
          <p:cNvSpPr>
            <a:spLocks noGrp="1"/>
          </p:cNvSpPr>
          <p:nvPr>
            <p:ph idx="1"/>
          </p:nvPr>
        </p:nvSpPr>
        <p:spPr>
          <a:xfrm>
            <a:off x="640080" y="2872899"/>
            <a:ext cx="4243589" cy="3320668"/>
          </a:xfrm>
        </p:spPr>
        <p:txBody>
          <a:bodyPr>
            <a:normAutofit/>
          </a:bodyPr>
          <a:lstStyle/>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a:ln>
                  <a:noFill/>
                </a:ln>
                <a:effectLst/>
                <a:uLnTx/>
                <a:uFillTx/>
                <a:latin typeface="Trebuchet MS" panose="020B0603020202020204"/>
                <a:ea typeface="+mn-ea"/>
                <a:cs typeface="+mn-cs"/>
              </a:rPr>
              <a:t>Network visualization &amp; support tools</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a:ln>
                  <a:noFill/>
                </a:ln>
                <a:effectLst/>
                <a:uLnTx/>
                <a:uFillTx/>
                <a:latin typeface="Trebuchet MS" panose="020B0603020202020204"/>
                <a:ea typeface="+mn-ea"/>
                <a:cs typeface="+mn-cs"/>
              </a:rPr>
              <a:t>Applications for Analytical &amp; Remedial Action</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a:ln>
                  <a:noFill/>
                </a:ln>
                <a:effectLst/>
                <a:uLnTx/>
                <a:uFillTx/>
                <a:latin typeface="Trebuchet MS" panose="020B0603020202020204"/>
                <a:ea typeface="+mn-ea"/>
                <a:cs typeface="+mn-cs"/>
              </a:rPr>
              <a:t>Utility Planning Tools</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a:ln>
                  <a:noFill/>
                </a:ln>
                <a:effectLst/>
                <a:uLnTx/>
                <a:uFillTx/>
                <a:latin typeface="Trebuchet MS" panose="020B0603020202020204"/>
                <a:ea typeface="+mn-ea"/>
                <a:cs typeface="+mn-cs"/>
              </a:rPr>
              <a:t>System Protection Schemes</a:t>
            </a:r>
          </a:p>
          <a:p>
            <a:endParaRPr lang="en-IN" sz="2200"/>
          </a:p>
        </p:txBody>
      </p:sp>
      <p:pic>
        <p:nvPicPr>
          <p:cNvPr id="5" name="Picture 4" descr="Metallic spheres connected in mesh">
            <a:extLst>
              <a:ext uri="{FF2B5EF4-FFF2-40B4-BE49-F238E27FC236}">
                <a16:creationId xmlns:a16="http://schemas.microsoft.com/office/drawing/2014/main" id="{FE89916B-F2D5-96EE-B392-04CCC7E60987}"/>
              </a:ext>
            </a:extLst>
          </p:cNvPr>
          <p:cNvPicPr>
            <a:picLocks noChangeAspect="1"/>
          </p:cNvPicPr>
          <p:nvPr/>
        </p:nvPicPr>
        <p:blipFill rotWithShape="1">
          <a:blip r:embed="rId2"/>
          <a:srcRect l="15298" r="17749"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84212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D12B2-7529-F1D8-9885-401667A87514}"/>
              </a:ext>
            </a:extLst>
          </p:cNvPr>
          <p:cNvSpPr>
            <a:spLocks noGrp="1"/>
          </p:cNvSpPr>
          <p:nvPr>
            <p:ph type="title"/>
          </p:nvPr>
        </p:nvSpPr>
        <p:spPr>
          <a:xfrm>
            <a:off x="838200" y="365125"/>
            <a:ext cx="10515600" cy="1325563"/>
          </a:xfrm>
        </p:spPr>
        <p:txBody>
          <a:bodyPr>
            <a:normAutofit/>
          </a:bodyPr>
          <a:lstStyle/>
          <a:p>
            <a:r>
              <a:rPr kumimoji="0" lang="en-US" sz="5400" b="0" i="0" u="none" strike="noStrike" kern="1200" cap="none" spc="0" normalizeH="0" baseline="0" noProof="0">
                <a:ln>
                  <a:noFill/>
                </a:ln>
                <a:effectLst/>
                <a:uLnTx/>
                <a:uFillTx/>
                <a:latin typeface="Trebuchet MS" panose="020B0603020202020204"/>
                <a:ea typeface="+mj-ea"/>
                <a:cs typeface="+mj-cs"/>
              </a:rPr>
              <a:t>Structure of DMS</a:t>
            </a:r>
            <a:endParaRPr lang="en-IN" sz="5400"/>
          </a:p>
        </p:txBody>
      </p:sp>
      <p:sp>
        <p:nvSpPr>
          <p:cNvPr id="3" name="Content Placeholder 2">
            <a:extLst>
              <a:ext uri="{FF2B5EF4-FFF2-40B4-BE49-F238E27FC236}">
                <a16:creationId xmlns:a16="http://schemas.microsoft.com/office/drawing/2014/main" id="{8D5DBC3D-00ED-F58C-B65E-D391E9F889E3}"/>
              </a:ext>
            </a:extLst>
          </p:cNvPr>
          <p:cNvSpPr>
            <a:spLocks noGrp="1"/>
          </p:cNvSpPr>
          <p:nvPr>
            <p:ph idx="1"/>
          </p:nvPr>
        </p:nvSpPr>
        <p:spPr>
          <a:xfrm>
            <a:off x="838200" y="1929384"/>
            <a:ext cx="10515600" cy="4251960"/>
          </a:xfrm>
        </p:spPr>
        <p:txBody>
          <a:bodyPr>
            <a:normAutofit/>
          </a:bodyPr>
          <a:lstStyle/>
          <a:p>
            <a:pPr marL="0" marR="0" lvl="0" indent="0" defTabSz="457200" rtl="0" eaLnBrk="1" fontAlgn="auto" latinLnBrk="0" hangingPunct="1">
              <a:spcBef>
                <a:spcPts val="1000"/>
              </a:spcBef>
              <a:spcAft>
                <a:spcPts val="0"/>
              </a:spcAft>
              <a:buClr>
                <a:srgbClr val="90C226"/>
              </a:buClr>
              <a:buSzPct val="80000"/>
              <a:buFont typeface="Wingdings 3" charset="2"/>
              <a:buNone/>
              <a:tabLst/>
              <a:defRPr/>
            </a:pPr>
            <a:r>
              <a:rPr kumimoji="0" lang="en-US" sz="1700" b="0" i="0" u="none" strike="noStrike" kern="1200" cap="none" spc="0" normalizeH="0" baseline="0" noProof="0">
                <a:ln>
                  <a:noFill/>
                </a:ln>
                <a:effectLst/>
                <a:uLnTx/>
                <a:uFillTx/>
                <a:latin typeface="Trebuchet MS" panose="020B0603020202020204"/>
                <a:ea typeface="+mn-ea"/>
                <a:cs typeface="+mn-cs"/>
              </a:rPr>
              <a:t>The structure of a Distribution Management System (DMS) in power grids typically consists of three main layers:</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1700" b="0" i="0" u="sng" strike="noStrike" kern="1200" cap="none" spc="0" normalizeH="0" baseline="0" noProof="0">
                <a:ln>
                  <a:noFill/>
                </a:ln>
                <a:effectLst/>
                <a:uLnTx/>
                <a:uFillTx/>
                <a:latin typeface="Trebuchet MS" panose="020B0603020202020204"/>
                <a:ea typeface="+mn-ea"/>
                <a:cs typeface="+mn-cs"/>
              </a:rPr>
              <a:t>Field Layer:</a:t>
            </a:r>
            <a:r>
              <a:rPr kumimoji="0" lang="en-US" sz="1700" b="0" i="0" u="none" strike="noStrike" kern="1200" cap="none" spc="0" normalizeH="0" baseline="0" noProof="0">
                <a:ln>
                  <a:noFill/>
                </a:ln>
                <a:effectLst/>
                <a:uLnTx/>
                <a:uFillTx/>
                <a:latin typeface="Trebuchet MS" panose="020B0603020202020204"/>
                <a:ea typeface="+mn-ea"/>
                <a:cs typeface="+mn-cs"/>
              </a:rPr>
              <a:t> This layer includes all the physical devices and equipment in the distribution network, such as sensors, meters, switches, and transformers. These devices collect real-time data about the status of the network and communicate it to the upper layers of the DMS.</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1700" b="0" i="0" u="sng" strike="noStrike" kern="1200" cap="none" spc="0" normalizeH="0" baseline="0" noProof="0">
                <a:ln>
                  <a:noFill/>
                </a:ln>
                <a:effectLst/>
                <a:uLnTx/>
                <a:uFillTx/>
                <a:latin typeface="Trebuchet MS" panose="020B0603020202020204"/>
                <a:ea typeface="+mn-ea"/>
                <a:cs typeface="+mn-cs"/>
              </a:rPr>
              <a:t>Control Layer</a:t>
            </a:r>
            <a:r>
              <a:rPr kumimoji="0" lang="en-US" sz="1700" b="0" i="0" u="none" strike="noStrike" kern="1200" cap="none" spc="0" normalizeH="0" baseline="0" noProof="0">
                <a:ln>
                  <a:noFill/>
                </a:ln>
                <a:effectLst/>
                <a:uLnTx/>
                <a:uFillTx/>
                <a:latin typeface="Trebuchet MS" panose="020B0603020202020204"/>
                <a:ea typeface="+mn-ea"/>
                <a:cs typeface="+mn-cs"/>
              </a:rPr>
              <a:t>: This layer includes the software applications that analyze and process the data collected from the field layer. The control layer is responsible for monitoring the network, detecting faults and outages, and managing power flows to ensure reliable and efficient service to customers. The control layer also includes tools for dispatching crews to repair faults and restore service.</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1700" b="0" i="0" u="sng" strike="noStrike" kern="1200" cap="none" spc="0" normalizeH="0" baseline="0" noProof="0">
                <a:ln>
                  <a:noFill/>
                </a:ln>
                <a:effectLst/>
                <a:uLnTx/>
                <a:uFillTx/>
                <a:latin typeface="Trebuchet MS" panose="020B0603020202020204"/>
                <a:ea typeface="+mn-ea"/>
                <a:cs typeface="+mn-cs"/>
              </a:rPr>
              <a:t>Operation Layer: </a:t>
            </a:r>
            <a:r>
              <a:rPr kumimoji="0" lang="en-US" sz="1700" b="0" i="0" u="none" strike="noStrike" kern="1200" cap="none" spc="0" normalizeH="0" baseline="0" noProof="0">
                <a:ln>
                  <a:noFill/>
                </a:ln>
                <a:effectLst/>
                <a:uLnTx/>
                <a:uFillTx/>
                <a:latin typeface="Trebuchet MS" panose="020B0603020202020204"/>
                <a:ea typeface="+mn-ea"/>
                <a:cs typeface="+mn-cs"/>
              </a:rPr>
              <a:t>This layer includes the software applications that provide a graphical interface for utility operators to interact with the DMS. The operation layer displays real-time information about the status of the network, including the location of faults, the load on individual feeders, and the status of customer service requests. The operation layer also includes tools for generating reports and analyzing historical data to optimize the performance of the distribution network</a:t>
            </a:r>
            <a:endParaRPr lang="en-IN" sz="1700"/>
          </a:p>
        </p:txBody>
      </p:sp>
    </p:spTree>
    <p:extLst>
      <p:ext uri="{BB962C8B-B14F-4D97-AF65-F5344CB8AC3E}">
        <p14:creationId xmlns:p14="http://schemas.microsoft.com/office/powerpoint/2010/main" val="509729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21BC5-8087-DF53-DDE0-2EB132BBF6D9}"/>
              </a:ext>
            </a:extLst>
          </p:cNvPr>
          <p:cNvSpPr>
            <a:spLocks noGrp="1"/>
          </p:cNvSpPr>
          <p:nvPr>
            <p:ph type="title"/>
          </p:nvPr>
        </p:nvSpPr>
        <p:spPr/>
        <p:txBody>
          <a:bodyPr/>
          <a:lstStyle/>
          <a:p>
            <a:r>
              <a:rPr kumimoji="0" lang="en-US" sz="3600" b="0" i="0" u="none" strike="noStrike" kern="1200" cap="none" spc="0" normalizeH="0" baseline="0" noProof="0" dirty="0">
                <a:ln>
                  <a:noFill/>
                </a:ln>
                <a:solidFill>
                  <a:srgbClr val="90C226"/>
                </a:solidFill>
                <a:effectLst/>
                <a:uLnTx/>
                <a:uFillTx/>
                <a:latin typeface="Trebuchet MS" panose="020B0603020202020204"/>
                <a:ea typeface="+mj-ea"/>
                <a:cs typeface="+mj-cs"/>
              </a:rPr>
              <a:t>Components of DMS</a:t>
            </a:r>
            <a:endParaRPr lang="en-IN" dirty="0"/>
          </a:p>
        </p:txBody>
      </p:sp>
      <p:sp>
        <p:nvSpPr>
          <p:cNvPr id="3" name="Content Placeholder 2">
            <a:extLst>
              <a:ext uri="{FF2B5EF4-FFF2-40B4-BE49-F238E27FC236}">
                <a16:creationId xmlns:a16="http://schemas.microsoft.com/office/drawing/2014/main" id="{393C5F73-4E83-7533-6D8F-B3989BEA847E}"/>
              </a:ext>
            </a:extLst>
          </p:cNvPr>
          <p:cNvSpPr>
            <a:spLocks noGrp="1"/>
          </p:cNvSpPr>
          <p:nvPr>
            <p:ph idx="1"/>
          </p:nvPr>
        </p:nvSpPr>
        <p:spPr/>
        <p:txBody>
          <a:bodyPr>
            <a:normAutofit fontScale="92500"/>
          </a:body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Supervisory Control and Data Acquisition (SCADA): </a:t>
            </a: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It is a system that collects real-time data from sensors and remote devices located throughout the distribution network. The SCADA system is responsible for measuring voltage, current, frequency, and other parameters of the power system.</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Distribution Automation System (DAS): </a:t>
            </a: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It is a system that enables automatic control and monitoring of the distribution network. The DAS includes switches, relays, and other equipment that can be remotely controlled to isolate faulty sections of the network or redirect power flows.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Outage Management System (OMS): </a:t>
            </a: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It is a system that helps utilities manage power outages by quickly identifying the location of the fault and dispatching crews to repair it. The OMS also provides real-time information about the status of the network to utility operators and customers.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Geographical Information System (GIS)</a:t>
            </a:r>
            <a:r>
              <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 It is a system that helps utilities visualize and manage the physical assets of the distribution network, such as transformers, feeders, and substations. The GIS also provides location-based information about the network, such as land use, zoning, and demographics.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US" sz="1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endParaRPr>
          </a:p>
          <a:p>
            <a:endParaRPr lang="en-IN" dirty="0"/>
          </a:p>
        </p:txBody>
      </p:sp>
    </p:spTree>
    <p:extLst>
      <p:ext uri="{BB962C8B-B14F-4D97-AF65-F5344CB8AC3E}">
        <p14:creationId xmlns:p14="http://schemas.microsoft.com/office/powerpoint/2010/main" val="3398099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A5BEF8-0F33-7A1D-D824-725BB991C75D}"/>
              </a:ext>
            </a:extLst>
          </p:cNvPr>
          <p:cNvSpPr txBox="1"/>
          <p:nvPr/>
        </p:nvSpPr>
        <p:spPr>
          <a:xfrm>
            <a:off x="558800" y="594890"/>
            <a:ext cx="11027955" cy="4780796"/>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1" i="0" u="sng" strike="noStrike" kern="1200" cap="none" spc="0" normalizeH="0" baseline="0" noProof="0" dirty="0">
                <a:ln>
                  <a:noFill/>
                </a:ln>
                <a:solidFill>
                  <a:prstClr val="black">
                    <a:lumMod val="75000"/>
                    <a:lumOff val="25000"/>
                  </a:prstClr>
                </a:solidFill>
                <a:effectLst/>
                <a:uLnTx/>
                <a:uFillTx/>
                <a:ea typeface="+mn-ea"/>
                <a:cs typeface="+mn-cs"/>
              </a:rPr>
              <a:t>Customer Information System (CIS):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It is a system that helps utilities manage customer accounts and billing information. The CIS also provides information to customers about their energy usage, billing history, and payment options.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1" i="0" u="sng" strike="noStrike" kern="1200" cap="none" spc="0" normalizeH="0" baseline="0" noProof="0" dirty="0">
                <a:ln>
                  <a:noFill/>
                </a:ln>
                <a:solidFill>
                  <a:prstClr val="black">
                    <a:lumMod val="75000"/>
                    <a:lumOff val="25000"/>
                  </a:prstClr>
                </a:solidFill>
                <a:effectLst/>
                <a:uLnTx/>
                <a:uFillTx/>
                <a:ea typeface="+mn-ea"/>
                <a:cs typeface="+mn-cs"/>
              </a:rPr>
              <a:t>Advanced Metering Infrastructure (AMI):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It is a system that enables utilities to collect real-time data from smart meters installed at customer premises. The AMI provides utilities with detailed information about energy usage patterns, voltage fluctuations, and other network parameters.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1" i="0" u="sng" strike="noStrike" kern="1200" cap="none" spc="0" normalizeH="0" baseline="0" noProof="0" dirty="0">
                <a:ln>
                  <a:noFill/>
                </a:ln>
                <a:solidFill>
                  <a:prstClr val="black">
                    <a:lumMod val="75000"/>
                    <a:lumOff val="25000"/>
                  </a:prstClr>
                </a:solidFill>
                <a:effectLst/>
                <a:uLnTx/>
                <a:uFillTx/>
                <a:ea typeface="+mn-ea"/>
                <a:cs typeface="+mn-cs"/>
              </a:rPr>
              <a:t>Demand Response Management System (DRMS): </a:t>
            </a:r>
            <a:r>
              <a:rPr kumimoji="0" lang="en-US" sz="2400" b="0" i="0" u="none" strike="noStrike" kern="1200" cap="none" spc="0" normalizeH="0" baseline="0" noProof="0" dirty="0">
                <a:ln>
                  <a:noFill/>
                </a:ln>
                <a:solidFill>
                  <a:prstClr val="black">
                    <a:lumMod val="75000"/>
                    <a:lumOff val="25000"/>
                  </a:prstClr>
                </a:solidFill>
                <a:effectLst/>
                <a:uLnTx/>
                <a:uFillTx/>
                <a:ea typeface="+mn-ea"/>
                <a:cs typeface="+mn-cs"/>
              </a:rPr>
              <a:t>It is a system that helps utilities manage customer demand during peak periods by providing incentives for customers to reduce their energy usage. The DRMS includes tools for managing demand response programs, forecasting energy demand, and communicating with customers.</a:t>
            </a:r>
          </a:p>
        </p:txBody>
      </p:sp>
      <p:sp>
        <p:nvSpPr>
          <p:cNvPr id="5" name="TextBox 4">
            <a:extLst>
              <a:ext uri="{FF2B5EF4-FFF2-40B4-BE49-F238E27FC236}">
                <a16:creationId xmlns:a16="http://schemas.microsoft.com/office/drawing/2014/main" id="{388C0B55-FFEB-681D-D732-73C6F65F5981}"/>
              </a:ext>
            </a:extLst>
          </p:cNvPr>
          <p:cNvSpPr txBox="1"/>
          <p:nvPr/>
        </p:nvSpPr>
        <p:spPr>
          <a:xfrm>
            <a:off x="558800" y="5375686"/>
            <a:ext cx="11328400"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1000"/>
              </a:spcBef>
              <a:spcAft>
                <a:spcPts val="0"/>
              </a:spcAft>
              <a:buClr>
                <a:srgbClr val="90C226"/>
              </a:buClr>
              <a:buSzPct val="80000"/>
              <a:buFont typeface="Wingdings 3" charset="2"/>
              <a:buNone/>
              <a:tabLst/>
              <a:defRPr/>
            </a:pPr>
            <a:r>
              <a:rPr kumimoji="0" lang="en-US" sz="20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These components work together to provide utilities with a comprehensive view of the distribution network, enabling them to manage power flows, respond to outages, and provide reliable and efficient service to their customers.</a:t>
            </a:r>
            <a:endParaRPr kumimoji="0" lang="en-IN" sz="20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567876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1446</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Arial MT</vt:lpstr>
      <vt:lpstr>Calibri</vt:lpstr>
      <vt:lpstr>Calibri Light</vt:lpstr>
      <vt:lpstr>Times New Roman</vt:lpstr>
      <vt:lpstr>Trebuchet MS</vt:lpstr>
      <vt:lpstr>Wingdings 3</vt:lpstr>
      <vt:lpstr>Office Theme</vt:lpstr>
      <vt:lpstr>Distribution management system</vt:lpstr>
      <vt:lpstr>Distribution management system</vt:lpstr>
      <vt:lpstr>WHY DMS</vt:lpstr>
      <vt:lpstr>PowerPoint Presentation</vt:lpstr>
      <vt:lpstr>Distribution management system</vt:lpstr>
      <vt:lpstr>Distribution management system</vt:lpstr>
      <vt:lpstr>PowerPoint Presentation</vt:lpstr>
      <vt:lpstr>Distribution system modelling</vt:lpstr>
      <vt:lpstr>PowerPoint Presentation</vt:lpstr>
      <vt:lpstr>BASIC BLOCKS OF DMS</vt:lpstr>
      <vt:lpstr>DMS Functions</vt:lpstr>
      <vt:lpstr>Structure of DMS</vt:lpstr>
      <vt:lpstr>Components of DMS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2026-03-13T03:44:44Z</dcterms:created>
  <dcterms:modified xsi:type="dcterms:W3CDTF">2026-03-13T03:45:11Z</dcterms:modified>
</cp:coreProperties>
</file>