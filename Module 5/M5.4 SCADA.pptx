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290" r:id="rId4"/>
    <p:sldId id="291" r:id="rId5"/>
    <p:sldId id="293" r:id="rId6"/>
    <p:sldId id="294" r:id="rId7"/>
    <p:sldId id="361" r:id="rId8"/>
    <p:sldId id="295" r:id="rId9"/>
    <p:sldId id="362" r:id="rId10"/>
    <p:sldId id="296" r:id="rId11"/>
    <p:sldId id="363" r:id="rId12"/>
    <p:sldId id="297" r:id="rId13"/>
    <p:sldId id="364" r:id="rId14"/>
    <p:sldId id="298" r:id="rId15"/>
    <p:sldId id="299" r:id="rId16"/>
    <p:sldId id="353" r:id="rId17"/>
    <p:sldId id="354" r:id="rId18"/>
    <p:sldId id="289" r:id="rId19"/>
    <p:sldId id="355" r:id="rId20"/>
    <p:sldId id="300" r:id="rId21"/>
    <p:sldId id="30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7D234-73AA-4D1A-D357-6758324830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072884-9288-0D68-275A-FE315BBDAC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A0C2EA-05E4-8130-3F41-B2138AC3AAF7}"/>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DF98AD1E-9658-A5D8-C4F8-2D43DB35BE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BD3864-2418-5AC4-2974-A3B82BDD1E3E}"/>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118804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A79B-01D0-EC72-89A0-E19665D8D9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B49E1E-9A8B-5C0C-D153-BE2241DC42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0BAA3-9315-65E3-E7F1-EA59046F4962}"/>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999E0597-E152-1B91-7436-8F303E7BD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8F869-40E6-BDBA-4981-B95187087943}"/>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4062386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B280-6A08-5F00-4D76-2172411F21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6E146A-D5AF-3926-51DF-2803D3C5D4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37E844-D467-2599-8F4E-8674B4F27714}"/>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1C2D59AA-90F0-BA22-33F8-817FCA372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F22A7-63FF-CEBD-577D-BB0A3A1B03D3}"/>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3255964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0964-F5E8-57E7-9BD5-033314F9ED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102500-D63F-FFC2-59DE-54489A168A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18EBBA-C418-99DF-B97F-BF2828D0DA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E04D40-5262-CDD5-737F-0B0F42754169}"/>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6" name="Footer Placeholder 5">
            <a:extLst>
              <a:ext uri="{FF2B5EF4-FFF2-40B4-BE49-F238E27FC236}">
                <a16:creationId xmlns:a16="http://schemas.microsoft.com/office/drawing/2014/main" id="{2811C81F-ED4D-A4F9-F7C7-4BAF72574D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57FE12-B1FF-45E8-E619-98CF5DA71E79}"/>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324796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B5BC-CCC6-6148-5E4D-C452AE6C1F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33613B-90C0-7D19-2EA6-0D3A2B8171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952CC6-A998-E8E1-CCC9-B10A1A4F1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D68D78-3887-EB3D-A98B-BF3C30574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71262-5377-3400-D1F2-3582C18030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38FF7A-DF97-DAA1-7948-3282BC1C78F0}"/>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8" name="Footer Placeholder 7">
            <a:extLst>
              <a:ext uri="{FF2B5EF4-FFF2-40B4-BE49-F238E27FC236}">
                <a16:creationId xmlns:a16="http://schemas.microsoft.com/office/drawing/2014/main" id="{72A31D24-9465-54F6-13D6-1C7628EF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14E680-3E1C-6793-61EC-FBF49BEB4B8B}"/>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4253635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A7DF-A049-CB0F-EE18-CEFA17DFAE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B915E1-D19B-3E7A-43B2-FEF838FE7844}"/>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4" name="Footer Placeholder 3">
            <a:extLst>
              <a:ext uri="{FF2B5EF4-FFF2-40B4-BE49-F238E27FC236}">
                <a16:creationId xmlns:a16="http://schemas.microsoft.com/office/drawing/2014/main" id="{5BF5F5B3-83AD-6B18-4BA9-5FC946794D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7E1E9C-9016-F944-4C88-31BDFD764F9E}"/>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101114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01D295-B6CC-5682-834C-D8A90842A17C}"/>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3" name="Footer Placeholder 2">
            <a:extLst>
              <a:ext uri="{FF2B5EF4-FFF2-40B4-BE49-F238E27FC236}">
                <a16:creationId xmlns:a16="http://schemas.microsoft.com/office/drawing/2014/main" id="{D02E450D-550F-CF91-10A7-F74886AA7A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AA0A82-4F4D-CF9A-F4CC-C6F5EE3F3CD6}"/>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49287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C9C0B-B418-216D-1710-12E91DC55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1BE245-EBC7-8396-618A-78F15A4B0F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6C6591-4DC4-9677-4107-DA569427E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86CF5B-8568-1B61-82EE-58BF34866EF8}"/>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6" name="Footer Placeholder 5">
            <a:extLst>
              <a:ext uri="{FF2B5EF4-FFF2-40B4-BE49-F238E27FC236}">
                <a16:creationId xmlns:a16="http://schemas.microsoft.com/office/drawing/2014/main" id="{57897987-C0B8-0A7E-4452-A2B3DFC26C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31C942-0500-C617-4564-2D0D80EA35A2}"/>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3224582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F37-CD87-013C-C8FA-E7D44C406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3ECF05-A548-1C99-FA3A-5F715C156E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FF1777-D7CB-4E2E-1B10-E5160EAE3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580579-C300-BEE3-2D74-7F5C7E636248}"/>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6" name="Footer Placeholder 5">
            <a:extLst>
              <a:ext uri="{FF2B5EF4-FFF2-40B4-BE49-F238E27FC236}">
                <a16:creationId xmlns:a16="http://schemas.microsoft.com/office/drawing/2014/main" id="{7AD2BD9C-DED0-21A5-4C2C-972AEEF33B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922428-2D35-D2D7-3B79-02F924E47BEC}"/>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3099433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EEA79-E611-EDF0-79D3-F3D508D91C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D59FBE-3B8F-CBDF-636A-5AE23B7E4F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C9814-09FE-29D3-2F50-748362257D70}"/>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03556120-A39B-2512-4461-9452FD755F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2FFD27-359D-0781-A288-8165CDE798D0}"/>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31207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2AC4F9-9457-F3B0-B492-14CD8C9B45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B06282-AC2F-D50B-3DE5-936CD07142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0E72DD-B9B8-06E4-2B36-1107CC764DA1}"/>
              </a:ext>
            </a:extLst>
          </p:cNvPr>
          <p:cNvSpPr>
            <a:spLocks noGrp="1"/>
          </p:cNvSpPr>
          <p:nvPr>
            <p:ph type="dt" sz="half" idx="10"/>
          </p:nvPr>
        </p:nvSpPr>
        <p:spPr/>
        <p:txBody>
          <a:body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B1858748-BDBB-D90F-CC12-9F0A2F65A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E0681-4DCB-42BE-21FC-9CC4804BCFA5}"/>
              </a:ext>
            </a:extLst>
          </p:cNvPr>
          <p:cNvSpPr>
            <a:spLocks noGrp="1"/>
          </p:cNvSpPr>
          <p:nvPr>
            <p:ph type="sldNum" sz="quarter" idx="12"/>
          </p:nvPr>
        </p:nvSpPr>
        <p:spPr/>
        <p:txBody>
          <a:bodyPr/>
          <a:lstStyle/>
          <a:p>
            <a:fld id="{A565605C-D91D-4B68-9D2B-AF9F3FCA04B0}" type="slidenum">
              <a:rPr lang="en-IN" smtClean="0"/>
              <a:t>‹#›</a:t>
            </a:fld>
            <a:endParaRPr lang="en-IN"/>
          </a:p>
        </p:txBody>
      </p:sp>
    </p:spTree>
    <p:extLst>
      <p:ext uri="{BB962C8B-B14F-4D97-AF65-F5344CB8AC3E}">
        <p14:creationId xmlns:p14="http://schemas.microsoft.com/office/powerpoint/2010/main" val="2897189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C77C79-D4C2-6189-3E86-274CAC1CAA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412ABC-07A1-2E05-0ED4-8F55829E8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7CDB7A-5132-567C-D8C9-DEFB7C335F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BF563-ABB2-4237-9F39-54CA50488496}" type="datetimeFigureOut">
              <a:rPr lang="en-IN" smtClean="0"/>
              <a:t>13-03-2026</a:t>
            </a:fld>
            <a:endParaRPr lang="en-IN"/>
          </a:p>
        </p:txBody>
      </p:sp>
      <p:sp>
        <p:nvSpPr>
          <p:cNvPr id="5" name="Footer Placeholder 4">
            <a:extLst>
              <a:ext uri="{FF2B5EF4-FFF2-40B4-BE49-F238E27FC236}">
                <a16:creationId xmlns:a16="http://schemas.microsoft.com/office/drawing/2014/main" id="{7C1E3D91-2138-18EC-BC26-45B3EDE4C8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627834-B032-5307-3568-5412D6B78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5605C-D91D-4B68-9D2B-AF9F3FCA04B0}" type="slidenum">
              <a:rPr lang="en-IN" smtClean="0"/>
              <a:t>‹#›</a:t>
            </a:fld>
            <a:endParaRPr lang="en-IN"/>
          </a:p>
        </p:txBody>
      </p:sp>
    </p:spTree>
    <p:extLst>
      <p:ext uri="{BB962C8B-B14F-4D97-AF65-F5344CB8AC3E}">
        <p14:creationId xmlns:p14="http://schemas.microsoft.com/office/powerpoint/2010/main" val="4244503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1F8A5-33C5-FAE6-5D91-69F5AB7AEAAD}"/>
              </a:ext>
            </a:extLst>
          </p:cNvPr>
          <p:cNvSpPr>
            <a:spLocks noGrp="1"/>
          </p:cNvSpPr>
          <p:nvPr>
            <p:ph type="title"/>
          </p:nvPr>
        </p:nvSpPr>
        <p:spPr/>
        <p:txBody>
          <a:bodyPr/>
          <a:lstStyle/>
          <a:p>
            <a:r>
              <a:rPr lang="en-IN" dirty="0"/>
              <a:t>SCADA</a:t>
            </a:r>
          </a:p>
        </p:txBody>
      </p:sp>
      <p:sp>
        <p:nvSpPr>
          <p:cNvPr id="3" name="Content Placeholder 2">
            <a:extLst>
              <a:ext uri="{FF2B5EF4-FFF2-40B4-BE49-F238E27FC236}">
                <a16:creationId xmlns:a16="http://schemas.microsoft.com/office/drawing/2014/main" id="{327AE2AD-0A36-0961-3C0D-F72B087E2988}"/>
              </a:ext>
            </a:extLst>
          </p:cNvPr>
          <p:cNvSpPr>
            <a:spLocks noGrp="1"/>
          </p:cNvSpPr>
          <p:nvPr>
            <p:ph idx="1"/>
          </p:nvPr>
        </p:nvSpPr>
        <p:spPr/>
        <p:txBody>
          <a:bodyPr>
            <a:normAutofit fontScale="92500" lnSpcReduction="10000"/>
          </a:bodyPr>
          <a:lstStyle/>
          <a:p>
            <a:r>
              <a:rPr lang="en-US" sz="2400" dirty="0"/>
              <a:t>Supervisory control and data acquisition (SCADA) is a control system architecture comprising computers, networked data communications and graphical user interfaces for high-level supervision of machines and processes. </a:t>
            </a:r>
          </a:p>
          <a:p>
            <a:r>
              <a:rPr lang="en-US" sz="2400" dirty="0"/>
              <a:t>It also covers sensors and other devices, such as programmable logic controllers, which interface with process plant or machinery.</a:t>
            </a:r>
          </a:p>
          <a:p>
            <a:r>
              <a:rPr lang="en-US" sz="2400" dirty="0"/>
              <a:t>The SCADA concept was developed to be a universal means of remote-access to a variety of local control modules, which could be from different manufacturers and allowing access through standard automation protocols. </a:t>
            </a:r>
          </a:p>
          <a:p>
            <a:r>
              <a:rPr lang="en-US" sz="2400" dirty="0"/>
              <a:t>In practice, large SCADA systems have grown to become very similar to distributed control systems in function, while using multiple means of interfacing with the plant. </a:t>
            </a:r>
          </a:p>
          <a:p>
            <a:r>
              <a:rPr lang="en-US" sz="2400" dirty="0"/>
              <a:t>They can control large-scale processes that can include multiple sites, and work over large distances as well as small distance. </a:t>
            </a:r>
          </a:p>
          <a:p>
            <a:r>
              <a:rPr lang="en-US" sz="2400" dirty="0"/>
              <a:t>It is one of the most commonly-used types of industrial control systems</a:t>
            </a:r>
            <a:endParaRPr lang="en-IN" sz="2400" dirty="0"/>
          </a:p>
        </p:txBody>
      </p:sp>
    </p:spTree>
    <p:extLst>
      <p:ext uri="{BB962C8B-B14F-4D97-AF65-F5344CB8AC3E}">
        <p14:creationId xmlns:p14="http://schemas.microsoft.com/office/powerpoint/2010/main" val="2658648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92BFA-BAF5-1D87-8C67-FEBF2C613666}"/>
              </a:ext>
            </a:extLst>
          </p:cNvPr>
          <p:cNvSpPr>
            <a:spLocks noGrp="1"/>
          </p:cNvSpPr>
          <p:nvPr>
            <p:ph type="title"/>
          </p:nvPr>
        </p:nvSpPr>
        <p:spPr/>
        <p:txBody>
          <a:bodyPr/>
          <a:lstStyle/>
          <a:p>
            <a:r>
              <a:rPr lang="en-IN" dirty="0"/>
              <a:t> SCADA</a:t>
            </a:r>
          </a:p>
        </p:txBody>
      </p:sp>
      <p:sp>
        <p:nvSpPr>
          <p:cNvPr id="9" name="Content Placeholder 8">
            <a:extLst>
              <a:ext uri="{FF2B5EF4-FFF2-40B4-BE49-F238E27FC236}">
                <a16:creationId xmlns:a16="http://schemas.microsoft.com/office/drawing/2014/main" id="{761F1B47-1C31-6BCE-521C-113C34FAAE31}"/>
              </a:ext>
            </a:extLst>
          </p:cNvPr>
          <p:cNvSpPr>
            <a:spLocks noGrp="1"/>
          </p:cNvSpPr>
          <p:nvPr>
            <p:ph idx="1"/>
          </p:nvPr>
        </p:nvSpPr>
        <p:spPr>
          <a:xfrm>
            <a:off x="838200" y="1825624"/>
            <a:ext cx="10515600" cy="4761787"/>
          </a:xfrm>
        </p:spPr>
        <p:txBody>
          <a:bodyPr>
            <a:normAutofit/>
          </a:bodyPr>
          <a:lstStyle/>
          <a:p>
            <a:r>
              <a:rPr lang="en-US" sz="2400" dirty="0"/>
              <a:t>SCADA system is an important factor of the industrial organization as they help to monitor process data as well as control the processes and easily detect any issue within the process thus reduce downtime. </a:t>
            </a:r>
          </a:p>
          <a:p>
            <a:r>
              <a:rPr lang="en-US" sz="2400" dirty="0"/>
              <a:t>Generally, SCADA is completely a software package that helps to monitor the entire area of the plant. </a:t>
            </a:r>
          </a:p>
          <a:p>
            <a:r>
              <a:rPr lang="en-US" sz="2400" dirty="0"/>
              <a:t>The basic architecture of the SCADA begins with a Programmable Logic Controller(PLC) or Remote Terminal Units(RTUs). </a:t>
            </a:r>
          </a:p>
          <a:p>
            <a:r>
              <a:rPr lang="en-US" sz="2400" dirty="0"/>
              <a:t>PLC or RTUs are microprocessors that communicate with the field devices such as valves, pumps, sensors, HMIs, other end devices, etc. </a:t>
            </a:r>
          </a:p>
          <a:p>
            <a:r>
              <a:rPr lang="en-US" sz="2400" dirty="0"/>
              <a:t>These devices route all this collected data from end devices to SCADA computers. </a:t>
            </a:r>
          </a:p>
          <a:p>
            <a:r>
              <a:rPr lang="en-US" sz="2400" dirty="0"/>
              <a:t>Then SCADA software processes distribute and display the data on the monitor to better understand the operator about the field condition. </a:t>
            </a:r>
            <a:endParaRPr lang="en-IN" sz="2400" dirty="0"/>
          </a:p>
        </p:txBody>
      </p:sp>
    </p:spTree>
    <p:extLst>
      <p:ext uri="{BB962C8B-B14F-4D97-AF65-F5344CB8AC3E}">
        <p14:creationId xmlns:p14="http://schemas.microsoft.com/office/powerpoint/2010/main" val="4075281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690FB-89C1-1F3E-08DE-2BA7019E7983}"/>
              </a:ext>
            </a:extLst>
          </p:cNvPr>
          <p:cNvSpPr>
            <a:spLocks noGrp="1"/>
          </p:cNvSpPr>
          <p:nvPr>
            <p:ph type="title"/>
          </p:nvPr>
        </p:nvSpPr>
        <p:spPr/>
        <p:txBody>
          <a:bodyPr/>
          <a:lstStyle/>
          <a:p>
            <a:r>
              <a:rPr lang="en-IN" dirty="0"/>
              <a:t>SCADA</a:t>
            </a:r>
          </a:p>
        </p:txBody>
      </p:sp>
      <p:pic>
        <p:nvPicPr>
          <p:cNvPr id="5" name="Content Placeholder 4">
            <a:extLst>
              <a:ext uri="{FF2B5EF4-FFF2-40B4-BE49-F238E27FC236}">
                <a16:creationId xmlns:a16="http://schemas.microsoft.com/office/drawing/2014/main" id="{33462A9E-23CA-08FB-DD34-63D5031E4DD8}"/>
              </a:ext>
            </a:extLst>
          </p:cNvPr>
          <p:cNvPicPr>
            <a:picLocks noGrp="1" noChangeAspect="1"/>
          </p:cNvPicPr>
          <p:nvPr>
            <p:ph idx="1"/>
          </p:nvPr>
        </p:nvPicPr>
        <p:blipFill>
          <a:blip r:embed="rId2"/>
          <a:stretch>
            <a:fillRect/>
          </a:stretch>
        </p:blipFill>
        <p:spPr>
          <a:xfrm>
            <a:off x="2772792" y="431020"/>
            <a:ext cx="9419208" cy="6352335"/>
          </a:xfrm>
        </p:spPr>
      </p:pic>
    </p:spTree>
    <p:extLst>
      <p:ext uri="{BB962C8B-B14F-4D97-AF65-F5344CB8AC3E}">
        <p14:creationId xmlns:p14="http://schemas.microsoft.com/office/powerpoint/2010/main" val="1571676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500F1-C550-6C9E-F56C-15420C63D790}"/>
              </a:ext>
            </a:extLst>
          </p:cNvPr>
          <p:cNvSpPr>
            <a:spLocks noGrp="1"/>
          </p:cNvSpPr>
          <p:nvPr>
            <p:ph type="title"/>
          </p:nvPr>
        </p:nvSpPr>
        <p:spPr/>
        <p:txBody>
          <a:bodyPr>
            <a:normAutofit/>
          </a:bodyPr>
          <a:lstStyle/>
          <a:p>
            <a:r>
              <a:rPr lang="en-IN" dirty="0"/>
              <a:t>FUNCTIONS OF SCADA</a:t>
            </a:r>
          </a:p>
        </p:txBody>
      </p:sp>
      <p:sp>
        <p:nvSpPr>
          <p:cNvPr id="3" name="Content Placeholder 2">
            <a:extLst>
              <a:ext uri="{FF2B5EF4-FFF2-40B4-BE49-F238E27FC236}">
                <a16:creationId xmlns:a16="http://schemas.microsoft.com/office/drawing/2014/main" id="{2A43000E-B425-B296-00FF-134FC80B5265}"/>
              </a:ext>
            </a:extLst>
          </p:cNvPr>
          <p:cNvSpPr>
            <a:spLocks noGrp="1"/>
          </p:cNvSpPr>
          <p:nvPr>
            <p:ph idx="1"/>
          </p:nvPr>
        </p:nvSpPr>
        <p:spPr>
          <a:xfrm>
            <a:off x="838200" y="1623527"/>
            <a:ext cx="10515600" cy="4869348"/>
          </a:xfrm>
        </p:spPr>
        <p:txBody>
          <a:bodyPr>
            <a:noAutofit/>
          </a:bodyPr>
          <a:lstStyle/>
          <a:p>
            <a:r>
              <a:rPr lang="en-IN" sz="2000" b="1" dirty="0"/>
              <a:t>DATA ACQUSITION </a:t>
            </a:r>
            <a:r>
              <a:rPr lang="en-IN" sz="2000" dirty="0"/>
              <a:t>:Furnishes status information &amp; measured data to operator </a:t>
            </a:r>
          </a:p>
          <a:p>
            <a:r>
              <a:rPr lang="en-IN" sz="2000" b="1" dirty="0"/>
              <a:t>CONTROL </a:t>
            </a:r>
            <a:r>
              <a:rPr lang="en-IN" sz="2000" dirty="0"/>
              <a:t>:Allows the operator to control the devices e.g. </a:t>
            </a:r>
            <a:r>
              <a:rPr lang="en-IN" sz="2000" dirty="0" err="1"/>
              <a:t>ckt</a:t>
            </a:r>
            <a:r>
              <a:rPr lang="en-IN" sz="2000" dirty="0"/>
              <a:t> breakers, </a:t>
            </a:r>
            <a:r>
              <a:rPr lang="en-IN" sz="2000" dirty="0" err="1"/>
              <a:t>Xmer</a:t>
            </a:r>
            <a:r>
              <a:rPr lang="en-IN" sz="2000" dirty="0"/>
              <a:t>, tap changer etc. from a remote centralize location. </a:t>
            </a:r>
          </a:p>
          <a:p>
            <a:r>
              <a:rPr lang="en-IN" sz="2000" b="1" dirty="0"/>
              <a:t>DATA PROCESSING </a:t>
            </a:r>
            <a:r>
              <a:rPr lang="en-IN" sz="2000" dirty="0"/>
              <a:t>:Includes data quality &amp; integrity check, limit check, </a:t>
            </a:r>
            <a:r>
              <a:rPr lang="en-IN" sz="2000" dirty="0" err="1"/>
              <a:t>analog</a:t>
            </a:r>
            <a:r>
              <a:rPr lang="en-IN" sz="2000" dirty="0"/>
              <a:t> value processing etc.</a:t>
            </a:r>
            <a:r>
              <a:rPr lang="en-US" sz="2000" dirty="0"/>
              <a:t> </a:t>
            </a:r>
          </a:p>
          <a:p>
            <a:r>
              <a:rPr lang="en-US" sz="2000" b="1" dirty="0"/>
              <a:t>TAGGING:</a:t>
            </a:r>
            <a:r>
              <a:rPr lang="en-US" sz="2000" dirty="0"/>
              <a:t> Operator identifies any specific device &amp; subjects to specific operating restrictions to prevent from unauthorized operation </a:t>
            </a:r>
          </a:p>
          <a:p>
            <a:r>
              <a:rPr lang="en-US" sz="2000" b="1" dirty="0"/>
              <a:t>ALARMS </a:t>
            </a:r>
            <a:r>
              <a:rPr lang="en-US" sz="2000" dirty="0"/>
              <a:t>:Alerts the operator of unplanned events &amp; undesirable operating conditions in the order their severity &amp; criticality </a:t>
            </a:r>
          </a:p>
          <a:p>
            <a:r>
              <a:rPr lang="en-US" sz="2000" b="1" dirty="0"/>
              <a:t>LOGGING </a:t>
            </a:r>
            <a:r>
              <a:rPr lang="en-US" sz="2000" dirty="0"/>
              <a:t>:Logs all operator entries, alarms &amp;selected entries </a:t>
            </a:r>
          </a:p>
          <a:p>
            <a:r>
              <a:rPr lang="en-US" sz="2000" b="1" dirty="0"/>
              <a:t>TRENDING</a:t>
            </a:r>
            <a:r>
              <a:rPr lang="en-US" sz="2000" dirty="0"/>
              <a:t> :Plots measurements on selected scale to give information on the trends e.g. one minute, one hour etc.</a:t>
            </a:r>
          </a:p>
          <a:p>
            <a:r>
              <a:rPr lang="en-US" sz="2000" b="1" dirty="0"/>
              <a:t>HISTORICAL REPORTING </a:t>
            </a:r>
            <a:r>
              <a:rPr lang="en-US" sz="2000" dirty="0"/>
              <a:t>:To save &amp; analyze the historical data for reporting, typically for a period of 2 or more years &amp; to archive.</a:t>
            </a:r>
            <a:endParaRPr lang="en-IN" sz="2000" dirty="0"/>
          </a:p>
        </p:txBody>
      </p:sp>
    </p:spTree>
    <p:extLst>
      <p:ext uri="{BB962C8B-B14F-4D97-AF65-F5344CB8AC3E}">
        <p14:creationId xmlns:p14="http://schemas.microsoft.com/office/powerpoint/2010/main" val="4088509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DC26E-090F-8072-4FE5-C5BFEE5C90BD}"/>
              </a:ext>
            </a:extLst>
          </p:cNvPr>
          <p:cNvSpPr>
            <a:spLocks noGrp="1"/>
          </p:cNvSpPr>
          <p:nvPr>
            <p:ph type="title"/>
          </p:nvPr>
        </p:nvSpPr>
        <p:spPr/>
        <p:txBody>
          <a:bodyPr/>
          <a:lstStyle/>
          <a:p>
            <a:r>
              <a:rPr lang="en-IN" dirty="0"/>
              <a:t>Types of SCADA System</a:t>
            </a:r>
          </a:p>
        </p:txBody>
      </p:sp>
      <p:sp>
        <p:nvSpPr>
          <p:cNvPr id="3" name="Content Placeholder 2">
            <a:extLst>
              <a:ext uri="{FF2B5EF4-FFF2-40B4-BE49-F238E27FC236}">
                <a16:creationId xmlns:a16="http://schemas.microsoft.com/office/drawing/2014/main" id="{A167D990-B9DA-B4CB-FFBF-9397D35697D7}"/>
              </a:ext>
            </a:extLst>
          </p:cNvPr>
          <p:cNvSpPr>
            <a:spLocks noGrp="1"/>
          </p:cNvSpPr>
          <p:nvPr>
            <p:ph idx="1"/>
          </p:nvPr>
        </p:nvSpPr>
        <p:spPr/>
        <p:txBody>
          <a:bodyPr/>
          <a:lstStyle/>
          <a:p>
            <a:r>
              <a:rPr lang="en-US" dirty="0"/>
              <a:t>SCADA systems are classified into four types which include the following.</a:t>
            </a:r>
          </a:p>
          <a:p>
            <a:pPr marL="457200" lvl="1" indent="0">
              <a:buNone/>
            </a:pPr>
            <a:r>
              <a:rPr lang="en-US" dirty="0"/>
              <a:t>• Monolithic SCADA Systems</a:t>
            </a:r>
          </a:p>
          <a:p>
            <a:pPr marL="457200" lvl="1" indent="0">
              <a:buNone/>
            </a:pPr>
            <a:r>
              <a:rPr lang="en-US" dirty="0"/>
              <a:t>• Distributed SCADA Systems</a:t>
            </a:r>
          </a:p>
          <a:p>
            <a:pPr marL="457200" lvl="1" indent="0">
              <a:buNone/>
            </a:pPr>
            <a:r>
              <a:rPr lang="en-US" dirty="0"/>
              <a:t>• Networked SCADA Systems</a:t>
            </a:r>
          </a:p>
          <a:p>
            <a:pPr marL="457200" lvl="1" indent="0">
              <a:buNone/>
            </a:pPr>
            <a:r>
              <a:rPr lang="en-US" dirty="0"/>
              <a:t>• IoT SCADA Systems</a:t>
            </a:r>
          </a:p>
          <a:p>
            <a:endParaRPr lang="en-IN" dirty="0"/>
          </a:p>
        </p:txBody>
      </p:sp>
    </p:spTree>
    <p:extLst>
      <p:ext uri="{BB962C8B-B14F-4D97-AF65-F5344CB8AC3E}">
        <p14:creationId xmlns:p14="http://schemas.microsoft.com/office/powerpoint/2010/main" val="328811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E2A62-A0D0-CB59-26DB-C5B42C03AB83}"/>
              </a:ext>
            </a:extLst>
          </p:cNvPr>
          <p:cNvSpPr>
            <a:spLocks noGrp="1"/>
          </p:cNvSpPr>
          <p:nvPr>
            <p:ph type="title"/>
          </p:nvPr>
        </p:nvSpPr>
        <p:spPr/>
        <p:txBody>
          <a:bodyPr/>
          <a:lstStyle/>
          <a:p>
            <a:r>
              <a:rPr lang="en-IN" dirty="0"/>
              <a:t>MONOLITHIC SCADA</a:t>
            </a:r>
          </a:p>
        </p:txBody>
      </p:sp>
      <p:sp>
        <p:nvSpPr>
          <p:cNvPr id="3" name="Content Placeholder 2">
            <a:extLst>
              <a:ext uri="{FF2B5EF4-FFF2-40B4-BE49-F238E27FC236}">
                <a16:creationId xmlns:a16="http://schemas.microsoft.com/office/drawing/2014/main" id="{2C631A4A-EE88-145D-7552-BE4494D28572}"/>
              </a:ext>
            </a:extLst>
          </p:cNvPr>
          <p:cNvSpPr>
            <a:spLocks noGrp="1"/>
          </p:cNvSpPr>
          <p:nvPr>
            <p:ph idx="1"/>
          </p:nvPr>
        </p:nvSpPr>
        <p:spPr/>
        <p:txBody>
          <a:bodyPr>
            <a:normAutofit/>
          </a:bodyPr>
          <a:lstStyle/>
          <a:p>
            <a:r>
              <a:rPr lang="en-US" sz="2400" dirty="0"/>
              <a:t>Monolithic SCADA systems are called as early or first-generation systems. </a:t>
            </a:r>
          </a:p>
          <a:p>
            <a:r>
              <a:rPr lang="en-US" sz="2400" dirty="0"/>
              <a:t>In these types of systems, minicomputers are used. </a:t>
            </a:r>
          </a:p>
          <a:p>
            <a:r>
              <a:rPr lang="en-US" sz="2400" dirty="0"/>
              <a:t>The development of these systems can be done when common network services are not available. </a:t>
            </a:r>
          </a:p>
          <a:p>
            <a:r>
              <a:rPr lang="en-US" sz="2400" dirty="0"/>
              <a:t>The designing of these systems can be done like independent systems without any relation to other systems. </a:t>
            </a:r>
          </a:p>
          <a:p>
            <a:r>
              <a:rPr lang="en-US" sz="2400" dirty="0"/>
              <a:t>The data can be gathered from all RTUs using a backup mainframe. </a:t>
            </a:r>
          </a:p>
          <a:p>
            <a:r>
              <a:rPr lang="en-US" sz="2400" dirty="0"/>
              <a:t>The main functions of these first-generation systems are restricted to flagging processes in crisis cases &amp;to monitor the sensors.</a:t>
            </a:r>
            <a:endParaRPr lang="en-IN" sz="2400" dirty="0"/>
          </a:p>
        </p:txBody>
      </p:sp>
    </p:spTree>
    <p:extLst>
      <p:ext uri="{BB962C8B-B14F-4D97-AF65-F5344CB8AC3E}">
        <p14:creationId xmlns:p14="http://schemas.microsoft.com/office/powerpoint/2010/main" val="1965073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74768-EA3A-7701-171B-F89C1F0C428F}"/>
              </a:ext>
            </a:extLst>
          </p:cNvPr>
          <p:cNvSpPr>
            <a:spLocks noGrp="1"/>
          </p:cNvSpPr>
          <p:nvPr>
            <p:ph type="title"/>
          </p:nvPr>
        </p:nvSpPr>
        <p:spPr/>
        <p:txBody>
          <a:bodyPr/>
          <a:lstStyle/>
          <a:p>
            <a:r>
              <a:rPr lang="en-IN" dirty="0"/>
              <a:t>MONOLITHIC SCADA</a:t>
            </a:r>
          </a:p>
        </p:txBody>
      </p:sp>
      <p:pic>
        <p:nvPicPr>
          <p:cNvPr id="9" name="Content Placeholder 8">
            <a:extLst>
              <a:ext uri="{FF2B5EF4-FFF2-40B4-BE49-F238E27FC236}">
                <a16:creationId xmlns:a16="http://schemas.microsoft.com/office/drawing/2014/main" id="{B95CC743-2801-8E45-9660-BA9DBAD40992}"/>
              </a:ext>
            </a:extLst>
          </p:cNvPr>
          <p:cNvPicPr>
            <a:picLocks noGrp="1" noChangeAspect="1"/>
          </p:cNvPicPr>
          <p:nvPr>
            <p:ph idx="1"/>
          </p:nvPr>
        </p:nvPicPr>
        <p:blipFill>
          <a:blip r:embed="rId2"/>
          <a:stretch>
            <a:fillRect/>
          </a:stretch>
        </p:blipFill>
        <p:spPr>
          <a:xfrm>
            <a:off x="2417405" y="1559833"/>
            <a:ext cx="6409354" cy="4933042"/>
          </a:xfrm>
          <a:prstGeom prst="rect">
            <a:avLst/>
          </a:prstGeom>
        </p:spPr>
      </p:pic>
    </p:spTree>
    <p:extLst>
      <p:ext uri="{BB962C8B-B14F-4D97-AF65-F5344CB8AC3E}">
        <p14:creationId xmlns:p14="http://schemas.microsoft.com/office/powerpoint/2010/main" val="3106219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A4A0-E6FE-E183-6F69-924E9F676AD4}"/>
              </a:ext>
            </a:extLst>
          </p:cNvPr>
          <p:cNvSpPr>
            <a:spLocks noGrp="1"/>
          </p:cNvSpPr>
          <p:nvPr>
            <p:ph type="title"/>
          </p:nvPr>
        </p:nvSpPr>
        <p:spPr/>
        <p:txBody>
          <a:bodyPr/>
          <a:lstStyle/>
          <a:p>
            <a:r>
              <a:rPr lang="en-IN" dirty="0"/>
              <a:t>Distributed SCADA Systems</a:t>
            </a:r>
          </a:p>
        </p:txBody>
      </p:sp>
      <p:sp>
        <p:nvSpPr>
          <p:cNvPr id="3" name="Content Placeholder 2">
            <a:extLst>
              <a:ext uri="{FF2B5EF4-FFF2-40B4-BE49-F238E27FC236}">
                <a16:creationId xmlns:a16="http://schemas.microsoft.com/office/drawing/2014/main" id="{8424F77A-8319-70B2-0DAB-A39925B42F9C}"/>
              </a:ext>
            </a:extLst>
          </p:cNvPr>
          <p:cNvSpPr>
            <a:spLocks noGrp="1"/>
          </p:cNvSpPr>
          <p:nvPr>
            <p:ph idx="1"/>
          </p:nvPr>
        </p:nvSpPr>
        <p:spPr/>
        <p:txBody>
          <a:bodyPr>
            <a:normAutofit/>
          </a:bodyPr>
          <a:lstStyle/>
          <a:p>
            <a:r>
              <a:rPr lang="en-US" sz="2400" dirty="0"/>
              <a:t>Distributed SCADA systems are called second-generation systems. </a:t>
            </a:r>
          </a:p>
          <a:p>
            <a:r>
              <a:rPr lang="en-US" sz="2400" dirty="0"/>
              <a:t>The distribution of the control functions can be done across numerous systems by connecting with a local area network. </a:t>
            </a:r>
          </a:p>
          <a:p>
            <a:r>
              <a:rPr lang="en-US" sz="2400" dirty="0"/>
              <a:t>The control operations can be performed by sharing real-time data &amp; command processing. </a:t>
            </a:r>
          </a:p>
          <a:p>
            <a:r>
              <a:rPr lang="en-US" sz="2400" dirty="0"/>
              <a:t>In these types of systems, the size and cost of each station are reduced however there were no consistent network protocols. </a:t>
            </a:r>
          </a:p>
          <a:p>
            <a:r>
              <a:rPr lang="en-US" sz="2400" dirty="0"/>
              <a:t>As the protocols were proprietary, fewer people understand the SCADA system security while installation &amp; this factor were ignored largely.</a:t>
            </a:r>
            <a:endParaRPr lang="en-IN" sz="2400" dirty="0"/>
          </a:p>
        </p:txBody>
      </p:sp>
    </p:spTree>
    <p:extLst>
      <p:ext uri="{BB962C8B-B14F-4D97-AF65-F5344CB8AC3E}">
        <p14:creationId xmlns:p14="http://schemas.microsoft.com/office/powerpoint/2010/main" val="375027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7E95-2135-B550-A67D-EEBBE9F89DE6}"/>
              </a:ext>
            </a:extLst>
          </p:cNvPr>
          <p:cNvSpPr>
            <a:spLocks noGrp="1"/>
          </p:cNvSpPr>
          <p:nvPr>
            <p:ph type="title"/>
          </p:nvPr>
        </p:nvSpPr>
        <p:spPr/>
        <p:txBody>
          <a:bodyPr/>
          <a:lstStyle/>
          <a:p>
            <a:r>
              <a:rPr lang="en-IN" dirty="0"/>
              <a:t>Distributed SCADA Systems</a:t>
            </a:r>
          </a:p>
        </p:txBody>
      </p:sp>
      <p:pic>
        <p:nvPicPr>
          <p:cNvPr id="9" name="Content Placeholder 8">
            <a:extLst>
              <a:ext uri="{FF2B5EF4-FFF2-40B4-BE49-F238E27FC236}">
                <a16:creationId xmlns:a16="http://schemas.microsoft.com/office/drawing/2014/main" id="{5FEAD9CC-491F-F4E4-59FC-CBD448743704}"/>
              </a:ext>
            </a:extLst>
          </p:cNvPr>
          <p:cNvPicPr>
            <a:picLocks noGrp="1" noChangeAspect="1"/>
          </p:cNvPicPr>
          <p:nvPr>
            <p:ph idx="1"/>
          </p:nvPr>
        </p:nvPicPr>
        <p:blipFill>
          <a:blip r:embed="rId2"/>
          <a:stretch>
            <a:fillRect/>
          </a:stretch>
        </p:blipFill>
        <p:spPr>
          <a:xfrm>
            <a:off x="1049906" y="1767497"/>
            <a:ext cx="6713163" cy="4524443"/>
          </a:xfrm>
          <a:prstGeom prst="rect">
            <a:avLst/>
          </a:prstGeom>
        </p:spPr>
      </p:pic>
    </p:spTree>
    <p:extLst>
      <p:ext uri="{BB962C8B-B14F-4D97-AF65-F5344CB8AC3E}">
        <p14:creationId xmlns:p14="http://schemas.microsoft.com/office/powerpoint/2010/main" val="3999055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A905F-5803-302C-830F-EE30ACC28947}"/>
              </a:ext>
            </a:extLst>
          </p:cNvPr>
          <p:cNvSpPr>
            <a:spLocks noGrp="1"/>
          </p:cNvSpPr>
          <p:nvPr>
            <p:ph type="title"/>
          </p:nvPr>
        </p:nvSpPr>
        <p:spPr/>
        <p:txBody>
          <a:bodyPr/>
          <a:lstStyle/>
          <a:p>
            <a:r>
              <a:rPr lang="en-IN" dirty="0"/>
              <a:t>Networked SCADA System</a:t>
            </a:r>
          </a:p>
        </p:txBody>
      </p:sp>
      <p:sp>
        <p:nvSpPr>
          <p:cNvPr id="3" name="Content Placeholder 2">
            <a:extLst>
              <a:ext uri="{FF2B5EF4-FFF2-40B4-BE49-F238E27FC236}">
                <a16:creationId xmlns:a16="http://schemas.microsoft.com/office/drawing/2014/main" id="{90423A8E-FFDA-2C56-ED77-39F960253573}"/>
              </a:ext>
            </a:extLst>
          </p:cNvPr>
          <p:cNvSpPr>
            <a:spLocks noGrp="1"/>
          </p:cNvSpPr>
          <p:nvPr>
            <p:ph idx="1"/>
          </p:nvPr>
        </p:nvSpPr>
        <p:spPr/>
        <p:txBody>
          <a:bodyPr/>
          <a:lstStyle/>
          <a:p>
            <a:r>
              <a:rPr lang="en-US" dirty="0"/>
              <a:t>The networked SCADA systems are also known as third-generation systems. </a:t>
            </a:r>
          </a:p>
          <a:p>
            <a:r>
              <a:rPr lang="en-US" dirty="0"/>
              <a:t>The networking and communication of SCADA systems can be done using the WAN system through data lines or phones. </a:t>
            </a:r>
          </a:p>
          <a:p>
            <a:r>
              <a:rPr lang="en-US" dirty="0"/>
              <a:t>The data transmission among two nodes can be done with the help of Ethernet or Fiber-optic connections. </a:t>
            </a:r>
          </a:p>
          <a:p>
            <a:r>
              <a:rPr lang="en-US" dirty="0"/>
              <a:t>This type of SCADA system uses PLC to adjust and monitor the flagging operations simply once there is a necessity for main choices.</a:t>
            </a:r>
            <a:endParaRPr lang="en-IN" dirty="0"/>
          </a:p>
        </p:txBody>
      </p:sp>
    </p:spTree>
    <p:extLst>
      <p:ext uri="{BB962C8B-B14F-4D97-AF65-F5344CB8AC3E}">
        <p14:creationId xmlns:p14="http://schemas.microsoft.com/office/powerpoint/2010/main" val="196877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7F22A-793D-20F2-F176-1660A3F8FBC6}"/>
              </a:ext>
            </a:extLst>
          </p:cNvPr>
          <p:cNvSpPr>
            <a:spLocks noGrp="1"/>
          </p:cNvSpPr>
          <p:nvPr>
            <p:ph type="title"/>
          </p:nvPr>
        </p:nvSpPr>
        <p:spPr/>
        <p:txBody>
          <a:bodyPr/>
          <a:lstStyle/>
          <a:p>
            <a:r>
              <a:rPr lang="en-IN" dirty="0"/>
              <a:t>Networked SCADA System</a:t>
            </a:r>
          </a:p>
        </p:txBody>
      </p:sp>
      <p:pic>
        <p:nvPicPr>
          <p:cNvPr id="13" name="Content Placeholder 12">
            <a:extLst>
              <a:ext uri="{FF2B5EF4-FFF2-40B4-BE49-F238E27FC236}">
                <a16:creationId xmlns:a16="http://schemas.microsoft.com/office/drawing/2014/main" id="{A28AF7F5-BA12-9763-5150-D5A329607A8E}"/>
              </a:ext>
            </a:extLst>
          </p:cNvPr>
          <p:cNvPicPr>
            <a:picLocks noGrp="1" noChangeAspect="1"/>
          </p:cNvPicPr>
          <p:nvPr>
            <p:ph idx="1"/>
          </p:nvPr>
        </p:nvPicPr>
        <p:blipFill>
          <a:blip r:embed="rId2"/>
          <a:stretch>
            <a:fillRect/>
          </a:stretch>
        </p:blipFill>
        <p:spPr>
          <a:xfrm>
            <a:off x="1344505" y="1690688"/>
            <a:ext cx="8275356" cy="4854602"/>
          </a:xfrm>
          <a:prstGeom prst="rect">
            <a:avLst/>
          </a:prstGeom>
        </p:spPr>
      </p:pic>
    </p:spTree>
    <p:extLst>
      <p:ext uri="{BB962C8B-B14F-4D97-AF65-F5344CB8AC3E}">
        <p14:creationId xmlns:p14="http://schemas.microsoft.com/office/powerpoint/2010/main" val="182863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CB6C-075D-D5BB-A144-7A2B3069CB42}"/>
              </a:ext>
            </a:extLst>
          </p:cNvPr>
          <p:cNvSpPr>
            <a:spLocks noGrp="1"/>
          </p:cNvSpPr>
          <p:nvPr>
            <p:ph type="title"/>
          </p:nvPr>
        </p:nvSpPr>
        <p:spPr/>
        <p:txBody>
          <a:bodyPr/>
          <a:lstStyle/>
          <a:p>
            <a:r>
              <a:rPr lang="en-IN" dirty="0"/>
              <a:t>IoT SCADA System</a:t>
            </a:r>
          </a:p>
        </p:txBody>
      </p:sp>
      <p:sp>
        <p:nvSpPr>
          <p:cNvPr id="3" name="Content Placeholder 2">
            <a:extLst>
              <a:ext uri="{FF2B5EF4-FFF2-40B4-BE49-F238E27FC236}">
                <a16:creationId xmlns:a16="http://schemas.microsoft.com/office/drawing/2014/main" id="{14655733-E627-A749-D02D-2537126A650B}"/>
              </a:ext>
            </a:extLst>
          </p:cNvPr>
          <p:cNvSpPr>
            <a:spLocks noGrp="1"/>
          </p:cNvSpPr>
          <p:nvPr>
            <p:ph idx="1"/>
          </p:nvPr>
        </p:nvSpPr>
        <p:spPr/>
        <p:txBody>
          <a:bodyPr/>
          <a:lstStyle/>
          <a:p>
            <a:r>
              <a:rPr lang="en-US" dirty="0"/>
              <a:t>IoT SCADA systems are fourth-generation systems. </a:t>
            </a:r>
          </a:p>
          <a:p>
            <a:r>
              <a:rPr lang="en-US" dirty="0"/>
              <a:t>In these systems, the system’s infrastructural cost is reduced by implementing IoT through cloud computing. </a:t>
            </a:r>
          </a:p>
          <a:p>
            <a:r>
              <a:rPr lang="en-US" dirty="0"/>
              <a:t>Maintaining as well as integrating these systems is easy as compared with others. </a:t>
            </a:r>
          </a:p>
          <a:p>
            <a:r>
              <a:rPr lang="en-US" dirty="0"/>
              <a:t>In real-time, the condition of these systems can be reported through cloud computing. </a:t>
            </a:r>
          </a:p>
          <a:p>
            <a:r>
              <a:rPr lang="en-US" dirty="0"/>
              <a:t>Therefore, the implementation of algorithms like intricate control can be done that are frequently used on usual PLCs.</a:t>
            </a:r>
            <a:endParaRPr lang="en-IN" dirty="0"/>
          </a:p>
        </p:txBody>
      </p:sp>
    </p:spTree>
    <p:extLst>
      <p:ext uri="{BB962C8B-B14F-4D97-AF65-F5344CB8AC3E}">
        <p14:creationId xmlns:p14="http://schemas.microsoft.com/office/powerpoint/2010/main" val="1551338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07A3-8499-22FE-364C-1A05B2D1EB79}"/>
              </a:ext>
            </a:extLst>
          </p:cNvPr>
          <p:cNvSpPr>
            <a:spLocks noGrp="1"/>
          </p:cNvSpPr>
          <p:nvPr>
            <p:ph type="title"/>
          </p:nvPr>
        </p:nvSpPr>
        <p:spPr/>
        <p:txBody>
          <a:bodyPr/>
          <a:lstStyle/>
          <a:p>
            <a:r>
              <a:rPr lang="en-IN" dirty="0"/>
              <a:t>IoT SCADA System</a:t>
            </a:r>
          </a:p>
        </p:txBody>
      </p:sp>
      <p:pic>
        <p:nvPicPr>
          <p:cNvPr id="5" name="Content Placeholder 4">
            <a:extLst>
              <a:ext uri="{FF2B5EF4-FFF2-40B4-BE49-F238E27FC236}">
                <a16:creationId xmlns:a16="http://schemas.microsoft.com/office/drawing/2014/main" id="{7E77097D-6F6A-1521-2A20-CCE4CA554B68}"/>
              </a:ext>
            </a:extLst>
          </p:cNvPr>
          <p:cNvPicPr>
            <a:picLocks noGrp="1" noChangeAspect="1"/>
          </p:cNvPicPr>
          <p:nvPr>
            <p:ph idx="1"/>
          </p:nvPr>
        </p:nvPicPr>
        <p:blipFill>
          <a:blip r:embed="rId2"/>
          <a:stretch>
            <a:fillRect/>
          </a:stretch>
        </p:blipFill>
        <p:spPr>
          <a:xfrm>
            <a:off x="838200" y="1305698"/>
            <a:ext cx="8109857" cy="5552302"/>
          </a:xfrm>
          <a:prstGeom prst="rect">
            <a:avLst/>
          </a:prstGeom>
        </p:spPr>
      </p:pic>
    </p:spTree>
    <p:extLst>
      <p:ext uri="{BB962C8B-B14F-4D97-AF65-F5344CB8AC3E}">
        <p14:creationId xmlns:p14="http://schemas.microsoft.com/office/powerpoint/2010/main" val="766675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13F1-58B5-D11A-FE09-69E7B54BDDD1}"/>
              </a:ext>
            </a:extLst>
          </p:cNvPr>
          <p:cNvSpPr>
            <a:spLocks noGrp="1"/>
          </p:cNvSpPr>
          <p:nvPr>
            <p:ph type="title"/>
          </p:nvPr>
        </p:nvSpPr>
        <p:spPr/>
        <p:txBody>
          <a:bodyPr/>
          <a:lstStyle/>
          <a:p>
            <a:r>
              <a:rPr lang="en-IN" dirty="0"/>
              <a:t>SCADA System Architecture</a:t>
            </a:r>
          </a:p>
        </p:txBody>
      </p:sp>
      <p:pic>
        <p:nvPicPr>
          <p:cNvPr id="5" name="Content Placeholder 4">
            <a:extLst>
              <a:ext uri="{FF2B5EF4-FFF2-40B4-BE49-F238E27FC236}">
                <a16:creationId xmlns:a16="http://schemas.microsoft.com/office/drawing/2014/main" id="{53A1F17A-E787-42CB-6A95-40E088660FDE}"/>
              </a:ext>
            </a:extLst>
          </p:cNvPr>
          <p:cNvPicPr>
            <a:picLocks noGrp="1" noChangeAspect="1"/>
          </p:cNvPicPr>
          <p:nvPr>
            <p:ph idx="1"/>
          </p:nvPr>
        </p:nvPicPr>
        <p:blipFill>
          <a:blip r:embed="rId2"/>
          <a:stretch>
            <a:fillRect/>
          </a:stretch>
        </p:blipFill>
        <p:spPr>
          <a:xfrm>
            <a:off x="541175" y="1391136"/>
            <a:ext cx="11406055" cy="5101739"/>
          </a:xfrm>
        </p:spPr>
      </p:pic>
    </p:spTree>
    <p:extLst>
      <p:ext uri="{BB962C8B-B14F-4D97-AF65-F5344CB8AC3E}">
        <p14:creationId xmlns:p14="http://schemas.microsoft.com/office/powerpoint/2010/main" val="1517239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B1B7-1182-3289-BB99-FDA49FEF6E90}"/>
              </a:ext>
            </a:extLst>
          </p:cNvPr>
          <p:cNvSpPr>
            <a:spLocks noGrp="1"/>
          </p:cNvSpPr>
          <p:nvPr>
            <p:ph type="title"/>
          </p:nvPr>
        </p:nvSpPr>
        <p:spPr/>
        <p:txBody>
          <a:bodyPr/>
          <a:lstStyle/>
          <a:p>
            <a:r>
              <a:rPr kumimoji="0" lang="en-IN" sz="4400" b="0" i="0" u="none" strike="noStrike" kern="1200" cap="none" spc="0" normalizeH="0" baseline="0" noProof="0" dirty="0">
                <a:ln w="3175" cmpd="sng">
                  <a:noFill/>
                </a:ln>
                <a:solidFill>
                  <a:prstClr val="black">
                    <a:lumMod val="85000"/>
                    <a:lumOff val="15000"/>
                  </a:prstClr>
                </a:solidFill>
                <a:effectLst/>
                <a:uLnTx/>
                <a:uFillTx/>
                <a:latin typeface="Garamond" panose="02020404030301010803"/>
                <a:ea typeface="+mj-ea"/>
                <a:cs typeface="+mj-cs"/>
              </a:rPr>
              <a:t>SCADA System Architecture</a:t>
            </a:r>
            <a:endParaRPr lang="en-IN" dirty="0"/>
          </a:p>
        </p:txBody>
      </p:sp>
      <p:sp>
        <p:nvSpPr>
          <p:cNvPr id="3" name="Content Placeholder 2">
            <a:extLst>
              <a:ext uri="{FF2B5EF4-FFF2-40B4-BE49-F238E27FC236}">
                <a16:creationId xmlns:a16="http://schemas.microsoft.com/office/drawing/2014/main" id="{1FBCA0D6-703B-091B-8607-01FB79778175}"/>
              </a:ext>
            </a:extLst>
          </p:cNvPr>
          <p:cNvSpPr>
            <a:spLocks noGrp="1"/>
          </p:cNvSpPr>
          <p:nvPr>
            <p:ph idx="1"/>
          </p:nvPr>
        </p:nvSpPr>
        <p:spPr>
          <a:xfrm>
            <a:off x="838200" y="1825625"/>
            <a:ext cx="10515600" cy="4667250"/>
          </a:xfrm>
        </p:spPr>
        <p:txBody>
          <a:bodyPr>
            <a:normAutofit/>
          </a:bodyPr>
          <a:lstStyle/>
          <a:p>
            <a:r>
              <a:rPr lang="en-US" sz="2400" dirty="0"/>
              <a:t>SCADA system is a centralized system that monitors and controls the entire area. </a:t>
            </a:r>
          </a:p>
          <a:p>
            <a:r>
              <a:rPr lang="en-US" sz="2400" dirty="0"/>
              <a:t>It is a pure software package that is positioned on top of the hardware. </a:t>
            </a:r>
          </a:p>
          <a:p>
            <a:r>
              <a:rPr lang="en-US" sz="2400" dirty="0"/>
              <a:t>A supervisory system gathers data on the process and sends the commands control to the process. </a:t>
            </a:r>
          </a:p>
          <a:p>
            <a:r>
              <a:rPr lang="en-US" sz="2400" dirty="0"/>
              <a:t>The SCADA is a remote terminal unit which is also known as RTU. </a:t>
            </a:r>
          </a:p>
          <a:p>
            <a:r>
              <a:rPr lang="en-US" sz="2400" dirty="0"/>
              <a:t>The SCADA system utilizes a WAN and LAN networks; the WAN and LAN consist of internet protocols used for communication between the master station and devices. </a:t>
            </a:r>
          </a:p>
          <a:p>
            <a:r>
              <a:rPr lang="en-US" sz="2400" dirty="0"/>
              <a:t>The physical equipment like sensors connected to the PLCs or RTUs. </a:t>
            </a:r>
          </a:p>
          <a:p>
            <a:r>
              <a:rPr lang="en-US" sz="2400" dirty="0"/>
              <a:t>The RTUs convert the sensor signals to digital data and sends digital data to the master. </a:t>
            </a:r>
            <a:endParaRPr lang="en-IN" sz="2400" dirty="0"/>
          </a:p>
        </p:txBody>
      </p:sp>
    </p:spTree>
    <p:extLst>
      <p:ext uri="{BB962C8B-B14F-4D97-AF65-F5344CB8AC3E}">
        <p14:creationId xmlns:p14="http://schemas.microsoft.com/office/powerpoint/2010/main" val="3031814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28061" y="320381"/>
            <a:ext cx="5135033" cy="386430"/>
          </a:xfrm>
          <a:prstGeom prst="rect">
            <a:avLst/>
          </a:prstGeom>
        </p:spPr>
        <p:txBody>
          <a:bodyPr vert="horz" wrap="square" lIns="0" tIns="16933" rIns="0" bIns="0" rtlCol="0">
            <a:spAutoFit/>
          </a:bodyPr>
          <a:lstStyle/>
          <a:p>
            <a:pPr marL="16933">
              <a:spcBef>
                <a:spcPts val="133"/>
              </a:spcBef>
            </a:pPr>
            <a:r>
              <a:rPr sz="2400" b="1" dirty="0">
                <a:latin typeface="Times New Roman"/>
                <a:cs typeface="Times New Roman"/>
              </a:rPr>
              <a:t>Layers</a:t>
            </a:r>
            <a:r>
              <a:rPr sz="2400" b="1" spc="-73" dirty="0">
                <a:latin typeface="Times New Roman"/>
                <a:cs typeface="Times New Roman"/>
              </a:rPr>
              <a:t> </a:t>
            </a:r>
            <a:r>
              <a:rPr sz="2400" b="1" dirty="0">
                <a:latin typeface="Times New Roman"/>
                <a:cs typeface="Times New Roman"/>
              </a:rPr>
              <a:t>of</a:t>
            </a:r>
            <a:r>
              <a:rPr sz="2400" b="1" spc="-27" dirty="0">
                <a:latin typeface="Times New Roman"/>
                <a:cs typeface="Times New Roman"/>
              </a:rPr>
              <a:t> </a:t>
            </a:r>
            <a:r>
              <a:rPr sz="2400" b="1" dirty="0">
                <a:latin typeface="Times New Roman"/>
                <a:cs typeface="Times New Roman"/>
              </a:rPr>
              <a:t>SCADA</a:t>
            </a:r>
            <a:r>
              <a:rPr sz="2400" b="1" spc="-33" dirty="0">
                <a:latin typeface="Times New Roman"/>
                <a:cs typeface="Times New Roman"/>
              </a:rPr>
              <a:t> </a:t>
            </a:r>
            <a:r>
              <a:rPr sz="2400" b="1" dirty="0">
                <a:latin typeface="Times New Roman"/>
                <a:cs typeface="Times New Roman"/>
              </a:rPr>
              <a:t>System</a:t>
            </a:r>
            <a:r>
              <a:rPr sz="2400" b="1" spc="-47" dirty="0">
                <a:latin typeface="Times New Roman"/>
                <a:cs typeface="Times New Roman"/>
              </a:rPr>
              <a:t> </a:t>
            </a:r>
            <a:r>
              <a:rPr sz="2400" b="1" spc="-13" dirty="0">
                <a:latin typeface="Times New Roman"/>
                <a:cs typeface="Times New Roman"/>
              </a:rPr>
              <a:t>Architecture</a:t>
            </a:r>
            <a:endParaRPr sz="2400">
              <a:latin typeface="Times New Roman"/>
              <a:cs typeface="Times New Roman"/>
            </a:endParaRPr>
          </a:p>
        </p:txBody>
      </p:sp>
      <p:pic>
        <p:nvPicPr>
          <p:cNvPr id="3" name="object 3"/>
          <p:cNvPicPr/>
          <p:nvPr/>
        </p:nvPicPr>
        <p:blipFill>
          <a:blip r:embed="rId2" cstate="print"/>
          <a:stretch>
            <a:fillRect/>
          </a:stretch>
        </p:blipFill>
        <p:spPr>
          <a:xfrm>
            <a:off x="-102637" y="873155"/>
            <a:ext cx="12372392" cy="5474207"/>
          </a:xfrm>
          <a:prstGeom prst="rect">
            <a:avLst/>
          </a:prstGeom>
        </p:spPr>
      </p:pic>
      <p:sp>
        <p:nvSpPr>
          <p:cNvPr id="4" name="object 4"/>
          <p:cNvSpPr txBox="1"/>
          <p:nvPr/>
        </p:nvSpPr>
        <p:spPr>
          <a:xfrm>
            <a:off x="3985609" y="6347362"/>
            <a:ext cx="4109720" cy="304421"/>
          </a:xfrm>
          <a:prstGeom prst="rect">
            <a:avLst/>
          </a:prstGeom>
        </p:spPr>
        <p:txBody>
          <a:bodyPr vert="horz" wrap="square" lIns="0" tIns="16933" rIns="0" bIns="0" rtlCol="0">
            <a:spAutoFit/>
          </a:bodyPr>
          <a:lstStyle/>
          <a:p>
            <a:pPr marL="16933">
              <a:spcBef>
                <a:spcPts val="133"/>
              </a:spcBef>
            </a:pPr>
            <a:r>
              <a:rPr sz="1867" dirty="0">
                <a:latin typeface="Times New Roman"/>
                <a:cs typeface="Times New Roman"/>
              </a:rPr>
              <a:t>open</a:t>
            </a:r>
            <a:r>
              <a:rPr sz="1867" spc="-40" dirty="0">
                <a:latin typeface="Times New Roman"/>
                <a:cs typeface="Times New Roman"/>
              </a:rPr>
              <a:t> </a:t>
            </a:r>
            <a:r>
              <a:rPr sz="1867" dirty="0">
                <a:latin typeface="Times New Roman"/>
                <a:cs typeface="Times New Roman"/>
              </a:rPr>
              <a:t>control</a:t>
            </a:r>
            <a:r>
              <a:rPr sz="1867" spc="-20" dirty="0">
                <a:latin typeface="Times New Roman"/>
                <a:cs typeface="Times New Roman"/>
              </a:rPr>
              <a:t> </a:t>
            </a:r>
            <a:r>
              <a:rPr sz="1867" dirty="0">
                <a:latin typeface="Times New Roman"/>
                <a:cs typeface="Times New Roman"/>
              </a:rPr>
              <a:t>SCADA</a:t>
            </a:r>
            <a:r>
              <a:rPr sz="1867" spc="-27" dirty="0">
                <a:latin typeface="Times New Roman"/>
                <a:cs typeface="Times New Roman"/>
              </a:rPr>
              <a:t> </a:t>
            </a:r>
            <a:r>
              <a:rPr sz="1867" dirty="0">
                <a:latin typeface="Times New Roman"/>
                <a:cs typeface="Times New Roman"/>
              </a:rPr>
              <a:t>network</a:t>
            </a:r>
            <a:r>
              <a:rPr sz="1867" spc="-53" dirty="0">
                <a:latin typeface="Times New Roman"/>
                <a:cs typeface="Times New Roman"/>
              </a:rPr>
              <a:t> </a:t>
            </a:r>
            <a:r>
              <a:rPr sz="1867" spc="-13" dirty="0">
                <a:latin typeface="Times New Roman"/>
                <a:cs typeface="Times New Roman"/>
              </a:rPr>
              <a:t>architecture</a:t>
            </a:r>
            <a:endParaRPr sz="1867">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469" y="552514"/>
            <a:ext cx="11227647" cy="6119774"/>
          </a:xfrm>
          <a:prstGeom prst="rect">
            <a:avLst/>
          </a:prstGeom>
        </p:spPr>
        <p:txBody>
          <a:bodyPr vert="horz" wrap="square" lIns="0" tIns="16087" rIns="0" bIns="0" rtlCol="0">
            <a:spAutoFit/>
          </a:bodyPr>
          <a:lstStyle/>
          <a:p>
            <a:pPr marL="16933">
              <a:spcBef>
                <a:spcPts val="127"/>
              </a:spcBef>
            </a:pPr>
            <a:r>
              <a:rPr sz="2133" b="1" dirty="0">
                <a:latin typeface="Times New Roman"/>
                <a:cs typeface="Times New Roman"/>
              </a:rPr>
              <a:t>Level</a:t>
            </a:r>
            <a:r>
              <a:rPr sz="2133" b="1" spc="-27" dirty="0">
                <a:latin typeface="Times New Roman"/>
                <a:cs typeface="Times New Roman"/>
              </a:rPr>
              <a:t> </a:t>
            </a:r>
            <a:r>
              <a:rPr sz="2133" b="1" spc="-67" dirty="0">
                <a:latin typeface="Times New Roman"/>
                <a:cs typeface="Times New Roman"/>
              </a:rPr>
              <a:t>0</a:t>
            </a:r>
            <a:endParaRPr sz="2133">
              <a:latin typeface="Times New Roman"/>
              <a:cs typeface="Times New Roman"/>
            </a:endParaRPr>
          </a:p>
          <a:p>
            <a:pPr marL="626518" marR="16086" indent="-441102">
              <a:lnSpc>
                <a:spcPct val="150000"/>
              </a:lnSpc>
              <a:spcBef>
                <a:spcPts val="1053"/>
              </a:spcBef>
              <a:buChar char="●"/>
              <a:tabLst>
                <a:tab pos="626518" algn="l"/>
              </a:tabLst>
            </a:pPr>
            <a:r>
              <a:rPr sz="2133" dirty="0">
                <a:latin typeface="Times New Roman"/>
                <a:cs typeface="Times New Roman"/>
              </a:rPr>
              <a:t>The</a:t>
            </a:r>
            <a:r>
              <a:rPr sz="2133" spc="-47" dirty="0">
                <a:latin typeface="Times New Roman"/>
                <a:cs typeface="Times New Roman"/>
              </a:rPr>
              <a:t> </a:t>
            </a:r>
            <a:r>
              <a:rPr sz="2133" spc="-13" dirty="0">
                <a:latin typeface="Times New Roman"/>
                <a:cs typeface="Times New Roman"/>
              </a:rPr>
              <a:t>ground-</a:t>
            </a:r>
            <a:r>
              <a:rPr sz="2133" dirty="0">
                <a:latin typeface="Times New Roman"/>
                <a:cs typeface="Times New Roman"/>
              </a:rPr>
              <a:t>level/</a:t>
            </a:r>
            <a:r>
              <a:rPr sz="2133" spc="-20" dirty="0">
                <a:latin typeface="Times New Roman"/>
                <a:cs typeface="Times New Roman"/>
              </a:rPr>
              <a:t> </a:t>
            </a:r>
            <a:r>
              <a:rPr sz="2133" dirty="0">
                <a:latin typeface="Times New Roman"/>
                <a:cs typeface="Times New Roman"/>
              </a:rPr>
              <a:t>field</a:t>
            </a:r>
            <a:r>
              <a:rPr sz="2133" spc="-40" dirty="0">
                <a:latin typeface="Times New Roman"/>
                <a:cs typeface="Times New Roman"/>
              </a:rPr>
              <a:t> </a:t>
            </a:r>
            <a:r>
              <a:rPr sz="2133" dirty="0">
                <a:latin typeface="Times New Roman"/>
                <a:cs typeface="Times New Roman"/>
              </a:rPr>
              <a:t>level</a:t>
            </a:r>
            <a:r>
              <a:rPr sz="2133" spc="-20" dirty="0">
                <a:latin typeface="Times New Roman"/>
                <a:cs typeface="Times New Roman"/>
              </a:rPr>
              <a:t> </a:t>
            </a:r>
            <a:r>
              <a:rPr sz="2133" dirty="0">
                <a:latin typeface="Times New Roman"/>
                <a:cs typeface="Times New Roman"/>
              </a:rPr>
              <a:t>devices</a:t>
            </a:r>
            <a:r>
              <a:rPr sz="2133" spc="-40" dirty="0">
                <a:latin typeface="Times New Roman"/>
                <a:cs typeface="Times New Roman"/>
              </a:rPr>
              <a:t> </a:t>
            </a:r>
            <a:r>
              <a:rPr sz="2133" dirty="0">
                <a:latin typeface="Times New Roman"/>
                <a:cs typeface="Times New Roman"/>
              </a:rPr>
              <a:t>that</a:t>
            </a:r>
            <a:r>
              <a:rPr sz="2133" spc="-40" dirty="0">
                <a:latin typeface="Times New Roman"/>
                <a:cs typeface="Times New Roman"/>
              </a:rPr>
              <a:t> </a:t>
            </a:r>
            <a:r>
              <a:rPr sz="2133" dirty="0">
                <a:latin typeface="Times New Roman"/>
                <a:cs typeface="Times New Roman"/>
              </a:rPr>
              <a:t>actually</a:t>
            </a:r>
            <a:r>
              <a:rPr sz="2133" spc="-7" dirty="0">
                <a:latin typeface="Times New Roman"/>
                <a:cs typeface="Times New Roman"/>
              </a:rPr>
              <a:t> </a:t>
            </a:r>
            <a:r>
              <a:rPr sz="2133" dirty="0">
                <a:latin typeface="Times New Roman"/>
                <a:cs typeface="Times New Roman"/>
              </a:rPr>
              <a:t>interact</a:t>
            </a:r>
            <a:r>
              <a:rPr sz="2133" spc="-7" dirty="0">
                <a:latin typeface="Times New Roman"/>
                <a:cs typeface="Times New Roman"/>
              </a:rPr>
              <a:t> </a:t>
            </a:r>
            <a:r>
              <a:rPr sz="2133" dirty="0">
                <a:latin typeface="Times New Roman"/>
                <a:cs typeface="Times New Roman"/>
              </a:rPr>
              <a:t>with</a:t>
            </a:r>
            <a:r>
              <a:rPr sz="2133" spc="-40" dirty="0">
                <a:latin typeface="Times New Roman"/>
                <a:cs typeface="Times New Roman"/>
              </a:rPr>
              <a:t> </a:t>
            </a:r>
            <a:r>
              <a:rPr sz="2133" dirty="0">
                <a:latin typeface="Times New Roman"/>
                <a:cs typeface="Times New Roman"/>
              </a:rPr>
              <a:t>the</a:t>
            </a:r>
            <a:r>
              <a:rPr sz="2133" spc="-40" dirty="0">
                <a:latin typeface="Times New Roman"/>
                <a:cs typeface="Times New Roman"/>
              </a:rPr>
              <a:t> </a:t>
            </a:r>
            <a:r>
              <a:rPr sz="2133" dirty="0">
                <a:latin typeface="Times New Roman"/>
                <a:cs typeface="Times New Roman"/>
              </a:rPr>
              <a:t>physical</a:t>
            </a:r>
            <a:r>
              <a:rPr sz="2133" spc="-27" dirty="0">
                <a:latin typeface="Times New Roman"/>
                <a:cs typeface="Times New Roman"/>
              </a:rPr>
              <a:t> </a:t>
            </a:r>
            <a:r>
              <a:rPr sz="2133" dirty="0">
                <a:latin typeface="Times New Roman"/>
                <a:cs typeface="Times New Roman"/>
              </a:rPr>
              <a:t>environment</a:t>
            </a:r>
            <a:r>
              <a:rPr sz="2133" spc="7" dirty="0">
                <a:latin typeface="Times New Roman"/>
                <a:cs typeface="Times New Roman"/>
              </a:rPr>
              <a:t> </a:t>
            </a:r>
            <a:r>
              <a:rPr sz="2133" dirty="0">
                <a:latin typeface="Times New Roman"/>
                <a:cs typeface="Times New Roman"/>
              </a:rPr>
              <a:t>or</a:t>
            </a:r>
            <a:r>
              <a:rPr sz="2133" spc="-47" dirty="0">
                <a:latin typeface="Times New Roman"/>
                <a:cs typeface="Times New Roman"/>
              </a:rPr>
              <a:t> </a:t>
            </a:r>
            <a:r>
              <a:rPr sz="2133" spc="-27" dirty="0">
                <a:latin typeface="Times New Roman"/>
                <a:cs typeface="Times New Roman"/>
              </a:rPr>
              <a:t>work </a:t>
            </a:r>
            <a:r>
              <a:rPr sz="2133" dirty="0">
                <a:latin typeface="Times New Roman"/>
                <a:cs typeface="Times New Roman"/>
              </a:rPr>
              <a:t>as</a:t>
            </a:r>
            <a:r>
              <a:rPr sz="2133" spc="-33" dirty="0">
                <a:latin typeface="Times New Roman"/>
                <a:cs typeface="Times New Roman"/>
              </a:rPr>
              <a:t> </a:t>
            </a:r>
            <a:r>
              <a:rPr sz="2133" dirty="0">
                <a:latin typeface="Times New Roman"/>
                <a:cs typeface="Times New Roman"/>
              </a:rPr>
              <a:t>technicians</a:t>
            </a:r>
            <a:r>
              <a:rPr sz="2133" spc="-13" dirty="0">
                <a:latin typeface="Times New Roman"/>
                <a:cs typeface="Times New Roman"/>
              </a:rPr>
              <a:t> </a:t>
            </a:r>
            <a:r>
              <a:rPr sz="2133" dirty="0">
                <a:latin typeface="Times New Roman"/>
                <a:cs typeface="Times New Roman"/>
              </a:rPr>
              <a:t>in</a:t>
            </a:r>
            <a:r>
              <a:rPr sz="2133" spc="-33" dirty="0">
                <a:latin typeface="Times New Roman"/>
                <a:cs typeface="Times New Roman"/>
              </a:rPr>
              <a:t> </a:t>
            </a:r>
            <a:r>
              <a:rPr sz="2133" dirty="0">
                <a:latin typeface="Times New Roman"/>
                <a:cs typeface="Times New Roman"/>
              </a:rPr>
              <a:t>a</a:t>
            </a:r>
            <a:r>
              <a:rPr sz="2133" spc="-47" dirty="0">
                <a:latin typeface="Times New Roman"/>
                <a:cs typeface="Times New Roman"/>
              </a:rPr>
              <a:t> </a:t>
            </a:r>
            <a:r>
              <a:rPr sz="2133" dirty="0">
                <a:latin typeface="Times New Roman"/>
                <a:cs typeface="Times New Roman"/>
              </a:rPr>
              <a:t>supervision</a:t>
            </a:r>
            <a:r>
              <a:rPr sz="2133" spc="-27" dirty="0">
                <a:latin typeface="Times New Roman"/>
                <a:cs typeface="Times New Roman"/>
              </a:rPr>
              <a:t> </a:t>
            </a:r>
            <a:r>
              <a:rPr sz="2133" spc="-13" dirty="0">
                <a:latin typeface="Times New Roman"/>
                <a:cs typeface="Times New Roman"/>
              </a:rPr>
              <a:t>system</a:t>
            </a:r>
            <a:endParaRPr sz="2133">
              <a:latin typeface="Times New Roman"/>
              <a:cs typeface="Times New Roman"/>
            </a:endParaRPr>
          </a:p>
          <a:p>
            <a:pPr marL="626518" marR="952476" indent="-441102">
              <a:lnSpc>
                <a:spcPct val="150000"/>
              </a:lnSpc>
              <a:buChar char="●"/>
              <a:tabLst>
                <a:tab pos="626518" algn="l"/>
              </a:tabLst>
            </a:pPr>
            <a:r>
              <a:rPr sz="2133" dirty="0">
                <a:latin typeface="Times New Roman"/>
                <a:cs typeface="Times New Roman"/>
              </a:rPr>
              <a:t>Sensor</a:t>
            </a:r>
            <a:r>
              <a:rPr sz="2133" spc="-33" dirty="0">
                <a:latin typeface="Times New Roman"/>
                <a:cs typeface="Times New Roman"/>
              </a:rPr>
              <a:t> </a:t>
            </a:r>
            <a:r>
              <a:rPr sz="2133" dirty="0">
                <a:latin typeface="Times New Roman"/>
                <a:cs typeface="Times New Roman"/>
              </a:rPr>
              <a:t>is</a:t>
            </a:r>
            <a:r>
              <a:rPr sz="2133" spc="-27" dirty="0">
                <a:latin typeface="Times New Roman"/>
                <a:cs typeface="Times New Roman"/>
              </a:rPr>
              <a:t> </a:t>
            </a:r>
            <a:r>
              <a:rPr sz="2133" dirty="0">
                <a:latin typeface="Times New Roman"/>
                <a:cs typeface="Times New Roman"/>
              </a:rPr>
              <a:t>a</a:t>
            </a:r>
            <a:r>
              <a:rPr sz="2133" spc="-40" dirty="0">
                <a:latin typeface="Times New Roman"/>
                <a:cs typeface="Times New Roman"/>
              </a:rPr>
              <a:t> </a:t>
            </a:r>
            <a:r>
              <a:rPr sz="2133" dirty="0">
                <a:latin typeface="Times New Roman"/>
                <a:cs typeface="Times New Roman"/>
              </a:rPr>
              <a:t>device</a:t>
            </a:r>
            <a:r>
              <a:rPr sz="2133" spc="-13" dirty="0">
                <a:latin typeface="Times New Roman"/>
                <a:cs typeface="Times New Roman"/>
              </a:rPr>
              <a:t> </a:t>
            </a:r>
            <a:r>
              <a:rPr sz="2133" dirty="0">
                <a:latin typeface="Times New Roman"/>
                <a:cs typeface="Times New Roman"/>
              </a:rPr>
              <a:t>that</a:t>
            </a:r>
            <a:r>
              <a:rPr sz="2133" spc="-33" dirty="0">
                <a:latin typeface="Times New Roman"/>
                <a:cs typeface="Times New Roman"/>
              </a:rPr>
              <a:t> </a:t>
            </a:r>
            <a:r>
              <a:rPr sz="2133" dirty="0">
                <a:latin typeface="Times New Roman"/>
                <a:cs typeface="Times New Roman"/>
              </a:rPr>
              <a:t>can</a:t>
            </a:r>
            <a:r>
              <a:rPr sz="2133" spc="-20" dirty="0">
                <a:latin typeface="Times New Roman"/>
                <a:cs typeface="Times New Roman"/>
              </a:rPr>
              <a:t> </a:t>
            </a:r>
            <a:r>
              <a:rPr sz="2133" dirty="0">
                <a:latin typeface="Times New Roman"/>
                <a:cs typeface="Times New Roman"/>
              </a:rPr>
              <a:t>sense</a:t>
            </a:r>
            <a:r>
              <a:rPr sz="2133" spc="-33" dirty="0">
                <a:latin typeface="Times New Roman"/>
                <a:cs typeface="Times New Roman"/>
              </a:rPr>
              <a:t> </a:t>
            </a:r>
            <a:r>
              <a:rPr sz="2133" dirty="0">
                <a:latin typeface="Times New Roman"/>
                <a:cs typeface="Times New Roman"/>
              </a:rPr>
              <a:t>the</a:t>
            </a:r>
            <a:r>
              <a:rPr sz="2133" spc="-33" dirty="0">
                <a:latin typeface="Times New Roman"/>
                <a:cs typeface="Times New Roman"/>
              </a:rPr>
              <a:t> </a:t>
            </a:r>
            <a:r>
              <a:rPr sz="2133" dirty="0">
                <a:latin typeface="Times New Roman"/>
                <a:cs typeface="Times New Roman"/>
              </a:rPr>
              <a:t>physical</a:t>
            </a:r>
            <a:r>
              <a:rPr sz="2133" spc="-7" dirty="0">
                <a:latin typeface="Times New Roman"/>
                <a:cs typeface="Times New Roman"/>
              </a:rPr>
              <a:t> </a:t>
            </a:r>
            <a:r>
              <a:rPr sz="2133" dirty="0">
                <a:latin typeface="Times New Roman"/>
                <a:cs typeface="Times New Roman"/>
              </a:rPr>
              <a:t>changes</a:t>
            </a:r>
            <a:r>
              <a:rPr sz="2133" spc="-47" dirty="0">
                <a:latin typeface="Times New Roman"/>
                <a:cs typeface="Times New Roman"/>
              </a:rPr>
              <a:t> </a:t>
            </a:r>
            <a:r>
              <a:rPr sz="2133" dirty="0">
                <a:latin typeface="Times New Roman"/>
                <a:cs typeface="Times New Roman"/>
              </a:rPr>
              <a:t>around</a:t>
            </a:r>
            <a:r>
              <a:rPr sz="2133" spc="-20" dirty="0">
                <a:latin typeface="Times New Roman"/>
                <a:cs typeface="Times New Roman"/>
              </a:rPr>
              <a:t> </a:t>
            </a:r>
            <a:r>
              <a:rPr sz="2133" dirty="0">
                <a:latin typeface="Times New Roman"/>
                <a:cs typeface="Times New Roman"/>
              </a:rPr>
              <a:t>it</a:t>
            </a:r>
            <a:r>
              <a:rPr sz="2133" spc="-33" dirty="0">
                <a:latin typeface="Times New Roman"/>
                <a:cs typeface="Times New Roman"/>
              </a:rPr>
              <a:t> </a:t>
            </a:r>
            <a:r>
              <a:rPr sz="2133" dirty="0">
                <a:latin typeface="Times New Roman"/>
                <a:cs typeface="Times New Roman"/>
              </a:rPr>
              <a:t>and</a:t>
            </a:r>
            <a:r>
              <a:rPr sz="2133" spc="-40" dirty="0">
                <a:latin typeface="Times New Roman"/>
                <a:cs typeface="Times New Roman"/>
              </a:rPr>
              <a:t> </a:t>
            </a:r>
            <a:r>
              <a:rPr sz="2133" dirty="0">
                <a:latin typeface="Times New Roman"/>
                <a:cs typeface="Times New Roman"/>
              </a:rPr>
              <a:t>generate</a:t>
            </a:r>
            <a:r>
              <a:rPr sz="2133" spc="-7" dirty="0">
                <a:latin typeface="Times New Roman"/>
                <a:cs typeface="Times New Roman"/>
              </a:rPr>
              <a:t> </a:t>
            </a:r>
            <a:r>
              <a:rPr sz="2133" spc="-13" dirty="0">
                <a:latin typeface="Times New Roman"/>
                <a:cs typeface="Times New Roman"/>
              </a:rPr>
              <a:t>appropriate </a:t>
            </a:r>
            <a:r>
              <a:rPr sz="2133" dirty="0">
                <a:latin typeface="Times New Roman"/>
                <a:cs typeface="Times New Roman"/>
              </a:rPr>
              <a:t>electrical</a:t>
            </a:r>
            <a:r>
              <a:rPr sz="2133" spc="7" dirty="0">
                <a:latin typeface="Times New Roman"/>
                <a:cs typeface="Times New Roman"/>
              </a:rPr>
              <a:t> </a:t>
            </a:r>
            <a:r>
              <a:rPr sz="2133" dirty="0">
                <a:latin typeface="Times New Roman"/>
                <a:cs typeface="Times New Roman"/>
              </a:rPr>
              <a:t>or</a:t>
            </a:r>
            <a:r>
              <a:rPr sz="2133" spc="-53" dirty="0">
                <a:latin typeface="Times New Roman"/>
                <a:cs typeface="Times New Roman"/>
              </a:rPr>
              <a:t> </a:t>
            </a:r>
            <a:r>
              <a:rPr sz="2133" dirty="0">
                <a:latin typeface="Times New Roman"/>
                <a:cs typeface="Times New Roman"/>
              </a:rPr>
              <a:t>electronic</a:t>
            </a:r>
            <a:r>
              <a:rPr sz="2133" spc="-20" dirty="0">
                <a:latin typeface="Times New Roman"/>
                <a:cs typeface="Times New Roman"/>
              </a:rPr>
              <a:t> </a:t>
            </a:r>
            <a:r>
              <a:rPr sz="2133" spc="-13" dirty="0">
                <a:latin typeface="Times New Roman"/>
                <a:cs typeface="Times New Roman"/>
              </a:rPr>
              <a:t>signals.</a:t>
            </a:r>
            <a:endParaRPr sz="2133">
              <a:latin typeface="Times New Roman"/>
              <a:cs typeface="Times New Roman"/>
            </a:endParaRPr>
          </a:p>
          <a:p>
            <a:pPr marL="626518" marR="408930" indent="-441102">
              <a:lnSpc>
                <a:spcPct val="150000"/>
              </a:lnSpc>
              <a:buChar char="●"/>
              <a:tabLst>
                <a:tab pos="626518" algn="l"/>
              </a:tabLst>
            </a:pPr>
            <a:r>
              <a:rPr sz="2133" dirty="0">
                <a:latin typeface="Times New Roman"/>
                <a:cs typeface="Times New Roman"/>
              </a:rPr>
              <a:t>The</a:t>
            </a:r>
            <a:r>
              <a:rPr sz="2133" spc="-40" dirty="0">
                <a:latin typeface="Times New Roman"/>
                <a:cs typeface="Times New Roman"/>
              </a:rPr>
              <a:t> </a:t>
            </a:r>
            <a:r>
              <a:rPr sz="2133" dirty="0">
                <a:latin typeface="Times New Roman"/>
                <a:cs typeface="Times New Roman"/>
              </a:rPr>
              <a:t>actuator</a:t>
            </a:r>
            <a:r>
              <a:rPr sz="2133" spc="-27" dirty="0">
                <a:latin typeface="Times New Roman"/>
                <a:cs typeface="Times New Roman"/>
              </a:rPr>
              <a:t> </a:t>
            </a:r>
            <a:r>
              <a:rPr sz="2133" dirty="0">
                <a:latin typeface="Times New Roman"/>
                <a:cs typeface="Times New Roman"/>
              </a:rPr>
              <a:t>is</a:t>
            </a:r>
            <a:r>
              <a:rPr sz="2133" spc="-27" dirty="0">
                <a:latin typeface="Times New Roman"/>
                <a:cs typeface="Times New Roman"/>
              </a:rPr>
              <a:t> </a:t>
            </a:r>
            <a:r>
              <a:rPr sz="2133" dirty="0">
                <a:latin typeface="Times New Roman"/>
                <a:cs typeface="Times New Roman"/>
              </a:rPr>
              <a:t>a</a:t>
            </a:r>
            <a:r>
              <a:rPr sz="2133" spc="-40" dirty="0">
                <a:latin typeface="Times New Roman"/>
                <a:cs typeface="Times New Roman"/>
              </a:rPr>
              <a:t> </a:t>
            </a:r>
            <a:r>
              <a:rPr sz="2133" dirty="0">
                <a:latin typeface="Times New Roman"/>
                <a:cs typeface="Times New Roman"/>
              </a:rPr>
              <a:t>device</a:t>
            </a:r>
            <a:r>
              <a:rPr sz="2133" spc="-33" dirty="0">
                <a:latin typeface="Times New Roman"/>
                <a:cs typeface="Times New Roman"/>
              </a:rPr>
              <a:t> </a:t>
            </a:r>
            <a:r>
              <a:rPr sz="2133" dirty="0">
                <a:latin typeface="Times New Roman"/>
                <a:cs typeface="Times New Roman"/>
              </a:rPr>
              <a:t>that</a:t>
            </a:r>
            <a:r>
              <a:rPr sz="2133" spc="-20" dirty="0">
                <a:latin typeface="Times New Roman"/>
                <a:cs typeface="Times New Roman"/>
              </a:rPr>
              <a:t> </a:t>
            </a:r>
            <a:r>
              <a:rPr sz="2133" dirty="0">
                <a:latin typeface="Times New Roman"/>
                <a:cs typeface="Times New Roman"/>
              </a:rPr>
              <a:t>makes</a:t>
            </a:r>
            <a:r>
              <a:rPr sz="2133" spc="13" dirty="0">
                <a:latin typeface="Times New Roman"/>
                <a:cs typeface="Times New Roman"/>
              </a:rPr>
              <a:t> </a:t>
            </a:r>
            <a:r>
              <a:rPr sz="2133" dirty="0">
                <a:latin typeface="Times New Roman"/>
                <a:cs typeface="Times New Roman"/>
              </a:rPr>
              <a:t>physical</a:t>
            </a:r>
            <a:r>
              <a:rPr sz="2133" spc="-20" dirty="0">
                <a:latin typeface="Times New Roman"/>
                <a:cs typeface="Times New Roman"/>
              </a:rPr>
              <a:t> </a:t>
            </a:r>
            <a:r>
              <a:rPr sz="2133" dirty="0">
                <a:latin typeface="Times New Roman"/>
                <a:cs typeface="Times New Roman"/>
              </a:rPr>
              <a:t>changes</a:t>
            </a:r>
            <a:r>
              <a:rPr sz="2133" spc="-47" dirty="0">
                <a:latin typeface="Times New Roman"/>
                <a:cs typeface="Times New Roman"/>
              </a:rPr>
              <a:t> </a:t>
            </a:r>
            <a:r>
              <a:rPr sz="2133" dirty="0">
                <a:latin typeface="Times New Roman"/>
                <a:cs typeface="Times New Roman"/>
              </a:rPr>
              <a:t>when</a:t>
            </a:r>
            <a:r>
              <a:rPr sz="2133" spc="-47" dirty="0">
                <a:latin typeface="Times New Roman"/>
                <a:cs typeface="Times New Roman"/>
              </a:rPr>
              <a:t> </a:t>
            </a:r>
            <a:r>
              <a:rPr sz="2133" dirty="0">
                <a:latin typeface="Times New Roman"/>
                <a:cs typeface="Times New Roman"/>
              </a:rPr>
              <a:t>an</a:t>
            </a:r>
            <a:r>
              <a:rPr sz="2133" spc="-40" dirty="0">
                <a:latin typeface="Times New Roman"/>
                <a:cs typeface="Times New Roman"/>
              </a:rPr>
              <a:t> </a:t>
            </a:r>
            <a:r>
              <a:rPr sz="2133" dirty="0">
                <a:latin typeface="Times New Roman"/>
                <a:cs typeface="Times New Roman"/>
              </a:rPr>
              <a:t>electrical</a:t>
            </a:r>
            <a:r>
              <a:rPr sz="2133" spc="20" dirty="0">
                <a:latin typeface="Times New Roman"/>
                <a:cs typeface="Times New Roman"/>
              </a:rPr>
              <a:t> </a:t>
            </a:r>
            <a:r>
              <a:rPr sz="2133" dirty="0">
                <a:latin typeface="Times New Roman"/>
                <a:cs typeface="Times New Roman"/>
              </a:rPr>
              <a:t>or</a:t>
            </a:r>
            <a:r>
              <a:rPr sz="2133" spc="-33" dirty="0">
                <a:latin typeface="Times New Roman"/>
                <a:cs typeface="Times New Roman"/>
              </a:rPr>
              <a:t> </a:t>
            </a:r>
            <a:r>
              <a:rPr sz="2133" dirty="0">
                <a:latin typeface="Times New Roman"/>
                <a:cs typeface="Times New Roman"/>
              </a:rPr>
              <a:t>electronic</a:t>
            </a:r>
            <a:r>
              <a:rPr sz="2133" spc="7" dirty="0">
                <a:latin typeface="Times New Roman"/>
                <a:cs typeface="Times New Roman"/>
              </a:rPr>
              <a:t> </a:t>
            </a:r>
            <a:r>
              <a:rPr sz="2133" dirty="0">
                <a:latin typeface="Times New Roman"/>
                <a:cs typeface="Times New Roman"/>
              </a:rPr>
              <a:t>signal</a:t>
            </a:r>
            <a:r>
              <a:rPr sz="2133" spc="-40" dirty="0">
                <a:latin typeface="Times New Roman"/>
                <a:cs typeface="Times New Roman"/>
              </a:rPr>
              <a:t> </a:t>
            </a:r>
            <a:r>
              <a:rPr sz="2133" spc="-33" dirty="0">
                <a:latin typeface="Times New Roman"/>
                <a:cs typeface="Times New Roman"/>
              </a:rPr>
              <a:t>is </a:t>
            </a:r>
            <a:r>
              <a:rPr sz="2133" dirty="0">
                <a:latin typeface="Times New Roman"/>
                <a:cs typeface="Times New Roman"/>
              </a:rPr>
              <a:t>applied</a:t>
            </a:r>
            <a:r>
              <a:rPr sz="2133" spc="-20" dirty="0">
                <a:latin typeface="Times New Roman"/>
                <a:cs typeface="Times New Roman"/>
              </a:rPr>
              <a:t> </a:t>
            </a:r>
            <a:r>
              <a:rPr sz="2133" dirty="0">
                <a:latin typeface="Times New Roman"/>
                <a:cs typeface="Times New Roman"/>
              </a:rPr>
              <a:t>to</a:t>
            </a:r>
            <a:r>
              <a:rPr sz="2133" spc="-20" dirty="0">
                <a:latin typeface="Times New Roman"/>
                <a:cs typeface="Times New Roman"/>
              </a:rPr>
              <a:t> </a:t>
            </a:r>
            <a:r>
              <a:rPr sz="2133" spc="-33" dirty="0">
                <a:latin typeface="Times New Roman"/>
                <a:cs typeface="Times New Roman"/>
              </a:rPr>
              <a:t>it.</a:t>
            </a:r>
            <a:endParaRPr sz="2133">
              <a:latin typeface="Times New Roman"/>
              <a:cs typeface="Times New Roman"/>
            </a:endParaRPr>
          </a:p>
          <a:p>
            <a:pPr marL="16933">
              <a:spcBef>
                <a:spcPts val="2352"/>
              </a:spcBef>
            </a:pPr>
            <a:r>
              <a:rPr sz="2133" b="1" dirty="0">
                <a:latin typeface="Times New Roman"/>
                <a:cs typeface="Times New Roman"/>
              </a:rPr>
              <a:t>Level</a:t>
            </a:r>
            <a:r>
              <a:rPr sz="2133" b="1" spc="-27" dirty="0">
                <a:latin typeface="Times New Roman"/>
                <a:cs typeface="Times New Roman"/>
              </a:rPr>
              <a:t> </a:t>
            </a:r>
            <a:r>
              <a:rPr sz="2133" b="1" spc="-67" dirty="0">
                <a:latin typeface="Times New Roman"/>
                <a:cs typeface="Times New Roman"/>
              </a:rPr>
              <a:t>1</a:t>
            </a:r>
            <a:endParaRPr sz="2133">
              <a:latin typeface="Times New Roman"/>
              <a:cs typeface="Times New Roman"/>
            </a:endParaRPr>
          </a:p>
          <a:p>
            <a:pPr marL="626518" indent="-441102">
              <a:spcBef>
                <a:spcPts val="2347"/>
              </a:spcBef>
              <a:buChar char="●"/>
              <a:tabLst>
                <a:tab pos="626518" algn="l"/>
              </a:tabLst>
            </a:pPr>
            <a:r>
              <a:rPr sz="2133" dirty="0">
                <a:latin typeface="Times New Roman"/>
                <a:cs typeface="Times New Roman"/>
              </a:rPr>
              <a:t>PLC(Programmable</a:t>
            </a:r>
            <a:r>
              <a:rPr sz="2133" spc="-20" dirty="0">
                <a:latin typeface="Times New Roman"/>
                <a:cs typeface="Times New Roman"/>
              </a:rPr>
              <a:t> </a:t>
            </a:r>
            <a:r>
              <a:rPr sz="2133" dirty="0">
                <a:latin typeface="Times New Roman"/>
                <a:cs typeface="Times New Roman"/>
              </a:rPr>
              <a:t>Logic</a:t>
            </a:r>
            <a:r>
              <a:rPr sz="2133" spc="-67" dirty="0">
                <a:latin typeface="Times New Roman"/>
                <a:cs typeface="Times New Roman"/>
              </a:rPr>
              <a:t> </a:t>
            </a:r>
            <a:r>
              <a:rPr sz="2133" dirty="0">
                <a:latin typeface="Times New Roman"/>
                <a:cs typeface="Times New Roman"/>
              </a:rPr>
              <a:t>Controller)</a:t>
            </a:r>
            <a:r>
              <a:rPr sz="2133" spc="-47" dirty="0">
                <a:latin typeface="Times New Roman"/>
                <a:cs typeface="Times New Roman"/>
              </a:rPr>
              <a:t> </a:t>
            </a:r>
            <a:r>
              <a:rPr sz="2133" dirty="0">
                <a:latin typeface="Times New Roman"/>
                <a:cs typeface="Times New Roman"/>
              </a:rPr>
              <a:t>and</a:t>
            </a:r>
            <a:r>
              <a:rPr sz="2133" spc="-80" dirty="0">
                <a:latin typeface="Times New Roman"/>
                <a:cs typeface="Times New Roman"/>
              </a:rPr>
              <a:t> </a:t>
            </a:r>
            <a:r>
              <a:rPr sz="2133" dirty="0">
                <a:latin typeface="Times New Roman"/>
                <a:cs typeface="Times New Roman"/>
              </a:rPr>
              <a:t>RTU(Remote</a:t>
            </a:r>
            <a:r>
              <a:rPr sz="2133" spc="-13" dirty="0">
                <a:latin typeface="Times New Roman"/>
                <a:cs typeface="Times New Roman"/>
              </a:rPr>
              <a:t> </a:t>
            </a:r>
            <a:r>
              <a:rPr sz="2133" dirty="0">
                <a:latin typeface="Times New Roman"/>
                <a:cs typeface="Times New Roman"/>
              </a:rPr>
              <a:t>Terminal Unit)</a:t>
            </a:r>
            <a:r>
              <a:rPr sz="2133" spc="-73" dirty="0">
                <a:latin typeface="Times New Roman"/>
                <a:cs typeface="Times New Roman"/>
              </a:rPr>
              <a:t> </a:t>
            </a:r>
            <a:r>
              <a:rPr sz="2133" dirty="0">
                <a:latin typeface="Times New Roman"/>
                <a:cs typeface="Times New Roman"/>
              </a:rPr>
              <a:t>comes</a:t>
            </a:r>
            <a:r>
              <a:rPr sz="2133" spc="-27" dirty="0">
                <a:latin typeface="Times New Roman"/>
                <a:cs typeface="Times New Roman"/>
              </a:rPr>
              <a:t> </a:t>
            </a:r>
            <a:r>
              <a:rPr sz="2133" dirty="0">
                <a:latin typeface="Times New Roman"/>
                <a:cs typeface="Times New Roman"/>
              </a:rPr>
              <a:t>under</a:t>
            </a:r>
            <a:r>
              <a:rPr sz="2133" spc="-67" dirty="0">
                <a:latin typeface="Times New Roman"/>
                <a:cs typeface="Times New Roman"/>
              </a:rPr>
              <a:t> </a:t>
            </a:r>
            <a:r>
              <a:rPr sz="2133" dirty="0">
                <a:latin typeface="Times New Roman"/>
                <a:cs typeface="Times New Roman"/>
              </a:rPr>
              <a:t>this</a:t>
            </a:r>
            <a:r>
              <a:rPr sz="2133" spc="-67" dirty="0">
                <a:latin typeface="Times New Roman"/>
                <a:cs typeface="Times New Roman"/>
              </a:rPr>
              <a:t> </a:t>
            </a:r>
            <a:r>
              <a:rPr sz="2133" spc="-13" dirty="0">
                <a:latin typeface="Times New Roman"/>
                <a:cs typeface="Times New Roman"/>
              </a:rPr>
              <a:t>level.</a:t>
            </a:r>
            <a:endParaRPr sz="2133">
              <a:latin typeface="Times New Roman"/>
              <a:cs typeface="Times New Roman"/>
            </a:endParaRPr>
          </a:p>
          <a:p>
            <a:pPr marL="626518" indent="-441102">
              <a:spcBef>
                <a:spcPts val="1280"/>
              </a:spcBef>
              <a:buChar char="●"/>
              <a:tabLst>
                <a:tab pos="626518" algn="l"/>
              </a:tabLst>
            </a:pPr>
            <a:r>
              <a:rPr sz="2133" dirty="0">
                <a:latin typeface="Times New Roman"/>
                <a:cs typeface="Times New Roman"/>
              </a:rPr>
              <a:t>These</a:t>
            </a:r>
            <a:r>
              <a:rPr sz="2133" spc="-40" dirty="0">
                <a:latin typeface="Times New Roman"/>
                <a:cs typeface="Times New Roman"/>
              </a:rPr>
              <a:t> </a:t>
            </a:r>
            <a:r>
              <a:rPr sz="2133" dirty="0">
                <a:latin typeface="Times New Roman"/>
                <a:cs typeface="Times New Roman"/>
              </a:rPr>
              <a:t>are</a:t>
            </a:r>
            <a:r>
              <a:rPr sz="2133" spc="-20" dirty="0">
                <a:latin typeface="Times New Roman"/>
                <a:cs typeface="Times New Roman"/>
              </a:rPr>
              <a:t> </a:t>
            </a:r>
            <a:r>
              <a:rPr sz="2133" dirty="0">
                <a:latin typeface="Times New Roman"/>
                <a:cs typeface="Times New Roman"/>
              </a:rPr>
              <a:t>the</a:t>
            </a:r>
            <a:r>
              <a:rPr sz="2133" spc="-33" dirty="0">
                <a:latin typeface="Times New Roman"/>
                <a:cs typeface="Times New Roman"/>
              </a:rPr>
              <a:t> </a:t>
            </a:r>
            <a:r>
              <a:rPr sz="2133" dirty="0">
                <a:latin typeface="Times New Roman"/>
                <a:cs typeface="Times New Roman"/>
              </a:rPr>
              <a:t>devices</a:t>
            </a:r>
            <a:r>
              <a:rPr sz="2133" spc="-33" dirty="0">
                <a:latin typeface="Times New Roman"/>
                <a:cs typeface="Times New Roman"/>
              </a:rPr>
              <a:t> </a:t>
            </a:r>
            <a:r>
              <a:rPr sz="2133" dirty="0">
                <a:latin typeface="Times New Roman"/>
                <a:cs typeface="Times New Roman"/>
              </a:rPr>
              <a:t>that</a:t>
            </a:r>
            <a:r>
              <a:rPr sz="2133" spc="-13" dirty="0">
                <a:latin typeface="Times New Roman"/>
                <a:cs typeface="Times New Roman"/>
              </a:rPr>
              <a:t> </a:t>
            </a:r>
            <a:r>
              <a:rPr sz="2133" dirty="0">
                <a:latin typeface="Times New Roman"/>
                <a:cs typeface="Times New Roman"/>
              </a:rPr>
              <a:t>directly</a:t>
            </a:r>
            <a:r>
              <a:rPr sz="2133" spc="-13" dirty="0">
                <a:latin typeface="Times New Roman"/>
                <a:cs typeface="Times New Roman"/>
              </a:rPr>
              <a:t> </a:t>
            </a:r>
            <a:r>
              <a:rPr sz="2133" dirty="0">
                <a:latin typeface="Times New Roman"/>
                <a:cs typeface="Times New Roman"/>
              </a:rPr>
              <a:t>control</a:t>
            </a:r>
            <a:r>
              <a:rPr sz="2133" spc="-20" dirty="0">
                <a:latin typeface="Times New Roman"/>
                <a:cs typeface="Times New Roman"/>
              </a:rPr>
              <a:t> </a:t>
            </a:r>
            <a:r>
              <a:rPr sz="2133" dirty="0">
                <a:latin typeface="Times New Roman"/>
                <a:cs typeface="Times New Roman"/>
              </a:rPr>
              <a:t>the</a:t>
            </a:r>
            <a:r>
              <a:rPr sz="2133" spc="-33" dirty="0">
                <a:latin typeface="Times New Roman"/>
                <a:cs typeface="Times New Roman"/>
              </a:rPr>
              <a:t> </a:t>
            </a:r>
            <a:r>
              <a:rPr sz="2133" spc="-13" dirty="0">
                <a:latin typeface="Times New Roman"/>
                <a:cs typeface="Times New Roman"/>
              </a:rPr>
              <a:t>ground-</a:t>
            </a:r>
            <a:r>
              <a:rPr sz="2133" dirty="0">
                <a:latin typeface="Times New Roman"/>
                <a:cs typeface="Times New Roman"/>
              </a:rPr>
              <a:t>level</a:t>
            </a:r>
            <a:r>
              <a:rPr sz="2133" spc="-40" dirty="0">
                <a:latin typeface="Times New Roman"/>
                <a:cs typeface="Times New Roman"/>
              </a:rPr>
              <a:t> </a:t>
            </a:r>
            <a:r>
              <a:rPr sz="2133" dirty="0">
                <a:latin typeface="Times New Roman"/>
                <a:cs typeface="Times New Roman"/>
              </a:rPr>
              <a:t>devices</a:t>
            </a:r>
            <a:r>
              <a:rPr sz="2133" spc="-13" dirty="0">
                <a:latin typeface="Times New Roman"/>
                <a:cs typeface="Times New Roman"/>
              </a:rPr>
              <a:t> </a:t>
            </a:r>
            <a:r>
              <a:rPr sz="2133" dirty="0">
                <a:latin typeface="Times New Roman"/>
                <a:cs typeface="Times New Roman"/>
              </a:rPr>
              <a:t>such</a:t>
            </a:r>
            <a:r>
              <a:rPr sz="2133" spc="-47" dirty="0">
                <a:latin typeface="Times New Roman"/>
                <a:cs typeface="Times New Roman"/>
              </a:rPr>
              <a:t> </a:t>
            </a:r>
            <a:r>
              <a:rPr sz="2133" dirty="0">
                <a:latin typeface="Times New Roman"/>
                <a:cs typeface="Times New Roman"/>
              </a:rPr>
              <a:t>as</a:t>
            </a:r>
            <a:r>
              <a:rPr sz="2133" spc="-27" dirty="0">
                <a:latin typeface="Times New Roman"/>
                <a:cs typeface="Times New Roman"/>
              </a:rPr>
              <a:t> </a:t>
            </a:r>
            <a:r>
              <a:rPr sz="2133" dirty="0">
                <a:latin typeface="Times New Roman"/>
                <a:cs typeface="Times New Roman"/>
              </a:rPr>
              <a:t>sensors</a:t>
            </a:r>
            <a:r>
              <a:rPr sz="2133" spc="-33" dirty="0">
                <a:latin typeface="Times New Roman"/>
                <a:cs typeface="Times New Roman"/>
              </a:rPr>
              <a:t> </a:t>
            </a:r>
            <a:r>
              <a:rPr sz="2133" dirty="0">
                <a:latin typeface="Times New Roman"/>
                <a:cs typeface="Times New Roman"/>
              </a:rPr>
              <a:t>and</a:t>
            </a:r>
            <a:r>
              <a:rPr sz="2133" spc="-40" dirty="0">
                <a:latin typeface="Times New Roman"/>
                <a:cs typeface="Times New Roman"/>
              </a:rPr>
              <a:t> </a:t>
            </a:r>
            <a:r>
              <a:rPr sz="2133" spc="-13" dirty="0">
                <a:latin typeface="Times New Roman"/>
                <a:cs typeface="Times New Roman"/>
              </a:rPr>
              <a:t>actuators.</a:t>
            </a:r>
            <a:endParaRPr sz="2133">
              <a:latin typeface="Times New Roman"/>
              <a:cs typeface="Times New Roman"/>
            </a:endParaRPr>
          </a:p>
          <a:p>
            <a:pPr marL="626518" marR="422476" indent="-441102">
              <a:lnSpc>
                <a:spcPct val="150000"/>
              </a:lnSpc>
              <a:buChar char="●"/>
              <a:tabLst>
                <a:tab pos="626518" algn="l"/>
              </a:tabLst>
            </a:pPr>
            <a:r>
              <a:rPr sz="2133" dirty="0">
                <a:latin typeface="Times New Roman"/>
                <a:cs typeface="Times New Roman"/>
              </a:rPr>
              <a:t>The</a:t>
            </a:r>
            <a:r>
              <a:rPr sz="2133" spc="-27" dirty="0">
                <a:latin typeface="Times New Roman"/>
                <a:cs typeface="Times New Roman"/>
              </a:rPr>
              <a:t> </a:t>
            </a:r>
            <a:r>
              <a:rPr sz="2133" dirty="0">
                <a:latin typeface="Times New Roman"/>
                <a:cs typeface="Times New Roman"/>
              </a:rPr>
              <a:t>PLC</a:t>
            </a:r>
            <a:r>
              <a:rPr sz="2133" spc="-40" dirty="0">
                <a:latin typeface="Times New Roman"/>
                <a:cs typeface="Times New Roman"/>
              </a:rPr>
              <a:t> </a:t>
            </a:r>
            <a:r>
              <a:rPr sz="2133" dirty="0">
                <a:latin typeface="Times New Roman"/>
                <a:cs typeface="Times New Roman"/>
              </a:rPr>
              <a:t>helps</a:t>
            </a:r>
            <a:r>
              <a:rPr sz="2133" spc="-40" dirty="0">
                <a:latin typeface="Times New Roman"/>
                <a:cs typeface="Times New Roman"/>
              </a:rPr>
              <a:t> </a:t>
            </a:r>
            <a:r>
              <a:rPr sz="2133" dirty="0">
                <a:latin typeface="Times New Roman"/>
                <a:cs typeface="Times New Roman"/>
              </a:rPr>
              <a:t>to</a:t>
            </a:r>
            <a:r>
              <a:rPr sz="2133" spc="-20" dirty="0">
                <a:latin typeface="Times New Roman"/>
                <a:cs typeface="Times New Roman"/>
              </a:rPr>
              <a:t> </a:t>
            </a:r>
            <a:r>
              <a:rPr sz="2133" dirty="0">
                <a:latin typeface="Times New Roman"/>
                <a:cs typeface="Times New Roman"/>
              </a:rPr>
              <a:t>build</a:t>
            </a:r>
            <a:r>
              <a:rPr sz="2133" spc="-27" dirty="0">
                <a:latin typeface="Times New Roman"/>
                <a:cs typeface="Times New Roman"/>
              </a:rPr>
              <a:t> </a:t>
            </a:r>
            <a:r>
              <a:rPr sz="2133" dirty="0">
                <a:latin typeface="Times New Roman"/>
                <a:cs typeface="Times New Roman"/>
              </a:rPr>
              <a:t>the</a:t>
            </a:r>
            <a:r>
              <a:rPr sz="2133" spc="-27" dirty="0">
                <a:latin typeface="Times New Roman"/>
                <a:cs typeface="Times New Roman"/>
              </a:rPr>
              <a:t> </a:t>
            </a:r>
            <a:r>
              <a:rPr sz="2133" dirty="0">
                <a:latin typeface="Times New Roman"/>
                <a:cs typeface="Times New Roman"/>
              </a:rPr>
              <a:t>SCADA</a:t>
            </a:r>
            <a:r>
              <a:rPr sz="2133" spc="-60" dirty="0">
                <a:latin typeface="Times New Roman"/>
                <a:cs typeface="Times New Roman"/>
              </a:rPr>
              <a:t> </a:t>
            </a:r>
            <a:r>
              <a:rPr sz="2133" dirty="0">
                <a:latin typeface="Times New Roman"/>
                <a:cs typeface="Times New Roman"/>
              </a:rPr>
              <a:t>system</a:t>
            </a:r>
            <a:r>
              <a:rPr sz="2133" spc="13" dirty="0">
                <a:latin typeface="Times New Roman"/>
                <a:cs typeface="Times New Roman"/>
              </a:rPr>
              <a:t> </a:t>
            </a:r>
            <a:r>
              <a:rPr sz="2133" dirty="0">
                <a:latin typeface="Times New Roman"/>
                <a:cs typeface="Times New Roman"/>
              </a:rPr>
              <a:t>with</a:t>
            </a:r>
            <a:r>
              <a:rPr sz="2133" spc="-33" dirty="0">
                <a:latin typeface="Times New Roman"/>
                <a:cs typeface="Times New Roman"/>
              </a:rPr>
              <a:t> </a:t>
            </a:r>
            <a:r>
              <a:rPr sz="2133" dirty="0">
                <a:latin typeface="Times New Roman"/>
                <a:cs typeface="Times New Roman"/>
              </a:rPr>
              <a:t>LAN</a:t>
            </a:r>
            <a:r>
              <a:rPr sz="2133" spc="-27" dirty="0">
                <a:latin typeface="Times New Roman"/>
                <a:cs typeface="Times New Roman"/>
              </a:rPr>
              <a:t> </a:t>
            </a:r>
            <a:r>
              <a:rPr sz="2133" dirty="0">
                <a:latin typeface="Times New Roman"/>
                <a:cs typeface="Times New Roman"/>
              </a:rPr>
              <a:t>only</a:t>
            </a:r>
            <a:r>
              <a:rPr sz="2133" spc="-27" dirty="0">
                <a:latin typeface="Times New Roman"/>
                <a:cs typeface="Times New Roman"/>
              </a:rPr>
              <a:t> </a:t>
            </a:r>
            <a:r>
              <a:rPr sz="2133" dirty="0">
                <a:latin typeface="Times New Roman"/>
                <a:cs typeface="Times New Roman"/>
              </a:rPr>
              <a:t>whereas</a:t>
            </a:r>
            <a:r>
              <a:rPr sz="2133" spc="-20" dirty="0">
                <a:latin typeface="Times New Roman"/>
                <a:cs typeface="Times New Roman"/>
              </a:rPr>
              <a:t> </a:t>
            </a:r>
            <a:r>
              <a:rPr sz="2133" dirty="0">
                <a:latin typeface="Times New Roman"/>
                <a:cs typeface="Times New Roman"/>
              </a:rPr>
              <a:t>the</a:t>
            </a:r>
            <a:r>
              <a:rPr sz="2133" spc="-27" dirty="0">
                <a:latin typeface="Times New Roman"/>
                <a:cs typeface="Times New Roman"/>
              </a:rPr>
              <a:t> </a:t>
            </a:r>
            <a:r>
              <a:rPr sz="2133" dirty="0">
                <a:latin typeface="Times New Roman"/>
                <a:cs typeface="Times New Roman"/>
              </a:rPr>
              <a:t>RTU</a:t>
            </a:r>
            <a:r>
              <a:rPr sz="2133" spc="-40" dirty="0">
                <a:latin typeface="Times New Roman"/>
                <a:cs typeface="Times New Roman"/>
              </a:rPr>
              <a:t> </a:t>
            </a:r>
            <a:r>
              <a:rPr sz="2133" dirty="0">
                <a:latin typeface="Times New Roman"/>
                <a:cs typeface="Times New Roman"/>
              </a:rPr>
              <a:t>system helps</a:t>
            </a:r>
            <a:r>
              <a:rPr sz="2133" spc="-20" dirty="0">
                <a:latin typeface="Times New Roman"/>
                <a:cs typeface="Times New Roman"/>
              </a:rPr>
              <a:t> </a:t>
            </a:r>
            <a:r>
              <a:rPr sz="2133" spc="-33" dirty="0">
                <a:latin typeface="Times New Roman"/>
                <a:cs typeface="Times New Roman"/>
              </a:rPr>
              <a:t>to </a:t>
            </a:r>
            <a:r>
              <a:rPr sz="2133" dirty="0">
                <a:latin typeface="Times New Roman"/>
                <a:cs typeface="Times New Roman"/>
              </a:rPr>
              <a:t>build</a:t>
            </a:r>
            <a:r>
              <a:rPr sz="2133" spc="-33" dirty="0">
                <a:latin typeface="Times New Roman"/>
                <a:cs typeface="Times New Roman"/>
              </a:rPr>
              <a:t> </a:t>
            </a:r>
            <a:r>
              <a:rPr sz="2133" dirty="0">
                <a:latin typeface="Times New Roman"/>
                <a:cs typeface="Times New Roman"/>
              </a:rPr>
              <a:t>the</a:t>
            </a:r>
            <a:r>
              <a:rPr sz="2133" spc="-27" dirty="0">
                <a:latin typeface="Times New Roman"/>
                <a:cs typeface="Times New Roman"/>
              </a:rPr>
              <a:t> </a:t>
            </a:r>
            <a:r>
              <a:rPr sz="2133" dirty="0">
                <a:latin typeface="Times New Roman"/>
                <a:cs typeface="Times New Roman"/>
              </a:rPr>
              <a:t>SCADA</a:t>
            </a:r>
            <a:r>
              <a:rPr sz="2133" spc="-40" dirty="0">
                <a:latin typeface="Times New Roman"/>
                <a:cs typeface="Times New Roman"/>
              </a:rPr>
              <a:t> </a:t>
            </a:r>
            <a:r>
              <a:rPr sz="2133" dirty="0">
                <a:latin typeface="Times New Roman"/>
                <a:cs typeface="Times New Roman"/>
              </a:rPr>
              <a:t>system with</a:t>
            </a:r>
            <a:r>
              <a:rPr sz="2133" spc="-20" dirty="0">
                <a:latin typeface="Times New Roman"/>
                <a:cs typeface="Times New Roman"/>
              </a:rPr>
              <a:t> </a:t>
            </a:r>
            <a:r>
              <a:rPr sz="2133" dirty="0">
                <a:latin typeface="Times New Roman"/>
                <a:cs typeface="Times New Roman"/>
              </a:rPr>
              <a:t>the</a:t>
            </a:r>
            <a:r>
              <a:rPr sz="2133" spc="-40" dirty="0">
                <a:latin typeface="Times New Roman"/>
                <a:cs typeface="Times New Roman"/>
              </a:rPr>
              <a:t> </a:t>
            </a:r>
            <a:r>
              <a:rPr sz="2133" spc="-33" dirty="0">
                <a:latin typeface="Times New Roman"/>
                <a:cs typeface="Times New Roman"/>
              </a:rPr>
              <a:t>WAN</a:t>
            </a:r>
            <a:endParaRPr sz="2133">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473" y="454978"/>
            <a:ext cx="10958407" cy="5906810"/>
          </a:xfrm>
          <a:prstGeom prst="rect">
            <a:avLst/>
          </a:prstGeom>
        </p:spPr>
        <p:txBody>
          <a:bodyPr vert="horz" wrap="square" lIns="0" tIns="17780" rIns="0" bIns="0" rtlCol="0">
            <a:spAutoFit/>
          </a:bodyPr>
          <a:lstStyle/>
          <a:p>
            <a:pPr marL="16933">
              <a:spcBef>
                <a:spcPts val="140"/>
              </a:spcBef>
            </a:pPr>
            <a:r>
              <a:rPr sz="2267" b="1" dirty="0">
                <a:latin typeface="Times New Roman"/>
                <a:cs typeface="Times New Roman"/>
              </a:rPr>
              <a:t>Level</a:t>
            </a:r>
            <a:r>
              <a:rPr sz="2267" b="1" spc="-40" dirty="0">
                <a:latin typeface="Times New Roman"/>
                <a:cs typeface="Times New Roman"/>
              </a:rPr>
              <a:t> </a:t>
            </a:r>
            <a:r>
              <a:rPr sz="2267" b="1" spc="-67" dirty="0">
                <a:latin typeface="Times New Roman"/>
                <a:cs typeface="Times New Roman"/>
              </a:rPr>
              <a:t>2</a:t>
            </a:r>
            <a:endParaRPr sz="2267" dirty="0">
              <a:latin typeface="Times New Roman"/>
              <a:cs typeface="Times New Roman"/>
            </a:endParaRPr>
          </a:p>
          <a:p>
            <a:pPr marL="626518" indent="-449569">
              <a:spcBef>
                <a:spcPts val="2427"/>
              </a:spcBef>
              <a:buChar char="●"/>
              <a:tabLst>
                <a:tab pos="626518" algn="l"/>
              </a:tabLst>
            </a:pPr>
            <a:r>
              <a:rPr sz="2267" dirty="0">
                <a:latin typeface="Times New Roman"/>
                <a:cs typeface="Times New Roman"/>
              </a:rPr>
              <a:t>Supervisory</a:t>
            </a:r>
            <a:r>
              <a:rPr sz="2267" spc="-33" dirty="0">
                <a:latin typeface="Times New Roman"/>
                <a:cs typeface="Times New Roman"/>
              </a:rPr>
              <a:t> </a:t>
            </a:r>
            <a:r>
              <a:rPr sz="2267" dirty="0">
                <a:latin typeface="Times New Roman"/>
                <a:cs typeface="Times New Roman"/>
              </a:rPr>
              <a:t>computers</a:t>
            </a:r>
            <a:r>
              <a:rPr sz="2267" spc="-27" dirty="0">
                <a:latin typeface="Times New Roman"/>
                <a:cs typeface="Times New Roman"/>
              </a:rPr>
              <a:t> </a:t>
            </a:r>
            <a:r>
              <a:rPr sz="2267" dirty="0">
                <a:latin typeface="Times New Roman"/>
                <a:cs typeface="Times New Roman"/>
              </a:rPr>
              <a:t>are</a:t>
            </a:r>
            <a:r>
              <a:rPr sz="2267" spc="-47" dirty="0">
                <a:latin typeface="Times New Roman"/>
                <a:cs typeface="Times New Roman"/>
              </a:rPr>
              <a:t> </a:t>
            </a:r>
            <a:r>
              <a:rPr sz="2267" dirty="0">
                <a:latin typeface="Times New Roman"/>
                <a:cs typeface="Times New Roman"/>
              </a:rPr>
              <a:t>come</a:t>
            </a:r>
            <a:r>
              <a:rPr sz="2267" spc="-27" dirty="0">
                <a:latin typeface="Times New Roman"/>
                <a:cs typeface="Times New Roman"/>
              </a:rPr>
              <a:t> </a:t>
            </a:r>
            <a:r>
              <a:rPr sz="2267" dirty="0">
                <a:latin typeface="Times New Roman"/>
                <a:cs typeface="Times New Roman"/>
              </a:rPr>
              <a:t>under</a:t>
            </a:r>
            <a:r>
              <a:rPr sz="2267" spc="-53" dirty="0">
                <a:latin typeface="Times New Roman"/>
                <a:cs typeface="Times New Roman"/>
              </a:rPr>
              <a:t> </a:t>
            </a:r>
            <a:r>
              <a:rPr sz="2267" dirty="0">
                <a:latin typeface="Times New Roman"/>
                <a:cs typeface="Times New Roman"/>
              </a:rPr>
              <a:t>this </a:t>
            </a:r>
            <a:r>
              <a:rPr sz="2267" spc="-13" dirty="0">
                <a:latin typeface="Times New Roman"/>
                <a:cs typeface="Times New Roman"/>
              </a:rPr>
              <a:t>level.</a:t>
            </a:r>
            <a:endParaRPr sz="2267" dirty="0">
              <a:latin typeface="Times New Roman"/>
              <a:cs typeface="Times New Roman"/>
            </a:endParaRPr>
          </a:p>
          <a:p>
            <a:pPr marL="626518" marR="22013" indent="-449569">
              <a:lnSpc>
                <a:spcPct val="150000"/>
              </a:lnSpc>
              <a:buChar char="●"/>
              <a:tabLst>
                <a:tab pos="626518" algn="l"/>
              </a:tabLst>
            </a:pPr>
            <a:r>
              <a:rPr sz="2267" dirty="0">
                <a:latin typeface="Times New Roman"/>
                <a:cs typeface="Times New Roman"/>
              </a:rPr>
              <a:t>All</a:t>
            </a:r>
            <a:r>
              <a:rPr sz="2267" spc="-20"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dirty="0">
                <a:latin typeface="Times New Roman"/>
                <a:cs typeface="Times New Roman"/>
              </a:rPr>
              <a:t>programming</a:t>
            </a:r>
            <a:r>
              <a:rPr sz="2267" spc="-20" dirty="0">
                <a:latin typeface="Times New Roman"/>
                <a:cs typeface="Times New Roman"/>
              </a:rPr>
              <a:t> </a:t>
            </a:r>
            <a:r>
              <a:rPr sz="2267" dirty="0">
                <a:latin typeface="Times New Roman"/>
                <a:cs typeface="Times New Roman"/>
              </a:rPr>
              <a:t>devices</a:t>
            </a:r>
            <a:r>
              <a:rPr sz="2267" spc="-27" dirty="0">
                <a:latin typeface="Times New Roman"/>
                <a:cs typeface="Times New Roman"/>
              </a:rPr>
              <a:t> </a:t>
            </a:r>
            <a:r>
              <a:rPr sz="2267" dirty="0">
                <a:latin typeface="Times New Roman"/>
                <a:cs typeface="Times New Roman"/>
              </a:rPr>
              <a:t>that</a:t>
            </a:r>
            <a:r>
              <a:rPr sz="2267" spc="-20" dirty="0">
                <a:latin typeface="Times New Roman"/>
                <a:cs typeface="Times New Roman"/>
              </a:rPr>
              <a:t> </a:t>
            </a:r>
            <a:r>
              <a:rPr sz="2267" dirty="0">
                <a:latin typeface="Times New Roman"/>
                <a:cs typeface="Times New Roman"/>
              </a:rPr>
              <a:t>operate</a:t>
            </a:r>
            <a:r>
              <a:rPr sz="2267" spc="-40"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spc="-13" dirty="0">
                <a:latin typeface="Times New Roman"/>
                <a:cs typeface="Times New Roman"/>
              </a:rPr>
              <a:t>ground-</a:t>
            </a:r>
            <a:r>
              <a:rPr sz="2267" dirty="0">
                <a:latin typeface="Times New Roman"/>
                <a:cs typeface="Times New Roman"/>
              </a:rPr>
              <a:t>level</a:t>
            </a:r>
            <a:r>
              <a:rPr sz="2267" spc="-47" dirty="0">
                <a:latin typeface="Times New Roman"/>
                <a:cs typeface="Times New Roman"/>
              </a:rPr>
              <a:t> </a:t>
            </a:r>
            <a:r>
              <a:rPr sz="2267" dirty="0">
                <a:latin typeface="Times New Roman"/>
                <a:cs typeface="Times New Roman"/>
              </a:rPr>
              <a:t>devices</a:t>
            </a:r>
            <a:r>
              <a:rPr sz="2267" spc="-33" dirty="0">
                <a:latin typeface="Times New Roman"/>
                <a:cs typeface="Times New Roman"/>
              </a:rPr>
              <a:t> </a:t>
            </a:r>
            <a:r>
              <a:rPr sz="2267" dirty="0">
                <a:latin typeface="Times New Roman"/>
                <a:cs typeface="Times New Roman"/>
              </a:rPr>
              <a:t>are</a:t>
            </a:r>
            <a:r>
              <a:rPr sz="2267" spc="-40" dirty="0">
                <a:latin typeface="Times New Roman"/>
                <a:cs typeface="Times New Roman"/>
              </a:rPr>
              <a:t> </a:t>
            </a:r>
            <a:r>
              <a:rPr sz="2267" dirty="0">
                <a:latin typeface="Times New Roman"/>
                <a:cs typeface="Times New Roman"/>
              </a:rPr>
              <a:t>connected</a:t>
            </a:r>
            <a:r>
              <a:rPr sz="2267" spc="-60" dirty="0">
                <a:latin typeface="Times New Roman"/>
                <a:cs typeface="Times New Roman"/>
              </a:rPr>
              <a:t> </a:t>
            </a:r>
            <a:r>
              <a:rPr sz="2267" dirty="0">
                <a:latin typeface="Times New Roman"/>
                <a:cs typeface="Times New Roman"/>
              </a:rPr>
              <a:t>to</a:t>
            </a:r>
            <a:r>
              <a:rPr sz="2267" spc="-7" dirty="0">
                <a:latin typeface="Times New Roman"/>
                <a:cs typeface="Times New Roman"/>
              </a:rPr>
              <a:t> </a:t>
            </a:r>
            <a:r>
              <a:rPr sz="2267" spc="-13" dirty="0">
                <a:latin typeface="Times New Roman"/>
                <a:cs typeface="Times New Roman"/>
              </a:rPr>
              <a:t>these computers.</a:t>
            </a:r>
            <a:endParaRPr sz="2267" dirty="0">
              <a:latin typeface="Times New Roman"/>
              <a:cs typeface="Times New Roman"/>
            </a:endParaRPr>
          </a:p>
          <a:p>
            <a:pPr marL="626518" indent="-449569">
              <a:spcBef>
                <a:spcPts val="1359"/>
              </a:spcBef>
              <a:buChar char="●"/>
              <a:tabLst>
                <a:tab pos="626518" algn="l"/>
              </a:tabLst>
            </a:pPr>
            <a:r>
              <a:rPr sz="2267" dirty="0">
                <a:latin typeface="Times New Roman"/>
                <a:cs typeface="Times New Roman"/>
              </a:rPr>
              <a:t>Supervisory</a:t>
            </a:r>
            <a:r>
              <a:rPr sz="2267" spc="-33" dirty="0">
                <a:latin typeface="Times New Roman"/>
                <a:cs typeface="Times New Roman"/>
              </a:rPr>
              <a:t> </a:t>
            </a:r>
            <a:r>
              <a:rPr sz="2267" dirty="0">
                <a:latin typeface="Times New Roman"/>
                <a:cs typeface="Times New Roman"/>
              </a:rPr>
              <a:t>computers</a:t>
            </a:r>
            <a:r>
              <a:rPr sz="2267" spc="-40" dirty="0">
                <a:latin typeface="Times New Roman"/>
                <a:cs typeface="Times New Roman"/>
              </a:rPr>
              <a:t> </a:t>
            </a:r>
            <a:r>
              <a:rPr sz="2267" dirty="0">
                <a:latin typeface="Times New Roman"/>
                <a:cs typeface="Times New Roman"/>
              </a:rPr>
              <a:t>are</a:t>
            </a:r>
            <a:r>
              <a:rPr sz="2267" spc="-53" dirty="0">
                <a:latin typeface="Times New Roman"/>
                <a:cs typeface="Times New Roman"/>
              </a:rPr>
              <a:t> </a:t>
            </a:r>
            <a:r>
              <a:rPr sz="2267" dirty="0">
                <a:latin typeface="Times New Roman"/>
                <a:cs typeface="Times New Roman"/>
              </a:rPr>
              <a:t>those</a:t>
            </a:r>
            <a:r>
              <a:rPr sz="2267" spc="-27" dirty="0">
                <a:latin typeface="Times New Roman"/>
                <a:cs typeface="Times New Roman"/>
              </a:rPr>
              <a:t> </a:t>
            </a:r>
            <a:r>
              <a:rPr sz="2267" dirty="0">
                <a:latin typeface="Times New Roman"/>
                <a:cs typeface="Times New Roman"/>
              </a:rPr>
              <a:t>from</a:t>
            </a:r>
            <a:r>
              <a:rPr sz="2267" spc="-27" dirty="0">
                <a:latin typeface="Times New Roman"/>
                <a:cs typeface="Times New Roman"/>
              </a:rPr>
              <a:t> </a:t>
            </a:r>
            <a:r>
              <a:rPr sz="2267" dirty="0">
                <a:latin typeface="Times New Roman"/>
                <a:cs typeface="Times New Roman"/>
              </a:rPr>
              <a:t>where</a:t>
            </a:r>
            <a:r>
              <a:rPr sz="2267" spc="-67"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dirty="0">
                <a:latin typeface="Times New Roman"/>
                <a:cs typeface="Times New Roman"/>
              </a:rPr>
              <a:t>SCADA</a:t>
            </a:r>
            <a:r>
              <a:rPr sz="2267" spc="-60" dirty="0">
                <a:latin typeface="Times New Roman"/>
                <a:cs typeface="Times New Roman"/>
              </a:rPr>
              <a:t> </a:t>
            </a:r>
            <a:r>
              <a:rPr sz="2267" dirty="0">
                <a:latin typeface="Times New Roman"/>
                <a:cs typeface="Times New Roman"/>
              </a:rPr>
              <a:t>software</a:t>
            </a:r>
            <a:r>
              <a:rPr sz="2267" spc="-53" dirty="0">
                <a:latin typeface="Times New Roman"/>
                <a:cs typeface="Times New Roman"/>
              </a:rPr>
              <a:t> </a:t>
            </a:r>
            <a:r>
              <a:rPr sz="2267" dirty="0">
                <a:latin typeface="Times New Roman"/>
                <a:cs typeface="Times New Roman"/>
              </a:rPr>
              <a:t>starts</a:t>
            </a:r>
            <a:r>
              <a:rPr sz="2267" spc="-20" dirty="0">
                <a:latin typeface="Times New Roman"/>
                <a:cs typeface="Times New Roman"/>
              </a:rPr>
              <a:t> </a:t>
            </a:r>
            <a:r>
              <a:rPr sz="2267" spc="-13" dirty="0">
                <a:latin typeface="Times New Roman"/>
                <a:cs typeface="Times New Roman"/>
              </a:rPr>
              <a:t>working.</a:t>
            </a:r>
            <a:endParaRPr sz="2267" dirty="0">
              <a:latin typeface="Times New Roman"/>
              <a:cs typeface="Times New Roman"/>
            </a:endParaRPr>
          </a:p>
          <a:p>
            <a:pPr marL="626518" marR="1076086" indent="-449569">
              <a:lnSpc>
                <a:spcPct val="150000"/>
              </a:lnSpc>
              <a:buChar char="●"/>
              <a:tabLst>
                <a:tab pos="626518" algn="l"/>
              </a:tabLst>
            </a:pPr>
            <a:r>
              <a:rPr sz="2267" dirty="0">
                <a:latin typeface="Times New Roman"/>
                <a:cs typeface="Times New Roman"/>
              </a:rPr>
              <a:t>From</a:t>
            </a:r>
            <a:r>
              <a:rPr sz="2267" spc="-27" dirty="0">
                <a:latin typeface="Times New Roman"/>
                <a:cs typeface="Times New Roman"/>
              </a:rPr>
              <a:t> </a:t>
            </a:r>
            <a:r>
              <a:rPr sz="2267" dirty="0">
                <a:latin typeface="Times New Roman"/>
                <a:cs typeface="Times New Roman"/>
              </a:rPr>
              <a:t>these</a:t>
            </a:r>
            <a:r>
              <a:rPr sz="2267" spc="-33" dirty="0">
                <a:latin typeface="Times New Roman"/>
                <a:cs typeface="Times New Roman"/>
              </a:rPr>
              <a:t> </a:t>
            </a:r>
            <a:r>
              <a:rPr sz="2267" dirty="0">
                <a:latin typeface="Times New Roman"/>
                <a:cs typeface="Times New Roman"/>
              </a:rPr>
              <a:t>computers,</a:t>
            </a:r>
            <a:r>
              <a:rPr sz="2267" spc="-47" dirty="0">
                <a:latin typeface="Times New Roman"/>
                <a:cs typeface="Times New Roman"/>
              </a:rPr>
              <a:t> </a:t>
            </a:r>
            <a:r>
              <a:rPr sz="2267" dirty="0">
                <a:latin typeface="Times New Roman"/>
                <a:cs typeface="Times New Roman"/>
              </a:rPr>
              <a:t>the</a:t>
            </a:r>
            <a:r>
              <a:rPr sz="2267" spc="-20" dirty="0">
                <a:latin typeface="Times New Roman"/>
                <a:cs typeface="Times New Roman"/>
              </a:rPr>
              <a:t> </a:t>
            </a:r>
            <a:r>
              <a:rPr sz="2267" dirty="0">
                <a:latin typeface="Times New Roman"/>
                <a:cs typeface="Times New Roman"/>
              </a:rPr>
              <a:t>actual</a:t>
            </a:r>
            <a:r>
              <a:rPr sz="2267" spc="-60" dirty="0">
                <a:latin typeface="Times New Roman"/>
                <a:cs typeface="Times New Roman"/>
              </a:rPr>
              <a:t> </a:t>
            </a:r>
            <a:r>
              <a:rPr sz="2267" dirty="0">
                <a:latin typeface="Times New Roman"/>
                <a:cs typeface="Times New Roman"/>
              </a:rPr>
              <a:t>instructions</a:t>
            </a:r>
            <a:r>
              <a:rPr sz="2267" spc="-7" dirty="0">
                <a:latin typeface="Times New Roman"/>
                <a:cs typeface="Times New Roman"/>
              </a:rPr>
              <a:t> </a:t>
            </a:r>
            <a:r>
              <a:rPr sz="2267" dirty="0">
                <a:latin typeface="Times New Roman"/>
                <a:cs typeface="Times New Roman"/>
              </a:rPr>
              <a:t>and</a:t>
            </a:r>
            <a:r>
              <a:rPr sz="2267" spc="-40" dirty="0">
                <a:latin typeface="Times New Roman"/>
                <a:cs typeface="Times New Roman"/>
              </a:rPr>
              <a:t> </a:t>
            </a:r>
            <a:r>
              <a:rPr sz="2267" dirty="0">
                <a:latin typeface="Times New Roman"/>
                <a:cs typeface="Times New Roman"/>
              </a:rPr>
              <a:t>commands</a:t>
            </a:r>
            <a:r>
              <a:rPr sz="2267" spc="-40" dirty="0">
                <a:latin typeface="Times New Roman"/>
                <a:cs typeface="Times New Roman"/>
              </a:rPr>
              <a:t> </a:t>
            </a:r>
            <a:r>
              <a:rPr sz="2267" dirty="0">
                <a:latin typeface="Times New Roman"/>
                <a:cs typeface="Times New Roman"/>
              </a:rPr>
              <a:t>are</a:t>
            </a:r>
            <a:r>
              <a:rPr sz="2267" spc="-47" dirty="0">
                <a:latin typeface="Times New Roman"/>
                <a:cs typeface="Times New Roman"/>
              </a:rPr>
              <a:t> </a:t>
            </a:r>
            <a:r>
              <a:rPr sz="2267" dirty="0">
                <a:latin typeface="Times New Roman"/>
                <a:cs typeface="Times New Roman"/>
              </a:rPr>
              <a:t>given</a:t>
            </a:r>
            <a:r>
              <a:rPr sz="2267" spc="-33" dirty="0">
                <a:latin typeface="Times New Roman"/>
                <a:cs typeface="Times New Roman"/>
              </a:rPr>
              <a:t> </a:t>
            </a:r>
            <a:r>
              <a:rPr sz="2267" dirty="0">
                <a:latin typeface="Times New Roman"/>
                <a:cs typeface="Times New Roman"/>
              </a:rPr>
              <a:t>to</a:t>
            </a:r>
            <a:r>
              <a:rPr sz="2267" spc="-20" dirty="0">
                <a:latin typeface="Times New Roman"/>
                <a:cs typeface="Times New Roman"/>
              </a:rPr>
              <a:t> </a:t>
            </a:r>
            <a:r>
              <a:rPr sz="2267" dirty="0">
                <a:latin typeface="Times New Roman"/>
                <a:cs typeface="Times New Roman"/>
              </a:rPr>
              <a:t>do</a:t>
            </a:r>
            <a:r>
              <a:rPr sz="2267" spc="-33" dirty="0">
                <a:latin typeface="Times New Roman"/>
                <a:cs typeface="Times New Roman"/>
              </a:rPr>
              <a:t> the </a:t>
            </a:r>
            <a:r>
              <a:rPr sz="2267" spc="-13" dirty="0">
                <a:latin typeface="Times New Roman"/>
                <a:cs typeface="Times New Roman"/>
              </a:rPr>
              <a:t>operations.</a:t>
            </a:r>
            <a:endParaRPr sz="2267" dirty="0">
              <a:latin typeface="Times New Roman"/>
              <a:cs typeface="Times New Roman"/>
            </a:endParaRPr>
          </a:p>
          <a:p>
            <a:pPr marL="16933">
              <a:spcBef>
                <a:spcPts val="1359"/>
              </a:spcBef>
            </a:pPr>
            <a:r>
              <a:rPr sz="2267" b="1" dirty="0">
                <a:latin typeface="Times New Roman"/>
                <a:cs typeface="Times New Roman"/>
              </a:rPr>
              <a:t>Level</a:t>
            </a:r>
            <a:r>
              <a:rPr sz="2267" b="1" spc="-40" dirty="0">
                <a:latin typeface="Times New Roman"/>
                <a:cs typeface="Times New Roman"/>
              </a:rPr>
              <a:t> </a:t>
            </a:r>
            <a:r>
              <a:rPr sz="2267" b="1" spc="-67" dirty="0">
                <a:latin typeface="Times New Roman"/>
                <a:cs typeface="Times New Roman"/>
              </a:rPr>
              <a:t>3</a:t>
            </a:r>
            <a:endParaRPr sz="2267" dirty="0">
              <a:latin typeface="Times New Roman"/>
              <a:cs typeface="Times New Roman"/>
            </a:endParaRPr>
          </a:p>
          <a:p>
            <a:pPr>
              <a:spcBef>
                <a:spcPts val="353"/>
              </a:spcBef>
            </a:pPr>
            <a:endParaRPr sz="2267" dirty="0">
              <a:latin typeface="Times New Roman"/>
              <a:cs typeface="Times New Roman"/>
            </a:endParaRPr>
          </a:p>
          <a:p>
            <a:pPr marL="626518" indent="-449569">
              <a:buChar char="●"/>
              <a:tabLst>
                <a:tab pos="626518" algn="l"/>
              </a:tabLst>
            </a:pPr>
            <a:r>
              <a:rPr sz="2267" dirty="0">
                <a:latin typeface="Times New Roman"/>
                <a:cs typeface="Times New Roman"/>
              </a:rPr>
              <a:t>Coordinating</a:t>
            </a:r>
            <a:r>
              <a:rPr sz="2267" spc="-33" dirty="0">
                <a:latin typeface="Times New Roman"/>
                <a:cs typeface="Times New Roman"/>
              </a:rPr>
              <a:t> </a:t>
            </a:r>
            <a:r>
              <a:rPr sz="2267" dirty="0">
                <a:latin typeface="Times New Roman"/>
                <a:cs typeface="Times New Roman"/>
              </a:rPr>
              <a:t>computers</a:t>
            </a:r>
            <a:r>
              <a:rPr sz="2267" spc="-40" dirty="0">
                <a:latin typeface="Times New Roman"/>
                <a:cs typeface="Times New Roman"/>
              </a:rPr>
              <a:t> </a:t>
            </a:r>
            <a:r>
              <a:rPr sz="2267" dirty="0">
                <a:latin typeface="Times New Roman"/>
                <a:cs typeface="Times New Roman"/>
              </a:rPr>
              <a:t>comes</a:t>
            </a:r>
            <a:r>
              <a:rPr sz="2267" spc="-40" dirty="0">
                <a:latin typeface="Times New Roman"/>
                <a:cs typeface="Times New Roman"/>
              </a:rPr>
              <a:t> </a:t>
            </a:r>
            <a:r>
              <a:rPr sz="2267" dirty="0">
                <a:latin typeface="Times New Roman"/>
                <a:cs typeface="Times New Roman"/>
              </a:rPr>
              <a:t>under</a:t>
            </a:r>
            <a:r>
              <a:rPr sz="2267" spc="-60" dirty="0">
                <a:latin typeface="Times New Roman"/>
                <a:cs typeface="Times New Roman"/>
              </a:rPr>
              <a:t> </a:t>
            </a:r>
            <a:r>
              <a:rPr sz="2267" spc="-13" dirty="0">
                <a:latin typeface="Times New Roman"/>
                <a:cs typeface="Times New Roman"/>
              </a:rPr>
              <a:t>level.</a:t>
            </a:r>
            <a:endParaRPr sz="2267" dirty="0">
              <a:latin typeface="Times New Roman"/>
              <a:cs typeface="Times New Roman"/>
            </a:endParaRPr>
          </a:p>
          <a:p>
            <a:pPr marL="626518" marR="6773" indent="-449569">
              <a:lnSpc>
                <a:spcPct val="150000"/>
              </a:lnSpc>
              <a:buChar char="●"/>
              <a:tabLst>
                <a:tab pos="626518" algn="l"/>
              </a:tabLst>
            </a:pPr>
            <a:r>
              <a:rPr sz="2267" dirty="0">
                <a:latin typeface="Times New Roman"/>
                <a:cs typeface="Times New Roman"/>
              </a:rPr>
              <a:t>Generally,</a:t>
            </a:r>
            <a:r>
              <a:rPr sz="2267" spc="-60" dirty="0">
                <a:latin typeface="Times New Roman"/>
                <a:cs typeface="Times New Roman"/>
              </a:rPr>
              <a:t> </a:t>
            </a:r>
            <a:r>
              <a:rPr sz="2267" dirty="0">
                <a:latin typeface="Times New Roman"/>
                <a:cs typeface="Times New Roman"/>
              </a:rPr>
              <a:t>these</a:t>
            </a:r>
            <a:r>
              <a:rPr sz="2267" spc="-27" dirty="0">
                <a:latin typeface="Times New Roman"/>
                <a:cs typeface="Times New Roman"/>
              </a:rPr>
              <a:t> </a:t>
            </a:r>
            <a:r>
              <a:rPr sz="2267" dirty="0">
                <a:latin typeface="Times New Roman"/>
                <a:cs typeface="Times New Roman"/>
              </a:rPr>
              <a:t>computers</a:t>
            </a:r>
            <a:r>
              <a:rPr sz="2267" spc="-40" dirty="0">
                <a:latin typeface="Times New Roman"/>
                <a:cs typeface="Times New Roman"/>
              </a:rPr>
              <a:t> </a:t>
            </a:r>
            <a:r>
              <a:rPr sz="2267" dirty="0">
                <a:latin typeface="Times New Roman"/>
                <a:cs typeface="Times New Roman"/>
              </a:rPr>
              <a:t>are</a:t>
            </a:r>
            <a:r>
              <a:rPr sz="2267" spc="-47" dirty="0">
                <a:latin typeface="Times New Roman"/>
                <a:cs typeface="Times New Roman"/>
              </a:rPr>
              <a:t> </a:t>
            </a:r>
            <a:r>
              <a:rPr sz="2267" dirty="0">
                <a:latin typeface="Times New Roman"/>
                <a:cs typeface="Times New Roman"/>
              </a:rPr>
              <a:t>connected</a:t>
            </a:r>
            <a:r>
              <a:rPr sz="2267" spc="-53" dirty="0">
                <a:latin typeface="Times New Roman"/>
                <a:cs typeface="Times New Roman"/>
              </a:rPr>
              <a:t> </a:t>
            </a:r>
            <a:r>
              <a:rPr sz="2267" dirty="0">
                <a:latin typeface="Times New Roman"/>
                <a:cs typeface="Times New Roman"/>
              </a:rPr>
              <a:t>to</a:t>
            </a:r>
            <a:r>
              <a:rPr sz="2267" spc="-13" dirty="0">
                <a:latin typeface="Times New Roman"/>
                <a:cs typeface="Times New Roman"/>
              </a:rPr>
              <a:t> </a:t>
            </a:r>
            <a:r>
              <a:rPr sz="2267" dirty="0">
                <a:latin typeface="Times New Roman"/>
                <a:cs typeface="Times New Roman"/>
              </a:rPr>
              <a:t>multiple</a:t>
            </a:r>
            <a:r>
              <a:rPr sz="2267" spc="-7" dirty="0">
                <a:latin typeface="Times New Roman"/>
                <a:cs typeface="Times New Roman"/>
              </a:rPr>
              <a:t> </a:t>
            </a:r>
            <a:r>
              <a:rPr sz="2267" dirty="0">
                <a:latin typeface="Times New Roman"/>
                <a:cs typeface="Times New Roman"/>
              </a:rPr>
              <a:t>plants.</a:t>
            </a:r>
            <a:r>
              <a:rPr sz="2267" spc="-27" dirty="0">
                <a:latin typeface="Times New Roman"/>
                <a:cs typeface="Times New Roman"/>
              </a:rPr>
              <a:t> </a:t>
            </a:r>
            <a:r>
              <a:rPr sz="2267" dirty="0">
                <a:latin typeface="Times New Roman"/>
                <a:cs typeface="Times New Roman"/>
              </a:rPr>
              <a:t>So,</a:t>
            </a:r>
            <a:r>
              <a:rPr sz="2267" spc="-20" dirty="0">
                <a:latin typeface="Times New Roman"/>
                <a:cs typeface="Times New Roman"/>
              </a:rPr>
              <a:t> </a:t>
            </a:r>
            <a:r>
              <a:rPr sz="2267" dirty="0">
                <a:latin typeface="Times New Roman"/>
                <a:cs typeface="Times New Roman"/>
              </a:rPr>
              <a:t>it</a:t>
            </a:r>
            <a:r>
              <a:rPr sz="2267" spc="-13" dirty="0">
                <a:latin typeface="Times New Roman"/>
                <a:cs typeface="Times New Roman"/>
              </a:rPr>
              <a:t> </a:t>
            </a:r>
            <a:r>
              <a:rPr sz="2267" dirty="0">
                <a:latin typeface="Times New Roman"/>
                <a:cs typeface="Times New Roman"/>
              </a:rPr>
              <a:t>can</a:t>
            </a:r>
            <a:r>
              <a:rPr sz="2267" spc="-47" dirty="0">
                <a:latin typeface="Times New Roman"/>
                <a:cs typeface="Times New Roman"/>
              </a:rPr>
              <a:t> </a:t>
            </a:r>
            <a:r>
              <a:rPr sz="2267" dirty="0">
                <a:latin typeface="Times New Roman"/>
                <a:cs typeface="Times New Roman"/>
              </a:rPr>
              <a:t>help</a:t>
            </a:r>
            <a:r>
              <a:rPr sz="2267" spc="-33" dirty="0">
                <a:latin typeface="Times New Roman"/>
                <a:cs typeface="Times New Roman"/>
              </a:rPr>
              <a:t> </a:t>
            </a:r>
            <a:r>
              <a:rPr sz="2267" dirty="0">
                <a:latin typeface="Times New Roman"/>
                <a:cs typeface="Times New Roman"/>
              </a:rPr>
              <a:t>to</a:t>
            </a:r>
            <a:r>
              <a:rPr sz="2267" spc="-20" dirty="0">
                <a:latin typeface="Times New Roman"/>
                <a:cs typeface="Times New Roman"/>
              </a:rPr>
              <a:t> </a:t>
            </a:r>
            <a:r>
              <a:rPr sz="2267" dirty="0">
                <a:latin typeface="Times New Roman"/>
                <a:cs typeface="Times New Roman"/>
              </a:rPr>
              <a:t>gather</a:t>
            </a:r>
            <a:r>
              <a:rPr sz="2267" spc="-33" dirty="0">
                <a:latin typeface="Times New Roman"/>
                <a:cs typeface="Times New Roman"/>
              </a:rPr>
              <a:t> </a:t>
            </a:r>
            <a:r>
              <a:rPr sz="2267" spc="-27" dirty="0">
                <a:latin typeface="Times New Roman"/>
                <a:cs typeface="Times New Roman"/>
              </a:rPr>
              <a:t>data </a:t>
            </a:r>
            <a:r>
              <a:rPr sz="2267" dirty="0">
                <a:latin typeface="Times New Roman"/>
                <a:cs typeface="Times New Roman"/>
              </a:rPr>
              <a:t>from</a:t>
            </a:r>
            <a:r>
              <a:rPr sz="2267" spc="-40" dirty="0">
                <a:latin typeface="Times New Roman"/>
                <a:cs typeface="Times New Roman"/>
              </a:rPr>
              <a:t> </a:t>
            </a:r>
            <a:r>
              <a:rPr sz="2267" dirty="0">
                <a:latin typeface="Times New Roman"/>
                <a:cs typeface="Times New Roman"/>
              </a:rPr>
              <a:t>different</a:t>
            </a:r>
            <a:r>
              <a:rPr sz="2267" spc="-40" dirty="0">
                <a:latin typeface="Times New Roman"/>
                <a:cs typeface="Times New Roman"/>
              </a:rPr>
              <a:t> </a:t>
            </a:r>
            <a:r>
              <a:rPr sz="2267" dirty="0">
                <a:latin typeface="Times New Roman"/>
                <a:cs typeface="Times New Roman"/>
              </a:rPr>
              <a:t>plants</a:t>
            </a:r>
            <a:r>
              <a:rPr sz="2267" spc="-20" dirty="0">
                <a:latin typeface="Times New Roman"/>
                <a:cs typeface="Times New Roman"/>
              </a:rPr>
              <a:t> </a:t>
            </a:r>
            <a:r>
              <a:rPr sz="2267" dirty="0">
                <a:latin typeface="Times New Roman"/>
                <a:cs typeface="Times New Roman"/>
              </a:rPr>
              <a:t>to</a:t>
            </a:r>
            <a:r>
              <a:rPr sz="2267" spc="-13" dirty="0">
                <a:latin typeface="Times New Roman"/>
                <a:cs typeface="Times New Roman"/>
              </a:rPr>
              <a:t> </a:t>
            </a:r>
            <a:r>
              <a:rPr sz="2267" dirty="0">
                <a:latin typeface="Times New Roman"/>
                <a:cs typeface="Times New Roman"/>
              </a:rPr>
              <a:t>one</a:t>
            </a:r>
            <a:r>
              <a:rPr sz="2267" spc="-27" dirty="0">
                <a:latin typeface="Times New Roman"/>
                <a:cs typeface="Times New Roman"/>
              </a:rPr>
              <a:t> </a:t>
            </a:r>
            <a:r>
              <a:rPr sz="2267" dirty="0">
                <a:latin typeface="Times New Roman"/>
                <a:cs typeface="Times New Roman"/>
              </a:rPr>
              <a:t>place</a:t>
            </a:r>
            <a:r>
              <a:rPr sz="2267" spc="-47" dirty="0">
                <a:latin typeface="Times New Roman"/>
                <a:cs typeface="Times New Roman"/>
              </a:rPr>
              <a:t> </a:t>
            </a:r>
            <a:r>
              <a:rPr sz="2267" dirty="0">
                <a:latin typeface="Times New Roman"/>
                <a:cs typeface="Times New Roman"/>
              </a:rPr>
              <a:t>for</a:t>
            </a:r>
            <a:r>
              <a:rPr sz="2267" spc="-33" dirty="0">
                <a:latin typeface="Times New Roman"/>
                <a:cs typeface="Times New Roman"/>
              </a:rPr>
              <a:t> </a:t>
            </a:r>
            <a:r>
              <a:rPr sz="2267" dirty="0">
                <a:latin typeface="Times New Roman"/>
                <a:cs typeface="Times New Roman"/>
              </a:rPr>
              <a:t>production</a:t>
            </a:r>
            <a:r>
              <a:rPr sz="2267" spc="-20" dirty="0">
                <a:latin typeface="Times New Roman"/>
                <a:cs typeface="Times New Roman"/>
              </a:rPr>
              <a:t> </a:t>
            </a:r>
            <a:r>
              <a:rPr sz="2267" spc="-13" dirty="0">
                <a:latin typeface="Times New Roman"/>
                <a:cs typeface="Times New Roman"/>
              </a:rPr>
              <a:t>control</a:t>
            </a:r>
            <a:endParaRPr sz="2267"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565" y="712025"/>
            <a:ext cx="10397912" cy="2973058"/>
          </a:xfrm>
          <a:prstGeom prst="rect">
            <a:avLst/>
          </a:prstGeom>
        </p:spPr>
        <p:txBody>
          <a:bodyPr vert="horz" wrap="square" lIns="0" tIns="17780" rIns="0" bIns="0" rtlCol="0">
            <a:spAutoFit/>
          </a:bodyPr>
          <a:lstStyle/>
          <a:p>
            <a:pPr marL="16933">
              <a:spcBef>
                <a:spcPts val="140"/>
              </a:spcBef>
            </a:pPr>
            <a:r>
              <a:rPr sz="2267" b="1" dirty="0">
                <a:latin typeface="Times New Roman"/>
                <a:cs typeface="Times New Roman"/>
              </a:rPr>
              <a:t>Level</a:t>
            </a:r>
            <a:r>
              <a:rPr sz="2267" b="1" spc="-40" dirty="0">
                <a:latin typeface="Times New Roman"/>
                <a:cs typeface="Times New Roman"/>
              </a:rPr>
              <a:t> </a:t>
            </a:r>
            <a:r>
              <a:rPr sz="2267" b="1" spc="-67" dirty="0">
                <a:latin typeface="Times New Roman"/>
                <a:cs typeface="Times New Roman"/>
              </a:rPr>
              <a:t>4</a:t>
            </a:r>
            <a:endParaRPr sz="2267">
              <a:latin typeface="Times New Roman"/>
              <a:cs typeface="Times New Roman"/>
            </a:endParaRPr>
          </a:p>
          <a:p>
            <a:pPr marL="625671" indent="-448722">
              <a:spcBef>
                <a:spcPts val="1993"/>
              </a:spcBef>
              <a:buChar char="●"/>
              <a:tabLst>
                <a:tab pos="625671" algn="l"/>
              </a:tabLst>
            </a:pPr>
            <a:r>
              <a:rPr sz="2267" dirty="0">
                <a:latin typeface="Times New Roman"/>
                <a:cs typeface="Times New Roman"/>
              </a:rPr>
              <a:t>It</a:t>
            </a:r>
            <a:r>
              <a:rPr sz="2267" spc="-13" dirty="0">
                <a:latin typeface="Times New Roman"/>
                <a:cs typeface="Times New Roman"/>
              </a:rPr>
              <a:t> </a:t>
            </a:r>
            <a:r>
              <a:rPr sz="2267" dirty="0">
                <a:latin typeface="Times New Roman"/>
                <a:cs typeface="Times New Roman"/>
              </a:rPr>
              <a:t>is</a:t>
            </a:r>
            <a:r>
              <a:rPr sz="2267" spc="-13" dirty="0">
                <a:latin typeface="Times New Roman"/>
                <a:cs typeface="Times New Roman"/>
              </a:rPr>
              <a:t> top-</a:t>
            </a:r>
            <a:r>
              <a:rPr sz="2267" dirty="0">
                <a:latin typeface="Times New Roman"/>
                <a:cs typeface="Times New Roman"/>
              </a:rPr>
              <a:t>level</a:t>
            </a:r>
            <a:r>
              <a:rPr sz="2267" spc="-13" dirty="0">
                <a:latin typeface="Times New Roman"/>
                <a:cs typeface="Times New Roman"/>
              </a:rPr>
              <a:t> </a:t>
            </a:r>
            <a:r>
              <a:rPr sz="2267" dirty="0">
                <a:latin typeface="Times New Roman"/>
                <a:cs typeface="Times New Roman"/>
              </a:rPr>
              <a:t>of</a:t>
            </a:r>
            <a:r>
              <a:rPr sz="2267" spc="-20" dirty="0">
                <a:latin typeface="Times New Roman"/>
                <a:cs typeface="Times New Roman"/>
              </a:rPr>
              <a:t> </a:t>
            </a:r>
            <a:r>
              <a:rPr sz="2267" dirty="0">
                <a:latin typeface="Times New Roman"/>
                <a:cs typeface="Times New Roman"/>
              </a:rPr>
              <a:t>the</a:t>
            </a:r>
            <a:r>
              <a:rPr sz="2267" spc="-20" dirty="0">
                <a:latin typeface="Times New Roman"/>
                <a:cs typeface="Times New Roman"/>
              </a:rPr>
              <a:t> </a:t>
            </a:r>
            <a:r>
              <a:rPr sz="2267" dirty="0">
                <a:latin typeface="Times New Roman"/>
                <a:cs typeface="Times New Roman"/>
              </a:rPr>
              <a:t>SCADA</a:t>
            </a:r>
            <a:r>
              <a:rPr sz="2267" spc="-47" dirty="0">
                <a:latin typeface="Times New Roman"/>
                <a:cs typeface="Times New Roman"/>
              </a:rPr>
              <a:t> </a:t>
            </a:r>
            <a:r>
              <a:rPr sz="2267" spc="-13" dirty="0">
                <a:latin typeface="Times New Roman"/>
                <a:cs typeface="Times New Roman"/>
              </a:rPr>
              <a:t>System.</a:t>
            </a:r>
            <a:endParaRPr sz="2267">
              <a:latin typeface="Times New Roman"/>
              <a:cs typeface="Times New Roman"/>
            </a:endParaRPr>
          </a:p>
          <a:p>
            <a:pPr marL="625671" indent="-448722">
              <a:spcBef>
                <a:spcPts val="420"/>
              </a:spcBef>
              <a:buChar char="●"/>
              <a:tabLst>
                <a:tab pos="625671" algn="l"/>
              </a:tabLst>
            </a:pPr>
            <a:r>
              <a:rPr sz="2267" dirty="0">
                <a:latin typeface="Times New Roman"/>
                <a:cs typeface="Times New Roman"/>
              </a:rPr>
              <a:t>At</a:t>
            </a:r>
            <a:r>
              <a:rPr sz="2267" spc="-40" dirty="0">
                <a:latin typeface="Times New Roman"/>
                <a:cs typeface="Times New Roman"/>
              </a:rPr>
              <a:t> </a:t>
            </a:r>
            <a:r>
              <a:rPr sz="2267" dirty="0">
                <a:latin typeface="Times New Roman"/>
                <a:cs typeface="Times New Roman"/>
              </a:rPr>
              <a:t>this level,</a:t>
            </a:r>
            <a:r>
              <a:rPr sz="2267" spc="-20" dirty="0">
                <a:latin typeface="Times New Roman"/>
                <a:cs typeface="Times New Roman"/>
              </a:rPr>
              <a:t> </a:t>
            </a:r>
            <a:r>
              <a:rPr sz="2267" dirty="0">
                <a:latin typeface="Times New Roman"/>
                <a:cs typeface="Times New Roman"/>
              </a:rPr>
              <a:t>a</a:t>
            </a:r>
            <a:r>
              <a:rPr sz="2267" spc="-40" dirty="0">
                <a:latin typeface="Times New Roman"/>
                <a:cs typeface="Times New Roman"/>
              </a:rPr>
              <a:t> </a:t>
            </a:r>
            <a:r>
              <a:rPr sz="2267" dirty="0">
                <a:latin typeface="Times New Roman"/>
                <a:cs typeface="Times New Roman"/>
              </a:rPr>
              <a:t>central</a:t>
            </a:r>
            <a:r>
              <a:rPr sz="2267" spc="-40" dirty="0">
                <a:latin typeface="Times New Roman"/>
                <a:cs typeface="Times New Roman"/>
              </a:rPr>
              <a:t> </a:t>
            </a:r>
            <a:r>
              <a:rPr sz="2267" dirty="0">
                <a:latin typeface="Times New Roman"/>
                <a:cs typeface="Times New Roman"/>
              </a:rPr>
              <a:t>computer</a:t>
            </a:r>
            <a:r>
              <a:rPr sz="2267" spc="-27" dirty="0">
                <a:latin typeface="Times New Roman"/>
                <a:cs typeface="Times New Roman"/>
              </a:rPr>
              <a:t> </a:t>
            </a:r>
            <a:r>
              <a:rPr sz="2267" dirty="0">
                <a:latin typeface="Times New Roman"/>
                <a:cs typeface="Times New Roman"/>
              </a:rPr>
              <a:t>is</a:t>
            </a:r>
            <a:r>
              <a:rPr sz="2267" spc="-20" dirty="0">
                <a:latin typeface="Times New Roman"/>
                <a:cs typeface="Times New Roman"/>
              </a:rPr>
              <a:t> </a:t>
            </a:r>
            <a:r>
              <a:rPr sz="2267" dirty="0">
                <a:latin typeface="Times New Roman"/>
                <a:cs typeface="Times New Roman"/>
              </a:rPr>
              <a:t>connected</a:t>
            </a:r>
            <a:r>
              <a:rPr sz="2267" spc="-47" dirty="0">
                <a:latin typeface="Times New Roman"/>
                <a:cs typeface="Times New Roman"/>
              </a:rPr>
              <a:t> </a:t>
            </a:r>
            <a:r>
              <a:rPr sz="2267" dirty="0">
                <a:latin typeface="Times New Roman"/>
                <a:cs typeface="Times New Roman"/>
              </a:rPr>
              <a:t>to</a:t>
            </a:r>
            <a:r>
              <a:rPr sz="2267" spc="-20" dirty="0">
                <a:latin typeface="Times New Roman"/>
                <a:cs typeface="Times New Roman"/>
              </a:rPr>
              <a:t> </a:t>
            </a:r>
            <a:r>
              <a:rPr sz="2267" dirty="0">
                <a:latin typeface="Times New Roman"/>
                <a:cs typeface="Times New Roman"/>
              </a:rPr>
              <a:t>all</a:t>
            </a:r>
            <a:r>
              <a:rPr sz="2267" spc="-7"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dirty="0">
                <a:latin typeface="Times New Roman"/>
                <a:cs typeface="Times New Roman"/>
              </a:rPr>
              <a:t>plants</a:t>
            </a:r>
            <a:r>
              <a:rPr sz="2267" spc="-20" dirty="0">
                <a:latin typeface="Times New Roman"/>
                <a:cs typeface="Times New Roman"/>
              </a:rPr>
              <a:t> </a:t>
            </a:r>
            <a:r>
              <a:rPr sz="2267" dirty="0">
                <a:latin typeface="Times New Roman"/>
                <a:cs typeface="Times New Roman"/>
              </a:rPr>
              <a:t>and</a:t>
            </a:r>
            <a:r>
              <a:rPr sz="2267" spc="-40" dirty="0">
                <a:latin typeface="Times New Roman"/>
                <a:cs typeface="Times New Roman"/>
              </a:rPr>
              <a:t> </a:t>
            </a:r>
            <a:r>
              <a:rPr sz="2267" spc="-13" dirty="0">
                <a:latin typeface="Times New Roman"/>
                <a:cs typeface="Times New Roman"/>
              </a:rPr>
              <a:t>machinery.</a:t>
            </a:r>
            <a:endParaRPr sz="2267">
              <a:latin typeface="Times New Roman"/>
              <a:cs typeface="Times New Roman"/>
            </a:endParaRPr>
          </a:p>
          <a:p>
            <a:pPr marL="625671" indent="-448722">
              <a:spcBef>
                <a:spcPts val="400"/>
              </a:spcBef>
              <a:buChar char="●"/>
              <a:tabLst>
                <a:tab pos="625671" algn="l"/>
              </a:tabLst>
            </a:pPr>
            <a:r>
              <a:rPr sz="2267" dirty="0">
                <a:latin typeface="Times New Roman"/>
                <a:cs typeface="Times New Roman"/>
              </a:rPr>
              <a:t>Generally,</a:t>
            </a:r>
            <a:r>
              <a:rPr sz="2267" spc="-60" dirty="0">
                <a:latin typeface="Times New Roman"/>
                <a:cs typeface="Times New Roman"/>
              </a:rPr>
              <a:t> </a:t>
            </a:r>
            <a:r>
              <a:rPr sz="2267" dirty="0">
                <a:latin typeface="Times New Roman"/>
                <a:cs typeface="Times New Roman"/>
              </a:rPr>
              <a:t>this is</a:t>
            </a:r>
            <a:r>
              <a:rPr sz="2267" spc="-27" dirty="0">
                <a:latin typeface="Times New Roman"/>
                <a:cs typeface="Times New Roman"/>
              </a:rPr>
              <a:t> </a:t>
            </a:r>
            <a:r>
              <a:rPr sz="2267" dirty="0">
                <a:latin typeface="Times New Roman"/>
                <a:cs typeface="Times New Roman"/>
              </a:rPr>
              <a:t>operated</a:t>
            </a:r>
            <a:r>
              <a:rPr sz="2267" spc="-47" dirty="0">
                <a:latin typeface="Times New Roman"/>
                <a:cs typeface="Times New Roman"/>
              </a:rPr>
              <a:t> </a:t>
            </a:r>
            <a:r>
              <a:rPr sz="2267" dirty="0">
                <a:latin typeface="Times New Roman"/>
                <a:cs typeface="Times New Roman"/>
              </a:rPr>
              <a:t>and</a:t>
            </a:r>
            <a:r>
              <a:rPr sz="2267" spc="-47" dirty="0">
                <a:latin typeface="Times New Roman"/>
                <a:cs typeface="Times New Roman"/>
              </a:rPr>
              <a:t> </a:t>
            </a:r>
            <a:r>
              <a:rPr sz="2267" dirty="0">
                <a:latin typeface="Times New Roman"/>
                <a:cs typeface="Times New Roman"/>
              </a:rPr>
              <a:t>controlled</a:t>
            </a:r>
            <a:r>
              <a:rPr sz="2267" spc="-20" dirty="0">
                <a:latin typeface="Times New Roman"/>
                <a:cs typeface="Times New Roman"/>
              </a:rPr>
              <a:t> </a:t>
            </a:r>
            <a:r>
              <a:rPr sz="2267" dirty="0">
                <a:latin typeface="Times New Roman"/>
                <a:cs typeface="Times New Roman"/>
              </a:rPr>
              <a:t>by</a:t>
            </a:r>
            <a:r>
              <a:rPr sz="2267" spc="-27" dirty="0">
                <a:latin typeface="Times New Roman"/>
                <a:cs typeface="Times New Roman"/>
              </a:rPr>
              <a:t> </a:t>
            </a:r>
            <a:r>
              <a:rPr sz="2267" dirty="0">
                <a:latin typeface="Times New Roman"/>
                <a:cs typeface="Times New Roman"/>
              </a:rPr>
              <a:t>the</a:t>
            </a:r>
            <a:r>
              <a:rPr sz="2267" spc="-33" dirty="0">
                <a:latin typeface="Times New Roman"/>
                <a:cs typeface="Times New Roman"/>
              </a:rPr>
              <a:t> </a:t>
            </a:r>
            <a:r>
              <a:rPr sz="2267" dirty="0">
                <a:latin typeface="Times New Roman"/>
                <a:cs typeface="Times New Roman"/>
              </a:rPr>
              <a:t>management</a:t>
            </a:r>
            <a:r>
              <a:rPr sz="2267" spc="-40" dirty="0">
                <a:latin typeface="Times New Roman"/>
                <a:cs typeface="Times New Roman"/>
              </a:rPr>
              <a:t> </a:t>
            </a:r>
            <a:r>
              <a:rPr sz="2267" spc="-13" dirty="0">
                <a:latin typeface="Times New Roman"/>
                <a:cs typeface="Times New Roman"/>
              </a:rPr>
              <a:t>team.</a:t>
            </a:r>
            <a:endParaRPr sz="2267">
              <a:latin typeface="Times New Roman"/>
              <a:cs typeface="Times New Roman"/>
            </a:endParaRPr>
          </a:p>
          <a:p>
            <a:pPr marL="625671" indent="-448722">
              <a:spcBef>
                <a:spcPts val="413"/>
              </a:spcBef>
              <a:buChar char="●"/>
              <a:tabLst>
                <a:tab pos="625671" algn="l"/>
              </a:tabLst>
            </a:pPr>
            <a:r>
              <a:rPr sz="2267" dirty="0">
                <a:latin typeface="Times New Roman"/>
                <a:cs typeface="Times New Roman"/>
              </a:rPr>
              <a:t>All</a:t>
            </a:r>
            <a:r>
              <a:rPr sz="2267" spc="-27" dirty="0">
                <a:latin typeface="Times New Roman"/>
                <a:cs typeface="Times New Roman"/>
              </a:rPr>
              <a:t> </a:t>
            </a:r>
            <a:r>
              <a:rPr sz="2267" dirty="0">
                <a:latin typeface="Times New Roman"/>
                <a:cs typeface="Times New Roman"/>
              </a:rPr>
              <a:t>the</a:t>
            </a:r>
            <a:r>
              <a:rPr sz="2267" spc="-33" dirty="0">
                <a:latin typeface="Times New Roman"/>
                <a:cs typeface="Times New Roman"/>
              </a:rPr>
              <a:t> </a:t>
            </a:r>
            <a:r>
              <a:rPr sz="2267" dirty="0">
                <a:latin typeface="Times New Roman"/>
                <a:cs typeface="Times New Roman"/>
              </a:rPr>
              <a:t>data</a:t>
            </a:r>
            <a:r>
              <a:rPr sz="2267" spc="-27" dirty="0">
                <a:latin typeface="Times New Roman"/>
                <a:cs typeface="Times New Roman"/>
              </a:rPr>
              <a:t> </a:t>
            </a:r>
            <a:r>
              <a:rPr sz="2267" dirty="0">
                <a:latin typeface="Times New Roman"/>
                <a:cs typeface="Times New Roman"/>
              </a:rPr>
              <a:t>and</a:t>
            </a:r>
            <a:r>
              <a:rPr sz="2267" spc="-53" dirty="0">
                <a:latin typeface="Times New Roman"/>
                <a:cs typeface="Times New Roman"/>
              </a:rPr>
              <a:t> </a:t>
            </a:r>
            <a:r>
              <a:rPr sz="2267" dirty="0">
                <a:latin typeface="Times New Roman"/>
                <a:cs typeface="Times New Roman"/>
              </a:rPr>
              <a:t>information</a:t>
            </a:r>
            <a:r>
              <a:rPr sz="2267" spc="-7" dirty="0">
                <a:latin typeface="Times New Roman"/>
                <a:cs typeface="Times New Roman"/>
              </a:rPr>
              <a:t> </a:t>
            </a:r>
            <a:r>
              <a:rPr sz="2267" dirty="0">
                <a:latin typeface="Times New Roman"/>
                <a:cs typeface="Times New Roman"/>
              </a:rPr>
              <a:t>are</a:t>
            </a:r>
            <a:r>
              <a:rPr sz="2267" spc="-47" dirty="0">
                <a:latin typeface="Times New Roman"/>
                <a:cs typeface="Times New Roman"/>
              </a:rPr>
              <a:t> </a:t>
            </a:r>
            <a:r>
              <a:rPr sz="2267" dirty="0">
                <a:latin typeface="Times New Roman"/>
                <a:cs typeface="Times New Roman"/>
              </a:rPr>
              <a:t>collected</a:t>
            </a:r>
            <a:r>
              <a:rPr sz="2267" spc="-33" dirty="0">
                <a:latin typeface="Times New Roman"/>
                <a:cs typeface="Times New Roman"/>
              </a:rPr>
              <a:t> </a:t>
            </a:r>
            <a:r>
              <a:rPr sz="2267" dirty="0">
                <a:latin typeface="Times New Roman"/>
                <a:cs typeface="Times New Roman"/>
              </a:rPr>
              <a:t>and</a:t>
            </a:r>
            <a:r>
              <a:rPr sz="2267" spc="-47" dirty="0">
                <a:latin typeface="Times New Roman"/>
                <a:cs typeface="Times New Roman"/>
              </a:rPr>
              <a:t> </a:t>
            </a:r>
            <a:r>
              <a:rPr sz="2267" dirty="0">
                <a:latin typeface="Times New Roman"/>
                <a:cs typeface="Times New Roman"/>
              </a:rPr>
              <a:t>stored</a:t>
            </a:r>
            <a:r>
              <a:rPr sz="2267" spc="-20" dirty="0">
                <a:latin typeface="Times New Roman"/>
                <a:cs typeface="Times New Roman"/>
              </a:rPr>
              <a:t> </a:t>
            </a:r>
            <a:r>
              <a:rPr sz="2267" spc="-13" dirty="0">
                <a:latin typeface="Times New Roman"/>
                <a:cs typeface="Times New Roman"/>
              </a:rPr>
              <a:t>here.</a:t>
            </a:r>
            <a:endParaRPr sz="2267">
              <a:latin typeface="Times New Roman"/>
              <a:cs typeface="Times New Roman"/>
            </a:endParaRPr>
          </a:p>
          <a:p>
            <a:pPr marL="696789" indent="-519840">
              <a:spcBef>
                <a:spcPts val="400"/>
              </a:spcBef>
              <a:buChar char="●"/>
              <a:tabLst>
                <a:tab pos="696789" algn="l"/>
              </a:tabLst>
            </a:pPr>
            <a:r>
              <a:rPr sz="2267" dirty="0">
                <a:latin typeface="Times New Roman"/>
                <a:cs typeface="Times New Roman"/>
              </a:rPr>
              <a:t>Using</a:t>
            </a:r>
            <a:r>
              <a:rPr sz="2267" spc="-33" dirty="0">
                <a:latin typeface="Times New Roman"/>
                <a:cs typeface="Times New Roman"/>
              </a:rPr>
              <a:t> </a:t>
            </a:r>
            <a:r>
              <a:rPr sz="2267" dirty="0">
                <a:latin typeface="Times New Roman"/>
                <a:cs typeface="Times New Roman"/>
              </a:rPr>
              <a:t>these</a:t>
            </a:r>
            <a:r>
              <a:rPr sz="2267" spc="-27" dirty="0">
                <a:latin typeface="Times New Roman"/>
                <a:cs typeface="Times New Roman"/>
              </a:rPr>
              <a:t> </a:t>
            </a:r>
            <a:r>
              <a:rPr sz="2267" dirty="0">
                <a:latin typeface="Times New Roman"/>
                <a:cs typeface="Times New Roman"/>
              </a:rPr>
              <a:t>data</a:t>
            </a:r>
            <a:r>
              <a:rPr sz="2267" spc="-27" dirty="0">
                <a:latin typeface="Times New Roman"/>
                <a:cs typeface="Times New Roman"/>
              </a:rPr>
              <a:t> </a:t>
            </a:r>
            <a:r>
              <a:rPr sz="2267" dirty="0">
                <a:latin typeface="Times New Roman"/>
                <a:cs typeface="Times New Roman"/>
              </a:rPr>
              <a:t>and</a:t>
            </a:r>
            <a:r>
              <a:rPr sz="2267" spc="-27" dirty="0">
                <a:latin typeface="Times New Roman"/>
                <a:cs typeface="Times New Roman"/>
              </a:rPr>
              <a:t> </a:t>
            </a:r>
            <a:r>
              <a:rPr sz="2267" dirty="0">
                <a:latin typeface="Times New Roman"/>
                <a:cs typeface="Times New Roman"/>
              </a:rPr>
              <a:t>information</a:t>
            </a:r>
            <a:r>
              <a:rPr sz="2267" spc="-20" dirty="0">
                <a:latin typeface="Times New Roman"/>
                <a:cs typeface="Times New Roman"/>
              </a:rPr>
              <a:t> </a:t>
            </a:r>
            <a:r>
              <a:rPr sz="2267" dirty="0">
                <a:latin typeface="Times New Roman"/>
                <a:cs typeface="Times New Roman"/>
              </a:rPr>
              <a:t>they</a:t>
            </a:r>
            <a:r>
              <a:rPr sz="2267" spc="-27" dirty="0">
                <a:latin typeface="Times New Roman"/>
                <a:cs typeface="Times New Roman"/>
              </a:rPr>
              <a:t> </a:t>
            </a:r>
            <a:r>
              <a:rPr sz="2267" dirty="0">
                <a:latin typeface="Times New Roman"/>
                <a:cs typeface="Times New Roman"/>
              </a:rPr>
              <a:t>can</a:t>
            </a:r>
            <a:r>
              <a:rPr sz="2267" spc="-47" dirty="0">
                <a:latin typeface="Times New Roman"/>
                <a:cs typeface="Times New Roman"/>
              </a:rPr>
              <a:t> </a:t>
            </a:r>
            <a:r>
              <a:rPr sz="2267" dirty="0">
                <a:latin typeface="Times New Roman"/>
                <a:cs typeface="Times New Roman"/>
              </a:rPr>
              <a:t>take</a:t>
            </a:r>
            <a:r>
              <a:rPr sz="2267" spc="-27" dirty="0">
                <a:latin typeface="Times New Roman"/>
                <a:cs typeface="Times New Roman"/>
              </a:rPr>
              <a:t> </a:t>
            </a:r>
            <a:r>
              <a:rPr sz="2267" dirty="0">
                <a:latin typeface="Times New Roman"/>
                <a:cs typeface="Times New Roman"/>
              </a:rPr>
              <a:t>any</a:t>
            </a:r>
            <a:r>
              <a:rPr sz="2267" spc="-27" dirty="0">
                <a:latin typeface="Times New Roman"/>
                <a:cs typeface="Times New Roman"/>
              </a:rPr>
              <a:t> </a:t>
            </a:r>
            <a:r>
              <a:rPr sz="2267" spc="-13" dirty="0">
                <a:latin typeface="Times New Roman"/>
                <a:cs typeface="Times New Roman"/>
              </a:rPr>
              <a:t>decision.</a:t>
            </a:r>
            <a:endParaRPr sz="2267">
              <a:latin typeface="Times New Roman"/>
              <a:cs typeface="Times New Roman"/>
            </a:endParaRPr>
          </a:p>
          <a:p>
            <a:pPr marL="625671" indent="-448722">
              <a:spcBef>
                <a:spcPts val="420"/>
              </a:spcBef>
              <a:buChar char="●"/>
              <a:tabLst>
                <a:tab pos="625671" algn="l"/>
              </a:tabLst>
            </a:pPr>
            <a:r>
              <a:rPr sz="2267" dirty="0">
                <a:latin typeface="Times New Roman"/>
                <a:cs typeface="Times New Roman"/>
              </a:rPr>
              <a:t>From</a:t>
            </a:r>
            <a:r>
              <a:rPr sz="2267" spc="-27" dirty="0">
                <a:latin typeface="Times New Roman"/>
                <a:cs typeface="Times New Roman"/>
              </a:rPr>
              <a:t> </a:t>
            </a:r>
            <a:r>
              <a:rPr sz="2267" dirty="0">
                <a:latin typeface="Times New Roman"/>
                <a:cs typeface="Times New Roman"/>
              </a:rPr>
              <a:t>this</a:t>
            </a:r>
            <a:r>
              <a:rPr sz="2267" spc="-20" dirty="0">
                <a:latin typeface="Times New Roman"/>
                <a:cs typeface="Times New Roman"/>
              </a:rPr>
              <a:t> </a:t>
            </a:r>
            <a:r>
              <a:rPr sz="2267" dirty="0">
                <a:latin typeface="Times New Roman"/>
                <a:cs typeface="Times New Roman"/>
              </a:rPr>
              <a:t>computer,</a:t>
            </a:r>
            <a:r>
              <a:rPr sz="2267" spc="-27"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dirty="0">
                <a:latin typeface="Times New Roman"/>
                <a:cs typeface="Times New Roman"/>
              </a:rPr>
              <a:t>management</a:t>
            </a:r>
            <a:r>
              <a:rPr sz="2267" spc="-53" dirty="0">
                <a:latin typeface="Times New Roman"/>
                <a:cs typeface="Times New Roman"/>
              </a:rPr>
              <a:t> </a:t>
            </a:r>
            <a:r>
              <a:rPr sz="2267" dirty="0">
                <a:latin typeface="Times New Roman"/>
                <a:cs typeface="Times New Roman"/>
              </a:rPr>
              <a:t>team</a:t>
            </a:r>
            <a:r>
              <a:rPr sz="2267" spc="-27" dirty="0">
                <a:latin typeface="Times New Roman"/>
                <a:cs typeface="Times New Roman"/>
              </a:rPr>
              <a:t> </a:t>
            </a:r>
            <a:r>
              <a:rPr sz="2267" dirty="0">
                <a:latin typeface="Times New Roman"/>
                <a:cs typeface="Times New Roman"/>
              </a:rPr>
              <a:t>can</a:t>
            </a:r>
            <a:r>
              <a:rPr sz="2267" spc="-47" dirty="0">
                <a:latin typeface="Times New Roman"/>
                <a:cs typeface="Times New Roman"/>
              </a:rPr>
              <a:t> </a:t>
            </a:r>
            <a:r>
              <a:rPr sz="2267" dirty="0">
                <a:latin typeface="Times New Roman"/>
                <a:cs typeface="Times New Roman"/>
              </a:rPr>
              <a:t>see</a:t>
            </a:r>
            <a:r>
              <a:rPr sz="2267" spc="-27" dirty="0">
                <a:latin typeface="Times New Roman"/>
                <a:cs typeface="Times New Roman"/>
              </a:rPr>
              <a:t> </a:t>
            </a:r>
            <a:r>
              <a:rPr sz="2267" dirty="0">
                <a:latin typeface="Times New Roman"/>
                <a:cs typeface="Times New Roman"/>
              </a:rPr>
              <a:t>all</a:t>
            </a:r>
            <a:r>
              <a:rPr sz="2267" spc="-27" dirty="0">
                <a:latin typeface="Times New Roman"/>
                <a:cs typeface="Times New Roman"/>
              </a:rPr>
              <a:t> </a:t>
            </a:r>
            <a:r>
              <a:rPr sz="2267" dirty="0">
                <a:latin typeface="Times New Roman"/>
                <a:cs typeface="Times New Roman"/>
              </a:rPr>
              <a:t>the</a:t>
            </a:r>
            <a:r>
              <a:rPr sz="2267" spc="-27" dirty="0">
                <a:latin typeface="Times New Roman"/>
                <a:cs typeface="Times New Roman"/>
              </a:rPr>
              <a:t> </a:t>
            </a:r>
            <a:r>
              <a:rPr sz="2267" dirty="0">
                <a:latin typeface="Times New Roman"/>
                <a:cs typeface="Times New Roman"/>
              </a:rPr>
              <a:t>actions</a:t>
            </a:r>
            <a:r>
              <a:rPr sz="2267" spc="-33" dirty="0">
                <a:latin typeface="Times New Roman"/>
                <a:cs typeface="Times New Roman"/>
              </a:rPr>
              <a:t> </a:t>
            </a:r>
            <a:r>
              <a:rPr sz="2267" dirty="0">
                <a:latin typeface="Times New Roman"/>
                <a:cs typeface="Times New Roman"/>
              </a:rPr>
              <a:t>and</a:t>
            </a:r>
            <a:r>
              <a:rPr sz="2267" spc="-33" dirty="0">
                <a:latin typeface="Times New Roman"/>
                <a:cs typeface="Times New Roman"/>
              </a:rPr>
              <a:t> </a:t>
            </a:r>
            <a:r>
              <a:rPr sz="2267" dirty="0">
                <a:latin typeface="Times New Roman"/>
                <a:cs typeface="Times New Roman"/>
              </a:rPr>
              <a:t>operations,</a:t>
            </a:r>
            <a:r>
              <a:rPr sz="2267" spc="-40" dirty="0">
                <a:latin typeface="Times New Roman"/>
                <a:cs typeface="Times New Roman"/>
              </a:rPr>
              <a:t> </a:t>
            </a:r>
            <a:r>
              <a:rPr sz="2267" spc="-33" dirty="0">
                <a:latin typeface="Times New Roman"/>
                <a:cs typeface="Times New Roman"/>
              </a:rPr>
              <a:t>etc</a:t>
            </a:r>
            <a:endParaRPr sz="2267">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0E84-EDC2-1331-36E4-BDB568415517}"/>
              </a:ext>
            </a:extLst>
          </p:cNvPr>
          <p:cNvSpPr>
            <a:spLocks noGrp="1"/>
          </p:cNvSpPr>
          <p:nvPr>
            <p:ph type="title"/>
          </p:nvPr>
        </p:nvSpPr>
        <p:spPr/>
        <p:txBody>
          <a:bodyPr/>
          <a:lstStyle/>
          <a:p>
            <a:r>
              <a:rPr lang="en-IN" dirty="0"/>
              <a:t>BENEFITS OF SCADA</a:t>
            </a:r>
          </a:p>
        </p:txBody>
      </p:sp>
      <p:sp>
        <p:nvSpPr>
          <p:cNvPr id="3" name="Content Placeholder 2">
            <a:extLst>
              <a:ext uri="{FF2B5EF4-FFF2-40B4-BE49-F238E27FC236}">
                <a16:creationId xmlns:a16="http://schemas.microsoft.com/office/drawing/2014/main" id="{2D2FAC13-2901-631B-6638-FECE4A754A37}"/>
              </a:ext>
            </a:extLst>
          </p:cNvPr>
          <p:cNvSpPr>
            <a:spLocks noGrp="1"/>
          </p:cNvSpPr>
          <p:nvPr>
            <p:ph idx="1"/>
          </p:nvPr>
        </p:nvSpPr>
        <p:spPr>
          <a:xfrm>
            <a:off x="838200" y="1586204"/>
            <a:ext cx="10515600" cy="4906671"/>
          </a:xfrm>
        </p:spPr>
        <p:txBody>
          <a:bodyPr>
            <a:noAutofit/>
          </a:bodyPr>
          <a:lstStyle/>
          <a:p>
            <a:r>
              <a:rPr lang="en-US" sz="2000" dirty="0"/>
              <a:t>Improved quality of service</a:t>
            </a:r>
          </a:p>
          <a:p>
            <a:r>
              <a:rPr lang="en-US" sz="2000" dirty="0"/>
              <a:t>Improved reliability</a:t>
            </a:r>
          </a:p>
          <a:p>
            <a:r>
              <a:rPr lang="en-US" sz="2000" dirty="0"/>
              <a:t>Reduced operating costs</a:t>
            </a:r>
          </a:p>
          <a:p>
            <a:r>
              <a:rPr lang="en-US" sz="2000" dirty="0"/>
              <a:t>Maintenance /Expansion of customer base</a:t>
            </a:r>
          </a:p>
          <a:p>
            <a:r>
              <a:rPr lang="en-US" sz="2000" dirty="0"/>
              <a:t>Ability to defer capacity addition projects</a:t>
            </a:r>
          </a:p>
          <a:p>
            <a:r>
              <a:rPr lang="en-US" sz="2000" dirty="0"/>
              <a:t>High value service providers</a:t>
            </a:r>
          </a:p>
          <a:p>
            <a:r>
              <a:rPr lang="en-US" sz="2000" dirty="0"/>
              <a:t>Improved information for engineering decision</a:t>
            </a:r>
          </a:p>
          <a:p>
            <a:r>
              <a:rPr lang="en-US" sz="2000" dirty="0"/>
              <a:t>Value added services</a:t>
            </a:r>
          </a:p>
          <a:p>
            <a:r>
              <a:rPr lang="en-US" sz="2000" dirty="0"/>
              <a:t>Flexible billing option</a:t>
            </a:r>
          </a:p>
          <a:p>
            <a:r>
              <a:rPr lang="en-US" sz="2000" dirty="0"/>
              <a:t>Improved customer information access</a:t>
            </a:r>
          </a:p>
          <a:p>
            <a:r>
              <a:rPr lang="en-US" sz="2000" dirty="0"/>
              <a:t>Reduced system implementation costs</a:t>
            </a:r>
          </a:p>
          <a:p>
            <a:r>
              <a:rPr lang="en-US" sz="2000" dirty="0"/>
              <a:t>Reduced manpower requirements</a:t>
            </a:r>
            <a:endParaRPr lang="en-IN" sz="2000" dirty="0"/>
          </a:p>
        </p:txBody>
      </p:sp>
    </p:spTree>
    <p:extLst>
      <p:ext uri="{BB962C8B-B14F-4D97-AF65-F5344CB8AC3E}">
        <p14:creationId xmlns:p14="http://schemas.microsoft.com/office/powerpoint/2010/main" val="230032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F840-8281-84E4-81D1-E0B71E5F8EAC}"/>
              </a:ext>
            </a:extLst>
          </p:cNvPr>
          <p:cNvSpPr>
            <a:spLocks noGrp="1"/>
          </p:cNvSpPr>
          <p:nvPr>
            <p:ph type="title"/>
          </p:nvPr>
        </p:nvSpPr>
        <p:spPr/>
        <p:txBody>
          <a:bodyPr/>
          <a:lstStyle/>
          <a:p>
            <a:r>
              <a:rPr lang="en-IN" dirty="0"/>
              <a:t>APPLICATIONS</a:t>
            </a:r>
          </a:p>
        </p:txBody>
      </p:sp>
      <p:sp>
        <p:nvSpPr>
          <p:cNvPr id="3" name="Content Placeholder 2">
            <a:extLst>
              <a:ext uri="{FF2B5EF4-FFF2-40B4-BE49-F238E27FC236}">
                <a16:creationId xmlns:a16="http://schemas.microsoft.com/office/drawing/2014/main" id="{6A9610D7-9CC1-1C34-E1AA-932BB8EF5114}"/>
              </a:ext>
            </a:extLst>
          </p:cNvPr>
          <p:cNvSpPr>
            <a:spLocks noGrp="1"/>
          </p:cNvSpPr>
          <p:nvPr>
            <p:ph idx="1"/>
          </p:nvPr>
        </p:nvSpPr>
        <p:spPr/>
        <p:txBody>
          <a:bodyPr/>
          <a:lstStyle/>
          <a:p>
            <a:pPr marL="0" indent="0">
              <a:buNone/>
            </a:pPr>
            <a:r>
              <a:rPr lang="en-US" dirty="0"/>
              <a:t>• Comprehensive operational planning and control</a:t>
            </a:r>
          </a:p>
          <a:p>
            <a:pPr marL="0" indent="0">
              <a:buNone/>
            </a:pPr>
            <a:r>
              <a:rPr lang="en-US" dirty="0"/>
              <a:t>• Fuel resource scheduling</a:t>
            </a:r>
          </a:p>
          <a:p>
            <a:pPr marL="0" indent="0">
              <a:buNone/>
            </a:pPr>
            <a:r>
              <a:rPr lang="en-US" dirty="0"/>
              <a:t>• Optimum power flow</a:t>
            </a:r>
          </a:p>
          <a:p>
            <a:pPr marL="0" indent="0">
              <a:buNone/>
            </a:pPr>
            <a:r>
              <a:rPr lang="en-US" dirty="0"/>
              <a:t>• Network security</a:t>
            </a:r>
          </a:p>
          <a:p>
            <a:pPr marL="0" indent="0">
              <a:buNone/>
            </a:pPr>
            <a:r>
              <a:rPr lang="en-US" dirty="0"/>
              <a:t>• Economic dispatch</a:t>
            </a:r>
          </a:p>
          <a:p>
            <a:pPr marL="0" indent="0">
              <a:buNone/>
            </a:pPr>
            <a:r>
              <a:rPr lang="en-US" dirty="0"/>
              <a:t>• Generation dispatch control</a:t>
            </a:r>
            <a:endParaRPr lang="en-IN" dirty="0"/>
          </a:p>
        </p:txBody>
      </p:sp>
    </p:spTree>
    <p:extLst>
      <p:ext uri="{BB962C8B-B14F-4D97-AF65-F5344CB8AC3E}">
        <p14:creationId xmlns:p14="http://schemas.microsoft.com/office/powerpoint/2010/main" val="1630024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1322</Words>
  <Application>Microsoft Office PowerPoint</Application>
  <PresentationFormat>Widescreen</PresentationFormat>
  <Paragraphs>113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Garamond</vt:lpstr>
      <vt:lpstr>Times New Roman</vt:lpstr>
      <vt:lpstr>Office Theme</vt:lpstr>
      <vt:lpstr>SCADA</vt:lpstr>
      <vt:lpstr> SCADA</vt:lpstr>
      <vt:lpstr>SCADA</vt:lpstr>
      <vt:lpstr>FUNCTIONS OF SCADA</vt:lpstr>
      <vt:lpstr>Types of SCADA System</vt:lpstr>
      <vt:lpstr>MONOLITHIC SCADA</vt:lpstr>
      <vt:lpstr>MONOLITHIC SCADA</vt:lpstr>
      <vt:lpstr>Distributed SCADA Systems</vt:lpstr>
      <vt:lpstr>Distributed SCADA Systems</vt:lpstr>
      <vt:lpstr>Networked SCADA System</vt:lpstr>
      <vt:lpstr>Networked SCADA System</vt:lpstr>
      <vt:lpstr>IoT SCADA System</vt:lpstr>
      <vt:lpstr>IoT SCADA System</vt:lpstr>
      <vt:lpstr>SCADA System Architecture</vt:lpstr>
      <vt:lpstr>SCADA System Architecture</vt:lpstr>
      <vt:lpstr>PowerPoint Presentation</vt:lpstr>
      <vt:lpstr>PowerPoint Presentation</vt:lpstr>
      <vt:lpstr>PowerPoint Presentation</vt:lpstr>
      <vt:lpstr>PowerPoint Presentation</vt:lpstr>
      <vt:lpstr>BENEFITS OF SCADA</vt:lpstr>
      <vt:lpstr>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2026-03-13T03:45:42Z</dcterms:created>
  <dcterms:modified xsi:type="dcterms:W3CDTF">2026-03-13T03:46:31Z</dcterms:modified>
</cp:coreProperties>
</file>